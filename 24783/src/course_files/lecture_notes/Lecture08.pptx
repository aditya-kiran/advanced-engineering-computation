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5"/>
  </p:notesMasterIdLst>
  <p:sldIdLst>
    <p:sldId id="283" r:id="rId2"/>
    <p:sldId id="424" r:id="rId3"/>
    <p:sldId id="506" r:id="rId4"/>
    <p:sldId id="264" r:id="rId5"/>
    <p:sldId id="317" r:id="rId6"/>
    <p:sldId id="425" r:id="rId7"/>
    <p:sldId id="336" r:id="rId8"/>
    <p:sldId id="337" r:id="rId9"/>
    <p:sldId id="338" r:id="rId10"/>
    <p:sldId id="339" r:id="rId11"/>
    <p:sldId id="340" r:id="rId12"/>
    <p:sldId id="341" r:id="rId13"/>
    <p:sldId id="342" r:id="rId14"/>
    <p:sldId id="412" r:id="rId15"/>
    <p:sldId id="413" r:id="rId16"/>
    <p:sldId id="422" r:id="rId17"/>
    <p:sldId id="423" r:id="rId18"/>
    <p:sldId id="414" r:id="rId19"/>
    <p:sldId id="415" r:id="rId20"/>
    <p:sldId id="416" r:id="rId21"/>
    <p:sldId id="417" r:id="rId22"/>
    <p:sldId id="418" r:id="rId23"/>
    <p:sldId id="426" r:id="rId24"/>
    <p:sldId id="427" r:id="rId25"/>
    <p:sldId id="428" r:id="rId26"/>
    <p:sldId id="429" r:id="rId27"/>
    <p:sldId id="430" r:id="rId28"/>
    <p:sldId id="431" r:id="rId29"/>
    <p:sldId id="432" r:id="rId30"/>
    <p:sldId id="433" r:id="rId31"/>
    <p:sldId id="434" r:id="rId32"/>
    <p:sldId id="435" r:id="rId33"/>
    <p:sldId id="436" r:id="rId34"/>
    <p:sldId id="437" r:id="rId35"/>
    <p:sldId id="438" r:id="rId36"/>
    <p:sldId id="439" r:id="rId37"/>
    <p:sldId id="440" r:id="rId38"/>
    <p:sldId id="441" r:id="rId39"/>
    <p:sldId id="442" r:id="rId40"/>
    <p:sldId id="443" r:id="rId41"/>
    <p:sldId id="444" r:id="rId42"/>
    <p:sldId id="445" r:id="rId43"/>
    <p:sldId id="446" r:id="rId44"/>
    <p:sldId id="447" r:id="rId45"/>
    <p:sldId id="448" r:id="rId46"/>
    <p:sldId id="449" r:id="rId47"/>
    <p:sldId id="450" r:id="rId48"/>
    <p:sldId id="451" r:id="rId49"/>
    <p:sldId id="452" r:id="rId50"/>
    <p:sldId id="453" r:id="rId51"/>
    <p:sldId id="454" r:id="rId52"/>
    <p:sldId id="455" r:id="rId53"/>
    <p:sldId id="456" r:id="rId54"/>
    <p:sldId id="457" r:id="rId55"/>
    <p:sldId id="458" r:id="rId56"/>
    <p:sldId id="459" r:id="rId57"/>
    <p:sldId id="460" r:id="rId58"/>
    <p:sldId id="461" r:id="rId59"/>
    <p:sldId id="509" r:id="rId60"/>
    <p:sldId id="510" r:id="rId61"/>
    <p:sldId id="511" r:id="rId62"/>
    <p:sldId id="512" r:id="rId63"/>
    <p:sldId id="513" r:id="rId64"/>
    <p:sldId id="514" r:id="rId65"/>
    <p:sldId id="515" r:id="rId66"/>
    <p:sldId id="468" r:id="rId67"/>
    <p:sldId id="469" r:id="rId68"/>
    <p:sldId id="470" r:id="rId69"/>
    <p:sldId id="471" r:id="rId70"/>
    <p:sldId id="472" r:id="rId71"/>
    <p:sldId id="473" r:id="rId72"/>
    <p:sldId id="474" r:id="rId73"/>
    <p:sldId id="475" r:id="rId74"/>
    <p:sldId id="476" r:id="rId75"/>
    <p:sldId id="477" r:id="rId76"/>
    <p:sldId id="478" r:id="rId77"/>
    <p:sldId id="479" r:id="rId78"/>
    <p:sldId id="480" r:id="rId79"/>
    <p:sldId id="481" r:id="rId80"/>
    <p:sldId id="482" r:id="rId81"/>
    <p:sldId id="483" r:id="rId82"/>
    <p:sldId id="484" r:id="rId83"/>
    <p:sldId id="485" r:id="rId84"/>
    <p:sldId id="486" r:id="rId85"/>
    <p:sldId id="487" r:id="rId86"/>
    <p:sldId id="488" r:id="rId87"/>
    <p:sldId id="489" r:id="rId88"/>
    <p:sldId id="490" r:id="rId89"/>
    <p:sldId id="491" r:id="rId90"/>
    <p:sldId id="492" r:id="rId91"/>
    <p:sldId id="493" r:id="rId92"/>
    <p:sldId id="494" r:id="rId93"/>
    <p:sldId id="495" r:id="rId94"/>
    <p:sldId id="496" r:id="rId95"/>
    <p:sldId id="497" r:id="rId96"/>
    <p:sldId id="498" r:id="rId97"/>
    <p:sldId id="499" r:id="rId98"/>
    <p:sldId id="500" r:id="rId99"/>
    <p:sldId id="501" r:id="rId100"/>
    <p:sldId id="502" r:id="rId101"/>
    <p:sldId id="503" r:id="rId102"/>
    <p:sldId id="504" r:id="rId103"/>
    <p:sldId id="505" r:id="rId10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4" d="100"/>
          <a:sy n="94" d="100"/>
        </p:scale>
        <p:origin x="156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BCB6D5-09E4-4610-88CA-DFB2CE3AAC59}" type="datetimeFigureOut">
              <a:rPr lang="en-US" smtClean="0"/>
              <a:t>2/13/2019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A0FF-337F-4458-917A-769BA419E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92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write a plain binary tree.  Make</a:t>
            </a:r>
            <a:r>
              <a:rPr lang="en-US" baseline="0" dirty="0"/>
              <a:t> </a:t>
            </a:r>
            <a:r>
              <a:rPr lang="en-US" baseline="0" dirty="0" err="1"/>
              <a:t>left,right,up</a:t>
            </a:r>
            <a:r>
              <a:rPr lang="en-US" baseline="0" dirty="0"/>
              <a:t> of node class as public members.  Then, make them protected, and add Left(),Right(), and Up() functions </a:t>
            </a:r>
            <a:r>
              <a:rPr lang="en-US" baseline="0"/>
              <a:t>for traversal.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C52171-27E8-424E-AF8F-E680FB935C0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571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CFA322-6F3F-4DC0-87DD-C2243BD40E5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357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2500B-4EAB-4352-950A-83638A46CB1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9437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4AD067-94AF-4CC4-A3F4-94BC2293386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17544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5F1812-1DE0-4021-BADA-FFAFA5A10F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308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3109A-EB99-4320-890D-5E881432282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44151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6F314-25DC-4377-AD01-A920945A220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09913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0ED3A-E24C-4B6A-90A2-C196FD3C678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33296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225BB-6760-4477-80E2-E9464DB153A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85166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79013F-5B2C-4E9D-9745-5981D3CFC25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30596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F19005-ABF8-4206-A7D8-6B64D35F117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14997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11E539-E3A0-4ACA-8410-6BBB64C7316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4055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2BEA70-0706-42DF-B69B-B92068D80B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44805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굴림" charset="-127"/>
              </a:defRPr>
            </a:lvl1pPr>
          </a:lstStyle>
          <a:p>
            <a:pPr>
              <a:defRPr/>
            </a:pPr>
            <a:fld id="{E37565C6-0CEA-42B8-A9C2-60D46C6627E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SSiPd6iMkFGbwtxcLaXL1gdIVt7aV8G3ZVgGJ5PDfr0/edit?usp=sharin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y%E2%80%93Stout%E2%80%93Warren_algorithm" TargetMode="External"/><Relationship Id="rId2" Type="http://schemas.openxmlformats.org/officeDocument/2006/relationships/hyperlink" Target="http://web.eecs.umich.edu/~qstout/pap/CACM86.pdf" TargetMode="Externa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68521"/>
            <a:ext cx="7772400" cy="1470025"/>
          </a:xfrm>
        </p:spPr>
        <p:txBody>
          <a:bodyPr/>
          <a:lstStyle/>
          <a:p>
            <a:r>
              <a:rPr lang="en-US" dirty="0"/>
              <a:t>24-783 Lecture 08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471" y="2603502"/>
            <a:ext cx="4047058" cy="303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743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upload project proposal to the team's </a:t>
            </a:r>
            <a:r>
              <a:rPr lang="en-US" dirty="0" err="1"/>
              <a:t>SubVersion</a:t>
            </a:r>
            <a:r>
              <a:rPr lang="en-US" dirty="0"/>
              <a:t> directory if you haven’t done yet.</a:t>
            </a:r>
          </a:p>
          <a:p>
            <a:r>
              <a:rPr lang="en-US" dirty="0"/>
              <a:t>Within two weeks (earlier is better), please set up a meeting with me to discuss and finalize the project topic.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898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Finalizing Project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pick a time slot on the Google Doc:</a:t>
            </a:r>
            <a:br>
              <a:rPr lang="en-US" dirty="0"/>
            </a:br>
            <a:r>
              <a:rPr lang="en-US" dirty="0">
                <a:hlinkClick r:id="rId2"/>
              </a:rPr>
              <a:t>https://docs.google.com/spreadsheets/d/1SSiPd6iMkFGbwtxcLaXL1gdIVt7aV8G3ZVgGJ5PDfr0/edit?usp=sharing</a:t>
            </a:r>
            <a:endParaRPr lang="en-US" dirty="0"/>
          </a:p>
          <a:p>
            <a:endParaRPr lang="en-US" dirty="0"/>
          </a:p>
          <a:p>
            <a:r>
              <a:rPr lang="en-US" dirty="0"/>
              <a:t>to discuss about project topic.</a:t>
            </a:r>
          </a:p>
          <a:p>
            <a:r>
              <a:rPr lang="en-US" dirty="0"/>
              <a:t>Location: HH </a:t>
            </a:r>
            <a:r>
              <a:rPr lang="en-US" dirty="0" err="1"/>
              <a:t>Ph.D</a:t>
            </a:r>
            <a:r>
              <a:rPr lang="en-US" dirty="0"/>
              <a:t> Suite.  (Or Scott Hall Café if you come during my office hour.)</a:t>
            </a:r>
          </a:p>
          <a:p>
            <a:r>
              <a:rPr lang="en-US" dirty="0"/>
              <a:t>Ideally, everyone in your team should come to the meeting, but if it is not possible, at least majority of the team members should join the discussion.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218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Hash Table</a:t>
            </a:r>
          </a:p>
          <a:p>
            <a:r>
              <a:rPr lang="en-US" dirty="0"/>
              <a:t>Binary Tree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131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655135"/>
          </a:xfrm>
        </p:spPr>
        <p:txBody>
          <a:bodyPr/>
          <a:lstStyle/>
          <a:p>
            <a:r>
              <a:rPr lang="en-US" dirty="0"/>
              <a:t>Hash Set is a 2-dimensional table.</a:t>
            </a:r>
          </a:p>
          <a:p>
            <a:r>
              <a:rPr lang="en-US" dirty="0"/>
              <a:t>Each column stores a hash code and a key.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852425"/>
              </p:ext>
            </p:extLst>
          </p:nvPr>
        </p:nvGraphicFramePr>
        <p:xfrm>
          <a:off x="2161953" y="3029098"/>
          <a:ext cx="609600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10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10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10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Hash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Code%7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Left Brace 4"/>
          <p:cNvSpPr/>
          <p:nvPr/>
        </p:nvSpPr>
        <p:spPr>
          <a:xfrm>
            <a:off x="1985611" y="3391786"/>
            <a:ext cx="79744" cy="263155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19978" y="4508202"/>
            <a:ext cx="154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Table size=7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092304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(</a:t>
            </a:r>
            <a:r>
              <a:rPr lang="en-US" sz="1050" dirty="0" err="1"/>
              <a:t>code,key</a:t>
            </a:r>
            <a:r>
              <a:rPr lang="en-US" sz="1050" dirty="0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2550" y="3089385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(</a:t>
            </a:r>
            <a:r>
              <a:rPr lang="en-US" sz="1050" dirty="0" err="1"/>
              <a:t>code,key</a:t>
            </a:r>
            <a:r>
              <a:rPr lang="en-US" sz="1050" dirty="0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482377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(</a:t>
            </a:r>
            <a:r>
              <a:rPr lang="en-US" sz="1050" dirty="0" err="1"/>
              <a:t>code,key</a:t>
            </a:r>
            <a:r>
              <a:rPr lang="en-US" sz="1050" dirty="0"/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2550" y="3479458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(</a:t>
            </a:r>
            <a:r>
              <a:rPr lang="en-US" sz="1050" dirty="0" err="1"/>
              <a:t>code,key</a:t>
            </a:r>
            <a:r>
              <a:rPr lang="en-US" sz="1050" dirty="0"/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869531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(</a:t>
            </a:r>
            <a:r>
              <a:rPr lang="en-US" sz="1050" dirty="0" err="1"/>
              <a:t>code,key</a:t>
            </a:r>
            <a:r>
              <a:rPr lang="en-US" sz="1050" dirty="0"/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6377" y="4223889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(</a:t>
            </a:r>
            <a:r>
              <a:rPr lang="en-US" sz="1050" dirty="0" err="1"/>
              <a:t>code,key</a:t>
            </a:r>
            <a:r>
              <a:rPr lang="en-US" sz="1050" dirty="0"/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226808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(</a:t>
            </a:r>
            <a:r>
              <a:rPr lang="en-US" sz="1050" dirty="0" err="1"/>
              <a:t>code,key</a:t>
            </a:r>
            <a:r>
              <a:rPr lang="en-US" sz="1050" dirty="0"/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2550" y="4223889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(</a:t>
            </a:r>
            <a:r>
              <a:rPr lang="en-US" sz="1050" dirty="0" err="1"/>
              <a:t>code,key</a:t>
            </a:r>
            <a:r>
              <a:rPr lang="en-US" sz="1050" dirty="0"/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581166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(</a:t>
            </a:r>
            <a:r>
              <a:rPr lang="en-US" sz="1050" dirty="0" err="1"/>
              <a:t>code,key</a:t>
            </a:r>
            <a:r>
              <a:rPr lang="en-US" sz="1050" dirty="0"/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2550" y="4578247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(</a:t>
            </a:r>
            <a:r>
              <a:rPr lang="en-US" sz="1050" dirty="0" err="1"/>
              <a:t>code,key</a:t>
            </a:r>
            <a:r>
              <a:rPr lang="en-US" sz="1050" dirty="0"/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929755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(</a:t>
            </a:r>
            <a:r>
              <a:rPr lang="en-US" sz="1050" dirty="0" err="1"/>
              <a:t>code,key</a:t>
            </a:r>
            <a:r>
              <a:rPr lang="en-US" sz="1050" dirty="0"/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2550" y="4926836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(</a:t>
            </a:r>
            <a:r>
              <a:rPr lang="en-US" sz="1050" dirty="0" err="1"/>
              <a:t>code,key</a:t>
            </a:r>
            <a:r>
              <a:rPr lang="en-US" sz="1050" dirty="0"/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327603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(</a:t>
            </a:r>
            <a:r>
              <a:rPr lang="en-US" sz="1050" dirty="0" err="1"/>
              <a:t>code,key</a:t>
            </a:r>
            <a:r>
              <a:rPr lang="en-US" sz="1050" dirty="0"/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6376" y="5710967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(</a:t>
            </a:r>
            <a:r>
              <a:rPr lang="en-US" sz="1050" dirty="0" err="1"/>
              <a:t>code,key</a:t>
            </a:r>
            <a:r>
              <a:rPr lang="en-US" sz="1050" dirty="0"/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8497" y="5713933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(</a:t>
            </a:r>
            <a:r>
              <a:rPr lang="en-US" sz="1050" dirty="0" err="1"/>
              <a:t>code,key</a:t>
            </a:r>
            <a:r>
              <a:rPr lang="en-US" sz="1050" dirty="0"/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247" y="5711014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(</a:t>
            </a:r>
            <a:r>
              <a:rPr lang="en-US" sz="1050" dirty="0" err="1"/>
              <a:t>code,key</a:t>
            </a:r>
            <a:r>
              <a:rPr lang="en-US" sz="1050" dirty="0"/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0300" y="3482377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(</a:t>
            </a:r>
            <a:r>
              <a:rPr lang="en-US" sz="1050" dirty="0" err="1"/>
              <a:t>code,key</a:t>
            </a:r>
            <a:r>
              <a:rPr lang="en-US" sz="1050" dirty="0"/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8050" y="3479458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(</a:t>
            </a:r>
            <a:r>
              <a:rPr lang="en-US" sz="1050" dirty="0" err="1"/>
              <a:t>code,key</a:t>
            </a:r>
            <a:r>
              <a:rPr lang="en-US" sz="1050" dirty="0"/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6378" y="4578247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(</a:t>
            </a:r>
            <a:r>
              <a:rPr lang="en-US" sz="1050" dirty="0" err="1"/>
              <a:t>code,key</a:t>
            </a:r>
            <a:r>
              <a:rPr lang="en-US" sz="1050" dirty="0"/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4128" y="4575328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(</a:t>
            </a:r>
            <a:r>
              <a:rPr lang="en-US" sz="1050" dirty="0" err="1"/>
              <a:t>code,key</a:t>
            </a:r>
            <a:r>
              <a:rPr lang="en-US" sz="10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96923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655135"/>
          </a:xfrm>
        </p:spPr>
        <p:txBody>
          <a:bodyPr/>
          <a:lstStyle/>
          <a:p>
            <a:r>
              <a:rPr lang="en-US" dirty="0"/>
              <a:t>You can make a Hash Table by adding a value to each column.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161953" y="3029098"/>
          <a:ext cx="609600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10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10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10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Hash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Code%7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Left Brace 4"/>
          <p:cNvSpPr/>
          <p:nvPr/>
        </p:nvSpPr>
        <p:spPr>
          <a:xfrm>
            <a:off x="1985611" y="3391786"/>
            <a:ext cx="79744" cy="263155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19978" y="4508202"/>
            <a:ext cx="154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Table size=7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092304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(</a:t>
            </a:r>
            <a:r>
              <a:rPr lang="en-US" sz="900" dirty="0" err="1"/>
              <a:t>code,key,value</a:t>
            </a:r>
            <a:r>
              <a:rPr lang="en-US" sz="900" dirty="0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2550" y="3089385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(</a:t>
            </a:r>
            <a:r>
              <a:rPr lang="en-US" sz="900" dirty="0" err="1"/>
              <a:t>code,key,value</a:t>
            </a:r>
            <a:r>
              <a:rPr lang="en-US" sz="900" dirty="0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482377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(</a:t>
            </a:r>
            <a:r>
              <a:rPr lang="en-US" sz="900" dirty="0" err="1"/>
              <a:t>code,key,value</a:t>
            </a:r>
            <a:r>
              <a:rPr lang="en-US" sz="900" dirty="0"/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2550" y="3479458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(</a:t>
            </a:r>
            <a:r>
              <a:rPr lang="en-US" sz="900" dirty="0" err="1"/>
              <a:t>code,key,value</a:t>
            </a:r>
            <a:r>
              <a:rPr lang="en-US" sz="900" dirty="0"/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869531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(</a:t>
            </a:r>
            <a:r>
              <a:rPr lang="en-US" sz="900" dirty="0" err="1"/>
              <a:t>code,key,value</a:t>
            </a:r>
            <a:r>
              <a:rPr lang="en-US" sz="900" dirty="0"/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6377" y="4223889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(</a:t>
            </a:r>
            <a:r>
              <a:rPr lang="en-US" sz="900" dirty="0" err="1"/>
              <a:t>code,key,value</a:t>
            </a:r>
            <a:r>
              <a:rPr lang="en-US" sz="900" dirty="0"/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226808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(</a:t>
            </a:r>
            <a:r>
              <a:rPr lang="en-US" sz="900" dirty="0" err="1"/>
              <a:t>code,key,value</a:t>
            </a:r>
            <a:r>
              <a:rPr lang="en-US" sz="900" dirty="0"/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2550" y="4223889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(</a:t>
            </a:r>
            <a:r>
              <a:rPr lang="en-US" sz="900" dirty="0" err="1"/>
              <a:t>code,key,value</a:t>
            </a:r>
            <a:r>
              <a:rPr lang="en-US" sz="900" dirty="0"/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581166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(</a:t>
            </a:r>
            <a:r>
              <a:rPr lang="en-US" sz="900" dirty="0" err="1"/>
              <a:t>code,key,value</a:t>
            </a:r>
            <a:r>
              <a:rPr lang="en-US" sz="900" dirty="0"/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2550" y="4578247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(</a:t>
            </a:r>
            <a:r>
              <a:rPr lang="en-US" sz="900" dirty="0" err="1"/>
              <a:t>code,key,value</a:t>
            </a:r>
            <a:r>
              <a:rPr lang="en-US" sz="900" dirty="0"/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929755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(</a:t>
            </a:r>
            <a:r>
              <a:rPr lang="en-US" sz="900" dirty="0" err="1"/>
              <a:t>code,key,value</a:t>
            </a:r>
            <a:r>
              <a:rPr lang="en-US" sz="900" dirty="0"/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2550" y="4926836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(</a:t>
            </a:r>
            <a:r>
              <a:rPr lang="en-US" sz="900" dirty="0" err="1"/>
              <a:t>code,key,value</a:t>
            </a:r>
            <a:r>
              <a:rPr lang="en-US" sz="900" dirty="0"/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327603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(</a:t>
            </a:r>
            <a:r>
              <a:rPr lang="en-US" sz="900" dirty="0" err="1"/>
              <a:t>code,key,value</a:t>
            </a:r>
            <a:r>
              <a:rPr lang="en-US" sz="900" dirty="0"/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6376" y="5710967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(</a:t>
            </a:r>
            <a:r>
              <a:rPr lang="en-US" sz="900" dirty="0" err="1"/>
              <a:t>code,key,value</a:t>
            </a:r>
            <a:r>
              <a:rPr lang="en-US" sz="900" dirty="0"/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8497" y="5713933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(</a:t>
            </a:r>
            <a:r>
              <a:rPr lang="en-US" sz="900" dirty="0" err="1"/>
              <a:t>code,key,value</a:t>
            </a:r>
            <a:r>
              <a:rPr lang="en-US" sz="900" dirty="0"/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247" y="5711014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(</a:t>
            </a:r>
            <a:r>
              <a:rPr lang="en-US" sz="900" dirty="0" err="1"/>
              <a:t>code,key,value</a:t>
            </a:r>
            <a:r>
              <a:rPr lang="en-US" sz="900" dirty="0"/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0300" y="3482377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(</a:t>
            </a:r>
            <a:r>
              <a:rPr lang="en-US" sz="900" dirty="0" err="1"/>
              <a:t>code,key,value</a:t>
            </a:r>
            <a:r>
              <a:rPr lang="en-US" sz="900" dirty="0"/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8050" y="3479458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(</a:t>
            </a:r>
            <a:r>
              <a:rPr lang="en-US" sz="900" dirty="0" err="1"/>
              <a:t>code,key,value</a:t>
            </a:r>
            <a:r>
              <a:rPr lang="en-US" sz="900" dirty="0"/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6378" y="4578247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(</a:t>
            </a:r>
            <a:r>
              <a:rPr lang="en-US" sz="900" dirty="0" err="1"/>
              <a:t>code,key,value</a:t>
            </a:r>
            <a:r>
              <a:rPr lang="en-US" sz="900" dirty="0"/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4128" y="4575328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(</a:t>
            </a:r>
            <a:r>
              <a:rPr lang="en-US" sz="900" dirty="0" err="1"/>
              <a:t>code,key,value</a:t>
            </a:r>
            <a:r>
              <a:rPr lang="en-US" sz="9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12940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5064" y="249859"/>
            <a:ext cx="4458272" cy="60478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Lucida Console" panose="020B0609040504020204" pitchFamily="49" charset="0"/>
              </a:rPr>
              <a:t>#</a:t>
            </a:r>
            <a:r>
              <a:rPr lang="en-US" sz="900" dirty="0" err="1">
                <a:latin typeface="Lucida Console" panose="020B0609040504020204" pitchFamily="49" charset="0"/>
              </a:rPr>
              <a:t>ifndef</a:t>
            </a:r>
            <a:r>
              <a:rPr lang="en-US" sz="900" dirty="0">
                <a:latin typeface="Lucida Console" panose="020B0609040504020204" pitchFamily="49" charset="0"/>
              </a:rPr>
              <a:t> HASHSET_IS_INCLUDED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#define HASHSET_IS_INCLUDED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#include &lt;vector&gt;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#include &lt;</a:t>
            </a:r>
            <a:r>
              <a:rPr lang="en-US" sz="900" dirty="0" err="1">
                <a:latin typeface="Lucida Console" panose="020B0609040504020204" pitchFamily="49" charset="0"/>
              </a:rPr>
              <a:t>stdio.h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,class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class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typedef</a:t>
            </a:r>
            <a:r>
              <a:rPr lang="en-US" sz="900" dirty="0">
                <a:latin typeface="Lucida Console" panose="020B0609040504020204" pitchFamily="49" charset="0"/>
              </a:rPr>
              <a:t> unsigned 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CodeType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private: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class Entry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public: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hashKey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latin typeface="Lucida Console" panose="020B0609040504020204" pitchFamily="49" charset="0"/>
              </a:rPr>
              <a:t>CodeType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value;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enum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MINIMUM_TABLE_SIZE=7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std</a:t>
            </a:r>
            <a:r>
              <a:rPr lang="en-US" sz="900" dirty="0">
                <a:latin typeface="Lucida Console" panose="020B0609040504020204" pitchFamily="49" charset="0"/>
              </a:rPr>
              <a:t>::vector &lt;</a:t>
            </a:r>
            <a:r>
              <a:rPr lang="en-US" sz="900" dirty="0" err="1">
                <a:latin typeface="Lucida Console" panose="020B0609040504020204" pitchFamily="49" charset="0"/>
              </a:rPr>
              <a:t>std</a:t>
            </a:r>
            <a:r>
              <a:rPr lang="en-US" sz="900" dirty="0">
                <a:latin typeface="Lucida Console" panose="020B0609040504020204" pitchFamily="49" charset="0"/>
              </a:rPr>
              <a:t>::vector &lt;Entry&gt; &gt; table;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int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nElem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unsigned 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int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&amp;key)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~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void </a:t>
            </a:r>
            <a:r>
              <a:rPr lang="en-US" sz="900" dirty="0" err="1">
                <a:latin typeface="Lucida Console" panose="020B0609040504020204" pitchFamily="49" charset="0"/>
              </a:rPr>
              <a:t>CleanUp</a:t>
            </a:r>
            <a:r>
              <a:rPr lang="en-US" sz="900" dirty="0">
                <a:latin typeface="Lucida Console" panose="020B0609040504020204" pitchFamily="49" charset="0"/>
              </a:rPr>
              <a:t>(void);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void Update(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&amp;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key,const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&amp;value);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bool </a:t>
            </a:r>
            <a:r>
              <a:rPr lang="en-US" sz="900" dirty="0" err="1">
                <a:latin typeface="Lucida Console" panose="020B0609040504020204" pitchFamily="49" charset="0"/>
              </a:rPr>
              <a:t>IsIncluded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&amp;key)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void Resize(long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int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tableSize</a:t>
            </a:r>
            <a:r>
              <a:rPr lang="en-US" sz="9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void Delete(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&amp;key);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*operator[](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key);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*operator[](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key)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7181" y="70613"/>
            <a:ext cx="3631122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()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table.resize</a:t>
            </a:r>
            <a:r>
              <a:rPr lang="en-US" sz="900" dirty="0">
                <a:latin typeface="Lucida Console" panose="020B0609040504020204" pitchFamily="49" charset="0"/>
              </a:rPr>
              <a:t>(MINIMUM_TABLE_SIZE);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nElem</a:t>
            </a:r>
            <a:r>
              <a:rPr lang="en-US" sz="900" dirty="0">
                <a:latin typeface="Lucida Console" panose="020B0609040504020204" pitchFamily="49" charset="0"/>
              </a:rPr>
              <a:t>=0;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&gt;::~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()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void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</a:t>
            </a:r>
            <a:r>
              <a:rPr lang="en-US" sz="900" dirty="0" err="1">
                <a:latin typeface="Lucida Console" panose="020B0609040504020204" pitchFamily="49" charset="0"/>
              </a:rPr>
              <a:t>CleanUp</a:t>
            </a:r>
            <a:r>
              <a:rPr lang="en-US" sz="9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table.resize</a:t>
            </a:r>
            <a:r>
              <a:rPr lang="en-US" sz="900" dirty="0">
                <a:latin typeface="Lucida Console" panose="020B0609040504020204" pitchFamily="49" charset="0"/>
              </a:rPr>
              <a:t>(MINIMUM_TABLE_SIZE);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for(auto &amp;t : table)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latin typeface="Lucida Console" panose="020B0609040504020204" pitchFamily="49" charset="0"/>
              </a:rPr>
              <a:t>t.clear</a:t>
            </a:r>
            <a:r>
              <a:rPr lang="en-US" sz="9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nElem</a:t>
            </a:r>
            <a:r>
              <a:rPr lang="en-US" sz="900" dirty="0">
                <a:latin typeface="Lucida Console" panose="020B0609040504020204" pitchFamily="49" charset="0"/>
              </a:rPr>
              <a:t>=0;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void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&gt;::Update(</a:t>
            </a:r>
            <a:b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</a:b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&amp;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key,const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&amp;value)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(key);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hashCode%table.size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for(auto &amp;e : table[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])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    if(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e.hashCode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&amp;&amp;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e.hashKey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==key)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    {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e.value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=value;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        return;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Entry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entry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entry.hashKey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=key;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entry.hashCode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entry.value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=value;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table[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].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push_back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(entry);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++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nElem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461437" y="6060559"/>
            <a:ext cx="648586" cy="335886"/>
          </a:xfrm>
          <a:custGeom>
            <a:avLst/>
            <a:gdLst>
              <a:gd name="connsiteX0" fmla="*/ 648586 w 648586"/>
              <a:gd name="connsiteY0" fmla="*/ 313660 h 335886"/>
              <a:gd name="connsiteX1" fmla="*/ 260498 w 648586"/>
              <a:gd name="connsiteY1" fmla="*/ 303028 h 335886"/>
              <a:gd name="connsiteX2" fmla="*/ 0 w 648586"/>
              <a:gd name="connsiteY2" fmla="*/ 0 h 335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8586" h="335886">
                <a:moveTo>
                  <a:pt x="648586" y="313660"/>
                </a:moveTo>
                <a:cubicBezTo>
                  <a:pt x="508591" y="334482"/>
                  <a:pt x="368596" y="355305"/>
                  <a:pt x="260498" y="303028"/>
                </a:cubicBezTo>
                <a:cubicBezTo>
                  <a:pt x="152400" y="250751"/>
                  <a:pt x="76200" y="125375"/>
                  <a:pt x="0" y="0"/>
                </a:cubicBezTo>
              </a:path>
            </a:pathLst>
          </a:custGeom>
          <a:noFill/>
          <a:ln>
            <a:solidFill>
              <a:srgbClr val="FF33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31780" y="6178880"/>
            <a:ext cx="5802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Returns a pointer, not a reference.  If no value is set for the key, it can return a </a:t>
            </a:r>
            <a:r>
              <a:rPr lang="en-US" dirty="0" err="1">
                <a:solidFill>
                  <a:srgbClr val="FF0000"/>
                </a:solidFill>
              </a:rPr>
              <a:t>nullptr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6474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0378" y="85064"/>
            <a:ext cx="5078634" cy="687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bool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</a:t>
            </a:r>
            <a:r>
              <a:rPr lang="en-US" sz="900" dirty="0" err="1">
                <a:latin typeface="Lucida Console" panose="020B0609040504020204" pitchFamily="49" charset="0"/>
              </a:rPr>
              <a:t>IsIncluded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&amp;key)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(key);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latin typeface="Lucida Console" panose="020B0609040504020204" pitchFamily="49" charset="0"/>
              </a:rPr>
              <a:t>idx</a:t>
            </a:r>
            <a:r>
              <a:rPr lang="en-US" sz="900" dirty="0"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latin typeface="Lucida Console" panose="020B0609040504020204" pitchFamily="49" charset="0"/>
              </a:rPr>
              <a:t>hashCode%table.size</a:t>
            </a:r>
            <a:r>
              <a:rPr lang="en-US" sz="9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for(auto e : table[</a:t>
            </a:r>
            <a:r>
              <a:rPr lang="en-US" sz="900" dirty="0" err="1">
                <a:latin typeface="Lucida Console" panose="020B0609040504020204" pitchFamily="49" charset="0"/>
              </a:rPr>
              <a:t>idx</a:t>
            </a:r>
            <a:r>
              <a:rPr lang="en-US" sz="900" dirty="0">
                <a:latin typeface="Lucida Console" panose="020B0609040504020204" pitchFamily="49" charset="0"/>
              </a:rPr>
              <a:t>])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if(</a:t>
            </a:r>
            <a:r>
              <a:rPr lang="en-US" sz="900" dirty="0" err="1">
                <a:latin typeface="Lucida Console" panose="020B0609040504020204" pitchFamily="49" charset="0"/>
              </a:rPr>
              <a:t>e.hashCode</a:t>
            </a:r>
            <a:r>
              <a:rPr lang="en-US" sz="900" dirty="0">
                <a:latin typeface="Lucida Console" panose="020B0609040504020204" pitchFamily="49" charset="0"/>
              </a:rPr>
              <a:t>==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 &amp;&amp; </a:t>
            </a:r>
            <a:r>
              <a:rPr lang="en-US" sz="900" dirty="0" err="1">
                <a:latin typeface="Lucida Console" panose="020B0609040504020204" pitchFamily="49" charset="0"/>
              </a:rPr>
              <a:t>e.hashKey</a:t>
            </a:r>
            <a:r>
              <a:rPr lang="en-US" sz="900" dirty="0">
                <a:latin typeface="Lucida Console" panose="020B0609040504020204" pitchFamily="49" charset="0"/>
              </a:rPr>
              <a:t>==key)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return true;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return false;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void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&gt;::Resize(long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int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tableSize</a:t>
            </a:r>
            <a:r>
              <a:rPr lang="en-US" sz="9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std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::vector &lt;Entry&gt; buffer;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for(auto &amp;t : table)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    for(auto e : t)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    {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buffer.push_back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(e);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t.clear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table.resize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tableSize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for(auto b : buffer)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    Update(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b.hashKey,b.value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void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&gt;::Delete(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&amp;key)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(key);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latin typeface="Lucida Console" panose="020B0609040504020204" pitchFamily="49" charset="0"/>
              </a:rPr>
              <a:t>idx</a:t>
            </a:r>
            <a:r>
              <a:rPr lang="en-US" sz="900" dirty="0"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latin typeface="Lucida Console" panose="020B0609040504020204" pitchFamily="49" charset="0"/>
              </a:rPr>
              <a:t>hashCode%table.size</a:t>
            </a:r>
            <a:r>
              <a:rPr lang="en-US" sz="9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for(auto &amp;e : table[</a:t>
            </a:r>
            <a:r>
              <a:rPr lang="en-US" sz="900" dirty="0" err="1">
                <a:latin typeface="Lucida Console" panose="020B0609040504020204" pitchFamily="49" charset="0"/>
              </a:rPr>
              <a:t>idx</a:t>
            </a:r>
            <a:r>
              <a:rPr lang="en-US" sz="900" dirty="0">
                <a:latin typeface="Lucida Console" panose="020B0609040504020204" pitchFamily="49" charset="0"/>
              </a:rPr>
              <a:t>])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if(</a:t>
            </a:r>
            <a:r>
              <a:rPr lang="en-US" sz="900" dirty="0" err="1">
                <a:latin typeface="Lucida Console" panose="020B0609040504020204" pitchFamily="49" charset="0"/>
              </a:rPr>
              <a:t>e.hashCode</a:t>
            </a:r>
            <a:r>
              <a:rPr lang="en-US" sz="900" dirty="0">
                <a:latin typeface="Lucida Console" panose="020B0609040504020204" pitchFamily="49" charset="0"/>
              </a:rPr>
              <a:t>==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 &amp;&amp; </a:t>
            </a:r>
            <a:r>
              <a:rPr lang="en-US" sz="900" dirty="0" err="1">
                <a:latin typeface="Lucida Console" panose="020B0609040504020204" pitchFamily="49" charset="0"/>
              </a:rPr>
              <a:t>e.hashKey</a:t>
            </a:r>
            <a:r>
              <a:rPr lang="en-US" sz="900" dirty="0">
                <a:latin typeface="Lucida Console" panose="020B0609040504020204" pitchFamily="49" charset="0"/>
              </a:rPr>
              <a:t>==key)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e=table[</a:t>
            </a:r>
            <a:r>
              <a:rPr lang="en-US" sz="900" dirty="0" err="1">
                <a:latin typeface="Lucida Console" panose="020B0609040504020204" pitchFamily="49" charset="0"/>
              </a:rPr>
              <a:t>idx</a:t>
            </a:r>
            <a:r>
              <a:rPr lang="en-US" sz="900" dirty="0">
                <a:latin typeface="Lucida Console" panose="020B0609040504020204" pitchFamily="49" charset="0"/>
              </a:rPr>
              <a:t>].back();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table[</a:t>
            </a:r>
            <a:r>
              <a:rPr lang="en-US" sz="900" dirty="0" err="1">
                <a:latin typeface="Lucida Console" panose="020B0609040504020204" pitchFamily="49" charset="0"/>
              </a:rPr>
              <a:t>idx</a:t>
            </a:r>
            <a:r>
              <a:rPr lang="en-US" sz="900" dirty="0">
                <a:latin typeface="Lucida Console" panose="020B0609040504020204" pitchFamily="49" charset="0"/>
              </a:rPr>
              <a:t>].</a:t>
            </a:r>
            <a:r>
              <a:rPr lang="en-US" sz="900" dirty="0" err="1">
                <a:latin typeface="Lucida Console" panose="020B0609040504020204" pitchFamily="49" charset="0"/>
              </a:rPr>
              <a:t>pop_back</a:t>
            </a:r>
            <a:r>
              <a:rPr lang="en-US" sz="900" dirty="0">
                <a:latin typeface="Lucida Console" panose="020B0609040504020204" pitchFamily="49" charset="0"/>
              </a:rPr>
              <a:t>();</a:t>
            </a:r>
            <a:br>
              <a:rPr lang="en-US" sz="900" dirty="0">
                <a:latin typeface="Lucida Console" panose="020B0609040504020204" pitchFamily="49" charset="0"/>
              </a:rPr>
            </a:br>
            <a:r>
              <a:rPr lang="en-US" sz="900" dirty="0">
                <a:latin typeface="Lucida Console" panose="020B0609040504020204" pitchFamily="49" charset="0"/>
              </a:rPr>
              <a:t>            --</a:t>
            </a:r>
            <a:r>
              <a:rPr lang="en-US" sz="900" dirty="0" err="1">
                <a:latin typeface="Lucida Console" panose="020B0609040504020204" pitchFamily="49" charset="0"/>
              </a:rPr>
              <a:t>nElem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break;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15561" y="1277470"/>
            <a:ext cx="4182555" cy="49398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*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&gt;::operator[](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key)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(key);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hashCode%table.size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for(auto &amp;e : table[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])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    if(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e.hashCode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&amp;&amp;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e.hashKey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==key)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    {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        return &amp;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e.value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return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*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&gt;::operator[](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key)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(key);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hashCode%table.size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for(auto &amp;e : table[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])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    if(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e.hashCode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&amp;&amp;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e.hashKey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==key)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    {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        return &amp;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e.value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return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#</a:t>
            </a:r>
            <a:r>
              <a:rPr lang="en-US" sz="900" dirty="0" err="1">
                <a:latin typeface="Lucida Console" panose="020B0609040504020204" pitchFamily="49" charset="0"/>
              </a:rPr>
              <a:t>endif</a:t>
            </a:r>
            <a:endParaRPr lang="en-US" sz="900" dirty="0">
              <a:latin typeface="Lucida Console" panose="020B0609040504020204" pitchFamily="49" charset="0"/>
            </a:endParaRPr>
          </a:p>
          <a:p>
            <a:endParaRPr lang="en-US" sz="9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136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Enumerating keys and values in the hash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can I visit keys and values stored in the hash table?</a:t>
            </a:r>
          </a:p>
          <a:p>
            <a:r>
              <a:rPr lang="en-US" dirty="0"/>
              <a:t>Same problem for a hash set.</a:t>
            </a:r>
          </a:p>
          <a:p>
            <a:r>
              <a:rPr lang="en-US" dirty="0"/>
              <a:t>So far, hash key and hash set are useful for checking if a key is in the set.</a:t>
            </a:r>
          </a:p>
          <a:p>
            <a:r>
              <a:rPr lang="en-US" dirty="0"/>
              <a:t>But, not as useful as a storage unless I can enumerate key and values in the hash table and hash set.</a:t>
            </a:r>
          </a:p>
        </p:txBody>
      </p:sp>
    </p:spTree>
    <p:extLst>
      <p:ext uri="{BB962C8B-B14F-4D97-AF65-F5344CB8AC3E}">
        <p14:creationId xmlns:p14="http://schemas.microsoft.com/office/powerpoint/2010/main" val="2681321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element-enumerating handle.</a:t>
            </a:r>
          </a:p>
          <a:p>
            <a:endParaRPr lang="en-US" dirty="0"/>
          </a:p>
          <a:p>
            <a:r>
              <a:rPr lang="en-US" dirty="0"/>
              <a:t>A handle remembers the location in the table, row and column. </a:t>
            </a:r>
          </a:p>
        </p:txBody>
      </p:sp>
    </p:spTree>
    <p:extLst>
      <p:ext uri="{BB962C8B-B14F-4D97-AF65-F5344CB8AC3E}">
        <p14:creationId xmlns:p14="http://schemas.microsoft.com/office/powerpoint/2010/main" val="727463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4172" y="313660"/>
            <a:ext cx="4458272" cy="66018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class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typedef</a:t>
            </a:r>
            <a:r>
              <a:rPr lang="en-US" sz="900" dirty="0">
                <a:latin typeface="Lucida Console" panose="020B0609040504020204" pitchFamily="49" charset="0"/>
              </a:rPr>
              <a:t> unsigned 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CodeType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class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EnumHandle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public: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    long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long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    long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long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arrayIdx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};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private: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class Entry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public: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hashKey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latin typeface="Lucida Console" panose="020B0609040504020204" pitchFamily="49" charset="0"/>
              </a:rPr>
              <a:t>CodeType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 value;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enum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MINIMUM_TABLE_SIZE=7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std</a:t>
            </a:r>
            <a:r>
              <a:rPr lang="en-US" sz="900" dirty="0">
                <a:latin typeface="Lucida Console" panose="020B0609040504020204" pitchFamily="49" charset="0"/>
              </a:rPr>
              <a:t>::vector &lt;</a:t>
            </a:r>
            <a:r>
              <a:rPr lang="en-US" sz="900" dirty="0" err="1">
                <a:latin typeface="Lucida Console" panose="020B0609040504020204" pitchFamily="49" charset="0"/>
              </a:rPr>
              <a:t>std</a:t>
            </a:r>
            <a:r>
              <a:rPr lang="en-US" sz="900" dirty="0">
                <a:latin typeface="Lucida Console" panose="020B0609040504020204" pitchFamily="49" charset="0"/>
              </a:rPr>
              <a:t>::vector &lt;Entry&gt; &gt; table;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int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nElem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unsigned 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int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&amp;key)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~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void </a:t>
            </a:r>
            <a:r>
              <a:rPr lang="en-US" sz="900" dirty="0" err="1">
                <a:latin typeface="Lucida Console" panose="020B0609040504020204" pitchFamily="49" charset="0"/>
              </a:rPr>
              <a:t>CleanUp</a:t>
            </a:r>
            <a:r>
              <a:rPr lang="en-US" sz="900" dirty="0">
                <a:latin typeface="Lucida Console" panose="020B0609040504020204" pitchFamily="49" charset="0"/>
              </a:rPr>
              <a:t>(void);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    void Update(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</a:t>
            </a:r>
            <a:r>
              <a:rPr lang="en-US" sz="900" dirty="0" err="1">
                <a:latin typeface="Lucida Console" panose="020B0609040504020204" pitchFamily="49" charset="0"/>
              </a:rPr>
              <a:t>key,const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 &amp;value);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bool </a:t>
            </a:r>
            <a:r>
              <a:rPr lang="en-US" sz="900" dirty="0" err="1">
                <a:latin typeface="Lucida Console" panose="020B0609040504020204" pitchFamily="49" charset="0"/>
              </a:rPr>
              <a:t>IsIncluded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&amp;key)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void Resize(long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int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tableSize</a:t>
            </a:r>
            <a:r>
              <a:rPr lang="en-US" sz="9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void Delete(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&amp;key);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 *operator[](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key);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 *operator[](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key)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First(void)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bool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IsNotNull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hd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)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Next(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hd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)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*operator[](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hd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*operator[](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hd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)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&amp;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GetKey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hd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)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74778" y="1886367"/>
            <a:ext cx="23689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Can be made private, and make </a:t>
            </a:r>
            <a:r>
              <a:rPr lang="en-US" sz="1100" dirty="0" err="1">
                <a:solidFill>
                  <a:srgbClr val="FF0000"/>
                </a:solidFill>
              </a:rPr>
              <a:t>HashTable</a:t>
            </a:r>
            <a:r>
              <a:rPr lang="en-US" sz="1100" dirty="0">
                <a:solidFill>
                  <a:srgbClr val="FF0000"/>
                </a:solidFill>
              </a:rPr>
              <a:t> class as a friend.</a:t>
            </a:r>
          </a:p>
        </p:txBody>
      </p:sp>
      <p:sp>
        <p:nvSpPr>
          <p:cNvPr id="6" name="Freeform 5"/>
          <p:cNvSpPr/>
          <p:nvPr/>
        </p:nvSpPr>
        <p:spPr>
          <a:xfrm>
            <a:off x="2382819" y="1592132"/>
            <a:ext cx="288101" cy="365760"/>
          </a:xfrm>
          <a:custGeom>
            <a:avLst/>
            <a:gdLst>
              <a:gd name="connsiteX0" fmla="*/ 285077 w 288101"/>
              <a:gd name="connsiteY0" fmla="*/ 365760 h 365760"/>
              <a:gd name="connsiteX1" fmla="*/ 247426 w 288101"/>
              <a:gd name="connsiteY1" fmla="*/ 107576 h 365760"/>
              <a:gd name="connsiteX2" fmla="*/ 0 w 288101"/>
              <a:gd name="connsiteY2" fmla="*/ 0 h 36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8101" h="365760">
                <a:moveTo>
                  <a:pt x="285077" y="365760"/>
                </a:moveTo>
                <a:cubicBezTo>
                  <a:pt x="290008" y="267148"/>
                  <a:pt x="294939" y="168536"/>
                  <a:pt x="247426" y="107576"/>
                </a:cubicBezTo>
                <a:cubicBezTo>
                  <a:pt x="199913" y="46616"/>
                  <a:pt x="99956" y="23308"/>
                  <a:pt x="0" y="0"/>
                </a:cubicBezTo>
              </a:path>
            </a:pathLst>
          </a:custGeom>
          <a:noFill/>
          <a:ln>
            <a:solidFill>
              <a:srgbClr val="FF33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0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7335" y="207335"/>
            <a:ext cx="6870792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latin typeface="Lucida Console" panose="020B0609040504020204" pitchFamily="49" charset="0"/>
              </a:rPr>
              <a:t>typename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</a:t>
            </a:r>
            <a:r>
              <a:rPr lang="en-US" sz="900" dirty="0" err="1"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&gt;::First(void)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=0;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hd.arrayIdx</a:t>
            </a:r>
            <a:r>
              <a:rPr lang="en-US" sz="900" dirty="0">
                <a:latin typeface="Lucida Console" panose="020B0609040504020204" pitchFamily="49" charset="0"/>
              </a:rPr>
              <a:t>=0;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while(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table.size</a:t>
            </a:r>
            <a:r>
              <a:rPr lang="en-US" sz="900" dirty="0">
                <a:latin typeface="Lucida Console" panose="020B0609040504020204" pitchFamily="49" charset="0"/>
              </a:rPr>
              <a:t>())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if(0&lt;table[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].size())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return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++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=-1;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hd.arrayIdx</a:t>
            </a:r>
            <a:r>
              <a:rPr lang="en-US" sz="900" dirty="0">
                <a:latin typeface="Lucida Console" panose="020B0609040504020204" pitchFamily="49" charset="0"/>
              </a:rPr>
              <a:t>=-1;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return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bool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</a:t>
            </a:r>
            <a:r>
              <a:rPr lang="en-US" sz="900" dirty="0" err="1">
                <a:latin typeface="Lucida Console" panose="020B0609040504020204" pitchFamily="49" charset="0"/>
              </a:rPr>
              <a:t>IsNotNull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if(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&lt;0 || </a:t>
            </a:r>
            <a:r>
              <a:rPr lang="en-US" sz="900" dirty="0" err="1">
                <a:latin typeface="Lucida Console" panose="020B0609040504020204" pitchFamily="49" charset="0"/>
              </a:rPr>
              <a:t>table.size</a:t>
            </a:r>
            <a:r>
              <a:rPr lang="en-US" sz="900" dirty="0">
                <a:latin typeface="Lucida Console" panose="020B0609040504020204" pitchFamily="49" charset="0"/>
              </a:rPr>
              <a:t>()&lt;=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return false;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return true;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31297" y="1245511"/>
            <a:ext cx="3173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Increment table index until the first key is found.</a:t>
            </a:r>
          </a:p>
        </p:txBody>
      </p:sp>
      <p:sp>
        <p:nvSpPr>
          <p:cNvPr id="6" name="Freeform 5"/>
          <p:cNvSpPr/>
          <p:nvPr/>
        </p:nvSpPr>
        <p:spPr>
          <a:xfrm>
            <a:off x="2926080" y="1370095"/>
            <a:ext cx="473336" cy="76809"/>
          </a:xfrm>
          <a:custGeom>
            <a:avLst/>
            <a:gdLst>
              <a:gd name="connsiteX0" fmla="*/ 473336 w 473336"/>
              <a:gd name="connsiteY0" fmla="*/ 76809 h 76809"/>
              <a:gd name="connsiteX1" fmla="*/ 268941 w 473336"/>
              <a:gd name="connsiteY1" fmla="*/ 1505 h 76809"/>
              <a:gd name="connsiteX2" fmla="*/ 0 w 473336"/>
              <a:gd name="connsiteY2" fmla="*/ 33778 h 76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3336" h="76809">
                <a:moveTo>
                  <a:pt x="473336" y="76809"/>
                </a:moveTo>
                <a:cubicBezTo>
                  <a:pt x="410583" y="42743"/>
                  <a:pt x="347830" y="8677"/>
                  <a:pt x="268941" y="1505"/>
                </a:cubicBezTo>
                <a:cubicBezTo>
                  <a:pt x="190052" y="-5667"/>
                  <a:pt x="95026" y="14055"/>
                  <a:pt x="0" y="33778"/>
                </a:cubicBezTo>
              </a:path>
            </a:pathLst>
          </a:custGeom>
          <a:noFill/>
          <a:ln>
            <a:solidFill>
              <a:srgbClr val="FF33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998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7335" y="207335"/>
            <a:ext cx="7422225" cy="6463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latin typeface="Lucida Console" panose="020B0609040504020204" pitchFamily="49" charset="0"/>
              </a:rPr>
              <a:t>typename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</a:t>
            </a:r>
            <a:r>
              <a:rPr lang="en-US" sz="900" dirty="0" err="1"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&gt;::Next(</a:t>
            </a:r>
            <a:r>
              <a:rPr lang="en-US" sz="900" dirty="0" err="1"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if(true!=</a:t>
            </a:r>
            <a:r>
              <a:rPr lang="en-US" sz="900" dirty="0" err="1">
                <a:latin typeface="Lucida Console" panose="020B0609040504020204" pitchFamily="49" charset="0"/>
              </a:rPr>
              <a:t>IsNotNull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))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return First();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    ++</a:t>
            </a:r>
            <a:r>
              <a:rPr lang="en-US" sz="900" dirty="0" err="1">
                <a:latin typeface="Lucida Console" panose="020B0609040504020204" pitchFamily="49" charset="0"/>
              </a:rPr>
              <a:t>hd.arrayIdx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if(</a:t>
            </a:r>
            <a:r>
              <a:rPr lang="en-US" sz="900" dirty="0" err="1">
                <a:latin typeface="Lucida Console" panose="020B0609040504020204" pitchFamily="49" charset="0"/>
              </a:rPr>
              <a:t>hd.arrayIdx</a:t>
            </a:r>
            <a:r>
              <a:rPr lang="en-US" sz="900" dirty="0">
                <a:latin typeface="Lucida Console" panose="020B0609040504020204" pitchFamily="49" charset="0"/>
              </a:rPr>
              <a:t>&lt;table[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].size())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return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hd.arrayIdx</a:t>
            </a:r>
            <a:r>
              <a:rPr lang="en-US" sz="900" dirty="0">
                <a:latin typeface="Lucida Console" panose="020B0609040504020204" pitchFamily="49" charset="0"/>
              </a:rPr>
              <a:t>=0;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++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while(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table.size</a:t>
            </a:r>
            <a:r>
              <a:rPr lang="en-US" sz="900" dirty="0">
                <a:latin typeface="Lucida Console" panose="020B0609040504020204" pitchFamily="49" charset="0"/>
              </a:rPr>
              <a:t>())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if(0&lt;table[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].size())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return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++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=-1;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hd.arrayIdx</a:t>
            </a:r>
            <a:r>
              <a:rPr lang="en-US" sz="900" dirty="0">
                <a:latin typeface="Lucida Console" panose="020B0609040504020204" pitchFamily="49" charset="0"/>
              </a:rPr>
              <a:t>=-1;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return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 *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&gt;::operator[](</a:t>
            </a:r>
            <a:r>
              <a:rPr lang="en-US" sz="900" dirty="0" err="1"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return &amp;table[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][</a:t>
            </a:r>
            <a:r>
              <a:rPr lang="en-US" sz="900" dirty="0" err="1">
                <a:latin typeface="Lucida Console" panose="020B0609040504020204" pitchFamily="49" charset="0"/>
              </a:rPr>
              <a:t>hd.arrayIdx</a:t>
            </a:r>
            <a:r>
              <a:rPr lang="en-US" sz="900" dirty="0">
                <a:latin typeface="Lucida Console" panose="020B0609040504020204" pitchFamily="49" charset="0"/>
              </a:rPr>
              <a:t>].value;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 *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&gt;::operator[](</a:t>
            </a:r>
            <a:r>
              <a:rPr lang="en-US" sz="900" dirty="0" err="1"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return &amp;table[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][</a:t>
            </a:r>
            <a:r>
              <a:rPr lang="en-US" sz="900" dirty="0" err="1">
                <a:latin typeface="Lucida Console" panose="020B0609040504020204" pitchFamily="49" charset="0"/>
              </a:rPr>
              <a:t>hd.arrayIdx</a:t>
            </a:r>
            <a:r>
              <a:rPr lang="en-US" sz="900" dirty="0">
                <a:latin typeface="Lucida Console" panose="020B0609040504020204" pitchFamily="49" charset="0"/>
              </a:rPr>
              <a:t>].value;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</a:t>
            </a:r>
            <a:r>
              <a:rPr lang="en-US" sz="900" dirty="0" err="1">
                <a:latin typeface="Lucida Console" panose="020B0609040504020204" pitchFamily="49" charset="0"/>
              </a:rPr>
              <a:t>GetKey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return table[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][</a:t>
            </a:r>
            <a:r>
              <a:rPr lang="en-US" sz="900" dirty="0" err="1">
                <a:latin typeface="Lucida Console" panose="020B0609040504020204" pitchFamily="49" charset="0"/>
              </a:rPr>
              <a:t>hd.arrayIdx</a:t>
            </a:r>
            <a:r>
              <a:rPr lang="en-US" sz="900" dirty="0">
                <a:latin typeface="Lucida Console" panose="020B0609040504020204" pitchFamily="49" charset="0"/>
              </a:rPr>
              <a:t>].</a:t>
            </a:r>
            <a:r>
              <a:rPr lang="en-US" sz="900" dirty="0" err="1">
                <a:latin typeface="Lucida Console" panose="020B0609040504020204" pitchFamily="49" charset="0"/>
              </a:rPr>
              <a:t>hashKey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911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Re-designing </a:t>
            </a:r>
            <a:r>
              <a:rPr lang="en-US" dirty="0" err="1"/>
              <a:t>HashSet</a:t>
            </a:r>
            <a:r>
              <a:rPr lang="en-US" dirty="0"/>
              <a:t> and </a:t>
            </a:r>
            <a:r>
              <a:rPr lang="en-US" dirty="0" err="1"/>
              <a:t>HashTable</a:t>
            </a:r>
            <a:r>
              <a:rPr lang="en-US" dirty="0"/>
              <a:t> with a Common Base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HashSet</a:t>
            </a:r>
            <a:r>
              <a:rPr lang="en-US" dirty="0"/>
              <a:t> and </a:t>
            </a:r>
            <a:r>
              <a:rPr lang="en-US" dirty="0" err="1"/>
              <a:t>HashTable</a:t>
            </a:r>
            <a:r>
              <a:rPr lang="en-US" dirty="0"/>
              <a:t> works, but….</a:t>
            </a:r>
          </a:p>
          <a:p>
            <a:r>
              <a:rPr lang="en-US" dirty="0"/>
              <a:t>There are some common features.</a:t>
            </a:r>
          </a:p>
          <a:p>
            <a:pPr lvl="1"/>
            <a:r>
              <a:rPr lang="en-US" dirty="0" err="1"/>
              <a:t>HashCode</a:t>
            </a:r>
            <a:r>
              <a:rPr lang="en-US" dirty="0"/>
              <a:t> function.  It is currently not very convenient.  You need to specialize a function for all combinations of the template parameters for both </a:t>
            </a:r>
            <a:r>
              <a:rPr lang="en-US" dirty="0" err="1"/>
              <a:t>HashSet</a:t>
            </a:r>
            <a:r>
              <a:rPr lang="en-US" dirty="0"/>
              <a:t> and </a:t>
            </a:r>
            <a:r>
              <a:rPr lang="en-US" dirty="0" err="1"/>
              <a:t>HashTable</a:t>
            </a:r>
            <a:r>
              <a:rPr lang="en-US" dirty="0"/>
              <a:t> even when </a:t>
            </a:r>
            <a:r>
              <a:rPr lang="en-US" dirty="0" err="1"/>
              <a:t>KeyType</a:t>
            </a:r>
            <a:r>
              <a:rPr lang="en-US" dirty="0"/>
              <a:t> is the same.</a:t>
            </a:r>
          </a:p>
          <a:p>
            <a:pPr lvl="1"/>
            <a:r>
              <a:rPr lang="en-US" dirty="0"/>
              <a:t>It is minor, but </a:t>
            </a:r>
            <a:r>
              <a:rPr lang="en-US" dirty="0" err="1"/>
              <a:t>nElem</a:t>
            </a:r>
            <a:r>
              <a:rPr lang="en-US" dirty="0"/>
              <a:t> is in common.</a:t>
            </a:r>
          </a:p>
          <a:p>
            <a:pPr lvl="1"/>
            <a:r>
              <a:rPr lang="en-US"/>
              <a:t>MINIMUM_TABLE_SIZE</a:t>
            </a:r>
            <a:endParaRPr lang="en-US" dirty="0"/>
          </a:p>
          <a:p>
            <a:pPr lvl="1"/>
            <a:r>
              <a:rPr lang="en-US" dirty="0"/>
              <a:t>Handle, too.  Since Entry differs between </a:t>
            </a:r>
            <a:r>
              <a:rPr lang="en-US" dirty="0" err="1"/>
              <a:t>HashSet</a:t>
            </a:r>
            <a:r>
              <a:rPr lang="en-US" dirty="0"/>
              <a:t> and </a:t>
            </a:r>
            <a:r>
              <a:rPr lang="en-US" dirty="0" err="1"/>
              <a:t>HashTable</a:t>
            </a:r>
            <a:r>
              <a:rPr lang="en-US" dirty="0"/>
              <a:t>, cannot make all enumeration functions in common, but,</a:t>
            </a:r>
          </a:p>
          <a:p>
            <a:pPr lvl="2"/>
            <a:r>
              <a:rPr lang="en-US" dirty="0"/>
              <a:t>First -&gt; Return a null handle when </a:t>
            </a:r>
            <a:r>
              <a:rPr lang="en-US" dirty="0" err="1"/>
              <a:t>nElem</a:t>
            </a:r>
            <a:r>
              <a:rPr lang="en-US" dirty="0"/>
              <a:t>==0, or row=0,column=0 otherwise.</a:t>
            </a:r>
          </a:p>
          <a:p>
            <a:pPr lvl="2"/>
            <a:r>
              <a:rPr lang="en-US" dirty="0" err="1"/>
              <a:t>IsNull</a:t>
            </a:r>
            <a:r>
              <a:rPr lang="en-US" dirty="0"/>
              <a:t> -&gt; Returns true if row&lt;0 otherwise false.</a:t>
            </a:r>
          </a:p>
        </p:txBody>
      </p:sp>
    </p:spTree>
    <p:extLst>
      <p:ext uri="{BB962C8B-B14F-4D97-AF65-F5344CB8AC3E}">
        <p14:creationId xmlns:p14="http://schemas.microsoft.com/office/powerpoint/2010/main" val="75281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production software development, duplicate code is evil.</a:t>
            </a:r>
          </a:p>
          <a:p>
            <a:r>
              <a:rPr lang="en-US" dirty="0"/>
              <a:t>Whenever you notice that you are typing the same thing twice, think if there is a way to make it one, and use the same code in the next time.</a:t>
            </a:r>
          </a:p>
          <a:p>
            <a:r>
              <a:rPr lang="en-US" dirty="0"/>
              <a:t>Since </a:t>
            </a:r>
            <a:r>
              <a:rPr lang="en-US" dirty="0" err="1"/>
              <a:t>HashSet</a:t>
            </a:r>
            <a:r>
              <a:rPr lang="en-US" dirty="0"/>
              <a:t> and </a:t>
            </a:r>
            <a:r>
              <a:rPr lang="en-US" dirty="0" err="1"/>
              <a:t>HashTable</a:t>
            </a:r>
            <a:r>
              <a:rPr lang="en-US" dirty="0"/>
              <a:t> classes have something in common, you can make two base classes from which </a:t>
            </a:r>
            <a:r>
              <a:rPr lang="en-US" dirty="0" err="1"/>
              <a:t>HashSet</a:t>
            </a:r>
            <a:r>
              <a:rPr lang="en-US" dirty="0"/>
              <a:t> and </a:t>
            </a:r>
            <a:r>
              <a:rPr lang="en-US" dirty="0" err="1"/>
              <a:t>HashTable</a:t>
            </a:r>
            <a:r>
              <a:rPr lang="en-US" dirty="0"/>
              <a:t> are derived:</a:t>
            </a:r>
          </a:p>
          <a:p>
            <a:pPr lvl="1"/>
            <a:r>
              <a:rPr lang="en-US" dirty="0" err="1"/>
              <a:t>HashBase</a:t>
            </a:r>
            <a:endParaRPr lang="en-US" dirty="0"/>
          </a:p>
          <a:p>
            <a:pPr lvl="1"/>
            <a:r>
              <a:rPr lang="en-US" dirty="0" err="1"/>
              <a:t>HashCommon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588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2 base classes?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 usage of '</a:t>
            </a:r>
            <a:r>
              <a:rPr lang="en-US" dirty="0" err="1"/>
              <a:t>typename</a:t>
            </a:r>
            <a:r>
              <a:rPr lang="en-US" dirty="0"/>
              <a:t>' and 'using' keywords.</a:t>
            </a:r>
          </a:p>
          <a:p>
            <a:r>
              <a:rPr lang="en-US" dirty="0"/>
              <a:t>GCC imposed this requirement a few versions ago, and clang also took the same requirement.</a:t>
            </a:r>
          </a:p>
          <a:p>
            <a:r>
              <a:rPr lang="en-US" dirty="0"/>
              <a:t>When data type depends on template parameters, you need to add '</a:t>
            </a:r>
            <a:r>
              <a:rPr lang="en-US" dirty="0" err="1"/>
              <a:t>typename</a:t>
            </a:r>
            <a:r>
              <a:rPr lang="en-US" dirty="0"/>
              <a:t>' keyword in front of the data type.</a:t>
            </a:r>
          </a:p>
          <a:p>
            <a:r>
              <a:rPr lang="en-US" dirty="0"/>
              <a:t>When using a label (variable name, function name, or </a:t>
            </a:r>
            <a:r>
              <a:rPr lang="en-US" dirty="0" err="1"/>
              <a:t>enum</a:t>
            </a:r>
            <a:r>
              <a:rPr lang="en-US" dirty="0"/>
              <a:t>) of the base class from a sub-class, which is a template class, you explicitly need to specify the base-class name.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477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GCC and clang's justification:  The base-class is not complete until the template parameter is given.  There can be a situation that the code cannot be compiled depending on the template parameter.</a:t>
            </a:r>
          </a:p>
          <a:p>
            <a:r>
              <a:rPr lang="en-US" dirty="0"/>
              <a:t>Visual C++'s approach:  Give an error when the code cannot be compiled because of the given template parameter.  Therefore, '</a:t>
            </a:r>
            <a:r>
              <a:rPr lang="en-US" dirty="0" err="1"/>
              <a:t>typename</a:t>
            </a:r>
            <a:r>
              <a:rPr lang="en-US" dirty="0"/>
              <a:t>' and 'using' is optional.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950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hashbase.h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7000" y="914400"/>
            <a:ext cx="4950647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#</a:t>
            </a:r>
            <a:r>
              <a:rPr lang="en-US" sz="1100" dirty="0" err="1">
                <a:latin typeface="Consolas" panose="020B0609020204030204" pitchFamily="49" charset="0"/>
              </a:rPr>
              <a:t>ifndef</a:t>
            </a:r>
            <a:r>
              <a:rPr lang="en-US" sz="1100" dirty="0">
                <a:latin typeface="Consolas" panose="020B0609020204030204" pitchFamily="49" charset="0"/>
              </a:rPr>
              <a:t> HASHBASE_IS_INCLUDED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#define HASHBASE_IS_INCLUDED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/* { */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template &lt;class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class </a:t>
            </a:r>
            <a:r>
              <a:rPr lang="en-US" sz="1100" dirty="0" err="1">
                <a:latin typeface="Consolas" panose="020B0609020204030204" pitchFamily="49" charset="0"/>
              </a:rPr>
              <a:t>HashBase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// This function must be specialized for a key type.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unsigned long </a:t>
            </a:r>
            <a:r>
              <a:rPr lang="en-US" sz="1100" dirty="0" err="1">
                <a:latin typeface="Consolas" panose="020B0609020204030204" pitchFamily="49" charset="0"/>
              </a:rPr>
              <a:t>long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HashCode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&amp;key)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class </a:t>
            </a:r>
            <a:r>
              <a:rPr lang="en-US" sz="1100" dirty="0" err="1">
                <a:latin typeface="Consolas" panose="020B0609020204030204" pitchFamily="49" charset="0"/>
              </a:rPr>
              <a:t>HashCommon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typedef</a:t>
            </a:r>
            <a:r>
              <a:rPr lang="en-US" sz="1100" dirty="0">
                <a:latin typeface="Consolas" panose="020B0609020204030204" pitchFamily="49" charset="0"/>
              </a:rPr>
              <a:t> unsigned long </a:t>
            </a:r>
            <a:r>
              <a:rPr lang="en-US" sz="1100" dirty="0" err="1">
                <a:latin typeface="Consolas" panose="020B0609020204030204" pitchFamily="49" charset="0"/>
              </a:rPr>
              <a:t>long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CodeType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class Handle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long </a:t>
            </a:r>
            <a:r>
              <a:rPr lang="en-US" sz="1100" dirty="0" err="1">
                <a:latin typeface="Consolas" panose="020B0609020204030204" pitchFamily="49" charset="0"/>
              </a:rPr>
              <a:t>long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row,column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enum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MINIMUM_TABLE_SIZE=7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protected: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long </a:t>
            </a:r>
            <a:r>
              <a:rPr lang="en-US" sz="1100" dirty="0" err="1">
                <a:latin typeface="Consolas" panose="020B0609020204030204" pitchFamily="49" charset="0"/>
              </a:rPr>
              <a:t>long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nElem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92801" y="914400"/>
            <a:ext cx="3223846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HashCommon</a:t>
            </a:r>
            <a:r>
              <a:rPr lang="en-US" sz="11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nElem</a:t>
            </a:r>
            <a:r>
              <a:rPr lang="en-US" sz="1100" dirty="0">
                <a:latin typeface="Consolas" panose="020B0609020204030204" pitchFamily="49" charset="0"/>
              </a:rPr>
              <a:t>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bool </a:t>
            </a:r>
            <a:r>
              <a:rPr lang="en-US" sz="1100" dirty="0" err="1">
                <a:latin typeface="Consolas" panose="020B0609020204030204" pitchFamily="49" charset="0"/>
              </a:rPr>
              <a:t>IsNotNull</a:t>
            </a:r>
            <a:r>
              <a:rPr lang="en-US" sz="1100" dirty="0">
                <a:latin typeface="Consolas" panose="020B0609020204030204" pitchFamily="49" charset="0"/>
              </a:rPr>
              <a:t>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if(0&lt;=</a:t>
            </a:r>
            <a:r>
              <a:rPr lang="en-US" sz="1100" dirty="0" err="1">
                <a:latin typeface="Consolas" panose="020B0609020204030204" pitchFamily="49" charset="0"/>
              </a:rPr>
              <a:t>hd.row</a:t>
            </a:r>
            <a:r>
              <a:rPr lang="en-US" sz="1100" dirty="0">
                <a:latin typeface="Consolas" panose="020B0609020204030204" pitchFamily="49" charset="0"/>
              </a:rPr>
              <a:t> &amp;&amp; 0&lt;=</a:t>
            </a:r>
            <a:r>
              <a:rPr lang="en-US" sz="1100" dirty="0" err="1">
                <a:latin typeface="Consolas" panose="020B0609020204030204" pitchFamily="49" charset="0"/>
              </a:rPr>
              <a:t>hd.column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return true;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return false;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/* } */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</a:t>
            </a:r>
            <a:r>
              <a:rPr lang="en-US" sz="1100" dirty="0" err="1">
                <a:latin typeface="Consolas" panose="020B0609020204030204" pitchFamily="49" charset="0"/>
              </a:rPr>
              <a:t>endif</a:t>
            </a:r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6" name="Right Brace 5"/>
          <p:cNvSpPr/>
          <p:nvPr/>
        </p:nvSpPr>
        <p:spPr>
          <a:xfrm>
            <a:off x="2724150" y="3845520"/>
            <a:ext cx="285750" cy="92333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09901" y="3753639"/>
            <a:ext cx="251655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One drawback is you need to open access to row and column from sub-classes.  </a:t>
            </a:r>
          </a:p>
          <a:p>
            <a:r>
              <a:rPr lang="en-US" sz="1400" dirty="0"/>
              <a:t>Ideally I want to hide how Handle iterates through the elements.  But, you cannot make it private.</a:t>
            </a:r>
          </a:p>
        </p:txBody>
      </p:sp>
    </p:spTree>
    <p:extLst>
      <p:ext uri="{BB962C8B-B14F-4D97-AF65-F5344CB8AC3E}">
        <p14:creationId xmlns:p14="http://schemas.microsoft.com/office/powerpoint/2010/main" val="2939447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hashset.h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7000" y="889000"/>
            <a:ext cx="495064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#</a:t>
            </a:r>
            <a:r>
              <a:rPr lang="en-US" sz="1100" dirty="0" err="1">
                <a:latin typeface="Consolas" panose="020B0609020204030204" pitchFamily="49" charset="0"/>
              </a:rPr>
              <a:t>ifndef</a:t>
            </a:r>
            <a:r>
              <a:rPr lang="en-US" sz="1100" dirty="0">
                <a:latin typeface="Consolas" panose="020B0609020204030204" pitchFamily="49" charset="0"/>
              </a:rPr>
              <a:t> HASHSET_IS_INCLUDED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#define HASHSET_IS_INCLUDED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/* { */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#include &lt;vector&gt;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#include &lt;</a:t>
            </a:r>
            <a:r>
              <a:rPr lang="en-US" sz="1100" dirty="0" err="1">
                <a:latin typeface="Consolas" panose="020B0609020204030204" pitchFamily="49" charset="0"/>
              </a:rPr>
              <a:t>stdio.h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#include "</a:t>
            </a:r>
            <a:r>
              <a:rPr lang="en-US" sz="1100" dirty="0" err="1">
                <a:latin typeface="Consolas" panose="020B0609020204030204" pitchFamily="49" charset="0"/>
              </a:rPr>
              <a:t>hashbase.h</a:t>
            </a:r>
            <a:r>
              <a:rPr lang="en-US" sz="1100" dirty="0">
                <a:latin typeface="Consolas" panose="020B0609020204030204" pitchFamily="49" charset="0"/>
              </a:rPr>
              <a:t>"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template &lt;class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class </a:t>
            </a:r>
            <a:r>
              <a:rPr lang="en-US" sz="1100" dirty="0" err="1">
                <a:latin typeface="Consolas" panose="020B0609020204030204" pitchFamily="49" charset="0"/>
              </a:rPr>
              <a:t>HashSet</a:t>
            </a:r>
            <a:r>
              <a:rPr lang="en-US" sz="1100" dirty="0">
                <a:latin typeface="Consolas" panose="020B0609020204030204" pitchFamily="49" charset="0"/>
              </a:rPr>
              <a:t> : public </a:t>
            </a:r>
            <a:r>
              <a:rPr lang="en-US" sz="1100" dirty="0" err="1">
                <a:latin typeface="Consolas" panose="020B0609020204030204" pitchFamily="49" charset="0"/>
              </a:rPr>
              <a:t>HashBase</a:t>
            </a:r>
            <a:r>
              <a:rPr lang="en-US" sz="1100" dirty="0">
                <a:latin typeface="Consolas" panose="020B0609020204030204" pitchFamily="49" charset="0"/>
              </a:rPr>
              <a:t> &lt;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&gt;,public </a:t>
            </a:r>
            <a:r>
              <a:rPr lang="en-US" sz="1100" dirty="0" err="1">
                <a:latin typeface="Consolas" panose="020B0609020204030204" pitchFamily="49" charset="0"/>
              </a:rPr>
              <a:t>HashCommon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private: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class Entry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hashKey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CodeType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hashCode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std</a:t>
            </a:r>
            <a:r>
              <a:rPr lang="en-US" sz="1100" dirty="0">
                <a:latin typeface="Consolas" panose="020B0609020204030204" pitchFamily="49" charset="0"/>
              </a:rPr>
              <a:t>::vector &lt;</a:t>
            </a:r>
            <a:r>
              <a:rPr lang="en-US" sz="1100" dirty="0" err="1">
                <a:latin typeface="Consolas" panose="020B0609020204030204" pitchFamily="49" charset="0"/>
              </a:rPr>
              <a:t>std</a:t>
            </a:r>
            <a:r>
              <a:rPr lang="en-US" sz="1100" dirty="0">
                <a:latin typeface="Consolas" panose="020B0609020204030204" pitchFamily="49" charset="0"/>
              </a:rPr>
              <a:t>::vector &lt;Entry&gt; &gt; table;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using </a:t>
            </a:r>
            <a:r>
              <a:rPr lang="en-US" sz="1100" dirty="0" err="1">
                <a:latin typeface="Consolas" panose="020B0609020204030204" pitchFamily="49" charset="0"/>
              </a:rPr>
              <a:t>HashBase</a:t>
            </a:r>
            <a:r>
              <a:rPr lang="en-US" sz="1100" dirty="0">
                <a:latin typeface="Consolas" panose="020B0609020204030204" pitchFamily="49" charset="0"/>
              </a:rPr>
              <a:t>&lt;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&gt;::</a:t>
            </a:r>
            <a:r>
              <a:rPr lang="en-US" sz="1100" dirty="0" err="1">
                <a:latin typeface="Consolas" panose="020B0609020204030204" pitchFamily="49" charset="0"/>
              </a:rPr>
              <a:t>HashCode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HashSet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~</a:t>
            </a:r>
            <a:r>
              <a:rPr lang="en-US" sz="1100" dirty="0" err="1">
                <a:latin typeface="Consolas" panose="020B0609020204030204" pitchFamily="49" charset="0"/>
              </a:rPr>
              <a:t>HashSet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void </a:t>
            </a:r>
            <a:r>
              <a:rPr lang="en-US" sz="1100" dirty="0" err="1">
                <a:latin typeface="Consolas" panose="020B0609020204030204" pitchFamily="49" charset="0"/>
              </a:rPr>
              <a:t>CleanUp</a:t>
            </a:r>
            <a:r>
              <a:rPr lang="en-US" sz="1100" dirty="0">
                <a:latin typeface="Consolas" panose="020B0609020204030204" pitchFamily="49" charset="0"/>
              </a:rPr>
              <a:t>(void);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void Add(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&amp;key);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bool </a:t>
            </a:r>
            <a:r>
              <a:rPr lang="en-US" sz="1100" dirty="0" err="1">
                <a:latin typeface="Consolas" panose="020B0609020204030204" pitchFamily="49" charset="0"/>
              </a:rPr>
              <a:t>IsIncluded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&amp;key)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  <a:br>
              <a:rPr lang="en-US" sz="1100" dirty="0">
                <a:latin typeface="Consolas" panose="020B0609020204030204" pitchFamily="49" charset="0"/>
              </a:rPr>
            </a:br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>
                <a:latin typeface="Lucida Console" panose="020B0609040504020204" pitchFamily="49" charset="0"/>
              </a:rPr>
              <a:t>Handle First(void) </a:t>
            </a:r>
            <a:r>
              <a:rPr lang="en-US" sz="1100" dirty="0" err="1">
                <a:latin typeface="Lucida Console" panose="020B0609040504020204" pitchFamily="49" charset="0"/>
              </a:rPr>
              <a:t>const</a:t>
            </a:r>
            <a:r>
              <a:rPr lang="en-US" sz="1100" dirty="0">
                <a:latin typeface="Lucida Console" panose="020B0609040504020204" pitchFamily="49" charset="0"/>
              </a:rPr>
              <a:t>;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void Resize(long </a:t>
            </a:r>
            <a:r>
              <a:rPr lang="en-US" sz="1100" dirty="0" err="1">
                <a:latin typeface="Consolas" panose="020B0609020204030204" pitchFamily="49" charset="0"/>
              </a:rPr>
              <a:t>long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tableSize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void Delete(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&amp;key);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Handle Next(Handle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*operator[](Handle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};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3879850" y="5518150"/>
            <a:ext cx="1803400" cy="533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21350" y="5257799"/>
            <a:ext cx="33011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Enumeration feature can also be added by these two functions.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4787900" y="2399703"/>
            <a:ext cx="603250" cy="1529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34000" y="1476373"/>
            <a:ext cx="3619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Inheriting from the base classes.</a:t>
            </a:r>
          </a:p>
          <a:p>
            <a:r>
              <a:rPr lang="en-US" dirty="0" err="1"/>
              <a:t>Enums</a:t>
            </a:r>
            <a:r>
              <a:rPr lang="en-US" dirty="0"/>
              <a:t>, variables, functions written in the base class are removed from this class.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58900" y="2399703"/>
            <a:ext cx="3429000" cy="26729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387350" y="4584103"/>
            <a:ext cx="2813050" cy="26729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741083" y="2997754"/>
            <a:ext cx="52814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Unless you say the keyword </a:t>
            </a:r>
            <a:r>
              <a:rPr lang="en-US" dirty="0" err="1"/>
              <a:t>HashCode</a:t>
            </a:r>
            <a:r>
              <a:rPr lang="en-US" dirty="0"/>
              <a:t> in the base class is also available in this </a:t>
            </a:r>
            <a:r>
              <a:rPr lang="en-US" dirty="0" err="1"/>
              <a:t>HashSet</a:t>
            </a:r>
            <a:r>
              <a:rPr lang="en-US" dirty="0"/>
              <a:t> class, you need to type: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>
                <a:latin typeface="Consolas" panose="020B0609020204030204" pitchFamily="49" charset="0"/>
              </a:rPr>
              <a:t>HashBase</a:t>
            </a: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</a:rPr>
              <a:t>KeyType</a:t>
            </a:r>
            <a:r>
              <a:rPr lang="en-US" dirty="0">
                <a:latin typeface="Consolas" panose="020B0609020204030204" pitchFamily="49" charset="0"/>
              </a:rPr>
              <a:t>&gt;::</a:t>
            </a:r>
            <a:r>
              <a:rPr lang="en-US" dirty="0" err="1">
                <a:latin typeface="Consolas" panose="020B0609020204030204" pitchFamily="49" charset="0"/>
              </a:rPr>
              <a:t>HashCode</a:t>
            </a:r>
            <a:r>
              <a:rPr lang="en-US" dirty="0">
                <a:latin typeface="Consolas" panose="020B0609020204030204" pitchFamily="49" charset="0"/>
              </a:rPr>
              <a:t>(key)</a:t>
            </a:r>
          </a:p>
          <a:p>
            <a:r>
              <a:rPr lang="en-US" dirty="0"/>
              <a:t>every time you use </a:t>
            </a:r>
            <a:r>
              <a:rPr lang="en-US" dirty="0" err="1"/>
              <a:t>HashCode</a:t>
            </a:r>
            <a:r>
              <a:rPr lang="en-US" dirty="0"/>
              <a:t> function.</a:t>
            </a:r>
          </a:p>
          <a:p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200401" y="4356100"/>
            <a:ext cx="609599" cy="3683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253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hashset.h</a:t>
            </a:r>
            <a:r>
              <a:rPr lang="en-US" dirty="0"/>
              <a:t>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000" y="914400"/>
            <a:ext cx="803275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(No changes to the member functions.)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template &lt;class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HashCommon</a:t>
            </a:r>
            <a:r>
              <a:rPr lang="en-US" sz="1100" dirty="0">
                <a:latin typeface="Consolas" panose="020B0609020204030204" pitchFamily="49" charset="0"/>
              </a:rPr>
              <a:t>::Handle </a:t>
            </a:r>
            <a:r>
              <a:rPr lang="en-US" sz="1100" dirty="0" err="1">
                <a:latin typeface="Consolas" panose="020B0609020204030204" pitchFamily="49" charset="0"/>
              </a:rPr>
              <a:t>HashSet</a:t>
            </a:r>
            <a:r>
              <a:rPr lang="en-US" sz="1100" dirty="0">
                <a:latin typeface="Consolas" panose="020B0609020204030204" pitchFamily="49" charset="0"/>
              </a:rPr>
              <a:t>&lt;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&gt;::Next(Handle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if(true!=</a:t>
            </a:r>
            <a:r>
              <a:rPr lang="en-US" sz="1100" dirty="0" err="1">
                <a:latin typeface="Consolas" panose="020B0609020204030204" pitchFamily="49" charset="0"/>
              </a:rPr>
              <a:t>IsNotNull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return First();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++</a:t>
            </a:r>
            <a:r>
              <a:rPr lang="en-US" sz="1100" dirty="0" err="1">
                <a:latin typeface="Consolas" panose="020B0609020204030204" pitchFamily="49" charset="0"/>
              </a:rPr>
              <a:t>hd.column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if(</a:t>
            </a:r>
            <a:r>
              <a:rPr lang="en-US" sz="1100" dirty="0" err="1">
                <a:latin typeface="Consolas" panose="020B0609020204030204" pitchFamily="49" charset="0"/>
              </a:rPr>
              <a:t>hd.column</a:t>
            </a:r>
            <a:r>
              <a:rPr lang="en-US" sz="1100" dirty="0">
                <a:latin typeface="Consolas" panose="020B0609020204030204" pitchFamily="49" charset="0"/>
              </a:rPr>
              <a:t>&lt;table[</a:t>
            </a:r>
            <a:r>
              <a:rPr lang="en-US" sz="1100" dirty="0" err="1">
                <a:latin typeface="Consolas" panose="020B0609020204030204" pitchFamily="49" charset="0"/>
              </a:rPr>
              <a:t>hd.row</a:t>
            </a:r>
            <a:r>
              <a:rPr lang="en-US" sz="1100" dirty="0">
                <a:latin typeface="Consolas" panose="020B0609020204030204" pitchFamily="49" charset="0"/>
              </a:rPr>
              <a:t>].size())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return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hd.column</a:t>
            </a:r>
            <a:r>
              <a:rPr lang="en-US" sz="1100" dirty="0">
                <a:latin typeface="Consolas" panose="020B0609020204030204" pitchFamily="49" charset="0"/>
              </a:rPr>
              <a:t>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++</a:t>
            </a:r>
            <a:r>
              <a:rPr lang="en-US" sz="1100" dirty="0" err="1">
                <a:latin typeface="Consolas" panose="020B0609020204030204" pitchFamily="49" charset="0"/>
              </a:rPr>
              <a:t>hd.row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while(</a:t>
            </a:r>
            <a:r>
              <a:rPr lang="en-US" sz="1100" dirty="0" err="1">
                <a:latin typeface="Consolas" panose="020B0609020204030204" pitchFamily="49" charset="0"/>
              </a:rPr>
              <a:t>hd.row</a:t>
            </a:r>
            <a:r>
              <a:rPr lang="en-US" sz="1100" dirty="0">
                <a:latin typeface="Consolas" panose="020B0609020204030204" pitchFamily="49" charset="0"/>
              </a:rPr>
              <a:t>&lt;</a:t>
            </a:r>
            <a:r>
              <a:rPr lang="en-US" sz="1100" dirty="0" err="1">
                <a:latin typeface="Consolas" panose="020B0609020204030204" pitchFamily="49" charset="0"/>
              </a:rPr>
              <a:t>table.size</a:t>
            </a:r>
            <a:r>
              <a:rPr lang="en-US" sz="110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if(0&lt;table[</a:t>
            </a:r>
            <a:r>
              <a:rPr lang="en-US" sz="1100" dirty="0" err="1">
                <a:latin typeface="Consolas" panose="020B0609020204030204" pitchFamily="49" charset="0"/>
              </a:rPr>
              <a:t>hd.row</a:t>
            </a:r>
            <a:r>
              <a:rPr lang="en-US" sz="1100" dirty="0">
                <a:latin typeface="Consolas" panose="020B0609020204030204" pitchFamily="49" charset="0"/>
              </a:rPr>
              <a:t>].size())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return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++</a:t>
            </a:r>
            <a:r>
              <a:rPr lang="en-US" sz="1100" dirty="0" err="1">
                <a:latin typeface="Consolas" panose="020B0609020204030204" pitchFamily="49" charset="0"/>
              </a:rPr>
              <a:t>hd.row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hd.row</a:t>
            </a:r>
            <a:r>
              <a:rPr lang="en-US" sz="1100" dirty="0">
                <a:latin typeface="Consolas" panose="020B0609020204030204" pitchFamily="49" charset="0"/>
              </a:rPr>
              <a:t>=-1;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hd.column</a:t>
            </a:r>
            <a:r>
              <a:rPr lang="en-US" sz="1100" dirty="0">
                <a:latin typeface="Consolas" panose="020B0609020204030204" pitchFamily="49" charset="0"/>
              </a:rPr>
              <a:t>=-1;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return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template &lt;class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*</a:t>
            </a:r>
            <a:r>
              <a:rPr lang="en-US" sz="1100" dirty="0" err="1">
                <a:latin typeface="Consolas" panose="020B0609020204030204" pitchFamily="49" charset="0"/>
              </a:rPr>
              <a:t>HashSet</a:t>
            </a:r>
            <a:r>
              <a:rPr lang="en-US" sz="1100" dirty="0">
                <a:latin typeface="Consolas" panose="020B0609020204030204" pitchFamily="49" charset="0"/>
              </a:rPr>
              <a:t>&lt;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&gt;::operator[](Handle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return &amp;table[</a:t>
            </a:r>
            <a:r>
              <a:rPr lang="en-US" sz="1100" dirty="0" err="1">
                <a:latin typeface="Consolas" panose="020B0609020204030204" pitchFamily="49" charset="0"/>
              </a:rPr>
              <a:t>hd.row</a:t>
            </a:r>
            <a:r>
              <a:rPr lang="en-US" sz="1100" dirty="0">
                <a:latin typeface="Consolas" panose="020B0609020204030204" pitchFamily="49" charset="0"/>
              </a:rPr>
              <a:t>][</a:t>
            </a:r>
            <a:r>
              <a:rPr lang="en-US" sz="1100" dirty="0" err="1">
                <a:latin typeface="Consolas" panose="020B0609020204030204" pitchFamily="49" charset="0"/>
              </a:rPr>
              <a:t>hd.column</a:t>
            </a:r>
            <a:r>
              <a:rPr lang="en-US" sz="1100" dirty="0">
                <a:latin typeface="Consolas" panose="020B0609020204030204" pitchFamily="49" charset="0"/>
              </a:rPr>
              <a:t>].</a:t>
            </a:r>
            <a:r>
              <a:rPr lang="en-US" sz="1100" dirty="0" err="1">
                <a:latin typeface="Consolas" panose="020B0609020204030204" pitchFamily="49" charset="0"/>
              </a:rPr>
              <a:t>hashKey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Right Brace 2"/>
          <p:cNvSpPr/>
          <p:nvPr/>
        </p:nvSpPr>
        <p:spPr>
          <a:xfrm>
            <a:off x="3543300" y="1733550"/>
            <a:ext cx="361950" cy="38989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930650" y="3321050"/>
            <a:ext cx="4506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Same as Next function of </a:t>
            </a:r>
            <a:r>
              <a:rPr lang="en-US" dirty="0" err="1"/>
              <a:t>HashTable</a:t>
            </a:r>
            <a:r>
              <a:rPr lang="en-US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4113338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hashtable.h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844550"/>
            <a:ext cx="85725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#</a:t>
            </a:r>
            <a:r>
              <a:rPr lang="en-US" sz="1100" dirty="0" err="1">
                <a:latin typeface="Consolas" panose="020B0609020204030204" pitchFamily="49" charset="0"/>
              </a:rPr>
              <a:t>ifndef</a:t>
            </a:r>
            <a:r>
              <a:rPr lang="en-US" sz="1100" dirty="0">
                <a:latin typeface="Consolas" panose="020B0609020204030204" pitchFamily="49" charset="0"/>
              </a:rPr>
              <a:t> HASHTABLE_IS_INCLUDED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#define HASHTABLE_IS_INCLUDED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#include &lt;vector&gt;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#include &lt;</a:t>
            </a:r>
            <a:r>
              <a:rPr lang="en-US" sz="1100" dirty="0" err="1">
                <a:latin typeface="Consolas" panose="020B0609020204030204" pitchFamily="49" charset="0"/>
              </a:rPr>
              <a:t>stdio.h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#include "</a:t>
            </a:r>
            <a:r>
              <a:rPr lang="en-US" sz="1100" dirty="0" err="1">
                <a:latin typeface="Consolas" panose="020B0609020204030204" pitchFamily="49" charset="0"/>
              </a:rPr>
              <a:t>hashbase.h</a:t>
            </a:r>
            <a:r>
              <a:rPr lang="en-US" sz="1100" dirty="0">
                <a:latin typeface="Consolas" panose="020B0609020204030204" pitchFamily="49" charset="0"/>
              </a:rPr>
              <a:t>"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template &lt;class </a:t>
            </a:r>
            <a:r>
              <a:rPr lang="en-US" sz="1100" dirty="0" err="1">
                <a:latin typeface="Consolas" panose="020B0609020204030204" pitchFamily="49" charset="0"/>
              </a:rPr>
              <a:t>KeyType,class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ValueType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class </a:t>
            </a:r>
            <a:r>
              <a:rPr lang="en-US" sz="1100" dirty="0" err="1">
                <a:latin typeface="Consolas" panose="020B0609020204030204" pitchFamily="49" charset="0"/>
              </a:rPr>
              <a:t>HashTable</a:t>
            </a:r>
            <a:r>
              <a:rPr lang="en-US" sz="1100" dirty="0">
                <a:latin typeface="Consolas" panose="020B0609020204030204" pitchFamily="49" charset="0"/>
              </a:rPr>
              <a:t> : public </a:t>
            </a:r>
            <a:r>
              <a:rPr lang="en-US" sz="1100" dirty="0" err="1">
                <a:latin typeface="Consolas" panose="020B0609020204030204" pitchFamily="49" charset="0"/>
              </a:rPr>
              <a:t>HashBase</a:t>
            </a:r>
            <a:r>
              <a:rPr lang="en-US" sz="1100" dirty="0">
                <a:latin typeface="Consolas" panose="020B0609020204030204" pitchFamily="49" charset="0"/>
              </a:rPr>
              <a:t> &lt;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&gt;,public </a:t>
            </a:r>
            <a:r>
              <a:rPr lang="en-US" sz="1100" dirty="0" err="1">
                <a:latin typeface="Consolas" panose="020B0609020204030204" pitchFamily="49" charset="0"/>
              </a:rPr>
              <a:t>HashCommon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private: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class Entry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hashKey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CodeType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hashCode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ValueType</a:t>
            </a:r>
            <a:r>
              <a:rPr lang="en-US" sz="1100" dirty="0">
                <a:latin typeface="Consolas" panose="020B0609020204030204" pitchFamily="49" charset="0"/>
              </a:rPr>
              <a:t> value;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std</a:t>
            </a:r>
            <a:r>
              <a:rPr lang="en-US" sz="1100" dirty="0">
                <a:latin typeface="Consolas" panose="020B0609020204030204" pitchFamily="49" charset="0"/>
              </a:rPr>
              <a:t>::vector &lt;</a:t>
            </a:r>
            <a:r>
              <a:rPr lang="en-US" sz="1100" dirty="0" err="1">
                <a:latin typeface="Consolas" panose="020B0609020204030204" pitchFamily="49" charset="0"/>
              </a:rPr>
              <a:t>std</a:t>
            </a:r>
            <a:r>
              <a:rPr lang="en-US" sz="1100" dirty="0">
                <a:latin typeface="Consolas" panose="020B0609020204030204" pitchFamily="49" charset="0"/>
              </a:rPr>
              <a:t>::vector &lt;Entry&gt; &gt; table;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using </a:t>
            </a:r>
            <a:r>
              <a:rPr lang="en-US" sz="1100" dirty="0" err="1">
                <a:latin typeface="Consolas" panose="020B0609020204030204" pitchFamily="49" charset="0"/>
              </a:rPr>
              <a:t>HashBase</a:t>
            </a:r>
            <a:r>
              <a:rPr lang="en-US" sz="1100" dirty="0">
                <a:latin typeface="Consolas" panose="020B0609020204030204" pitchFamily="49" charset="0"/>
              </a:rPr>
              <a:t>&lt;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&gt;::</a:t>
            </a:r>
            <a:r>
              <a:rPr lang="en-US" sz="1100" dirty="0" err="1">
                <a:latin typeface="Consolas" panose="020B0609020204030204" pitchFamily="49" charset="0"/>
              </a:rPr>
              <a:t>HashCode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HashTable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~</a:t>
            </a:r>
            <a:r>
              <a:rPr lang="en-US" sz="1100" dirty="0" err="1">
                <a:latin typeface="Consolas" panose="020B0609020204030204" pitchFamily="49" charset="0"/>
              </a:rPr>
              <a:t>HashTable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void </a:t>
            </a:r>
            <a:r>
              <a:rPr lang="en-US" sz="1100" dirty="0" err="1">
                <a:latin typeface="Consolas" panose="020B0609020204030204" pitchFamily="49" charset="0"/>
              </a:rPr>
              <a:t>CleanUp</a:t>
            </a:r>
            <a:r>
              <a:rPr lang="en-US" sz="1100" dirty="0">
                <a:latin typeface="Consolas" panose="020B0609020204030204" pitchFamily="49" charset="0"/>
              </a:rPr>
              <a:t>(void);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void Update(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&amp;</a:t>
            </a:r>
            <a:r>
              <a:rPr lang="en-US" sz="1100" dirty="0" err="1">
                <a:latin typeface="Consolas" panose="020B0609020204030204" pitchFamily="49" charset="0"/>
              </a:rPr>
              <a:t>key,const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ValueType</a:t>
            </a:r>
            <a:r>
              <a:rPr lang="en-US" sz="1100" dirty="0">
                <a:latin typeface="Consolas" panose="020B0609020204030204" pitchFamily="49" charset="0"/>
              </a:rPr>
              <a:t> &amp;value);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bool </a:t>
            </a:r>
            <a:r>
              <a:rPr lang="en-US" sz="1100" dirty="0" err="1">
                <a:latin typeface="Consolas" panose="020B0609020204030204" pitchFamily="49" charset="0"/>
              </a:rPr>
              <a:t>IsIncluded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&amp;key)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void Resize(long </a:t>
            </a:r>
            <a:r>
              <a:rPr lang="en-US" sz="1100" dirty="0" err="1">
                <a:latin typeface="Consolas" panose="020B0609020204030204" pitchFamily="49" charset="0"/>
              </a:rPr>
              <a:t>long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tableSize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void Delete(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&amp;key);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ValueType</a:t>
            </a:r>
            <a:r>
              <a:rPr lang="en-US" sz="1100" dirty="0">
                <a:latin typeface="Consolas" panose="020B0609020204030204" pitchFamily="49" charset="0"/>
              </a:rPr>
              <a:t> *operator[](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key);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ValueType</a:t>
            </a:r>
            <a:r>
              <a:rPr lang="en-US" sz="1100" dirty="0">
                <a:latin typeface="Consolas" panose="020B0609020204030204" pitchFamily="49" charset="0"/>
              </a:rPr>
              <a:t> *operator[](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key)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>
                <a:latin typeface="Consolas" panose="020B0609020204030204" pitchFamily="49" charset="0"/>
              </a:rPr>
              <a:t>    </a:t>
            </a:r>
            <a:r>
              <a:rPr lang="en-US" sz="1100">
                <a:latin typeface="Lucida Console" panose="020B0609040504020204" pitchFamily="49" charset="0"/>
              </a:rPr>
              <a:t>Handle </a:t>
            </a:r>
            <a:r>
              <a:rPr lang="en-US" sz="1100" dirty="0">
                <a:latin typeface="Lucida Console" panose="020B0609040504020204" pitchFamily="49" charset="0"/>
              </a:rPr>
              <a:t>First(void) </a:t>
            </a:r>
            <a:r>
              <a:rPr lang="en-US" sz="1100" dirty="0" err="1">
                <a:latin typeface="Lucida Console" panose="020B0609040504020204" pitchFamily="49" charset="0"/>
              </a:rPr>
              <a:t>const</a:t>
            </a:r>
            <a:r>
              <a:rPr lang="en-US" sz="1100" dirty="0">
                <a:latin typeface="Lucida Console" panose="020B0609040504020204" pitchFamily="49" charset="0"/>
              </a:rPr>
              <a:t>;</a:t>
            </a:r>
            <a:br>
              <a:rPr lang="en-US" sz="1100" dirty="0">
                <a:latin typeface="Lucida Console" panose="020B0609040504020204" pitchFamily="49" charset="0"/>
              </a:rPr>
            </a:br>
            <a:r>
              <a:rPr lang="en-US" sz="1100" dirty="0">
                <a:latin typeface="Consolas" panose="020B0609020204030204" pitchFamily="49" charset="0"/>
              </a:rPr>
              <a:t>    Handle Next(Handle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ValueType</a:t>
            </a:r>
            <a:r>
              <a:rPr lang="en-US" sz="1100" dirty="0">
                <a:latin typeface="Consolas" panose="020B0609020204030204" pitchFamily="49" charset="0"/>
              </a:rPr>
              <a:t> *operator[](Handle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ValueType</a:t>
            </a:r>
            <a:r>
              <a:rPr lang="en-US" sz="1100" dirty="0">
                <a:latin typeface="Consolas" panose="020B0609020204030204" pitchFamily="49" charset="0"/>
              </a:rPr>
              <a:t> *operator[](Handle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&amp;</a:t>
            </a:r>
            <a:r>
              <a:rPr lang="en-US" sz="1100" dirty="0" err="1">
                <a:latin typeface="Consolas" panose="020B0609020204030204" pitchFamily="49" charset="0"/>
              </a:rPr>
              <a:t>GetKey</a:t>
            </a:r>
            <a:r>
              <a:rPr lang="en-US" sz="1100" dirty="0">
                <a:latin typeface="Consolas" panose="020B0609020204030204" pitchFamily="49" charset="0"/>
              </a:rPr>
              <a:t>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};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5168900" y="1717674"/>
            <a:ext cx="736600" cy="628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715000" y="517345"/>
            <a:ext cx="33011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Inheriting from the base class.</a:t>
            </a:r>
          </a:p>
          <a:p>
            <a:r>
              <a:rPr lang="en-US" dirty="0" err="1"/>
              <a:t>Enums</a:t>
            </a:r>
            <a:r>
              <a:rPr lang="en-US" dirty="0"/>
              <a:t>, variables, functions written in the base class are removed.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20850" y="2196503"/>
            <a:ext cx="3448050" cy="26729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487244" y="5216013"/>
            <a:ext cx="3301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Member functions are unchanged.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650" y="4145880"/>
            <a:ext cx="2813050" cy="26729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931583" y="3028262"/>
            <a:ext cx="46155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 as </a:t>
            </a:r>
            <a:r>
              <a:rPr lang="en-US" dirty="0" err="1"/>
              <a:t>HashSet</a:t>
            </a:r>
            <a:r>
              <a:rPr lang="en-US" dirty="0"/>
              <a:t>.  To work with unreasonable '</a:t>
            </a:r>
            <a:r>
              <a:rPr lang="en-US" dirty="0" err="1"/>
              <a:t>typename</a:t>
            </a:r>
            <a:r>
              <a:rPr lang="en-US" dirty="0"/>
              <a:t>' requirement from GCC and clang.</a:t>
            </a:r>
          </a:p>
          <a:p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3441701" y="3917877"/>
            <a:ext cx="609599" cy="3683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ight Brace 11"/>
          <p:cNvSpPr/>
          <p:nvPr/>
        </p:nvSpPr>
        <p:spPr>
          <a:xfrm>
            <a:off x="4851400" y="4413177"/>
            <a:ext cx="234950" cy="2183978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666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possible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move-assignment operators in Resize function.</a:t>
            </a:r>
          </a:p>
          <a:p>
            <a:r>
              <a:rPr lang="en-US" dirty="0"/>
              <a:t>Further reduce the duplicate code.  Next and </a:t>
            </a:r>
            <a:r>
              <a:rPr lang="en-US" dirty="0" err="1"/>
              <a:t>GetKey</a:t>
            </a:r>
            <a:r>
              <a:rPr lang="en-US" dirty="0"/>
              <a:t> functions can be made a function of the base class.  One solution is make Entry class a template parameter.</a:t>
            </a:r>
          </a:p>
          <a:p>
            <a:r>
              <a:rPr lang="en-US" dirty="0"/>
              <a:t>Make move-assignment operator version of Update function.  When possible, a key can be moved rather </a:t>
            </a:r>
            <a:r>
              <a:rPr lang="en-US"/>
              <a:t>than copied.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280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079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tree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Main purposes</a:t>
            </a:r>
          </a:p>
          <a:p>
            <a:pPr lvl="1"/>
            <a:r>
              <a:rPr lang="en-US" altLang="en-US" dirty="0"/>
              <a:t>Efficiently sort objects</a:t>
            </a:r>
          </a:p>
          <a:p>
            <a:pPr lvl="1"/>
            <a:r>
              <a:rPr lang="en-US" altLang="en-US" dirty="0"/>
              <a:t>Efficiently find an object.</a:t>
            </a:r>
          </a:p>
          <a:p>
            <a:pPr lvl="1"/>
            <a:r>
              <a:rPr lang="en-US" altLang="en-US" dirty="0"/>
              <a:t>Very useful when you need a priority queue.</a:t>
            </a:r>
          </a:p>
        </p:txBody>
      </p:sp>
      <p:sp>
        <p:nvSpPr>
          <p:cNvPr id="39940" name="Oval 3"/>
          <p:cNvSpPr>
            <a:spLocks noChangeArrowheads="1"/>
          </p:cNvSpPr>
          <p:nvPr/>
        </p:nvSpPr>
        <p:spPr bwMode="auto">
          <a:xfrm>
            <a:off x="3505200" y="25908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cxnSp>
        <p:nvCxnSpPr>
          <p:cNvPr id="39941" name="Straight Arrow Connector 6"/>
          <p:cNvCxnSpPr>
            <a:cxnSpLocks noChangeShapeType="1"/>
          </p:cNvCxnSpPr>
          <p:nvPr/>
        </p:nvCxnSpPr>
        <p:spPr bwMode="auto">
          <a:xfrm rot="10800000" flipV="1">
            <a:off x="2362200" y="3200400"/>
            <a:ext cx="17526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2" name="Straight Arrow Connector 7"/>
          <p:cNvCxnSpPr>
            <a:cxnSpLocks noChangeShapeType="1"/>
          </p:cNvCxnSpPr>
          <p:nvPr/>
        </p:nvCxnSpPr>
        <p:spPr bwMode="auto">
          <a:xfrm>
            <a:off x="4724400" y="3200400"/>
            <a:ext cx="1600200" cy="381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43" name="Oval 8"/>
          <p:cNvSpPr>
            <a:spLocks noChangeArrowheads="1"/>
          </p:cNvSpPr>
          <p:nvPr/>
        </p:nvSpPr>
        <p:spPr bwMode="auto">
          <a:xfrm>
            <a:off x="1447800" y="3505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39944" name="Oval 10"/>
          <p:cNvSpPr>
            <a:spLocks noChangeArrowheads="1"/>
          </p:cNvSpPr>
          <p:nvPr/>
        </p:nvSpPr>
        <p:spPr bwMode="auto">
          <a:xfrm>
            <a:off x="5410200" y="35814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39945" name="Oval 12"/>
          <p:cNvSpPr>
            <a:spLocks noChangeArrowheads="1"/>
          </p:cNvSpPr>
          <p:nvPr/>
        </p:nvSpPr>
        <p:spPr bwMode="auto">
          <a:xfrm>
            <a:off x="381000" y="47244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39946" name="Oval 14"/>
          <p:cNvSpPr>
            <a:spLocks noChangeArrowheads="1"/>
          </p:cNvSpPr>
          <p:nvPr/>
        </p:nvSpPr>
        <p:spPr bwMode="auto">
          <a:xfrm>
            <a:off x="2590800" y="47244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39947" name="Oval 16"/>
          <p:cNvSpPr>
            <a:spLocks noChangeArrowheads="1"/>
          </p:cNvSpPr>
          <p:nvPr/>
        </p:nvSpPr>
        <p:spPr bwMode="auto">
          <a:xfrm>
            <a:off x="4724400" y="47244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39948" name="Oval 18"/>
          <p:cNvSpPr>
            <a:spLocks noChangeArrowheads="1"/>
          </p:cNvSpPr>
          <p:nvPr/>
        </p:nvSpPr>
        <p:spPr bwMode="auto">
          <a:xfrm>
            <a:off x="6934200" y="47244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cxnSp>
        <p:nvCxnSpPr>
          <p:cNvPr id="39949" name="Straight Arrow Connector 22"/>
          <p:cNvCxnSpPr>
            <a:cxnSpLocks noChangeShapeType="1"/>
            <a:endCxn id="39945" idx="0"/>
          </p:cNvCxnSpPr>
          <p:nvPr/>
        </p:nvCxnSpPr>
        <p:spPr bwMode="auto">
          <a:xfrm rot="10800000" flipV="1">
            <a:off x="1295400" y="4114800"/>
            <a:ext cx="685800" cy="609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0" name="Straight Arrow Connector 23"/>
          <p:cNvCxnSpPr>
            <a:cxnSpLocks noChangeShapeType="1"/>
          </p:cNvCxnSpPr>
          <p:nvPr/>
        </p:nvCxnSpPr>
        <p:spPr bwMode="auto">
          <a:xfrm>
            <a:off x="2743200" y="4114800"/>
            <a:ext cx="762000" cy="6492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1" name="Straight Arrow Connector 28"/>
          <p:cNvCxnSpPr>
            <a:cxnSpLocks noChangeShapeType="1"/>
            <a:endCxn id="39947" idx="0"/>
          </p:cNvCxnSpPr>
          <p:nvPr/>
        </p:nvCxnSpPr>
        <p:spPr bwMode="auto">
          <a:xfrm rot="5400000">
            <a:off x="5524500" y="4305300"/>
            <a:ext cx="5334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2" name="Straight Arrow Connector 29"/>
          <p:cNvCxnSpPr>
            <a:cxnSpLocks noChangeShapeType="1"/>
            <a:endCxn id="39948" idx="0"/>
          </p:cNvCxnSpPr>
          <p:nvPr/>
        </p:nvCxnSpPr>
        <p:spPr bwMode="auto">
          <a:xfrm>
            <a:off x="6705600" y="4191000"/>
            <a:ext cx="1143000" cy="533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TextBox 46"/>
          <p:cNvSpPr txBox="1"/>
          <p:nvPr/>
        </p:nvSpPr>
        <p:spPr>
          <a:xfrm>
            <a:off x="3886200" y="2743200"/>
            <a:ext cx="10668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Node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28800" y="3657600"/>
            <a:ext cx="10668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Node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4953000"/>
            <a:ext cx="10668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Node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95600" y="4953000"/>
            <a:ext cx="10668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Node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67600" y="4953000"/>
            <a:ext cx="10668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Node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81600" y="4953000"/>
            <a:ext cx="10668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Node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91200" y="3733800"/>
            <a:ext cx="10668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Node</a:t>
            </a:r>
          </a:p>
        </p:txBody>
      </p:sp>
    </p:spTree>
    <p:extLst>
      <p:ext uri="{BB962C8B-B14F-4D97-AF65-F5344CB8AC3E}">
        <p14:creationId xmlns:p14="http://schemas.microsoft.com/office/powerpoint/2010/main" val="3236154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tree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Linked list makes a linear connection between objects.</a:t>
            </a:r>
          </a:p>
          <a:p>
            <a:r>
              <a:rPr lang="en-US" altLang="en-US"/>
              <a:t>Binary tree makes a tree-like structure.</a:t>
            </a:r>
          </a:p>
          <a:p>
            <a:r>
              <a:rPr lang="en-US" altLang="en-US"/>
              <a:t>Each node has pointers - left, right, and can also have parent.</a:t>
            </a:r>
          </a:p>
        </p:txBody>
      </p:sp>
      <p:sp>
        <p:nvSpPr>
          <p:cNvPr id="40964" name="Oval 3"/>
          <p:cNvSpPr>
            <a:spLocks noChangeArrowheads="1"/>
          </p:cNvSpPr>
          <p:nvPr/>
        </p:nvSpPr>
        <p:spPr bwMode="auto">
          <a:xfrm>
            <a:off x="3505200" y="32766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0" y="33162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cxnSp>
        <p:nvCxnSpPr>
          <p:cNvPr id="40966" name="Straight Arrow Connector 6"/>
          <p:cNvCxnSpPr>
            <a:cxnSpLocks noChangeShapeType="1"/>
          </p:cNvCxnSpPr>
          <p:nvPr/>
        </p:nvCxnSpPr>
        <p:spPr bwMode="auto">
          <a:xfrm rot="5400000" flipH="1" flipV="1">
            <a:off x="4210050" y="3181350"/>
            <a:ext cx="420688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67" name="Straight Arrow Connector 8"/>
          <p:cNvCxnSpPr>
            <a:cxnSpLocks noChangeShapeType="1"/>
          </p:cNvCxnSpPr>
          <p:nvPr/>
        </p:nvCxnSpPr>
        <p:spPr bwMode="auto">
          <a:xfrm rot="10800000" flipV="1">
            <a:off x="2362200" y="3886200"/>
            <a:ext cx="17526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68" name="Straight Arrow Connector 10"/>
          <p:cNvCxnSpPr>
            <a:cxnSpLocks noChangeShapeType="1"/>
          </p:cNvCxnSpPr>
          <p:nvPr/>
        </p:nvCxnSpPr>
        <p:spPr bwMode="auto">
          <a:xfrm>
            <a:off x="4724400" y="3886200"/>
            <a:ext cx="1600200" cy="381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TextBox 11"/>
          <p:cNvSpPr txBox="1"/>
          <p:nvPr/>
        </p:nvSpPr>
        <p:spPr>
          <a:xfrm>
            <a:off x="3962400" y="25908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40970" name="Oval 12"/>
          <p:cNvSpPr>
            <a:spLocks noChangeArrowheads="1"/>
          </p:cNvSpPr>
          <p:nvPr/>
        </p:nvSpPr>
        <p:spPr bwMode="auto">
          <a:xfrm>
            <a:off x="1447800" y="41910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00200" y="42306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sp>
        <p:nvSpPr>
          <p:cNvPr id="40972" name="Oval 14"/>
          <p:cNvSpPr>
            <a:spLocks noChangeArrowheads="1"/>
          </p:cNvSpPr>
          <p:nvPr/>
        </p:nvSpPr>
        <p:spPr bwMode="auto">
          <a:xfrm>
            <a:off x="5410200" y="4267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562600" y="4306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sp>
        <p:nvSpPr>
          <p:cNvPr id="40974" name="Oval 17"/>
          <p:cNvSpPr>
            <a:spLocks noChangeArrowheads="1"/>
          </p:cNvSpPr>
          <p:nvPr/>
        </p:nvSpPr>
        <p:spPr bwMode="auto">
          <a:xfrm>
            <a:off x="381000" y="5410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3400" y="5449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sp>
        <p:nvSpPr>
          <p:cNvPr id="40976" name="Oval 19"/>
          <p:cNvSpPr>
            <a:spLocks noChangeArrowheads="1"/>
          </p:cNvSpPr>
          <p:nvPr/>
        </p:nvSpPr>
        <p:spPr bwMode="auto">
          <a:xfrm>
            <a:off x="2590800" y="5410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743200" y="5449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sp>
        <p:nvSpPr>
          <p:cNvPr id="40978" name="Oval 21"/>
          <p:cNvSpPr>
            <a:spLocks noChangeArrowheads="1"/>
          </p:cNvSpPr>
          <p:nvPr/>
        </p:nvSpPr>
        <p:spPr bwMode="auto">
          <a:xfrm>
            <a:off x="4724400" y="5410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876800" y="5449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sp>
        <p:nvSpPr>
          <p:cNvPr id="40980" name="Oval 23"/>
          <p:cNvSpPr>
            <a:spLocks noChangeArrowheads="1"/>
          </p:cNvSpPr>
          <p:nvPr/>
        </p:nvSpPr>
        <p:spPr bwMode="auto">
          <a:xfrm>
            <a:off x="6934200" y="5410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86600" y="5449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cxnSp>
        <p:nvCxnSpPr>
          <p:cNvPr id="40982" name="Straight Arrow Connector 26"/>
          <p:cNvCxnSpPr>
            <a:cxnSpLocks noChangeShapeType="1"/>
          </p:cNvCxnSpPr>
          <p:nvPr/>
        </p:nvCxnSpPr>
        <p:spPr bwMode="auto">
          <a:xfrm flipV="1">
            <a:off x="2514600" y="4038600"/>
            <a:ext cx="1524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83" name="Straight Arrow Connector 28"/>
          <p:cNvCxnSpPr>
            <a:cxnSpLocks noChangeShapeType="1"/>
          </p:cNvCxnSpPr>
          <p:nvPr/>
        </p:nvCxnSpPr>
        <p:spPr bwMode="auto">
          <a:xfrm rot="10800000">
            <a:off x="4724400" y="4038600"/>
            <a:ext cx="1219200" cy="457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84" name="Straight Arrow Connector 30"/>
          <p:cNvCxnSpPr>
            <a:cxnSpLocks noChangeShapeType="1"/>
            <a:endCxn id="40974" idx="0"/>
          </p:cNvCxnSpPr>
          <p:nvPr/>
        </p:nvCxnSpPr>
        <p:spPr bwMode="auto">
          <a:xfrm rot="10800000" flipV="1">
            <a:off x="1295400" y="4800600"/>
            <a:ext cx="685800" cy="609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85" name="Straight Arrow Connector 32"/>
          <p:cNvCxnSpPr>
            <a:cxnSpLocks noChangeShapeType="1"/>
            <a:endCxn id="21" idx="0"/>
          </p:cNvCxnSpPr>
          <p:nvPr/>
        </p:nvCxnSpPr>
        <p:spPr bwMode="auto">
          <a:xfrm>
            <a:off x="2743200" y="4800600"/>
            <a:ext cx="762000" cy="6492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86" name="Straight Arrow Connector 34"/>
          <p:cNvCxnSpPr>
            <a:cxnSpLocks noChangeShapeType="1"/>
          </p:cNvCxnSpPr>
          <p:nvPr/>
        </p:nvCxnSpPr>
        <p:spPr bwMode="auto">
          <a:xfrm rot="5400000" flipH="1" flipV="1">
            <a:off x="1485900" y="5143500"/>
            <a:ext cx="6858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87" name="Straight Arrow Connector 36"/>
          <p:cNvCxnSpPr>
            <a:cxnSpLocks noChangeShapeType="1"/>
          </p:cNvCxnSpPr>
          <p:nvPr/>
        </p:nvCxnSpPr>
        <p:spPr bwMode="auto">
          <a:xfrm rot="16200000" flipV="1">
            <a:off x="2590800" y="5029200"/>
            <a:ext cx="685800" cy="533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88" name="Straight Arrow Connector 38"/>
          <p:cNvCxnSpPr>
            <a:cxnSpLocks noChangeShapeType="1"/>
          </p:cNvCxnSpPr>
          <p:nvPr/>
        </p:nvCxnSpPr>
        <p:spPr bwMode="auto">
          <a:xfrm rot="10800000" flipV="1">
            <a:off x="533400" y="6019800"/>
            <a:ext cx="381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89" name="Straight Arrow Connector 40"/>
          <p:cNvCxnSpPr>
            <a:cxnSpLocks noChangeShapeType="1"/>
          </p:cNvCxnSpPr>
          <p:nvPr/>
        </p:nvCxnSpPr>
        <p:spPr bwMode="auto">
          <a:xfrm rot="16200000" flipH="1">
            <a:off x="1562100" y="6057900"/>
            <a:ext cx="3048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90" name="Straight Arrow Connector 42"/>
          <p:cNvCxnSpPr>
            <a:cxnSpLocks noChangeShapeType="1"/>
            <a:endCxn id="40978" idx="0"/>
          </p:cNvCxnSpPr>
          <p:nvPr/>
        </p:nvCxnSpPr>
        <p:spPr bwMode="auto">
          <a:xfrm rot="5400000">
            <a:off x="5524500" y="4991100"/>
            <a:ext cx="5334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91" name="Straight Arrow Connector 44"/>
          <p:cNvCxnSpPr>
            <a:cxnSpLocks noChangeShapeType="1"/>
            <a:endCxn id="40980" idx="0"/>
          </p:cNvCxnSpPr>
          <p:nvPr/>
        </p:nvCxnSpPr>
        <p:spPr bwMode="auto">
          <a:xfrm>
            <a:off x="6705600" y="4876800"/>
            <a:ext cx="1143000" cy="533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92" name="Straight Arrow Connector 46"/>
          <p:cNvCxnSpPr>
            <a:cxnSpLocks noChangeShapeType="1"/>
          </p:cNvCxnSpPr>
          <p:nvPr/>
        </p:nvCxnSpPr>
        <p:spPr bwMode="auto">
          <a:xfrm rot="5400000" flipH="1" flipV="1">
            <a:off x="5753100" y="5219700"/>
            <a:ext cx="533400" cy="152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93" name="Straight Arrow Connector 48"/>
          <p:cNvCxnSpPr>
            <a:cxnSpLocks noChangeShapeType="1"/>
          </p:cNvCxnSpPr>
          <p:nvPr/>
        </p:nvCxnSpPr>
        <p:spPr bwMode="auto">
          <a:xfrm rot="10800000">
            <a:off x="6705600" y="5029200"/>
            <a:ext cx="762000" cy="609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" name="TextBox 49"/>
          <p:cNvSpPr txBox="1"/>
          <p:nvPr/>
        </p:nvSpPr>
        <p:spPr>
          <a:xfrm>
            <a:off x="2286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478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cxnSp>
        <p:nvCxnSpPr>
          <p:cNvPr id="40996" name="Straight Arrow Connector 51"/>
          <p:cNvCxnSpPr>
            <a:cxnSpLocks noChangeShapeType="1"/>
          </p:cNvCxnSpPr>
          <p:nvPr/>
        </p:nvCxnSpPr>
        <p:spPr bwMode="auto">
          <a:xfrm rot="10800000" flipV="1">
            <a:off x="2819400" y="6019800"/>
            <a:ext cx="381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97" name="Straight Arrow Connector 52"/>
          <p:cNvCxnSpPr>
            <a:cxnSpLocks noChangeShapeType="1"/>
          </p:cNvCxnSpPr>
          <p:nvPr/>
        </p:nvCxnSpPr>
        <p:spPr bwMode="auto">
          <a:xfrm rot="16200000" flipH="1">
            <a:off x="3848100" y="6057900"/>
            <a:ext cx="3048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" name="TextBox 53"/>
          <p:cNvSpPr txBox="1"/>
          <p:nvPr/>
        </p:nvSpPr>
        <p:spPr>
          <a:xfrm>
            <a:off x="25146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338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cxnSp>
        <p:nvCxnSpPr>
          <p:cNvPr id="41000" name="Straight Arrow Connector 55"/>
          <p:cNvCxnSpPr>
            <a:cxnSpLocks noChangeShapeType="1"/>
          </p:cNvCxnSpPr>
          <p:nvPr/>
        </p:nvCxnSpPr>
        <p:spPr bwMode="auto">
          <a:xfrm rot="10800000" flipV="1">
            <a:off x="4953000" y="6019800"/>
            <a:ext cx="381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01" name="Straight Arrow Connector 56"/>
          <p:cNvCxnSpPr>
            <a:cxnSpLocks noChangeShapeType="1"/>
          </p:cNvCxnSpPr>
          <p:nvPr/>
        </p:nvCxnSpPr>
        <p:spPr bwMode="auto">
          <a:xfrm rot="16200000" flipH="1">
            <a:off x="5981700" y="6057900"/>
            <a:ext cx="3048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" name="TextBox 57"/>
          <p:cNvSpPr txBox="1"/>
          <p:nvPr/>
        </p:nvSpPr>
        <p:spPr>
          <a:xfrm>
            <a:off x="46482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674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cxnSp>
        <p:nvCxnSpPr>
          <p:cNvPr id="41004" name="Straight Arrow Connector 59"/>
          <p:cNvCxnSpPr>
            <a:cxnSpLocks noChangeShapeType="1"/>
          </p:cNvCxnSpPr>
          <p:nvPr/>
        </p:nvCxnSpPr>
        <p:spPr bwMode="auto">
          <a:xfrm rot="10800000" flipV="1">
            <a:off x="7162800" y="6019800"/>
            <a:ext cx="381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05" name="Straight Arrow Connector 60"/>
          <p:cNvCxnSpPr>
            <a:cxnSpLocks noChangeShapeType="1"/>
          </p:cNvCxnSpPr>
          <p:nvPr/>
        </p:nvCxnSpPr>
        <p:spPr bwMode="auto">
          <a:xfrm rot="16200000" flipH="1">
            <a:off x="8191500" y="6057900"/>
            <a:ext cx="3048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" name="TextBox 61"/>
          <p:cNvSpPr txBox="1"/>
          <p:nvPr/>
        </p:nvSpPr>
        <p:spPr>
          <a:xfrm>
            <a:off x="68580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772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969950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tree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Just like a linked list is retained by head and tail pointers, a binary tree is retained by a pointer for the root node.</a:t>
            </a:r>
          </a:p>
        </p:txBody>
      </p:sp>
      <p:sp>
        <p:nvSpPr>
          <p:cNvPr id="41988" name="Oval 3"/>
          <p:cNvSpPr>
            <a:spLocks noChangeArrowheads="1"/>
          </p:cNvSpPr>
          <p:nvPr/>
        </p:nvSpPr>
        <p:spPr bwMode="auto">
          <a:xfrm>
            <a:off x="3505200" y="32766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0" y="33162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cxnSp>
        <p:nvCxnSpPr>
          <p:cNvPr id="41990" name="Straight Arrow Connector 5"/>
          <p:cNvCxnSpPr>
            <a:cxnSpLocks noChangeShapeType="1"/>
          </p:cNvCxnSpPr>
          <p:nvPr/>
        </p:nvCxnSpPr>
        <p:spPr bwMode="auto">
          <a:xfrm rot="5400000" flipH="1" flipV="1">
            <a:off x="4210050" y="3181350"/>
            <a:ext cx="420688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1" name="Straight Arrow Connector 6"/>
          <p:cNvCxnSpPr>
            <a:cxnSpLocks noChangeShapeType="1"/>
          </p:cNvCxnSpPr>
          <p:nvPr/>
        </p:nvCxnSpPr>
        <p:spPr bwMode="auto">
          <a:xfrm rot="10800000" flipV="1">
            <a:off x="2362200" y="3886200"/>
            <a:ext cx="17526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2" name="Straight Arrow Connector 7"/>
          <p:cNvCxnSpPr>
            <a:cxnSpLocks noChangeShapeType="1"/>
          </p:cNvCxnSpPr>
          <p:nvPr/>
        </p:nvCxnSpPr>
        <p:spPr bwMode="auto">
          <a:xfrm>
            <a:off x="4724400" y="3886200"/>
            <a:ext cx="1600200" cy="381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3962400" y="25908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41994" name="Oval 9"/>
          <p:cNvSpPr>
            <a:spLocks noChangeArrowheads="1"/>
          </p:cNvSpPr>
          <p:nvPr/>
        </p:nvSpPr>
        <p:spPr bwMode="auto">
          <a:xfrm>
            <a:off x="1447800" y="41910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00200" y="42306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sp>
        <p:nvSpPr>
          <p:cNvPr id="41996" name="Oval 11"/>
          <p:cNvSpPr>
            <a:spLocks noChangeArrowheads="1"/>
          </p:cNvSpPr>
          <p:nvPr/>
        </p:nvSpPr>
        <p:spPr bwMode="auto">
          <a:xfrm>
            <a:off x="5410200" y="4267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562600" y="4306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sp>
        <p:nvSpPr>
          <p:cNvPr id="41998" name="Oval 13"/>
          <p:cNvSpPr>
            <a:spLocks noChangeArrowheads="1"/>
          </p:cNvSpPr>
          <p:nvPr/>
        </p:nvSpPr>
        <p:spPr bwMode="auto">
          <a:xfrm>
            <a:off x="381000" y="5410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3400" y="5449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sp>
        <p:nvSpPr>
          <p:cNvPr id="42000" name="Oval 15"/>
          <p:cNvSpPr>
            <a:spLocks noChangeArrowheads="1"/>
          </p:cNvSpPr>
          <p:nvPr/>
        </p:nvSpPr>
        <p:spPr bwMode="auto">
          <a:xfrm>
            <a:off x="2590800" y="5410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43200" y="5449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sp>
        <p:nvSpPr>
          <p:cNvPr id="42002" name="Oval 17"/>
          <p:cNvSpPr>
            <a:spLocks noChangeArrowheads="1"/>
          </p:cNvSpPr>
          <p:nvPr/>
        </p:nvSpPr>
        <p:spPr bwMode="auto">
          <a:xfrm>
            <a:off x="4724400" y="5410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76800" y="5449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sp>
        <p:nvSpPr>
          <p:cNvPr id="42004" name="Oval 19"/>
          <p:cNvSpPr>
            <a:spLocks noChangeArrowheads="1"/>
          </p:cNvSpPr>
          <p:nvPr/>
        </p:nvSpPr>
        <p:spPr bwMode="auto">
          <a:xfrm>
            <a:off x="6934200" y="5410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86600" y="5449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cxnSp>
        <p:nvCxnSpPr>
          <p:cNvPr id="42006" name="Straight Arrow Connector 21"/>
          <p:cNvCxnSpPr>
            <a:cxnSpLocks noChangeShapeType="1"/>
          </p:cNvCxnSpPr>
          <p:nvPr/>
        </p:nvCxnSpPr>
        <p:spPr bwMode="auto">
          <a:xfrm flipV="1">
            <a:off x="2514600" y="4038600"/>
            <a:ext cx="1524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7" name="Straight Arrow Connector 22"/>
          <p:cNvCxnSpPr>
            <a:cxnSpLocks noChangeShapeType="1"/>
          </p:cNvCxnSpPr>
          <p:nvPr/>
        </p:nvCxnSpPr>
        <p:spPr bwMode="auto">
          <a:xfrm rot="10800000">
            <a:off x="4724400" y="4038600"/>
            <a:ext cx="1219200" cy="457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8" name="Straight Arrow Connector 23"/>
          <p:cNvCxnSpPr>
            <a:cxnSpLocks noChangeShapeType="1"/>
            <a:endCxn id="41998" idx="0"/>
          </p:cNvCxnSpPr>
          <p:nvPr/>
        </p:nvCxnSpPr>
        <p:spPr bwMode="auto">
          <a:xfrm rot="10800000" flipV="1">
            <a:off x="1295400" y="4800600"/>
            <a:ext cx="685800" cy="609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9" name="Straight Arrow Connector 24"/>
          <p:cNvCxnSpPr>
            <a:cxnSpLocks noChangeShapeType="1"/>
            <a:endCxn id="17" idx="0"/>
          </p:cNvCxnSpPr>
          <p:nvPr/>
        </p:nvCxnSpPr>
        <p:spPr bwMode="auto">
          <a:xfrm>
            <a:off x="2743200" y="4800600"/>
            <a:ext cx="762000" cy="6492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0" name="Straight Arrow Connector 25"/>
          <p:cNvCxnSpPr>
            <a:cxnSpLocks noChangeShapeType="1"/>
          </p:cNvCxnSpPr>
          <p:nvPr/>
        </p:nvCxnSpPr>
        <p:spPr bwMode="auto">
          <a:xfrm rot="5400000" flipH="1" flipV="1">
            <a:off x="1485900" y="5143500"/>
            <a:ext cx="6858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1" name="Straight Arrow Connector 26"/>
          <p:cNvCxnSpPr>
            <a:cxnSpLocks noChangeShapeType="1"/>
          </p:cNvCxnSpPr>
          <p:nvPr/>
        </p:nvCxnSpPr>
        <p:spPr bwMode="auto">
          <a:xfrm rot="16200000" flipV="1">
            <a:off x="2590800" y="5029200"/>
            <a:ext cx="685800" cy="533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2" name="Straight Arrow Connector 27"/>
          <p:cNvCxnSpPr>
            <a:cxnSpLocks noChangeShapeType="1"/>
          </p:cNvCxnSpPr>
          <p:nvPr/>
        </p:nvCxnSpPr>
        <p:spPr bwMode="auto">
          <a:xfrm rot="10800000" flipV="1">
            <a:off x="533400" y="6019800"/>
            <a:ext cx="381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3" name="Straight Arrow Connector 28"/>
          <p:cNvCxnSpPr>
            <a:cxnSpLocks noChangeShapeType="1"/>
          </p:cNvCxnSpPr>
          <p:nvPr/>
        </p:nvCxnSpPr>
        <p:spPr bwMode="auto">
          <a:xfrm rot="16200000" flipH="1">
            <a:off x="1562100" y="6057900"/>
            <a:ext cx="3048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4" name="Straight Arrow Connector 29"/>
          <p:cNvCxnSpPr>
            <a:cxnSpLocks noChangeShapeType="1"/>
            <a:endCxn id="42002" idx="0"/>
          </p:cNvCxnSpPr>
          <p:nvPr/>
        </p:nvCxnSpPr>
        <p:spPr bwMode="auto">
          <a:xfrm rot="5400000">
            <a:off x="5524500" y="4991100"/>
            <a:ext cx="5334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5" name="Straight Arrow Connector 30"/>
          <p:cNvCxnSpPr>
            <a:cxnSpLocks noChangeShapeType="1"/>
            <a:endCxn id="42004" idx="0"/>
          </p:cNvCxnSpPr>
          <p:nvPr/>
        </p:nvCxnSpPr>
        <p:spPr bwMode="auto">
          <a:xfrm>
            <a:off x="6705600" y="4876800"/>
            <a:ext cx="1143000" cy="533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6" name="Straight Arrow Connector 31"/>
          <p:cNvCxnSpPr>
            <a:cxnSpLocks noChangeShapeType="1"/>
          </p:cNvCxnSpPr>
          <p:nvPr/>
        </p:nvCxnSpPr>
        <p:spPr bwMode="auto">
          <a:xfrm rot="5400000" flipH="1" flipV="1">
            <a:off x="5753100" y="5219700"/>
            <a:ext cx="533400" cy="152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7" name="Straight Arrow Connector 32"/>
          <p:cNvCxnSpPr>
            <a:cxnSpLocks noChangeShapeType="1"/>
          </p:cNvCxnSpPr>
          <p:nvPr/>
        </p:nvCxnSpPr>
        <p:spPr bwMode="auto">
          <a:xfrm rot="10800000">
            <a:off x="6705600" y="5029200"/>
            <a:ext cx="762000" cy="609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TextBox 33"/>
          <p:cNvSpPr txBox="1"/>
          <p:nvPr/>
        </p:nvSpPr>
        <p:spPr>
          <a:xfrm>
            <a:off x="2286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78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cxnSp>
        <p:nvCxnSpPr>
          <p:cNvPr id="42020" name="Straight Arrow Connector 35"/>
          <p:cNvCxnSpPr>
            <a:cxnSpLocks noChangeShapeType="1"/>
          </p:cNvCxnSpPr>
          <p:nvPr/>
        </p:nvCxnSpPr>
        <p:spPr bwMode="auto">
          <a:xfrm rot="10800000" flipV="1">
            <a:off x="2819400" y="6019800"/>
            <a:ext cx="381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21" name="Straight Arrow Connector 36"/>
          <p:cNvCxnSpPr>
            <a:cxnSpLocks noChangeShapeType="1"/>
          </p:cNvCxnSpPr>
          <p:nvPr/>
        </p:nvCxnSpPr>
        <p:spPr bwMode="auto">
          <a:xfrm rot="16200000" flipH="1">
            <a:off x="3848100" y="6057900"/>
            <a:ext cx="3048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TextBox 37"/>
          <p:cNvSpPr txBox="1"/>
          <p:nvPr/>
        </p:nvSpPr>
        <p:spPr>
          <a:xfrm>
            <a:off x="25146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38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cxnSp>
        <p:nvCxnSpPr>
          <p:cNvPr id="42024" name="Straight Arrow Connector 39"/>
          <p:cNvCxnSpPr>
            <a:cxnSpLocks noChangeShapeType="1"/>
          </p:cNvCxnSpPr>
          <p:nvPr/>
        </p:nvCxnSpPr>
        <p:spPr bwMode="auto">
          <a:xfrm rot="10800000" flipV="1">
            <a:off x="4953000" y="6019800"/>
            <a:ext cx="381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25" name="Straight Arrow Connector 40"/>
          <p:cNvCxnSpPr>
            <a:cxnSpLocks noChangeShapeType="1"/>
          </p:cNvCxnSpPr>
          <p:nvPr/>
        </p:nvCxnSpPr>
        <p:spPr bwMode="auto">
          <a:xfrm rot="16200000" flipH="1">
            <a:off x="5981700" y="6057900"/>
            <a:ext cx="3048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TextBox 41"/>
          <p:cNvSpPr txBox="1"/>
          <p:nvPr/>
        </p:nvSpPr>
        <p:spPr>
          <a:xfrm>
            <a:off x="46482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674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cxnSp>
        <p:nvCxnSpPr>
          <p:cNvPr id="42028" name="Straight Arrow Connector 43"/>
          <p:cNvCxnSpPr>
            <a:cxnSpLocks noChangeShapeType="1"/>
          </p:cNvCxnSpPr>
          <p:nvPr/>
        </p:nvCxnSpPr>
        <p:spPr bwMode="auto">
          <a:xfrm rot="10800000" flipV="1">
            <a:off x="7162800" y="6019800"/>
            <a:ext cx="381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29" name="Straight Arrow Connector 44"/>
          <p:cNvCxnSpPr>
            <a:cxnSpLocks noChangeShapeType="1"/>
          </p:cNvCxnSpPr>
          <p:nvPr/>
        </p:nvCxnSpPr>
        <p:spPr bwMode="auto">
          <a:xfrm rot="16200000" flipH="1">
            <a:off x="8191500" y="6057900"/>
            <a:ext cx="3048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TextBox 45"/>
          <p:cNvSpPr txBox="1"/>
          <p:nvPr/>
        </p:nvSpPr>
        <p:spPr>
          <a:xfrm>
            <a:off x="68580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772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cxnSp>
        <p:nvCxnSpPr>
          <p:cNvPr id="42032" name="Straight Arrow Connector 49"/>
          <p:cNvCxnSpPr>
            <a:cxnSpLocks noChangeShapeType="1"/>
          </p:cNvCxnSpPr>
          <p:nvPr/>
        </p:nvCxnSpPr>
        <p:spPr bwMode="auto">
          <a:xfrm>
            <a:off x="2971800" y="2895600"/>
            <a:ext cx="990600" cy="457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033" name="Rounded Rectangle 50"/>
          <p:cNvSpPr>
            <a:spLocks noChangeArrowheads="1"/>
          </p:cNvSpPr>
          <p:nvPr/>
        </p:nvSpPr>
        <p:spPr bwMode="auto">
          <a:xfrm>
            <a:off x="2362200" y="2590800"/>
            <a:ext cx="838200" cy="3810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452688" y="2590800"/>
            <a:ext cx="67151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*root</a:t>
            </a:r>
          </a:p>
        </p:txBody>
      </p:sp>
    </p:spTree>
    <p:extLst>
      <p:ext uri="{BB962C8B-B14F-4D97-AF65-F5344CB8AC3E}">
        <p14:creationId xmlns:p14="http://schemas.microsoft.com/office/powerpoint/2010/main" val="258294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tree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Most common usage of a binary tree is for sorting and finding objects quickly.</a:t>
            </a:r>
          </a:p>
          <a:p>
            <a:r>
              <a:rPr lang="en-US" altLang="en-US"/>
              <a:t>Each tree node (someone calls it a leaf) needs to be comparable.</a:t>
            </a:r>
          </a:p>
        </p:txBody>
      </p:sp>
    </p:spTree>
    <p:extLst>
      <p:ext uri="{BB962C8B-B14F-4D97-AF65-F5344CB8AC3E}">
        <p14:creationId xmlns:p14="http://schemas.microsoft.com/office/powerpoint/2010/main" val="20083918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tree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Initially, the root pointer is NULL.  (When the tree is empty.)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2400" y="25908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44037" name="Rounded Rectangle 4"/>
          <p:cNvSpPr>
            <a:spLocks noChangeArrowheads="1"/>
          </p:cNvSpPr>
          <p:nvPr/>
        </p:nvSpPr>
        <p:spPr bwMode="auto">
          <a:xfrm>
            <a:off x="2362200" y="2590800"/>
            <a:ext cx="838200" cy="3810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52688" y="2590800"/>
            <a:ext cx="67151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*root</a:t>
            </a:r>
          </a:p>
        </p:txBody>
      </p:sp>
      <p:cxnSp>
        <p:nvCxnSpPr>
          <p:cNvPr id="44039" name="Straight Arrow Connector 7"/>
          <p:cNvCxnSpPr>
            <a:cxnSpLocks noChangeShapeType="1"/>
            <a:stCxn id="44037" idx="3"/>
            <a:endCxn id="4" idx="1"/>
          </p:cNvCxnSpPr>
          <p:nvPr/>
        </p:nvCxnSpPr>
        <p:spPr bwMode="auto">
          <a:xfrm>
            <a:off x="3200400" y="2781300"/>
            <a:ext cx="7620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5078462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tree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When the first node is added, root pointer points to the first node, and the first node’s parent, left, and right are all NULL.</a:t>
            </a:r>
          </a:p>
        </p:txBody>
      </p:sp>
      <p:sp>
        <p:nvSpPr>
          <p:cNvPr id="45060" name="Oval 3"/>
          <p:cNvSpPr>
            <a:spLocks noChangeArrowheads="1"/>
          </p:cNvSpPr>
          <p:nvPr/>
        </p:nvSpPr>
        <p:spPr bwMode="auto">
          <a:xfrm>
            <a:off x="3505200" y="32766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0" y="33162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cxnSp>
        <p:nvCxnSpPr>
          <p:cNvPr id="45062" name="Straight Arrow Connector 5"/>
          <p:cNvCxnSpPr>
            <a:cxnSpLocks noChangeShapeType="1"/>
          </p:cNvCxnSpPr>
          <p:nvPr/>
        </p:nvCxnSpPr>
        <p:spPr bwMode="auto">
          <a:xfrm rot="5400000" flipH="1" flipV="1">
            <a:off x="4210050" y="3181350"/>
            <a:ext cx="420688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3" name="Straight Arrow Connector 6"/>
          <p:cNvCxnSpPr>
            <a:cxnSpLocks noChangeShapeType="1"/>
          </p:cNvCxnSpPr>
          <p:nvPr/>
        </p:nvCxnSpPr>
        <p:spPr bwMode="auto">
          <a:xfrm rot="10800000" flipV="1">
            <a:off x="2362200" y="3886200"/>
            <a:ext cx="17526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4" name="Straight Arrow Connector 7"/>
          <p:cNvCxnSpPr>
            <a:cxnSpLocks noChangeShapeType="1"/>
          </p:cNvCxnSpPr>
          <p:nvPr/>
        </p:nvCxnSpPr>
        <p:spPr bwMode="auto">
          <a:xfrm>
            <a:off x="4724400" y="3886200"/>
            <a:ext cx="1600200" cy="381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3962400" y="25908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cxnSp>
        <p:nvCxnSpPr>
          <p:cNvPr id="45066" name="Straight Arrow Connector 11"/>
          <p:cNvCxnSpPr>
            <a:cxnSpLocks noChangeShapeType="1"/>
          </p:cNvCxnSpPr>
          <p:nvPr/>
        </p:nvCxnSpPr>
        <p:spPr bwMode="auto">
          <a:xfrm>
            <a:off x="2971800" y="2895600"/>
            <a:ext cx="990600" cy="457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67" name="Rounded Rectangle 12"/>
          <p:cNvSpPr>
            <a:spLocks noChangeArrowheads="1"/>
          </p:cNvSpPr>
          <p:nvPr/>
        </p:nvSpPr>
        <p:spPr bwMode="auto">
          <a:xfrm>
            <a:off x="2362200" y="2590800"/>
            <a:ext cx="838200" cy="3810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52688" y="2590800"/>
            <a:ext cx="67151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*root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1200" y="41910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42672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14062769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tree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When the second node is added (let’s say the second is greater than the first node) it is added to the right of the first node.</a:t>
            </a:r>
          </a:p>
        </p:txBody>
      </p:sp>
      <p:sp>
        <p:nvSpPr>
          <p:cNvPr id="46084" name="Oval 3"/>
          <p:cNvSpPr>
            <a:spLocks noChangeArrowheads="1"/>
          </p:cNvSpPr>
          <p:nvPr/>
        </p:nvSpPr>
        <p:spPr bwMode="auto">
          <a:xfrm>
            <a:off x="3505200" y="32766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0" y="33162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cxnSp>
        <p:nvCxnSpPr>
          <p:cNvPr id="46086" name="Straight Arrow Connector 5"/>
          <p:cNvCxnSpPr>
            <a:cxnSpLocks noChangeShapeType="1"/>
          </p:cNvCxnSpPr>
          <p:nvPr/>
        </p:nvCxnSpPr>
        <p:spPr bwMode="auto">
          <a:xfrm rot="5400000" flipH="1" flipV="1">
            <a:off x="4210050" y="3181350"/>
            <a:ext cx="420688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87" name="Straight Arrow Connector 6"/>
          <p:cNvCxnSpPr>
            <a:cxnSpLocks noChangeShapeType="1"/>
          </p:cNvCxnSpPr>
          <p:nvPr/>
        </p:nvCxnSpPr>
        <p:spPr bwMode="auto">
          <a:xfrm rot="10800000" flipV="1">
            <a:off x="2362200" y="3886200"/>
            <a:ext cx="17526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88" name="Straight Arrow Connector 7"/>
          <p:cNvCxnSpPr>
            <a:cxnSpLocks noChangeShapeType="1"/>
          </p:cNvCxnSpPr>
          <p:nvPr/>
        </p:nvCxnSpPr>
        <p:spPr bwMode="auto">
          <a:xfrm>
            <a:off x="4724400" y="3886200"/>
            <a:ext cx="1600200" cy="381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3962400" y="25908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46090" name="Oval 9"/>
          <p:cNvSpPr>
            <a:spLocks noChangeArrowheads="1"/>
          </p:cNvSpPr>
          <p:nvPr/>
        </p:nvSpPr>
        <p:spPr bwMode="auto">
          <a:xfrm>
            <a:off x="5410200" y="4267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62600" y="4306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cxnSp>
        <p:nvCxnSpPr>
          <p:cNvPr id="46092" name="Straight Arrow Connector 12"/>
          <p:cNvCxnSpPr>
            <a:cxnSpLocks noChangeShapeType="1"/>
          </p:cNvCxnSpPr>
          <p:nvPr/>
        </p:nvCxnSpPr>
        <p:spPr bwMode="auto">
          <a:xfrm rot="10800000">
            <a:off x="4724400" y="4038600"/>
            <a:ext cx="1219200" cy="457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3" name="Straight Arrow Connector 13"/>
          <p:cNvCxnSpPr>
            <a:cxnSpLocks noChangeShapeType="1"/>
          </p:cNvCxnSpPr>
          <p:nvPr/>
        </p:nvCxnSpPr>
        <p:spPr bwMode="auto">
          <a:xfrm>
            <a:off x="2971800" y="2895600"/>
            <a:ext cx="990600" cy="457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094" name="Rounded Rectangle 14"/>
          <p:cNvSpPr>
            <a:spLocks noChangeArrowheads="1"/>
          </p:cNvSpPr>
          <p:nvPr/>
        </p:nvSpPr>
        <p:spPr bwMode="auto">
          <a:xfrm>
            <a:off x="2362200" y="2590800"/>
            <a:ext cx="838200" cy="3810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52688" y="2590800"/>
            <a:ext cx="67151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*root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1200" y="41910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cxnSp>
        <p:nvCxnSpPr>
          <p:cNvPr id="46097" name="Straight Arrow Connector 17"/>
          <p:cNvCxnSpPr>
            <a:cxnSpLocks noChangeShapeType="1"/>
          </p:cNvCxnSpPr>
          <p:nvPr/>
        </p:nvCxnSpPr>
        <p:spPr bwMode="auto">
          <a:xfrm rot="5400000">
            <a:off x="5524500" y="4991100"/>
            <a:ext cx="5334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8" name="Straight Arrow Connector 18"/>
          <p:cNvCxnSpPr>
            <a:cxnSpLocks noChangeShapeType="1"/>
          </p:cNvCxnSpPr>
          <p:nvPr/>
        </p:nvCxnSpPr>
        <p:spPr bwMode="auto">
          <a:xfrm>
            <a:off x="6705600" y="4876800"/>
            <a:ext cx="1143000" cy="533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TextBox 20"/>
          <p:cNvSpPr txBox="1"/>
          <p:nvPr/>
        </p:nvSpPr>
        <p:spPr>
          <a:xfrm>
            <a:off x="5257800" y="54102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7600" y="54102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40918483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tree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Let’s say the third node is greater than the first, but smaller than the second node.</a:t>
            </a:r>
          </a:p>
          <a:p>
            <a:r>
              <a:rPr lang="en-US" altLang="en-US"/>
              <a:t>It needs to be added to the left of the second node.</a:t>
            </a:r>
          </a:p>
        </p:txBody>
      </p:sp>
      <p:sp>
        <p:nvSpPr>
          <p:cNvPr id="47108" name="Oval 3"/>
          <p:cNvSpPr>
            <a:spLocks noChangeArrowheads="1"/>
          </p:cNvSpPr>
          <p:nvPr/>
        </p:nvSpPr>
        <p:spPr bwMode="auto">
          <a:xfrm>
            <a:off x="4724400" y="5410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76800" y="5449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cxnSp>
        <p:nvCxnSpPr>
          <p:cNvPr id="47110" name="Straight Arrow Connector 5"/>
          <p:cNvCxnSpPr>
            <a:cxnSpLocks noChangeShapeType="1"/>
          </p:cNvCxnSpPr>
          <p:nvPr/>
        </p:nvCxnSpPr>
        <p:spPr bwMode="auto">
          <a:xfrm rot="5400000" flipH="1" flipV="1">
            <a:off x="5753100" y="5219700"/>
            <a:ext cx="533400" cy="152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1" name="Straight Arrow Connector 6"/>
          <p:cNvCxnSpPr>
            <a:cxnSpLocks noChangeShapeType="1"/>
          </p:cNvCxnSpPr>
          <p:nvPr/>
        </p:nvCxnSpPr>
        <p:spPr bwMode="auto">
          <a:xfrm rot="10800000" flipV="1">
            <a:off x="4953000" y="6019800"/>
            <a:ext cx="381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2" name="Straight Arrow Connector 7"/>
          <p:cNvCxnSpPr>
            <a:cxnSpLocks noChangeShapeType="1"/>
          </p:cNvCxnSpPr>
          <p:nvPr/>
        </p:nvCxnSpPr>
        <p:spPr bwMode="auto">
          <a:xfrm rot="16200000" flipH="1">
            <a:off x="5981700" y="6057900"/>
            <a:ext cx="3048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46482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74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47115" name="Oval 10"/>
          <p:cNvSpPr>
            <a:spLocks noChangeArrowheads="1"/>
          </p:cNvSpPr>
          <p:nvPr/>
        </p:nvSpPr>
        <p:spPr bwMode="auto">
          <a:xfrm>
            <a:off x="3505200" y="32766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0" y="33162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cxnSp>
        <p:nvCxnSpPr>
          <p:cNvPr id="47117" name="Straight Arrow Connector 12"/>
          <p:cNvCxnSpPr>
            <a:cxnSpLocks noChangeShapeType="1"/>
          </p:cNvCxnSpPr>
          <p:nvPr/>
        </p:nvCxnSpPr>
        <p:spPr bwMode="auto">
          <a:xfrm rot="5400000" flipH="1" flipV="1">
            <a:off x="4210050" y="3181350"/>
            <a:ext cx="420688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8" name="Straight Arrow Connector 13"/>
          <p:cNvCxnSpPr>
            <a:cxnSpLocks noChangeShapeType="1"/>
          </p:cNvCxnSpPr>
          <p:nvPr/>
        </p:nvCxnSpPr>
        <p:spPr bwMode="auto">
          <a:xfrm rot="10800000" flipV="1">
            <a:off x="2362200" y="3886200"/>
            <a:ext cx="17526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9" name="Straight Arrow Connector 14"/>
          <p:cNvCxnSpPr>
            <a:cxnSpLocks noChangeShapeType="1"/>
          </p:cNvCxnSpPr>
          <p:nvPr/>
        </p:nvCxnSpPr>
        <p:spPr bwMode="auto">
          <a:xfrm>
            <a:off x="4724400" y="3886200"/>
            <a:ext cx="1600200" cy="381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Box 15"/>
          <p:cNvSpPr txBox="1"/>
          <p:nvPr/>
        </p:nvSpPr>
        <p:spPr>
          <a:xfrm>
            <a:off x="3962400" y="25908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47121" name="Oval 16"/>
          <p:cNvSpPr>
            <a:spLocks noChangeArrowheads="1"/>
          </p:cNvSpPr>
          <p:nvPr/>
        </p:nvSpPr>
        <p:spPr bwMode="auto">
          <a:xfrm>
            <a:off x="5410200" y="4267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562600" y="4306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cxnSp>
        <p:nvCxnSpPr>
          <p:cNvPr id="47123" name="Straight Arrow Connector 18"/>
          <p:cNvCxnSpPr>
            <a:cxnSpLocks noChangeShapeType="1"/>
          </p:cNvCxnSpPr>
          <p:nvPr/>
        </p:nvCxnSpPr>
        <p:spPr bwMode="auto">
          <a:xfrm rot="10800000">
            <a:off x="4724400" y="4038600"/>
            <a:ext cx="1219200" cy="457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4" name="Straight Arrow Connector 19"/>
          <p:cNvCxnSpPr>
            <a:cxnSpLocks noChangeShapeType="1"/>
          </p:cNvCxnSpPr>
          <p:nvPr/>
        </p:nvCxnSpPr>
        <p:spPr bwMode="auto">
          <a:xfrm>
            <a:off x="2971800" y="2895600"/>
            <a:ext cx="990600" cy="457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25" name="Rounded Rectangle 20"/>
          <p:cNvSpPr>
            <a:spLocks noChangeArrowheads="1"/>
          </p:cNvSpPr>
          <p:nvPr/>
        </p:nvSpPr>
        <p:spPr bwMode="auto">
          <a:xfrm>
            <a:off x="2362200" y="2590800"/>
            <a:ext cx="838200" cy="3810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52688" y="2590800"/>
            <a:ext cx="67151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*root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81200" y="41910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cxnSp>
        <p:nvCxnSpPr>
          <p:cNvPr id="47128" name="Straight Arrow Connector 23"/>
          <p:cNvCxnSpPr>
            <a:cxnSpLocks noChangeShapeType="1"/>
          </p:cNvCxnSpPr>
          <p:nvPr/>
        </p:nvCxnSpPr>
        <p:spPr bwMode="auto">
          <a:xfrm>
            <a:off x="6705600" y="4876800"/>
            <a:ext cx="1143000" cy="533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TextBox 24"/>
          <p:cNvSpPr txBox="1"/>
          <p:nvPr/>
        </p:nvSpPr>
        <p:spPr>
          <a:xfrm>
            <a:off x="7467600" y="54102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cxnSp>
        <p:nvCxnSpPr>
          <p:cNvPr id="47130" name="Straight Arrow Connector 25"/>
          <p:cNvCxnSpPr>
            <a:cxnSpLocks noChangeShapeType="1"/>
          </p:cNvCxnSpPr>
          <p:nvPr/>
        </p:nvCxnSpPr>
        <p:spPr bwMode="auto">
          <a:xfrm rot="5400000">
            <a:off x="5524500" y="4991100"/>
            <a:ext cx="5334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31" name="Freeform 26"/>
          <p:cNvSpPr>
            <a:spLocks/>
          </p:cNvSpPr>
          <p:nvPr/>
        </p:nvSpPr>
        <p:spPr bwMode="auto">
          <a:xfrm>
            <a:off x="3403600" y="2870200"/>
            <a:ext cx="3414713" cy="2641600"/>
          </a:xfrm>
          <a:custGeom>
            <a:avLst/>
            <a:gdLst>
              <a:gd name="T0" fmla="*/ 0 w 3414183"/>
              <a:gd name="T1" fmla="*/ 0 h 2641600"/>
              <a:gd name="T2" fmla="*/ 1412111 w 3414183"/>
              <a:gd name="T3" fmla="*/ 698500 h 2641600"/>
              <a:gd name="T4" fmla="*/ 3193153 w 3414183"/>
              <a:gd name="T5" fmla="*/ 1308100 h 2641600"/>
              <a:gd name="T6" fmla="*/ 2773331 w 3414183"/>
              <a:gd name="T7" fmla="*/ 2641600 h 2641600"/>
              <a:gd name="T8" fmla="*/ 0 60000 65536"/>
              <a:gd name="T9" fmla="*/ 0 60000 65536"/>
              <a:gd name="T10" fmla="*/ 0 60000 65536"/>
              <a:gd name="T11" fmla="*/ 0 60000 65536"/>
              <a:gd name="T12" fmla="*/ 0 w 3414183"/>
              <a:gd name="T13" fmla="*/ 0 h 2641600"/>
              <a:gd name="T14" fmla="*/ 3414183 w 3414183"/>
              <a:gd name="T15" fmla="*/ 2641600 h 264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414183" h="2641600">
                <a:moveTo>
                  <a:pt x="0" y="0"/>
                </a:moveTo>
                <a:cubicBezTo>
                  <a:pt x="439208" y="240241"/>
                  <a:pt x="878417" y="480483"/>
                  <a:pt x="1409700" y="698500"/>
                </a:cubicBezTo>
                <a:cubicBezTo>
                  <a:pt x="1940983" y="916517"/>
                  <a:pt x="2961217" y="984250"/>
                  <a:pt x="3187700" y="1308100"/>
                </a:cubicBezTo>
                <a:cubicBezTo>
                  <a:pt x="3414183" y="1631950"/>
                  <a:pt x="3091391" y="2136775"/>
                  <a:pt x="2768600" y="2641600"/>
                </a:cubicBezTo>
              </a:path>
            </a:pathLst>
          </a:custGeom>
          <a:noFill/>
          <a:ln w="9525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5334000" y="3271838"/>
            <a:ext cx="25908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200" i="0" dirty="0">
                <a:solidFill>
                  <a:srgbClr val="FF0000"/>
                </a:solidFill>
                <a:latin typeface="+mn-lt"/>
              </a:rPr>
              <a:t>New node is greater than the root node, so it needs to go right.</a:t>
            </a:r>
            <a:endParaRPr lang="en-US" sz="1200" i="0" dirty="0" err="1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971800" y="4808538"/>
            <a:ext cx="2590800" cy="8302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200" i="0" dirty="0">
                <a:solidFill>
                  <a:srgbClr val="FF0000"/>
                </a:solidFill>
                <a:latin typeface="+mn-lt"/>
              </a:rPr>
              <a:t>New node is smaller than the second node, so it needs to go left, and it is where the third node needs to be connected.</a:t>
            </a:r>
          </a:p>
        </p:txBody>
      </p:sp>
    </p:spTree>
    <p:extLst>
      <p:ext uri="{BB962C8B-B14F-4D97-AF65-F5344CB8AC3E}">
        <p14:creationId xmlns:p14="http://schemas.microsoft.com/office/powerpoint/2010/main" val="2128072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tree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After building a whole tree, you can iterate through the smallest node to the greatest node as follows. </a:t>
            </a:r>
          </a:p>
        </p:txBody>
      </p:sp>
      <p:sp>
        <p:nvSpPr>
          <p:cNvPr id="48132" name="Oval 3"/>
          <p:cNvSpPr>
            <a:spLocks noChangeArrowheads="1"/>
          </p:cNvSpPr>
          <p:nvPr/>
        </p:nvSpPr>
        <p:spPr bwMode="auto">
          <a:xfrm>
            <a:off x="3505200" y="32766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0" y="33162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cxnSp>
        <p:nvCxnSpPr>
          <p:cNvPr id="48134" name="Straight Arrow Connector 5"/>
          <p:cNvCxnSpPr>
            <a:cxnSpLocks noChangeShapeType="1"/>
          </p:cNvCxnSpPr>
          <p:nvPr/>
        </p:nvCxnSpPr>
        <p:spPr bwMode="auto">
          <a:xfrm rot="5400000" flipH="1" flipV="1">
            <a:off x="4210050" y="3181350"/>
            <a:ext cx="420688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35" name="Straight Arrow Connector 6"/>
          <p:cNvCxnSpPr>
            <a:cxnSpLocks noChangeShapeType="1"/>
          </p:cNvCxnSpPr>
          <p:nvPr/>
        </p:nvCxnSpPr>
        <p:spPr bwMode="auto">
          <a:xfrm rot="10800000" flipV="1">
            <a:off x="2362200" y="3886200"/>
            <a:ext cx="17526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36" name="Straight Arrow Connector 7"/>
          <p:cNvCxnSpPr>
            <a:cxnSpLocks noChangeShapeType="1"/>
          </p:cNvCxnSpPr>
          <p:nvPr/>
        </p:nvCxnSpPr>
        <p:spPr bwMode="auto">
          <a:xfrm>
            <a:off x="4724400" y="3886200"/>
            <a:ext cx="1600200" cy="381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3962400" y="25908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48138" name="Oval 9"/>
          <p:cNvSpPr>
            <a:spLocks noChangeArrowheads="1"/>
          </p:cNvSpPr>
          <p:nvPr/>
        </p:nvSpPr>
        <p:spPr bwMode="auto">
          <a:xfrm>
            <a:off x="1447800" y="41910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00200" y="42306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sp>
        <p:nvSpPr>
          <p:cNvPr id="48140" name="Oval 11"/>
          <p:cNvSpPr>
            <a:spLocks noChangeArrowheads="1"/>
          </p:cNvSpPr>
          <p:nvPr/>
        </p:nvSpPr>
        <p:spPr bwMode="auto">
          <a:xfrm>
            <a:off x="5410200" y="4267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562600" y="4306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sp>
        <p:nvSpPr>
          <p:cNvPr id="48142" name="Oval 13"/>
          <p:cNvSpPr>
            <a:spLocks noChangeArrowheads="1"/>
          </p:cNvSpPr>
          <p:nvPr/>
        </p:nvSpPr>
        <p:spPr bwMode="auto">
          <a:xfrm>
            <a:off x="381000" y="5410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3400" y="5449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sp>
        <p:nvSpPr>
          <p:cNvPr id="48144" name="Oval 15"/>
          <p:cNvSpPr>
            <a:spLocks noChangeArrowheads="1"/>
          </p:cNvSpPr>
          <p:nvPr/>
        </p:nvSpPr>
        <p:spPr bwMode="auto">
          <a:xfrm>
            <a:off x="2590800" y="5410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43200" y="5449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sp>
        <p:nvSpPr>
          <p:cNvPr id="48146" name="Oval 17"/>
          <p:cNvSpPr>
            <a:spLocks noChangeArrowheads="1"/>
          </p:cNvSpPr>
          <p:nvPr/>
        </p:nvSpPr>
        <p:spPr bwMode="auto">
          <a:xfrm>
            <a:off x="4724400" y="5410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76800" y="5449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sp>
        <p:nvSpPr>
          <p:cNvPr id="48148" name="Oval 19"/>
          <p:cNvSpPr>
            <a:spLocks noChangeArrowheads="1"/>
          </p:cNvSpPr>
          <p:nvPr/>
        </p:nvSpPr>
        <p:spPr bwMode="auto">
          <a:xfrm>
            <a:off x="6934200" y="5410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86600" y="5449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cxnSp>
        <p:nvCxnSpPr>
          <p:cNvPr id="48150" name="Straight Arrow Connector 21"/>
          <p:cNvCxnSpPr>
            <a:cxnSpLocks noChangeShapeType="1"/>
          </p:cNvCxnSpPr>
          <p:nvPr/>
        </p:nvCxnSpPr>
        <p:spPr bwMode="auto">
          <a:xfrm flipV="1">
            <a:off x="2514600" y="4038600"/>
            <a:ext cx="1524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1" name="Straight Arrow Connector 22"/>
          <p:cNvCxnSpPr>
            <a:cxnSpLocks noChangeShapeType="1"/>
          </p:cNvCxnSpPr>
          <p:nvPr/>
        </p:nvCxnSpPr>
        <p:spPr bwMode="auto">
          <a:xfrm rot="10800000">
            <a:off x="4724400" y="4038600"/>
            <a:ext cx="1219200" cy="457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2" name="Straight Arrow Connector 23"/>
          <p:cNvCxnSpPr>
            <a:cxnSpLocks noChangeShapeType="1"/>
            <a:endCxn id="48142" idx="0"/>
          </p:cNvCxnSpPr>
          <p:nvPr/>
        </p:nvCxnSpPr>
        <p:spPr bwMode="auto">
          <a:xfrm rot="10800000" flipV="1">
            <a:off x="1295400" y="4800600"/>
            <a:ext cx="685800" cy="609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3" name="Straight Arrow Connector 24"/>
          <p:cNvCxnSpPr>
            <a:cxnSpLocks noChangeShapeType="1"/>
            <a:endCxn id="17" idx="0"/>
          </p:cNvCxnSpPr>
          <p:nvPr/>
        </p:nvCxnSpPr>
        <p:spPr bwMode="auto">
          <a:xfrm>
            <a:off x="2743200" y="4800600"/>
            <a:ext cx="762000" cy="6492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4" name="Straight Arrow Connector 25"/>
          <p:cNvCxnSpPr>
            <a:cxnSpLocks noChangeShapeType="1"/>
          </p:cNvCxnSpPr>
          <p:nvPr/>
        </p:nvCxnSpPr>
        <p:spPr bwMode="auto">
          <a:xfrm rot="5400000" flipH="1" flipV="1">
            <a:off x="1485900" y="5143500"/>
            <a:ext cx="6858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5" name="Straight Arrow Connector 26"/>
          <p:cNvCxnSpPr>
            <a:cxnSpLocks noChangeShapeType="1"/>
          </p:cNvCxnSpPr>
          <p:nvPr/>
        </p:nvCxnSpPr>
        <p:spPr bwMode="auto">
          <a:xfrm rot="16200000" flipV="1">
            <a:off x="2590800" y="5029200"/>
            <a:ext cx="685800" cy="533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6" name="Straight Arrow Connector 27"/>
          <p:cNvCxnSpPr>
            <a:cxnSpLocks noChangeShapeType="1"/>
          </p:cNvCxnSpPr>
          <p:nvPr/>
        </p:nvCxnSpPr>
        <p:spPr bwMode="auto">
          <a:xfrm rot="10800000" flipV="1">
            <a:off x="533400" y="6019800"/>
            <a:ext cx="381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7" name="Straight Arrow Connector 28"/>
          <p:cNvCxnSpPr>
            <a:cxnSpLocks noChangeShapeType="1"/>
          </p:cNvCxnSpPr>
          <p:nvPr/>
        </p:nvCxnSpPr>
        <p:spPr bwMode="auto">
          <a:xfrm rot="16200000" flipH="1">
            <a:off x="1562100" y="6057900"/>
            <a:ext cx="3048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8" name="Straight Arrow Connector 29"/>
          <p:cNvCxnSpPr>
            <a:cxnSpLocks noChangeShapeType="1"/>
            <a:endCxn id="48146" idx="0"/>
          </p:cNvCxnSpPr>
          <p:nvPr/>
        </p:nvCxnSpPr>
        <p:spPr bwMode="auto">
          <a:xfrm rot="5400000">
            <a:off x="5524500" y="4991100"/>
            <a:ext cx="5334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9" name="Straight Arrow Connector 30"/>
          <p:cNvCxnSpPr>
            <a:cxnSpLocks noChangeShapeType="1"/>
            <a:endCxn id="48148" idx="0"/>
          </p:cNvCxnSpPr>
          <p:nvPr/>
        </p:nvCxnSpPr>
        <p:spPr bwMode="auto">
          <a:xfrm>
            <a:off x="6705600" y="4876800"/>
            <a:ext cx="1143000" cy="533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60" name="Straight Arrow Connector 31"/>
          <p:cNvCxnSpPr>
            <a:cxnSpLocks noChangeShapeType="1"/>
          </p:cNvCxnSpPr>
          <p:nvPr/>
        </p:nvCxnSpPr>
        <p:spPr bwMode="auto">
          <a:xfrm rot="5400000" flipH="1" flipV="1">
            <a:off x="5753100" y="5219700"/>
            <a:ext cx="533400" cy="152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61" name="Straight Arrow Connector 32"/>
          <p:cNvCxnSpPr>
            <a:cxnSpLocks noChangeShapeType="1"/>
          </p:cNvCxnSpPr>
          <p:nvPr/>
        </p:nvCxnSpPr>
        <p:spPr bwMode="auto">
          <a:xfrm rot="10800000">
            <a:off x="6705600" y="5029200"/>
            <a:ext cx="762000" cy="609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TextBox 33"/>
          <p:cNvSpPr txBox="1"/>
          <p:nvPr/>
        </p:nvSpPr>
        <p:spPr>
          <a:xfrm>
            <a:off x="2286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78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cxnSp>
        <p:nvCxnSpPr>
          <p:cNvPr id="48164" name="Straight Arrow Connector 35"/>
          <p:cNvCxnSpPr>
            <a:cxnSpLocks noChangeShapeType="1"/>
          </p:cNvCxnSpPr>
          <p:nvPr/>
        </p:nvCxnSpPr>
        <p:spPr bwMode="auto">
          <a:xfrm rot="10800000" flipV="1">
            <a:off x="2819400" y="6019800"/>
            <a:ext cx="381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65" name="Straight Arrow Connector 36"/>
          <p:cNvCxnSpPr>
            <a:cxnSpLocks noChangeShapeType="1"/>
          </p:cNvCxnSpPr>
          <p:nvPr/>
        </p:nvCxnSpPr>
        <p:spPr bwMode="auto">
          <a:xfrm rot="16200000" flipH="1">
            <a:off x="3848100" y="6057900"/>
            <a:ext cx="3048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TextBox 37"/>
          <p:cNvSpPr txBox="1"/>
          <p:nvPr/>
        </p:nvSpPr>
        <p:spPr>
          <a:xfrm>
            <a:off x="25146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38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cxnSp>
        <p:nvCxnSpPr>
          <p:cNvPr id="48168" name="Straight Arrow Connector 39"/>
          <p:cNvCxnSpPr>
            <a:cxnSpLocks noChangeShapeType="1"/>
          </p:cNvCxnSpPr>
          <p:nvPr/>
        </p:nvCxnSpPr>
        <p:spPr bwMode="auto">
          <a:xfrm rot="10800000" flipV="1">
            <a:off x="4953000" y="6019800"/>
            <a:ext cx="381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69" name="Straight Arrow Connector 40"/>
          <p:cNvCxnSpPr>
            <a:cxnSpLocks noChangeShapeType="1"/>
          </p:cNvCxnSpPr>
          <p:nvPr/>
        </p:nvCxnSpPr>
        <p:spPr bwMode="auto">
          <a:xfrm rot="16200000" flipH="1">
            <a:off x="5981700" y="6057900"/>
            <a:ext cx="3048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TextBox 41"/>
          <p:cNvSpPr txBox="1"/>
          <p:nvPr/>
        </p:nvSpPr>
        <p:spPr>
          <a:xfrm>
            <a:off x="46482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674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cxnSp>
        <p:nvCxnSpPr>
          <p:cNvPr id="48172" name="Straight Arrow Connector 43"/>
          <p:cNvCxnSpPr>
            <a:cxnSpLocks noChangeShapeType="1"/>
          </p:cNvCxnSpPr>
          <p:nvPr/>
        </p:nvCxnSpPr>
        <p:spPr bwMode="auto">
          <a:xfrm rot="10800000" flipV="1">
            <a:off x="7162800" y="6019800"/>
            <a:ext cx="381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73" name="Straight Arrow Connector 44"/>
          <p:cNvCxnSpPr>
            <a:cxnSpLocks noChangeShapeType="1"/>
          </p:cNvCxnSpPr>
          <p:nvPr/>
        </p:nvCxnSpPr>
        <p:spPr bwMode="auto">
          <a:xfrm rot="16200000" flipH="1">
            <a:off x="8191500" y="6057900"/>
            <a:ext cx="3048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TextBox 45"/>
          <p:cNvSpPr txBox="1"/>
          <p:nvPr/>
        </p:nvSpPr>
        <p:spPr>
          <a:xfrm>
            <a:off x="68580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772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cxnSp>
        <p:nvCxnSpPr>
          <p:cNvPr id="48176" name="Straight Arrow Connector 47"/>
          <p:cNvCxnSpPr>
            <a:cxnSpLocks noChangeShapeType="1"/>
          </p:cNvCxnSpPr>
          <p:nvPr/>
        </p:nvCxnSpPr>
        <p:spPr bwMode="auto">
          <a:xfrm>
            <a:off x="2971800" y="2895600"/>
            <a:ext cx="990600" cy="457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177" name="Rounded Rectangle 48"/>
          <p:cNvSpPr>
            <a:spLocks noChangeArrowheads="1"/>
          </p:cNvSpPr>
          <p:nvPr/>
        </p:nvSpPr>
        <p:spPr bwMode="auto">
          <a:xfrm>
            <a:off x="2362200" y="2590800"/>
            <a:ext cx="838200" cy="3810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452688" y="2590800"/>
            <a:ext cx="67151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*root</a:t>
            </a:r>
          </a:p>
        </p:txBody>
      </p:sp>
      <p:sp>
        <p:nvSpPr>
          <p:cNvPr id="48179" name="Freeform 50"/>
          <p:cNvSpPr>
            <a:spLocks/>
          </p:cNvSpPr>
          <p:nvPr/>
        </p:nvSpPr>
        <p:spPr bwMode="auto">
          <a:xfrm>
            <a:off x="704850" y="2832100"/>
            <a:ext cx="3670300" cy="2628900"/>
          </a:xfrm>
          <a:custGeom>
            <a:avLst/>
            <a:gdLst>
              <a:gd name="T0" fmla="*/ 3219450 w 3670300"/>
              <a:gd name="T1" fmla="*/ 0 h 2628900"/>
              <a:gd name="T2" fmla="*/ 3321050 w 3670300"/>
              <a:gd name="T3" fmla="*/ 457200 h 2628900"/>
              <a:gd name="T4" fmla="*/ 1123950 w 3670300"/>
              <a:gd name="T5" fmla="*/ 1282700 h 2628900"/>
              <a:gd name="T6" fmla="*/ 184150 w 3670300"/>
              <a:gd name="T7" fmla="*/ 1866900 h 2628900"/>
              <a:gd name="T8" fmla="*/ 19050 w 3670300"/>
              <a:gd name="T9" fmla="*/ 2628900 h 26289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70300"/>
              <a:gd name="T16" fmla="*/ 0 h 2628900"/>
              <a:gd name="T17" fmla="*/ 3670300 w 3670300"/>
              <a:gd name="T18" fmla="*/ 2628900 h 26289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70300" h="2628900">
                <a:moveTo>
                  <a:pt x="3219450" y="0"/>
                </a:moveTo>
                <a:cubicBezTo>
                  <a:pt x="3444875" y="121708"/>
                  <a:pt x="3670300" y="243417"/>
                  <a:pt x="3321050" y="457200"/>
                </a:cubicBezTo>
                <a:cubicBezTo>
                  <a:pt x="2971800" y="670983"/>
                  <a:pt x="1646767" y="1047750"/>
                  <a:pt x="1123950" y="1282700"/>
                </a:cubicBezTo>
                <a:cubicBezTo>
                  <a:pt x="601133" y="1517650"/>
                  <a:pt x="368300" y="1642533"/>
                  <a:pt x="184150" y="1866900"/>
                </a:cubicBezTo>
                <a:cubicBezTo>
                  <a:pt x="0" y="2091267"/>
                  <a:pt x="9525" y="2360083"/>
                  <a:pt x="19050" y="2628900"/>
                </a:cubicBezTo>
              </a:path>
            </a:pathLst>
          </a:custGeom>
          <a:noFill/>
          <a:ln w="9525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304800" y="3805238"/>
            <a:ext cx="16764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200" i="0" dirty="0">
                <a:solidFill>
                  <a:srgbClr val="FF0000"/>
                </a:solidFill>
                <a:latin typeface="+mn-lt"/>
              </a:rPr>
              <a:t>Go all the way to the left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0600" y="5024438"/>
            <a:ext cx="10668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200" i="0" dirty="0">
                <a:solidFill>
                  <a:srgbClr val="FF0000"/>
                </a:solidFill>
                <a:latin typeface="+mn-lt"/>
              </a:rPr>
              <a:t>Then go up a level.</a:t>
            </a:r>
          </a:p>
        </p:txBody>
      </p:sp>
      <p:sp>
        <p:nvSpPr>
          <p:cNvPr id="48182" name="Freeform 54"/>
          <p:cNvSpPr>
            <a:spLocks/>
          </p:cNvSpPr>
          <p:nvPr/>
        </p:nvSpPr>
        <p:spPr bwMode="auto">
          <a:xfrm>
            <a:off x="2184400" y="4749800"/>
            <a:ext cx="787400" cy="889000"/>
          </a:xfrm>
          <a:custGeom>
            <a:avLst/>
            <a:gdLst>
              <a:gd name="T0" fmla="*/ 0 w 787400"/>
              <a:gd name="T1" fmla="*/ 203200 h 889000"/>
              <a:gd name="T2" fmla="*/ 241300 w 787400"/>
              <a:gd name="T3" fmla="*/ 114300 h 889000"/>
              <a:gd name="T4" fmla="*/ 787400 w 787400"/>
              <a:gd name="T5" fmla="*/ 889000 h 889000"/>
              <a:gd name="T6" fmla="*/ 0 60000 65536"/>
              <a:gd name="T7" fmla="*/ 0 60000 65536"/>
              <a:gd name="T8" fmla="*/ 0 60000 65536"/>
              <a:gd name="T9" fmla="*/ 0 w 787400"/>
              <a:gd name="T10" fmla="*/ 0 h 889000"/>
              <a:gd name="T11" fmla="*/ 787400 w 787400"/>
              <a:gd name="T12" fmla="*/ 889000 h 889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87400" h="889000">
                <a:moveTo>
                  <a:pt x="0" y="203200"/>
                </a:moveTo>
                <a:cubicBezTo>
                  <a:pt x="55033" y="101600"/>
                  <a:pt x="110067" y="0"/>
                  <a:pt x="241300" y="114300"/>
                </a:cubicBezTo>
                <a:cubicBezTo>
                  <a:pt x="372533" y="228600"/>
                  <a:pt x="579966" y="558800"/>
                  <a:pt x="787400" y="889000"/>
                </a:cubicBezTo>
              </a:path>
            </a:pathLst>
          </a:custGeom>
          <a:noFill/>
          <a:ln w="9525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2057400" y="5253038"/>
            <a:ext cx="10668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200" i="0" dirty="0">
                <a:solidFill>
                  <a:srgbClr val="FF0000"/>
                </a:solidFill>
                <a:latin typeface="+mn-lt"/>
              </a:rPr>
              <a:t>Go to the right.</a:t>
            </a:r>
          </a:p>
        </p:txBody>
      </p:sp>
      <p:sp>
        <p:nvSpPr>
          <p:cNvPr id="48184" name="Freeform 56"/>
          <p:cNvSpPr>
            <a:spLocks/>
          </p:cNvSpPr>
          <p:nvPr/>
        </p:nvSpPr>
        <p:spPr bwMode="auto">
          <a:xfrm>
            <a:off x="2552700" y="4800600"/>
            <a:ext cx="1998663" cy="1846263"/>
          </a:xfrm>
          <a:custGeom>
            <a:avLst/>
            <a:gdLst>
              <a:gd name="T0" fmla="*/ 433065 w 1998133"/>
              <a:gd name="T1" fmla="*/ 828111 h 1845733"/>
              <a:gd name="T2" fmla="*/ 534962 w 1998133"/>
              <a:gd name="T3" fmla="*/ 1057434 h 1845733"/>
              <a:gd name="T4" fmla="*/ 25477 w 1998133"/>
              <a:gd name="T5" fmla="*/ 1618001 h 1845733"/>
              <a:gd name="T6" fmla="*/ 382111 w 1998133"/>
              <a:gd name="T7" fmla="*/ 1719923 h 1845733"/>
              <a:gd name="T8" fmla="*/ 878862 w 1998133"/>
              <a:gd name="T9" fmla="*/ 1274018 h 1845733"/>
              <a:gd name="T10" fmla="*/ 1694035 w 1998133"/>
              <a:gd name="T11" fmla="*/ 1821845 h 1845733"/>
              <a:gd name="T12" fmla="*/ 1808669 w 1998133"/>
              <a:gd name="T13" fmla="*/ 1452380 h 1845733"/>
              <a:gd name="T14" fmla="*/ 522218 w 1998133"/>
              <a:gd name="T15" fmla="*/ 0 h 184573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998133"/>
              <a:gd name="T25" fmla="*/ 0 h 1845733"/>
              <a:gd name="T26" fmla="*/ 1998133 w 1998133"/>
              <a:gd name="T27" fmla="*/ 1845733 h 184573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998133" h="1845733">
                <a:moveTo>
                  <a:pt x="431800" y="825500"/>
                </a:moveTo>
                <a:cubicBezTo>
                  <a:pt x="516466" y="874183"/>
                  <a:pt x="601133" y="922867"/>
                  <a:pt x="533400" y="1054100"/>
                </a:cubicBezTo>
                <a:cubicBezTo>
                  <a:pt x="465667" y="1185333"/>
                  <a:pt x="50800" y="1502833"/>
                  <a:pt x="25400" y="1612900"/>
                </a:cubicBezTo>
                <a:cubicBezTo>
                  <a:pt x="0" y="1722967"/>
                  <a:pt x="239183" y="1771650"/>
                  <a:pt x="381000" y="1714500"/>
                </a:cubicBezTo>
                <a:cubicBezTo>
                  <a:pt x="522817" y="1657350"/>
                  <a:pt x="658283" y="1253067"/>
                  <a:pt x="876300" y="1270000"/>
                </a:cubicBezTo>
                <a:cubicBezTo>
                  <a:pt x="1094317" y="1286933"/>
                  <a:pt x="1534584" y="1786467"/>
                  <a:pt x="1689100" y="1816100"/>
                </a:cubicBezTo>
                <a:cubicBezTo>
                  <a:pt x="1843616" y="1845733"/>
                  <a:pt x="1998133" y="1750483"/>
                  <a:pt x="1803400" y="1447800"/>
                </a:cubicBezTo>
                <a:cubicBezTo>
                  <a:pt x="1608667" y="1145117"/>
                  <a:pt x="1064683" y="572558"/>
                  <a:pt x="520700" y="0"/>
                </a:cubicBezTo>
              </a:path>
            </a:pathLst>
          </a:custGeom>
          <a:noFill/>
          <a:ln w="9525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85" name="Freeform 57"/>
          <p:cNvSpPr>
            <a:spLocks/>
          </p:cNvSpPr>
          <p:nvPr/>
        </p:nvSpPr>
        <p:spPr bwMode="auto">
          <a:xfrm>
            <a:off x="277813" y="4965700"/>
            <a:ext cx="1993900" cy="1757363"/>
          </a:xfrm>
          <a:custGeom>
            <a:avLst/>
            <a:gdLst>
              <a:gd name="T0" fmla="*/ 484717 w 1993900"/>
              <a:gd name="T1" fmla="*/ 484206 h 1756833"/>
              <a:gd name="T2" fmla="*/ 573617 w 1993900"/>
              <a:gd name="T3" fmla="*/ 764532 h 1756833"/>
              <a:gd name="T4" fmla="*/ 116417 w 1993900"/>
              <a:gd name="T5" fmla="*/ 1299707 h 1756833"/>
              <a:gd name="T6" fmla="*/ 52917 w 1993900"/>
              <a:gd name="T7" fmla="*/ 1707456 h 1756833"/>
              <a:gd name="T8" fmla="*/ 433917 w 1993900"/>
              <a:gd name="T9" fmla="*/ 1618261 h 1756833"/>
              <a:gd name="T10" fmla="*/ 891117 w 1993900"/>
              <a:gd name="T11" fmla="*/ 1223253 h 1756833"/>
              <a:gd name="T12" fmla="*/ 1094317 w 1993900"/>
              <a:gd name="T13" fmla="*/ 1325191 h 1756833"/>
              <a:gd name="T14" fmla="*/ 1665817 w 1993900"/>
              <a:gd name="T15" fmla="*/ 1758425 h 1756833"/>
              <a:gd name="T16" fmla="*/ 1970617 w 1993900"/>
              <a:gd name="T17" fmla="*/ 1299707 h 1756833"/>
              <a:gd name="T18" fmla="*/ 1526117 w 1993900"/>
              <a:gd name="T19" fmla="*/ 777274 h 1756833"/>
              <a:gd name="T20" fmla="*/ 1881717 w 1993900"/>
              <a:gd name="T21" fmla="*/ 0 h 17568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993900"/>
              <a:gd name="T34" fmla="*/ 0 h 1756833"/>
              <a:gd name="T35" fmla="*/ 1993900 w 1993900"/>
              <a:gd name="T36" fmla="*/ 1756833 h 17568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993900" h="1756833">
                <a:moveTo>
                  <a:pt x="484717" y="482600"/>
                </a:moveTo>
                <a:cubicBezTo>
                  <a:pt x="559858" y="554566"/>
                  <a:pt x="635000" y="626533"/>
                  <a:pt x="573617" y="762000"/>
                </a:cubicBezTo>
                <a:cubicBezTo>
                  <a:pt x="512234" y="897467"/>
                  <a:pt x="203200" y="1138767"/>
                  <a:pt x="116417" y="1295400"/>
                </a:cubicBezTo>
                <a:cubicBezTo>
                  <a:pt x="29634" y="1452033"/>
                  <a:pt x="0" y="1648883"/>
                  <a:pt x="52917" y="1701800"/>
                </a:cubicBezTo>
                <a:cubicBezTo>
                  <a:pt x="105834" y="1754717"/>
                  <a:pt x="294217" y="1693333"/>
                  <a:pt x="433917" y="1612900"/>
                </a:cubicBezTo>
                <a:cubicBezTo>
                  <a:pt x="573617" y="1532467"/>
                  <a:pt x="781050" y="1267883"/>
                  <a:pt x="891117" y="1219200"/>
                </a:cubicBezTo>
                <a:cubicBezTo>
                  <a:pt x="1001184" y="1170517"/>
                  <a:pt x="965200" y="1231900"/>
                  <a:pt x="1094317" y="1320800"/>
                </a:cubicBezTo>
                <a:cubicBezTo>
                  <a:pt x="1223434" y="1409700"/>
                  <a:pt x="1519767" y="1756833"/>
                  <a:pt x="1665817" y="1752600"/>
                </a:cubicBezTo>
                <a:cubicBezTo>
                  <a:pt x="1811867" y="1748367"/>
                  <a:pt x="1993900" y="1458383"/>
                  <a:pt x="1970617" y="1295400"/>
                </a:cubicBezTo>
                <a:cubicBezTo>
                  <a:pt x="1947334" y="1132417"/>
                  <a:pt x="1540934" y="990600"/>
                  <a:pt x="1526117" y="774700"/>
                </a:cubicBezTo>
                <a:cubicBezTo>
                  <a:pt x="1511300" y="558800"/>
                  <a:pt x="1696508" y="279400"/>
                  <a:pt x="1881717" y="0"/>
                </a:cubicBezTo>
              </a:path>
            </a:pathLst>
          </a:custGeom>
          <a:noFill/>
          <a:ln w="9525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86" name="Freeform 58"/>
          <p:cNvSpPr>
            <a:spLocks/>
          </p:cNvSpPr>
          <p:nvPr/>
        </p:nvSpPr>
        <p:spPr bwMode="auto">
          <a:xfrm>
            <a:off x="2903538" y="4046538"/>
            <a:ext cx="3041650" cy="2435225"/>
          </a:xfrm>
          <a:custGeom>
            <a:avLst/>
            <a:gdLst>
              <a:gd name="T0" fmla="*/ 182033 w 3041650"/>
              <a:gd name="T1" fmla="*/ 795429 h 2434166"/>
              <a:gd name="T2" fmla="*/ 182033 w 3041650"/>
              <a:gd name="T3" fmla="*/ 527451 h 2434166"/>
              <a:gd name="T4" fmla="*/ 1274233 w 3041650"/>
              <a:gd name="T5" fmla="*/ 4255 h 2434166"/>
              <a:gd name="T6" fmla="*/ 2836332 w 3041650"/>
              <a:gd name="T7" fmla="*/ 501928 h 2434166"/>
              <a:gd name="T8" fmla="*/ 2506132 w 3041650"/>
              <a:gd name="T9" fmla="*/ 1369670 h 2434166"/>
              <a:gd name="T10" fmla="*/ 1934633 w 3041650"/>
              <a:gd name="T11" fmla="*/ 2045997 h 2434166"/>
              <a:gd name="T12" fmla="*/ 1998133 w 3041650"/>
              <a:gd name="T13" fmla="*/ 2441583 h 2434166"/>
              <a:gd name="T14" fmla="*/ 2582332 w 3041650"/>
              <a:gd name="T15" fmla="*/ 2020474 h 243416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041650"/>
              <a:gd name="T25" fmla="*/ 0 h 2434166"/>
              <a:gd name="T26" fmla="*/ 3041650 w 3041650"/>
              <a:gd name="T27" fmla="*/ 2434166 h 243416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041650" h="2434166">
                <a:moveTo>
                  <a:pt x="182033" y="791633"/>
                </a:moveTo>
                <a:cubicBezTo>
                  <a:pt x="91016" y="723899"/>
                  <a:pt x="0" y="656166"/>
                  <a:pt x="182033" y="524933"/>
                </a:cubicBezTo>
                <a:cubicBezTo>
                  <a:pt x="364066" y="393700"/>
                  <a:pt x="831850" y="8466"/>
                  <a:pt x="1274233" y="4233"/>
                </a:cubicBezTo>
                <a:cubicBezTo>
                  <a:pt x="1716616" y="0"/>
                  <a:pt x="2631016" y="273050"/>
                  <a:pt x="2836333" y="499533"/>
                </a:cubicBezTo>
                <a:cubicBezTo>
                  <a:pt x="3041650" y="726016"/>
                  <a:pt x="2656416" y="1107016"/>
                  <a:pt x="2506133" y="1363133"/>
                </a:cubicBezTo>
                <a:cubicBezTo>
                  <a:pt x="2355850" y="1619250"/>
                  <a:pt x="2019300" y="1858433"/>
                  <a:pt x="1934633" y="2036233"/>
                </a:cubicBezTo>
                <a:cubicBezTo>
                  <a:pt x="1849966" y="2214033"/>
                  <a:pt x="1890183" y="2434166"/>
                  <a:pt x="1998133" y="2429933"/>
                </a:cubicBezTo>
                <a:cubicBezTo>
                  <a:pt x="2106083" y="2425700"/>
                  <a:pt x="2459566" y="2084916"/>
                  <a:pt x="2582333" y="2010833"/>
                </a:cubicBezTo>
              </a:path>
            </a:pathLst>
          </a:custGeom>
          <a:noFill/>
          <a:ln w="9525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87" name="Freeform 59"/>
          <p:cNvSpPr>
            <a:spLocks/>
          </p:cNvSpPr>
          <p:nvPr/>
        </p:nvSpPr>
        <p:spPr bwMode="auto">
          <a:xfrm>
            <a:off x="4826000" y="3048000"/>
            <a:ext cx="3906838" cy="3582988"/>
          </a:xfrm>
          <a:custGeom>
            <a:avLst/>
            <a:gdLst>
              <a:gd name="T0" fmla="*/ 710144 w 3907367"/>
              <a:gd name="T1" fmla="*/ 3005017 h 3583517"/>
              <a:gd name="T2" fmla="*/ 824273 w 3907367"/>
              <a:gd name="T3" fmla="*/ 2954304 h 3583517"/>
              <a:gd name="T4" fmla="*/ 1280797 w 3907367"/>
              <a:gd name="T5" fmla="*/ 3334686 h 3583517"/>
              <a:gd name="T6" fmla="*/ 1661226 w 3907367"/>
              <a:gd name="T7" fmla="*/ 3360045 h 3583517"/>
              <a:gd name="T8" fmla="*/ 1661226 w 3907367"/>
              <a:gd name="T9" fmla="*/ 3195209 h 3583517"/>
              <a:gd name="T10" fmla="*/ 1306155 w 3907367"/>
              <a:gd name="T11" fmla="*/ 2700717 h 3583517"/>
              <a:gd name="T12" fmla="*/ 1445650 w 3907367"/>
              <a:gd name="T13" fmla="*/ 1914591 h 3583517"/>
              <a:gd name="T14" fmla="*/ 2396731 w 3907367"/>
              <a:gd name="T15" fmla="*/ 2764113 h 3583517"/>
              <a:gd name="T16" fmla="*/ 2105071 w 3907367"/>
              <a:gd name="T17" fmla="*/ 3271287 h 3583517"/>
              <a:gd name="T18" fmla="*/ 2422093 w 3907367"/>
              <a:gd name="T19" fmla="*/ 3486839 h 3583517"/>
              <a:gd name="T20" fmla="*/ 2853253 w 3907367"/>
              <a:gd name="T21" fmla="*/ 3131815 h 3583517"/>
              <a:gd name="T22" fmla="*/ 3157593 w 3907367"/>
              <a:gd name="T23" fmla="*/ 3169853 h 3583517"/>
              <a:gd name="T24" fmla="*/ 3639483 w 3907367"/>
              <a:gd name="T25" fmla="*/ 3550236 h 3583517"/>
              <a:gd name="T26" fmla="*/ 3867737 w 3907367"/>
              <a:gd name="T27" fmla="*/ 3334686 h 3583517"/>
              <a:gd name="T28" fmla="*/ 3436578 w 3907367"/>
              <a:gd name="T29" fmla="*/ 2624633 h 3583517"/>
              <a:gd name="T30" fmla="*/ 1318838 w 3907367"/>
              <a:gd name="T31" fmla="*/ 912915 h 3583517"/>
              <a:gd name="T32" fmla="*/ 0 w 3907367"/>
              <a:gd name="T33" fmla="*/ 0 h 3583517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3907367"/>
              <a:gd name="T52" fmla="*/ 0 h 3583517"/>
              <a:gd name="T53" fmla="*/ 3907367 w 3907367"/>
              <a:gd name="T54" fmla="*/ 3583517 h 3583517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3907367" h="3583517">
                <a:moveTo>
                  <a:pt x="711200" y="3009900"/>
                </a:moveTo>
                <a:cubicBezTo>
                  <a:pt x="720725" y="2956983"/>
                  <a:pt x="730250" y="2904067"/>
                  <a:pt x="825500" y="2959100"/>
                </a:cubicBezTo>
                <a:cubicBezTo>
                  <a:pt x="920750" y="3014133"/>
                  <a:pt x="1143000" y="3272367"/>
                  <a:pt x="1282700" y="3340100"/>
                </a:cubicBezTo>
                <a:cubicBezTo>
                  <a:pt x="1422400" y="3407833"/>
                  <a:pt x="1600200" y="3388783"/>
                  <a:pt x="1663700" y="3365500"/>
                </a:cubicBezTo>
                <a:cubicBezTo>
                  <a:pt x="1727200" y="3342217"/>
                  <a:pt x="1722967" y="3310467"/>
                  <a:pt x="1663700" y="3200400"/>
                </a:cubicBezTo>
                <a:cubicBezTo>
                  <a:pt x="1604433" y="3090333"/>
                  <a:pt x="1344083" y="2918883"/>
                  <a:pt x="1308100" y="2705100"/>
                </a:cubicBezTo>
                <a:cubicBezTo>
                  <a:pt x="1272117" y="2491317"/>
                  <a:pt x="1265767" y="1907117"/>
                  <a:pt x="1447800" y="1917700"/>
                </a:cubicBezTo>
                <a:cubicBezTo>
                  <a:pt x="1629833" y="1928283"/>
                  <a:pt x="2290233" y="2542117"/>
                  <a:pt x="2400300" y="2768600"/>
                </a:cubicBezTo>
                <a:cubicBezTo>
                  <a:pt x="2510367" y="2995083"/>
                  <a:pt x="2103967" y="3155950"/>
                  <a:pt x="2108200" y="3276600"/>
                </a:cubicBezTo>
                <a:cubicBezTo>
                  <a:pt x="2112433" y="3397250"/>
                  <a:pt x="2300817" y="3515783"/>
                  <a:pt x="2425700" y="3492500"/>
                </a:cubicBezTo>
                <a:cubicBezTo>
                  <a:pt x="2550583" y="3469217"/>
                  <a:pt x="2734733" y="3189817"/>
                  <a:pt x="2857500" y="3136900"/>
                </a:cubicBezTo>
                <a:cubicBezTo>
                  <a:pt x="2980267" y="3083983"/>
                  <a:pt x="3031067" y="3105150"/>
                  <a:pt x="3162300" y="3175000"/>
                </a:cubicBezTo>
                <a:cubicBezTo>
                  <a:pt x="3293533" y="3244850"/>
                  <a:pt x="3526367" y="3528483"/>
                  <a:pt x="3644900" y="3556000"/>
                </a:cubicBezTo>
                <a:cubicBezTo>
                  <a:pt x="3763433" y="3583517"/>
                  <a:pt x="3907367" y="3494617"/>
                  <a:pt x="3873500" y="3340100"/>
                </a:cubicBezTo>
                <a:cubicBezTo>
                  <a:pt x="3839633" y="3185583"/>
                  <a:pt x="3867150" y="3033183"/>
                  <a:pt x="3441700" y="2628900"/>
                </a:cubicBezTo>
                <a:cubicBezTo>
                  <a:pt x="3016250" y="2224617"/>
                  <a:pt x="1894417" y="1352550"/>
                  <a:pt x="1320800" y="914400"/>
                </a:cubicBezTo>
                <a:cubicBezTo>
                  <a:pt x="747183" y="476250"/>
                  <a:pt x="373591" y="238125"/>
                  <a:pt x="0" y="0"/>
                </a:cubicBezTo>
              </a:path>
            </a:pathLst>
          </a:custGeom>
          <a:noFill/>
          <a:ln w="9525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988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tree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Any lower nodes connected to the right (left) of the node X has greater (smaller) nodal values than X.</a:t>
            </a:r>
          </a:p>
          <a:p>
            <a:r>
              <a:rPr lang="en-US" altLang="en-US" dirty="0"/>
              <a:t>In this case, node Y or any lower node of Y has a greater nodal value than X.</a:t>
            </a:r>
          </a:p>
        </p:txBody>
      </p:sp>
      <p:sp>
        <p:nvSpPr>
          <p:cNvPr id="48132" name="Oval 3"/>
          <p:cNvSpPr>
            <a:spLocks noChangeArrowheads="1"/>
          </p:cNvSpPr>
          <p:nvPr/>
        </p:nvSpPr>
        <p:spPr bwMode="auto">
          <a:xfrm>
            <a:off x="3505200" y="32766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0" y="33162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cxnSp>
        <p:nvCxnSpPr>
          <p:cNvPr id="48134" name="Straight Arrow Connector 5"/>
          <p:cNvCxnSpPr>
            <a:cxnSpLocks noChangeShapeType="1"/>
          </p:cNvCxnSpPr>
          <p:nvPr/>
        </p:nvCxnSpPr>
        <p:spPr bwMode="auto">
          <a:xfrm rot="5400000" flipH="1" flipV="1">
            <a:off x="4210050" y="3181350"/>
            <a:ext cx="420688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35" name="Straight Arrow Connector 6"/>
          <p:cNvCxnSpPr>
            <a:cxnSpLocks noChangeShapeType="1"/>
          </p:cNvCxnSpPr>
          <p:nvPr/>
        </p:nvCxnSpPr>
        <p:spPr bwMode="auto">
          <a:xfrm rot="10800000" flipV="1">
            <a:off x="2362200" y="3886200"/>
            <a:ext cx="17526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3962400" y="25908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48138" name="Oval 9"/>
          <p:cNvSpPr>
            <a:spLocks noChangeArrowheads="1"/>
          </p:cNvSpPr>
          <p:nvPr/>
        </p:nvSpPr>
        <p:spPr bwMode="auto">
          <a:xfrm>
            <a:off x="1447800" y="41910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00200" y="42306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sp>
        <p:nvSpPr>
          <p:cNvPr id="48142" name="Oval 13"/>
          <p:cNvSpPr>
            <a:spLocks noChangeArrowheads="1"/>
          </p:cNvSpPr>
          <p:nvPr/>
        </p:nvSpPr>
        <p:spPr bwMode="auto">
          <a:xfrm>
            <a:off x="381000" y="5410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3400" y="5449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sp>
        <p:nvSpPr>
          <p:cNvPr id="48144" name="Oval 15"/>
          <p:cNvSpPr>
            <a:spLocks noChangeArrowheads="1"/>
          </p:cNvSpPr>
          <p:nvPr/>
        </p:nvSpPr>
        <p:spPr bwMode="auto">
          <a:xfrm>
            <a:off x="2590800" y="5410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43200" y="5449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cxnSp>
        <p:nvCxnSpPr>
          <p:cNvPr id="48150" name="Straight Arrow Connector 21"/>
          <p:cNvCxnSpPr>
            <a:cxnSpLocks noChangeShapeType="1"/>
          </p:cNvCxnSpPr>
          <p:nvPr/>
        </p:nvCxnSpPr>
        <p:spPr bwMode="auto">
          <a:xfrm flipV="1">
            <a:off x="2514600" y="4038600"/>
            <a:ext cx="1524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2" name="Straight Arrow Connector 23"/>
          <p:cNvCxnSpPr>
            <a:cxnSpLocks noChangeShapeType="1"/>
            <a:endCxn id="48142" idx="0"/>
          </p:cNvCxnSpPr>
          <p:nvPr/>
        </p:nvCxnSpPr>
        <p:spPr bwMode="auto">
          <a:xfrm rot="10800000" flipV="1">
            <a:off x="1295400" y="4800600"/>
            <a:ext cx="685800" cy="609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3" name="Straight Arrow Connector 24"/>
          <p:cNvCxnSpPr>
            <a:cxnSpLocks noChangeShapeType="1"/>
            <a:endCxn id="17" idx="0"/>
          </p:cNvCxnSpPr>
          <p:nvPr/>
        </p:nvCxnSpPr>
        <p:spPr bwMode="auto">
          <a:xfrm>
            <a:off x="2743200" y="4800600"/>
            <a:ext cx="762000" cy="6492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4" name="Straight Arrow Connector 25"/>
          <p:cNvCxnSpPr>
            <a:cxnSpLocks noChangeShapeType="1"/>
          </p:cNvCxnSpPr>
          <p:nvPr/>
        </p:nvCxnSpPr>
        <p:spPr bwMode="auto">
          <a:xfrm rot="5400000" flipH="1" flipV="1">
            <a:off x="1485900" y="5143500"/>
            <a:ext cx="6858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5" name="Straight Arrow Connector 26"/>
          <p:cNvCxnSpPr>
            <a:cxnSpLocks noChangeShapeType="1"/>
          </p:cNvCxnSpPr>
          <p:nvPr/>
        </p:nvCxnSpPr>
        <p:spPr bwMode="auto">
          <a:xfrm rot="16200000" flipV="1">
            <a:off x="2590800" y="5029200"/>
            <a:ext cx="685800" cy="533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6" name="Straight Arrow Connector 27"/>
          <p:cNvCxnSpPr>
            <a:cxnSpLocks noChangeShapeType="1"/>
          </p:cNvCxnSpPr>
          <p:nvPr/>
        </p:nvCxnSpPr>
        <p:spPr bwMode="auto">
          <a:xfrm rot="10800000" flipV="1">
            <a:off x="533400" y="6019800"/>
            <a:ext cx="381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7" name="Straight Arrow Connector 28"/>
          <p:cNvCxnSpPr>
            <a:cxnSpLocks noChangeShapeType="1"/>
          </p:cNvCxnSpPr>
          <p:nvPr/>
        </p:nvCxnSpPr>
        <p:spPr bwMode="auto">
          <a:xfrm rot="16200000" flipH="1">
            <a:off x="1562100" y="6057900"/>
            <a:ext cx="3048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TextBox 33"/>
          <p:cNvSpPr txBox="1"/>
          <p:nvPr/>
        </p:nvSpPr>
        <p:spPr>
          <a:xfrm>
            <a:off x="2286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78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cxnSp>
        <p:nvCxnSpPr>
          <p:cNvPr id="48164" name="Straight Arrow Connector 35"/>
          <p:cNvCxnSpPr>
            <a:cxnSpLocks noChangeShapeType="1"/>
          </p:cNvCxnSpPr>
          <p:nvPr/>
        </p:nvCxnSpPr>
        <p:spPr bwMode="auto">
          <a:xfrm rot="10800000" flipV="1">
            <a:off x="2819400" y="6019800"/>
            <a:ext cx="381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65" name="Straight Arrow Connector 36"/>
          <p:cNvCxnSpPr>
            <a:cxnSpLocks noChangeShapeType="1"/>
          </p:cNvCxnSpPr>
          <p:nvPr/>
        </p:nvCxnSpPr>
        <p:spPr bwMode="auto">
          <a:xfrm rot="16200000" flipH="1">
            <a:off x="3848100" y="6057900"/>
            <a:ext cx="3048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TextBox 37"/>
          <p:cNvSpPr txBox="1"/>
          <p:nvPr/>
        </p:nvSpPr>
        <p:spPr>
          <a:xfrm>
            <a:off x="25146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38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cxnSp>
        <p:nvCxnSpPr>
          <p:cNvPr id="48176" name="Straight Arrow Connector 47"/>
          <p:cNvCxnSpPr>
            <a:cxnSpLocks noChangeShapeType="1"/>
            <a:stCxn id="48177" idx="3"/>
          </p:cNvCxnSpPr>
          <p:nvPr/>
        </p:nvCxnSpPr>
        <p:spPr bwMode="auto">
          <a:xfrm>
            <a:off x="3124200" y="3162300"/>
            <a:ext cx="838200" cy="1905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177" name="Rounded Rectangle 48"/>
          <p:cNvSpPr>
            <a:spLocks noChangeArrowheads="1"/>
          </p:cNvSpPr>
          <p:nvPr/>
        </p:nvSpPr>
        <p:spPr bwMode="auto">
          <a:xfrm>
            <a:off x="2286000" y="2971800"/>
            <a:ext cx="838200" cy="3810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376488" y="2971800"/>
            <a:ext cx="67151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*root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45563" y="3926551"/>
            <a:ext cx="112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0" y="5107641"/>
            <a:ext cx="112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1868467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tree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If X is immediate left of W, any node connected to the right of X has a nodal value between X and W.</a:t>
            </a:r>
          </a:p>
          <a:p>
            <a:endParaRPr lang="en-US" altLang="en-US" dirty="0"/>
          </a:p>
        </p:txBody>
      </p:sp>
      <p:sp>
        <p:nvSpPr>
          <p:cNvPr id="48132" name="Oval 3"/>
          <p:cNvSpPr>
            <a:spLocks noChangeArrowheads="1"/>
          </p:cNvSpPr>
          <p:nvPr/>
        </p:nvSpPr>
        <p:spPr bwMode="auto">
          <a:xfrm>
            <a:off x="3505200" y="32766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0" y="33162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cxnSp>
        <p:nvCxnSpPr>
          <p:cNvPr id="48134" name="Straight Arrow Connector 5"/>
          <p:cNvCxnSpPr>
            <a:cxnSpLocks noChangeShapeType="1"/>
          </p:cNvCxnSpPr>
          <p:nvPr/>
        </p:nvCxnSpPr>
        <p:spPr bwMode="auto">
          <a:xfrm rot="5400000" flipH="1" flipV="1">
            <a:off x="4210050" y="3181350"/>
            <a:ext cx="420688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35" name="Straight Arrow Connector 6"/>
          <p:cNvCxnSpPr>
            <a:cxnSpLocks noChangeShapeType="1"/>
          </p:cNvCxnSpPr>
          <p:nvPr/>
        </p:nvCxnSpPr>
        <p:spPr bwMode="auto">
          <a:xfrm rot="10800000" flipV="1">
            <a:off x="2362200" y="3886200"/>
            <a:ext cx="17526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3962400" y="25908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48138" name="Oval 9"/>
          <p:cNvSpPr>
            <a:spLocks noChangeArrowheads="1"/>
          </p:cNvSpPr>
          <p:nvPr/>
        </p:nvSpPr>
        <p:spPr bwMode="auto">
          <a:xfrm>
            <a:off x="1447800" y="41910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00200" y="42306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sp>
        <p:nvSpPr>
          <p:cNvPr id="48142" name="Oval 13"/>
          <p:cNvSpPr>
            <a:spLocks noChangeArrowheads="1"/>
          </p:cNvSpPr>
          <p:nvPr/>
        </p:nvSpPr>
        <p:spPr bwMode="auto">
          <a:xfrm>
            <a:off x="381000" y="5410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3400" y="5449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sp>
        <p:nvSpPr>
          <p:cNvPr id="48144" name="Oval 15"/>
          <p:cNvSpPr>
            <a:spLocks noChangeArrowheads="1"/>
          </p:cNvSpPr>
          <p:nvPr/>
        </p:nvSpPr>
        <p:spPr bwMode="auto">
          <a:xfrm>
            <a:off x="2590800" y="5410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43200" y="5449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cxnSp>
        <p:nvCxnSpPr>
          <p:cNvPr id="48150" name="Straight Arrow Connector 21"/>
          <p:cNvCxnSpPr>
            <a:cxnSpLocks noChangeShapeType="1"/>
          </p:cNvCxnSpPr>
          <p:nvPr/>
        </p:nvCxnSpPr>
        <p:spPr bwMode="auto">
          <a:xfrm flipV="1">
            <a:off x="2514600" y="4038600"/>
            <a:ext cx="1524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2" name="Straight Arrow Connector 23"/>
          <p:cNvCxnSpPr>
            <a:cxnSpLocks noChangeShapeType="1"/>
            <a:endCxn id="48142" idx="0"/>
          </p:cNvCxnSpPr>
          <p:nvPr/>
        </p:nvCxnSpPr>
        <p:spPr bwMode="auto">
          <a:xfrm rot="10800000" flipV="1">
            <a:off x="1295400" y="4800600"/>
            <a:ext cx="685800" cy="609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3" name="Straight Arrow Connector 24"/>
          <p:cNvCxnSpPr>
            <a:cxnSpLocks noChangeShapeType="1"/>
            <a:endCxn id="17" idx="0"/>
          </p:cNvCxnSpPr>
          <p:nvPr/>
        </p:nvCxnSpPr>
        <p:spPr bwMode="auto">
          <a:xfrm>
            <a:off x="2743200" y="4800600"/>
            <a:ext cx="762000" cy="6492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4" name="Straight Arrow Connector 25"/>
          <p:cNvCxnSpPr>
            <a:cxnSpLocks noChangeShapeType="1"/>
          </p:cNvCxnSpPr>
          <p:nvPr/>
        </p:nvCxnSpPr>
        <p:spPr bwMode="auto">
          <a:xfrm rot="5400000" flipH="1" flipV="1">
            <a:off x="1485900" y="5143500"/>
            <a:ext cx="6858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5" name="Straight Arrow Connector 26"/>
          <p:cNvCxnSpPr>
            <a:cxnSpLocks noChangeShapeType="1"/>
          </p:cNvCxnSpPr>
          <p:nvPr/>
        </p:nvCxnSpPr>
        <p:spPr bwMode="auto">
          <a:xfrm rot="16200000" flipV="1">
            <a:off x="2590800" y="5029200"/>
            <a:ext cx="685800" cy="533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6" name="Straight Arrow Connector 27"/>
          <p:cNvCxnSpPr>
            <a:cxnSpLocks noChangeShapeType="1"/>
          </p:cNvCxnSpPr>
          <p:nvPr/>
        </p:nvCxnSpPr>
        <p:spPr bwMode="auto">
          <a:xfrm rot="10800000" flipV="1">
            <a:off x="533400" y="6019800"/>
            <a:ext cx="381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7" name="Straight Arrow Connector 28"/>
          <p:cNvCxnSpPr>
            <a:cxnSpLocks noChangeShapeType="1"/>
          </p:cNvCxnSpPr>
          <p:nvPr/>
        </p:nvCxnSpPr>
        <p:spPr bwMode="auto">
          <a:xfrm rot="16200000" flipH="1">
            <a:off x="1562100" y="6057900"/>
            <a:ext cx="3048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TextBox 33"/>
          <p:cNvSpPr txBox="1"/>
          <p:nvPr/>
        </p:nvSpPr>
        <p:spPr>
          <a:xfrm>
            <a:off x="2286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78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cxnSp>
        <p:nvCxnSpPr>
          <p:cNvPr id="48164" name="Straight Arrow Connector 35"/>
          <p:cNvCxnSpPr>
            <a:cxnSpLocks noChangeShapeType="1"/>
          </p:cNvCxnSpPr>
          <p:nvPr/>
        </p:nvCxnSpPr>
        <p:spPr bwMode="auto">
          <a:xfrm rot="10800000" flipV="1">
            <a:off x="2819400" y="6019800"/>
            <a:ext cx="381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65" name="Straight Arrow Connector 36"/>
          <p:cNvCxnSpPr>
            <a:cxnSpLocks noChangeShapeType="1"/>
          </p:cNvCxnSpPr>
          <p:nvPr/>
        </p:nvCxnSpPr>
        <p:spPr bwMode="auto">
          <a:xfrm rot="16200000" flipH="1">
            <a:off x="3848100" y="6057900"/>
            <a:ext cx="3048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TextBox 37"/>
          <p:cNvSpPr txBox="1"/>
          <p:nvPr/>
        </p:nvSpPr>
        <p:spPr>
          <a:xfrm>
            <a:off x="25146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38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cxnSp>
        <p:nvCxnSpPr>
          <p:cNvPr id="48176" name="Straight Arrow Connector 47"/>
          <p:cNvCxnSpPr>
            <a:cxnSpLocks noChangeShapeType="1"/>
            <a:stCxn id="48177" idx="3"/>
          </p:cNvCxnSpPr>
          <p:nvPr/>
        </p:nvCxnSpPr>
        <p:spPr bwMode="auto">
          <a:xfrm>
            <a:off x="3124200" y="3162300"/>
            <a:ext cx="838200" cy="1905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177" name="Rounded Rectangle 48"/>
          <p:cNvSpPr>
            <a:spLocks noChangeArrowheads="1"/>
          </p:cNvSpPr>
          <p:nvPr/>
        </p:nvSpPr>
        <p:spPr bwMode="auto">
          <a:xfrm>
            <a:off x="2286000" y="2971800"/>
            <a:ext cx="838200" cy="3810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376488" y="2971800"/>
            <a:ext cx="67151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*root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45563" y="3926551"/>
            <a:ext cx="112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0" y="5107641"/>
            <a:ext cx="112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54712" y="3182144"/>
            <a:ext cx="112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39335" y="4692134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X&lt;=Y&lt;=W</a:t>
            </a:r>
          </a:p>
        </p:txBody>
      </p:sp>
    </p:spTree>
    <p:extLst>
      <p:ext uri="{BB962C8B-B14F-4D97-AF65-F5344CB8AC3E}">
        <p14:creationId xmlns:p14="http://schemas.microsoft.com/office/powerpoint/2010/main" val="5728729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tree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Or, if X is immediate right of W, any lower node connected to the left of X has a nodal value between W and X.</a:t>
            </a:r>
          </a:p>
        </p:txBody>
      </p:sp>
      <p:sp>
        <p:nvSpPr>
          <p:cNvPr id="48132" name="Oval 3"/>
          <p:cNvSpPr>
            <a:spLocks noChangeArrowheads="1"/>
          </p:cNvSpPr>
          <p:nvPr/>
        </p:nvSpPr>
        <p:spPr bwMode="auto">
          <a:xfrm>
            <a:off x="3505200" y="32766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0" y="33162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cxnSp>
        <p:nvCxnSpPr>
          <p:cNvPr id="48134" name="Straight Arrow Connector 5"/>
          <p:cNvCxnSpPr>
            <a:cxnSpLocks noChangeShapeType="1"/>
          </p:cNvCxnSpPr>
          <p:nvPr/>
        </p:nvCxnSpPr>
        <p:spPr bwMode="auto">
          <a:xfrm rot="5400000" flipH="1" flipV="1">
            <a:off x="4210050" y="3181350"/>
            <a:ext cx="420688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36" name="Straight Arrow Connector 7"/>
          <p:cNvCxnSpPr>
            <a:cxnSpLocks noChangeShapeType="1"/>
          </p:cNvCxnSpPr>
          <p:nvPr/>
        </p:nvCxnSpPr>
        <p:spPr bwMode="auto">
          <a:xfrm>
            <a:off x="4724400" y="3886200"/>
            <a:ext cx="1600200" cy="381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3962400" y="25908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48140" name="Oval 11"/>
          <p:cNvSpPr>
            <a:spLocks noChangeArrowheads="1"/>
          </p:cNvSpPr>
          <p:nvPr/>
        </p:nvSpPr>
        <p:spPr bwMode="auto">
          <a:xfrm>
            <a:off x="5410200" y="4267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562600" y="4306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sp>
        <p:nvSpPr>
          <p:cNvPr id="48146" name="Oval 17"/>
          <p:cNvSpPr>
            <a:spLocks noChangeArrowheads="1"/>
          </p:cNvSpPr>
          <p:nvPr/>
        </p:nvSpPr>
        <p:spPr bwMode="auto">
          <a:xfrm>
            <a:off x="4724400" y="5410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76800" y="5449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sp>
        <p:nvSpPr>
          <p:cNvPr id="48148" name="Oval 19"/>
          <p:cNvSpPr>
            <a:spLocks noChangeArrowheads="1"/>
          </p:cNvSpPr>
          <p:nvPr/>
        </p:nvSpPr>
        <p:spPr bwMode="auto">
          <a:xfrm>
            <a:off x="6934200" y="5410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86600" y="5449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cxnSp>
        <p:nvCxnSpPr>
          <p:cNvPr id="48151" name="Straight Arrow Connector 22"/>
          <p:cNvCxnSpPr>
            <a:cxnSpLocks noChangeShapeType="1"/>
          </p:cNvCxnSpPr>
          <p:nvPr/>
        </p:nvCxnSpPr>
        <p:spPr bwMode="auto">
          <a:xfrm rot="10800000">
            <a:off x="4724400" y="4038600"/>
            <a:ext cx="1219200" cy="457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8" name="Straight Arrow Connector 29"/>
          <p:cNvCxnSpPr>
            <a:cxnSpLocks noChangeShapeType="1"/>
            <a:endCxn id="48146" idx="0"/>
          </p:cNvCxnSpPr>
          <p:nvPr/>
        </p:nvCxnSpPr>
        <p:spPr bwMode="auto">
          <a:xfrm rot="5400000">
            <a:off x="5524500" y="4991100"/>
            <a:ext cx="5334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59" name="Straight Arrow Connector 30"/>
          <p:cNvCxnSpPr>
            <a:cxnSpLocks noChangeShapeType="1"/>
            <a:endCxn id="48148" idx="0"/>
          </p:cNvCxnSpPr>
          <p:nvPr/>
        </p:nvCxnSpPr>
        <p:spPr bwMode="auto">
          <a:xfrm>
            <a:off x="6705600" y="4876800"/>
            <a:ext cx="1143000" cy="533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60" name="Straight Arrow Connector 31"/>
          <p:cNvCxnSpPr>
            <a:cxnSpLocks noChangeShapeType="1"/>
          </p:cNvCxnSpPr>
          <p:nvPr/>
        </p:nvCxnSpPr>
        <p:spPr bwMode="auto">
          <a:xfrm rot="5400000" flipH="1" flipV="1">
            <a:off x="5753100" y="5219700"/>
            <a:ext cx="533400" cy="152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61" name="Straight Arrow Connector 32"/>
          <p:cNvCxnSpPr>
            <a:cxnSpLocks noChangeShapeType="1"/>
          </p:cNvCxnSpPr>
          <p:nvPr/>
        </p:nvCxnSpPr>
        <p:spPr bwMode="auto">
          <a:xfrm rot="10800000">
            <a:off x="6705600" y="5029200"/>
            <a:ext cx="762000" cy="609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68" name="Straight Arrow Connector 39"/>
          <p:cNvCxnSpPr>
            <a:cxnSpLocks noChangeShapeType="1"/>
          </p:cNvCxnSpPr>
          <p:nvPr/>
        </p:nvCxnSpPr>
        <p:spPr bwMode="auto">
          <a:xfrm rot="10800000" flipV="1">
            <a:off x="4953000" y="6019800"/>
            <a:ext cx="381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69" name="Straight Arrow Connector 40"/>
          <p:cNvCxnSpPr>
            <a:cxnSpLocks noChangeShapeType="1"/>
          </p:cNvCxnSpPr>
          <p:nvPr/>
        </p:nvCxnSpPr>
        <p:spPr bwMode="auto">
          <a:xfrm rot="16200000" flipH="1">
            <a:off x="5981700" y="6057900"/>
            <a:ext cx="3048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TextBox 41"/>
          <p:cNvSpPr txBox="1"/>
          <p:nvPr/>
        </p:nvSpPr>
        <p:spPr>
          <a:xfrm>
            <a:off x="46482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674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cxnSp>
        <p:nvCxnSpPr>
          <p:cNvPr id="48172" name="Straight Arrow Connector 43"/>
          <p:cNvCxnSpPr>
            <a:cxnSpLocks noChangeShapeType="1"/>
          </p:cNvCxnSpPr>
          <p:nvPr/>
        </p:nvCxnSpPr>
        <p:spPr bwMode="auto">
          <a:xfrm rot="10800000" flipV="1">
            <a:off x="7162800" y="6019800"/>
            <a:ext cx="381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73" name="Straight Arrow Connector 44"/>
          <p:cNvCxnSpPr>
            <a:cxnSpLocks noChangeShapeType="1"/>
          </p:cNvCxnSpPr>
          <p:nvPr/>
        </p:nvCxnSpPr>
        <p:spPr bwMode="auto">
          <a:xfrm rot="16200000" flipH="1">
            <a:off x="8191500" y="6057900"/>
            <a:ext cx="3048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TextBox 45"/>
          <p:cNvSpPr txBox="1"/>
          <p:nvPr/>
        </p:nvSpPr>
        <p:spPr>
          <a:xfrm>
            <a:off x="68580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772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cxnSp>
        <p:nvCxnSpPr>
          <p:cNvPr id="48176" name="Straight Arrow Connector 47"/>
          <p:cNvCxnSpPr>
            <a:cxnSpLocks noChangeShapeType="1"/>
          </p:cNvCxnSpPr>
          <p:nvPr/>
        </p:nvCxnSpPr>
        <p:spPr bwMode="auto">
          <a:xfrm>
            <a:off x="2971800" y="2895600"/>
            <a:ext cx="990600" cy="457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177" name="Rounded Rectangle 48"/>
          <p:cNvSpPr>
            <a:spLocks noChangeArrowheads="1"/>
          </p:cNvSpPr>
          <p:nvPr/>
        </p:nvSpPr>
        <p:spPr bwMode="auto">
          <a:xfrm>
            <a:off x="2362200" y="2590800"/>
            <a:ext cx="838200" cy="3810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452688" y="2590800"/>
            <a:ext cx="67151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*root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34200" y="4082534"/>
            <a:ext cx="112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05400" y="5134535"/>
            <a:ext cx="112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54712" y="3182144"/>
            <a:ext cx="1129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722740" y="4697506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W&lt;=Y&lt;=X</a:t>
            </a:r>
          </a:p>
        </p:txBody>
      </p:sp>
    </p:spTree>
    <p:extLst>
      <p:ext uri="{BB962C8B-B14F-4D97-AF65-F5344CB8AC3E}">
        <p14:creationId xmlns:p14="http://schemas.microsoft.com/office/powerpoint/2010/main" val="26017999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write a basic binary-tree.</a:t>
            </a:r>
          </a:p>
          <a:p>
            <a:pPr lvl="1"/>
            <a:r>
              <a:rPr lang="en-US" dirty="0"/>
              <a:t>Bare binary tree with node insertion</a:t>
            </a:r>
          </a:p>
          <a:p>
            <a:pPr lvl="1"/>
            <a:r>
              <a:rPr lang="en-US" dirty="0"/>
              <a:t>Hide node pointers by making them protected/private</a:t>
            </a:r>
          </a:p>
          <a:p>
            <a:pPr lvl="1"/>
            <a:r>
              <a:rPr lang="en-US" dirty="0"/>
              <a:t>Use node handles so that the user of the class does not touch the pointer directly</a:t>
            </a:r>
          </a:p>
          <a:p>
            <a:endParaRPr lang="en-US" dirty="0"/>
          </a:p>
          <a:p>
            <a:r>
              <a:rPr lang="en-US" dirty="0"/>
              <a:t>Make sure it works by traversing with recursion.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6845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Finding the first node:</a:t>
            </a:r>
          </a:p>
          <a:p>
            <a:pPr lvl="1">
              <a:defRPr/>
            </a:pPr>
            <a:r>
              <a:rPr lang="en-US" dirty="0"/>
              <a:t>Starting from the root node, descend to the left until no more left node is found.</a:t>
            </a:r>
          </a:p>
          <a:p>
            <a:pPr>
              <a:defRPr/>
            </a:pPr>
            <a:r>
              <a:rPr lang="en-US" dirty="0"/>
              <a:t>Finding the next node from the current node:</a:t>
            </a:r>
          </a:p>
          <a:p>
            <a:pPr lvl="1">
              <a:defRPr/>
            </a:pPr>
            <a:r>
              <a:rPr lang="en-US" dirty="0"/>
              <a:t>If the node has right sub-tree, the next node is the left-most node of the right sub-tree.</a:t>
            </a:r>
          </a:p>
          <a:p>
            <a:pPr lvl="1">
              <a:defRPr/>
            </a:pPr>
            <a:r>
              <a:rPr lang="en-US" dirty="0"/>
              <a:t>If the node has no right sub-tree (means no right node), the next node is the first parent node that is on the right.</a:t>
            </a:r>
          </a:p>
          <a:p>
            <a:pPr lvl="2"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lvl="1">
              <a:buFontTx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477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next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the current node has a non-null right node,</a:t>
            </a:r>
          </a:p>
          <a:p>
            <a:pPr marL="457200" indent="-457200">
              <a:buAutoNum type="arabicParenBoth"/>
            </a:pPr>
            <a:r>
              <a:rPr lang="en-US" dirty="0"/>
              <a:t>Move right, and then</a:t>
            </a:r>
          </a:p>
          <a:p>
            <a:pPr marL="457200" indent="-457200">
              <a:buAutoNum type="arabicParenBoth"/>
            </a:pPr>
            <a:r>
              <a:rPr lang="en-US" dirty="0"/>
              <a:t>Move left until no more left node exists.</a:t>
            </a:r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3505200" y="3276600"/>
            <a:ext cx="1828800" cy="762000"/>
          </a:xfrm>
          <a:prstGeom prst="ellipse">
            <a:avLst/>
          </a:prstGeom>
          <a:solidFill>
            <a:srgbClr val="92D050"/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0" y="33162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cxnSp>
        <p:nvCxnSpPr>
          <p:cNvPr id="8" name="Straight Arrow Connector 7"/>
          <p:cNvCxnSpPr>
            <a:cxnSpLocks noChangeShapeType="1"/>
          </p:cNvCxnSpPr>
          <p:nvPr/>
        </p:nvCxnSpPr>
        <p:spPr bwMode="auto">
          <a:xfrm>
            <a:off x="4724400" y="3886200"/>
            <a:ext cx="1600200" cy="381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Oval 11"/>
          <p:cNvSpPr>
            <a:spLocks noChangeArrowheads="1"/>
          </p:cNvSpPr>
          <p:nvPr/>
        </p:nvSpPr>
        <p:spPr bwMode="auto">
          <a:xfrm>
            <a:off x="5410200" y="4267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562600" y="4306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4724400" y="5410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76800" y="5449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6934200" y="5410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86600" y="5449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cxnSp>
        <p:nvCxnSpPr>
          <p:cNvPr id="23" name="Straight Arrow Connector 22"/>
          <p:cNvCxnSpPr>
            <a:cxnSpLocks noChangeShapeType="1"/>
          </p:cNvCxnSpPr>
          <p:nvPr/>
        </p:nvCxnSpPr>
        <p:spPr bwMode="auto">
          <a:xfrm rot="10800000">
            <a:off x="4724400" y="4038600"/>
            <a:ext cx="1219200" cy="457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Arrow Connector 29"/>
          <p:cNvCxnSpPr>
            <a:cxnSpLocks noChangeShapeType="1"/>
            <a:endCxn id="18" idx="0"/>
          </p:cNvCxnSpPr>
          <p:nvPr/>
        </p:nvCxnSpPr>
        <p:spPr bwMode="auto">
          <a:xfrm rot="5400000">
            <a:off x="5524500" y="4991100"/>
            <a:ext cx="5334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Straight Arrow Connector 30"/>
          <p:cNvCxnSpPr>
            <a:cxnSpLocks noChangeShapeType="1"/>
            <a:endCxn id="20" idx="0"/>
          </p:cNvCxnSpPr>
          <p:nvPr/>
        </p:nvCxnSpPr>
        <p:spPr bwMode="auto">
          <a:xfrm>
            <a:off x="6705600" y="4876800"/>
            <a:ext cx="1143000" cy="533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Straight Arrow Connector 31"/>
          <p:cNvCxnSpPr>
            <a:cxnSpLocks noChangeShapeType="1"/>
          </p:cNvCxnSpPr>
          <p:nvPr/>
        </p:nvCxnSpPr>
        <p:spPr bwMode="auto">
          <a:xfrm rot="5400000" flipH="1" flipV="1">
            <a:off x="5753100" y="5219700"/>
            <a:ext cx="533400" cy="152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Straight Arrow Connector 32"/>
          <p:cNvCxnSpPr>
            <a:cxnSpLocks noChangeShapeType="1"/>
          </p:cNvCxnSpPr>
          <p:nvPr/>
        </p:nvCxnSpPr>
        <p:spPr bwMode="auto">
          <a:xfrm rot="10800000">
            <a:off x="6705600" y="5029200"/>
            <a:ext cx="762000" cy="609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Straight Arrow Connector 39"/>
          <p:cNvCxnSpPr>
            <a:cxnSpLocks noChangeShapeType="1"/>
          </p:cNvCxnSpPr>
          <p:nvPr/>
        </p:nvCxnSpPr>
        <p:spPr bwMode="auto">
          <a:xfrm rot="10800000" flipV="1">
            <a:off x="4953000" y="6019800"/>
            <a:ext cx="381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traight Arrow Connector 40"/>
          <p:cNvCxnSpPr>
            <a:cxnSpLocks noChangeShapeType="1"/>
          </p:cNvCxnSpPr>
          <p:nvPr/>
        </p:nvCxnSpPr>
        <p:spPr bwMode="auto">
          <a:xfrm rot="16200000" flipH="1">
            <a:off x="5981700" y="6057900"/>
            <a:ext cx="3048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TextBox 41"/>
          <p:cNvSpPr txBox="1"/>
          <p:nvPr/>
        </p:nvSpPr>
        <p:spPr>
          <a:xfrm>
            <a:off x="46482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674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cxnSp>
        <p:nvCxnSpPr>
          <p:cNvPr id="44" name="Straight Arrow Connector 43"/>
          <p:cNvCxnSpPr>
            <a:cxnSpLocks noChangeShapeType="1"/>
          </p:cNvCxnSpPr>
          <p:nvPr/>
        </p:nvCxnSpPr>
        <p:spPr bwMode="auto">
          <a:xfrm rot="10800000" flipV="1">
            <a:off x="7162800" y="6019800"/>
            <a:ext cx="381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Straight Arrow Connector 44"/>
          <p:cNvCxnSpPr>
            <a:cxnSpLocks noChangeShapeType="1"/>
          </p:cNvCxnSpPr>
          <p:nvPr/>
        </p:nvCxnSpPr>
        <p:spPr bwMode="auto">
          <a:xfrm rot="16200000" flipH="1">
            <a:off x="8191500" y="6057900"/>
            <a:ext cx="3048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TextBox 45"/>
          <p:cNvSpPr txBox="1"/>
          <p:nvPr/>
        </p:nvSpPr>
        <p:spPr>
          <a:xfrm>
            <a:off x="68580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772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60" name="Freeform 59"/>
          <p:cNvSpPr/>
          <p:nvPr/>
        </p:nvSpPr>
        <p:spPr>
          <a:xfrm>
            <a:off x="5412441" y="3642037"/>
            <a:ext cx="1169894" cy="553445"/>
          </a:xfrm>
          <a:custGeom>
            <a:avLst/>
            <a:gdLst>
              <a:gd name="connsiteX0" fmla="*/ 0 w 1169894"/>
              <a:gd name="connsiteY0" fmla="*/ 22287 h 553445"/>
              <a:gd name="connsiteX1" fmla="*/ 679077 w 1169894"/>
              <a:gd name="connsiteY1" fmla="*/ 62628 h 553445"/>
              <a:gd name="connsiteX2" fmla="*/ 1169894 w 1169894"/>
              <a:gd name="connsiteY2" fmla="*/ 553445 h 553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9894" h="553445">
                <a:moveTo>
                  <a:pt x="0" y="22287"/>
                </a:moveTo>
                <a:cubicBezTo>
                  <a:pt x="242047" y="-1806"/>
                  <a:pt x="484095" y="-25898"/>
                  <a:pt x="679077" y="62628"/>
                </a:cubicBezTo>
                <a:cubicBezTo>
                  <a:pt x="874059" y="151154"/>
                  <a:pt x="1021976" y="352299"/>
                  <a:pt x="1169894" y="553445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 60"/>
          <p:cNvSpPr/>
          <p:nvPr/>
        </p:nvSpPr>
        <p:spPr>
          <a:xfrm>
            <a:off x="5103159" y="4827494"/>
            <a:ext cx="685800" cy="672353"/>
          </a:xfrm>
          <a:custGeom>
            <a:avLst/>
            <a:gdLst>
              <a:gd name="connsiteX0" fmla="*/ 685800 w 685800"/>
              <a:gd name="connsiteY0" fmla="*/ 0 h 672353"/>
              <a:gd name="connsiteX1" fmla="*/ 154641 w 685800"/>
              <a:gd name="connsiteY1" fmla="*/ 275665 h 672353"/>
              <a:gd name="connsiteX2" fmla="*/ 0 w 685800"/>
              <a:gd name="connsiteY2" fmla="*/ 672353 h 672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5800" h="672353">
                <a:moveTo>
                  <a:pt x="685800" y="0"/>
                </a:moveTo>
                <a:cubicBezTo>
                  <a:pt x="477370" y="81803"/>
                  <a:pt x="268941" y="163606"/>
                  <a:pt x="154641" y="275665"/>
                </a:cubicBezTo>
                <a:cubicBezTo>
                  <a:pt x="40341" y="387724"/>
                  <a:pt x="20170" y="530038"/>
                  <a:pt x="0" y="672353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rapezoid 8"/>
          <p:cNvSpPr/>
          <p:nvPr/>
        </p:nvSpPr>
        <p:spPr>
          <a:xfrm>
            <a:off x="4331776" y="4195482"/>
            <a:ext cx="4757980" cy="2433918"/>
          </a:xfrm>
          <a:prstGeom prst="trapezoid">
            <a:avLst>
              <a:gd name="adj" fmla="val 31368"/>
            </a:avLst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565329" y="4641742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Right sub-tree</a:t>
            </a:r>
          </a:p>
        </p:txBody>
      </p:sp>
      <p:cxnSp>
        <p:nvCxnSpPr>
          <p:cNvPr id="14" name="Straight Arrow Connector 13"/>
          <p:cNvCxnSpPr>
            <a:stCxn id="10" idx="3"/>
            <a:endCxn id="9" idx="1"/>
          </p:cNvCxnSpPr>
          <p:nvPr/>
        </p:nvCxnSpPr>
        <p:spPr>
          <a:xfrm>
            <a:off x="3199110" y="4826408"/>
            <a:ext cx="1514402" cy="586033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4441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next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current node does not have a right sub-tree,</a:t>
            </a:r>
          </a:p>
          <a:p>
            <a:pPr marL="457200" indent="-457200">
              <a:buAutoNum type="arabicParenBoth"/>
            </a:pPr>
            <a:r>
              <a:rPr lang="en-US" dirty="0"/>
              <a:t>Go up until the current node becomes </a:t>
            </a:r>
            <a:r>
              <a:rPr lang="en-US" dirty="0" err="1"/>
              <a:t>nullptr</a:t>
            </a:r>
            <a:r>
              <a:rPr lang="en-US" dirty="0"/>
              <a:t>, or the step-movement was from the left to right.</a:t>
            </a:r>
          </a:p>
          <a:p>
            <a:pPr marL="457200" indent="-457200">
              <a:buAutoNum type="arabicParenBoth"/>
            </a:pPr>
            <a:endParaRPr lang="en-US" dirty="0"/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3505200" y="32766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0" y="33162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cxnSp>
        <p:nvCxnSpPr>
          <p:cNvPr id="6" name="Straight Arrow Connector 5"/>
          <p:cNvCxnSpPr>
            <a:cxnSpLocks noChangeShapeType="1"/>
          </p:cNvCxnSpPr>
          <p:nvPr/>
        </p:nvCxnSpPr>
        <p:spPr bwMode="auto">
          <a:xfrm rot="5400000" flipH="1" flipV="1">
            <a:off x="4210050" y="3181350"/>
            <a:ext cx="420688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Straight Arrow Connector 6"/>
          <p:cNvCxnSpPr>
            <a:cxnSpLocks noChangeShapeType="1"/>
          </p:cNvCxnSpPr>
          <p:nvPr/>
        </p:nvCxnSpPr>
        <p:spPr bwMode="auto">
          <a:xfrm rot="10800000" flipV="1">
            <a:off x="2362200" y="3886200"/>
            <a:ext cx="17526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3962400" y="25908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1447800" y="41910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00200" y="42306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381000" y="5410200"/>
            <a:ext cx="1828800" cy="762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3400" y="5449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2590800" y="5410200"/>
            <a:ext cx="1828800" cy="762000"/>
          </a:xfrm>
          <a:prstGeom prst="ellipse">
            <a:avLst/>
          </a:prstGeom>
          <a:solidFill>
            <a:srgbClr val="92D050"/>
          </a:solidFill>
          <a:ln w="1905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43200" y="5449888"/>
            <a:ext cx="1524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*parent</a:t>
            </a:r>
          </a:p>
          <a:p>
            <a:pPr algn="ctr" eaLnBrk="1" hangingPunct="1">
              <a:defRPr/>
            </a:pPr>
            <a:r>
              <a:rPr lang="en-US" i="0" dirty="0">
                <a:latin typeface="+mn-lt"/>
              </a:rPr>
              <a:t>*left   *right</a:t>
            </a:r>
          </a:p>
        </p:txBody>
      </p:sp>
      <p:cxnSp>
        <p:nvCxnSpPr>
          <p:cNvPr id="22" name="Straight Arrow Connector 21"/>
          <p:cNvCxnSpPr>
            <a:cxnSpLocks noChangeShapeType="1"/>
          </p:cNvCxnSpPr>
          <p:nvPr/>
        </p:nvCxnSpPr>
        <p:spPr bwMode="auto">
          <a:xfrm flipV="1">
            <a:off x="2514600" y="4038600"/>
            <a:ext cx="1524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Arrow Connector 23"/>
          <p:cNvCxnSpPr>
            <a:cxnSpLocks noChangeShapeType="1"/>
            <a:endCxn id="14" idx="0"/>
          </p:cNvCxnSpPr>
          <p:nvPr/>
        </p:nvCxnSpPr>
        <p:spPr bwMode="auto">
          <a:xfrm rot="10800000" flipV="1">
            <a:off x="1295400" y="4800600"/>
            <a:ext cx="685800" cy="609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Straight Arrow Connector 24"/>
          <p:cNvCxnSpPr>
            <a:cxnSpLocks noChangeShapeType="1"/>
            <a:endCxn id="17" idx="0"/>
          </p:cNvCxnSpPr>
          <p:nvPr/>
        </p:nvCxnSpPr>
        <p:spPr bwMode="auto">
          <a:xfrm>
            <a:off x="2743200" y="4800600"/>
            <a:ext cx="762000" cy="6492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Straight Arrow Connector 25"/>
          <p:cNvCxnSpPr>
            <a:cxnSpLocks noChangeShapeType="1"/>
          </p:cNvCxnSpPr>
          <p:nvPr/>
        </p:nvCxnSpPr>
        <p:spPr bwMode="auto">
          <a:xfrm rot="5400000" flipH="1" flipV="1">
            <a:off x="1485900" y="5143500"/>
            <a:ext cx="6858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Straight Arrow Connector 26"/>
          <p:cNvCxnSpPr>
            <a:cxnSpLocks noChangeShapeType="1"/>
          </p:cNvCxnSpPr>
          <p:nvPr/>
        </p:nvCxnSpPr>
        <p:spPr bwMode="auto">
          <a:xfrm rot="16200000" flipV="1">
            <a:off x="2590800" y="5029200"/>
            <a:ext cx="685800" cy="533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Straight Arrow Connector 27"/>
          <p:cNvCxnSpPr>
            <a:cxnSpLocks noChangeShapeType="1"/>
          </p:cNvCxnSpPr>
          <p:nvPr/>
        </p:nvCxnSpPr>
        <p:spPr bwMode="auto">
          <a:xfrm rot="10800000" flipV="1">
            <a:off x="533400" y="6019800"/>
            <a:ext cx="381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Straight Arrow Connector 28"/>
          <p:cNvCxnSpPr>
            <a:cxnSpLocks noChangeShapeType="1"/>
          </p:cNvCxnSpPr>
          <p:nvPr/>
        </p:nvCxnSpPr>
        <p:spPr bwMode="auto">
          <a:xfrm rot="16200000" flipH="1">
            <a:off x="1562100" y="6057900"/>
            <a:ext cx="3048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TextBox 33"/>
          <p:cNvSpPr txBox="1"/>
          <p:nvPr/>
        </p:nvSpPr>
        <p:spPr>
          <a:xfrm>
            <a:off x="2286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78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cxnSp>
        <p:nvCxnSpPr>
          <p:cNvPr id="36" name="Straight Arrow Connector 35"/>
          <p:cNvCxnSpPr>
            <a:cxnSpLocks noChangeShapeType="1"/>
          </p:cNvCxnSpPr>
          <p:nvPr/>
        </p:nvCxnSpPr>
        <p:spPr bwMode="auto">
          <a:xfrm rot="10800000" flipV="1">
            <a:off x="2819400" y="6019800"/>
            <a:ext cx="381000" cy="304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Straight Arrow Connector 36"/>
          <p:cNvCxnSpPr>
            <a:cxnSpLocks noChangeShapeType="1"/>
          </p:cNvCxnSpPr>
          <p:nvPr/>
        </p:nvCxnSpPr>
        <p:spPr bwMode="auto">
          <a:xfrm rot="16200000" flipH="1">
            <a:off x="3848100" y="6057900"/>
            <a:ext cx="3048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TextBox 37"/>
          <p:cNvSpPr txBox="1"/>
          <p:nvPr/>
        </p:nvSpPr>
        <p:spPr>
          <a:xfrm>
            <a:off x="25146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3800" y="6248400"/>
            <a:ext cx="91440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NULL</a:t>
            </a:r>
          </a:p>
        </p:txBody>
      </p:sp>
      <p:cxnSp>
        <p:nvCxnSpPr>
          <p:cNvPr id="47" name="Straight Arrow Connector 47"/>
          <p:cNvCxnSpPr>
            <a:cxnSpLocks noChangeShapeType="1"/>
          </p:cNvCxnSpPr>
          <p:nvPr/>
        </p:nvCxnSpPr>
        <p:spPr bwMode="auto">
          <a:xfrm>
            <a:off x="2971800" y="2895600"/>
            <a:ext cx="990600" cy="457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" name="Rounded Rectangle 48"/>
          <p:cNvSpPr>
            <a:spLocks noChangeArrowheads="1"/>
          </p:cNvSpPr>
          <p:nvPr/>
        </p:nvSpPr>
        <p:spPr bwMode="auto">
          <a:xfrm>
            <a:off x="2362200" y="2590800"/>
            <a:ext cx="838200" cy="3810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Lucida Console" pitchFamily="49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452688" y="2590800"/>
            <a:ext cx="671512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i="0" dirty="0">
                <a:latin typeface="+mn-lt"/>
              </a:rPr>
              <a:t>*root</a:t>
            </a:r>
          </a:p>
        </p:txBody>
      </p:sp>
      <p:sp>
        <p:nvSpPr>
          <p:cNvPr id="59" name="Freeform 58"/>
          <p:cNvSpPr/>
          <p:nvPr/>
        </p:nvSpPr>
        <p:spPr>
          <a:xfrm>
            <a:off x="3065929" y="4713194"/>
            <a:ext cx="1027544" cy="948018"/>
          </a:xfrm>
          <a:custGeom>
            <a:avLst/>
            <a:gdLst>
              <a:gd name="connsiteX0" fmla="*/ 1021977 w 1027544"/>
              <a:gd name="connsiteY0" fmla="*/ 948018 h 948018"/>
              <a:gd name="connsiteX1" fmla="*/ 874059 w 1027544"/>
              <a:gd name="connsiteY1" fmla="*/ 376518 h 948018"/>
              <a:gd name="connsiteX2" fmla="*/ 0 w 1027544"/>
              <a:gd name="connsiteY2" fmla="*/ 0 h 948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7544" h="948018">
                <a:moveTo>
                  <a:pt x="1021977" y="948018"/>
                </a:moveTo>
                <a:cubicBezTo>
                  <a:pt x="1033182" y="741269"/>
                  <a:pt x="1044388" y="534521"/>
                  <a:pt x="874059" y="376518"/>
                </a:cubicBezTo>
                <a:cubicBezTo>
                  <a:pt x="703730" y="218515"/>
                  <a:pt x="351865" y="109257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4191000" y="4953000"/>
            <a:ext cx="4152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step-movement is from right to left.  Need to go up one more level.</a:t>
            </a:r>
          </a:p>
        </p:txBody>
      </p:sp>
      <p:sp>
        <p:nvSpPr>
          <p:cNvPr id="61" name="Freeform 60"/>
          <p:cNvSpPr/>
          <p:nvPr/>
        </p:nvSpPr>
        <p:spPr>
          <a:xfrm>
            <a:off x="3079376" y="3987053"/>
            <a:ext cx="1378324" cy="484094"/>
          </a:xfrm>
          <a:custGeom>
            <a:avLst/>
            <a:gdLst>
              <a:gd name="connsiteX0" fmla="*/ 0 w 1378324"/>
              <a:gd name="connsiteY0" fmla="*/ 484094 h 484094"/>
              <a:gd name="connsiteX1" fmla="*/ 1055595 w 1378324"/>
              <a:gd name="connsiteY1" fmla="*/ 349623 h 484094"/>
              <a:gd name="connsiteX2" fmla="*/ 1378324 w 1378324"/>
              <a:gd name="connsiteY2" fmla="*/ 0 h 484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8324" h="484094">
                <a:moveTo>
                  <a:pt x="0" y="484094"/>
                </a:moveTo>
                <a:cubicBezTo>
                  <a:pt x="412937" y="457199"/>
                  <a:pt x="825874" y="430305"/>
                  <a:pt x="1055595" y="349623"/>
                </a:cubicBezTo>
                <a:cubicBezTo>
                  <a:pt x="1285316" y="268941"/>
                  <a:pt x="1331820" y="134470"/>
                  <a:pt x="1378324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4419600" y="4020234"/>
            <a:ext cx="4152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step-movement is from left to right. Therefore stop here.</a:t>
            </a:r>
          </a:p>
        </p:txBody>
      </p:sp>
    </p:spTree>
    <p:extLst>
      <p:ext uri="{BB962C8B-B14F-4D97-AF65-F5344CB8AC3E}">
        <p14:creationId xmlns:p14="http://schemas.microsoft.com/office/powerpoint/2010/main" val="42853976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 of an integer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962" y="914400"/>
            <a:ext cx="2891118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Lucida Console" panose="020B0609040504020204" pitchFamily="49" charset="0"/>
              </a:rPr>
              <a:t>#include &lt;</a:t>
            </a:r>
            <a:r>
              <a:rPr lang="en-US" sz="900" dirty="0" err="1">
                <a:latin typeface="Lucida Console" panose="020B0609040504020204" pitchFamily="49" charset="0"/>
              </a:rPr>
              <a:t>stdio.h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#include &lt;</a:t>
            </a:r>
            <a:r>
              <a:rPr lang="en-US" sz="900" dirty="0" err="1">
                <a:latin typeface="Lucida Console" panose="020B0609040504020204" pitchFamily="49" charset="0"/>
              </a:rPr>
              <a:t>stdlib.h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#include &lt;</a:t>
            </a:r>
            <a:r>
              <a:rPr lang="en-US" sz="900" dirty="0" err="1">
                <a:latin typeface="Lucida Console" panose="020B0609040504020204" pitchFamily="49" charset="0"/>
              </a:rPr>
              <a:t>time.h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class </a:t>
            </a:r>
            <a:r>
              <a:rPr lang="en-US" sz="900" dirty="0" err="1">
                <a:latin typeface="Lucida Console" panose="020B0609040504020204" pitchFamily="49" charset="0"/>
              </a:rPr>
              <a:t>BinTreeNode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int</a:t>
            </a:r>
            <a:r>
              <a:rPr lang="en-US" sz="900" dirty="0">
                <a:latin typeface="Lucida Console" panose="020B0609040504020204" pitchFamily="49" charset="0"/>
              </a:rPr>
              <a:t> key;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BinTreeNode</a:t>
            </a:r>
            <a:r>
              <a:rPr lang="en-US" sz="900" dirty="0">
                <a:latin typeface="Lucida Console" panose="020B0609040504020204" pitchFamily="49" charset="0"/>
              </a:rPr>
              <a:t> *parent,*left,*right;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BinTreeNode</a:t>
            </a:r>
            <a:r>
              <a:rPr lang="en-US" sz="900" dirty="0">
                <a:latin typeface="Lucida Console" panose="020B0609040504020204" pitchFamily="49" charset="0"/>
              </a:rPr>
              <a:t>()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parent=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left=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right=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void Traverse(</a:t>
            </a:r>
            <a:r>
              <a:rPr lang="en-US" sz="900" dirty="0" err="1">
                <a:latin typeface="Lucida Console" panose="020B0609040504020204" pitchFamily="49" charset="0"/>
              </a:rPr>
              <a:t>BinTreeNode</a:t>
            </a:r>
            <a:r>
              <a:rPr lang="en-US" sz="900" dirty="0">
                <a:latin typeface="Lucida Console" panose="020B0609040504020204" pitchFamily="49" charset="0"/>
              </a:rPr>
              <a:t> *node)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if(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!=node)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Traverse(node-&gt;left);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latin typeface="Lucida Console" panose="020B0609040504020204" pitchFamily="49" charset="0"/>
              </a:rPr>
              <a:t>printf</a:t>
            </a:r>
            <a:r>
              <a:rPr lang="en-US" sz="900" dirty="0">
                <a:latin typeface="Lucida Console" panose="020B0609040504020204" pitchFamily="49" charset="0"/>
              </a:rPr>
              <a:t>(" %</a:t>
            </a:r>
            <a:r>
              <a:rPr lang="en-US" sz="900" dirty="0" err="1">
                <a:latin typeface="Lucida Console" panose="020B0609040504020204" pitchFamily="49" charset="0"/>
              </a:rPr>
              <a:t>d",node</a:t>
            </a:r>
            <a:r>
              <a:rPr lang="en-US" sz="900" dirty="0">
                <a:latin typeface="Lucida Console" panose="020B0609040504020204" pitchFamily="49" charset="0"/>
              </a:rPr>
              <a:t>-&gt;key);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Traverse(node-&gt;right);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73606" y="823153"/>
            <a:ext cx="517039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>
                <a:latin typeface="Lucida Console" panose="020B0609040504020204" pitchFamily="49" charset="0"/>
              </a:rPr>
              <a:t>BinTreeNode</a:t>
            </a:r>
            <a:r>
              <a:rPr lang="en-US" sz="900" dirty="0">
                <a:latin typeface="Lucida Console" panose="020B0609040504020204" pitchFamily="49" charset="0"/>
              </a:rPr>
              <a:t> *</a:t>
            </a:r>
            <a:r>
              <a:rPr lang="en-US" sz="900" dirty="0" err="1">
                <a:latin typeface="Lucida Console" panose="020B0609040504020204" pitchFamily="49" charset="0"/>
              </a:rPr>
              <a:t>AddBinTreeNode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BinTreeNode</a:t>
            </a:r>
            <a:r>
              <a:rPr lang="en-US" sz="900" dirty="0">
                <a:latin typeface="Lucida Console" panose="020B0609040504020204" pitchFamily="49" charset="0"/>
              </a:rPr>
              <a:t> *</a:t>
            </a:r>
            <a:r>
              <a:rPr lang="en-US" sz="900" dirty="0" err="1">
                <a:latin typeface="Lucida Console" panose="020B0609040504020204" pitchFamily="49" charset="0"/>
              </a:rPr>
              <a:t>newNode,BinTreeNode</a:t>
            </a:r>
            <a:r>
              <a:rPr lang="en-US" sz="900" dirty="0">
                <a:latin typeface="Lucida Console" panose="020B0609040504020204" pitchFamily="49" charset="0"/>
              </a:rPr>
              <a:t> *</a:t>
            </a:r>
            <a:r>
              <a:rPr lang="en-US" sz="900" dirty="0" err="1">
                <a:latin typeface="Lucida Console" panose="020B0609040504020204" pitchFamily="49" charset="0"/>
              </a:rPr>
              <a:t>rootNode</a:t>
            </a:r>
            <a:r>
              <a:rPr lang="en-US" sz="9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if(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==</a:t>
            </a:r>
            <a:r>
              <a:rPr lang="en-US" sz="900" dirty="0" err="1">
                <a:latin typeface="Lucida Console" panose="020B0609040504020204" pitchFamily="49" charset="0"/>
              </a:rPr>
              <a:t>rootNode</a:t>
            </a:r>
            <a:r>
              <a:rPr lang="en-US" sz="9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latin typeface="Lucida Console" panose="020B0609040504020204" pitchFamily="49" charset="0"/>
              </a:rPr>
              <a:t>rootNode</a:t>
            </a:r>
            <a:r>
              <a:rPr lang="en-US" sz="900" dirty="0"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latin typeface="Lucida Console" panose="020B0609040504020204" pitchFamily="49" charset="0"/>
              </a:rPr>
              <a:t>newNode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return </a:t>
            </a:r>
            <a:r>
              <a:rPr lang="en-US" sz="900" dirty="0" err="1">
                <a:latin typeface="Lucida Console" panose="020B0609040504020204" pitchFamily="49" charset="0"/>
              </a:rPr>
              <a:t>rootNode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else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latin typeface="Lucida Console" panose="020B0609040504020204" pitchFamily="49" charset="0"/>
              </a:rPr>
              <a:t>BinTreeNode</a:t>
            </a:r>
            <a:r>
              <a:rPr lang="en-US" sz="900" dirty="0">
                <a:latin typeface="Lucida Console" panose="020B0609040504020204" pitchFamily="49" charset="0"/>
              </a:rPr>
              <a:t> *seeker=</a:t>
            </a:r>
            <a:r>
              <a:rPr lang="en-US" sz="900" dirty="0" err="1">
                <a:latin typeface="Lucida Console" panose="020B0609040504020204" pitchFamily="49" charset="0"/>
              </a:rPr>
              <a:t>rootNode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for(;;)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if(</a:t>
            </a:r>
            <a:r>
              <a:rPr lang="en-US" sz="900" dirty="0" err="1">
                <a:latin typeface="Lucida Console" panose="020B0609040504020204" pitchFamily="49" charset="0"/>
              </a:rPr>
              <a:t>newNode</a:t>
            </a:r>
            <a:r>
              <a:rPr lang="en-US" sz="900" dirty="0">
                <a:latin typeface="Lucida Console" panose="020B0609040504020204" pitchFamily="49" charset="0"/>
              </a:rPr>
              <a:t>-&gt;key&lt;seeker-&gt;key)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if(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!=seeker-&gt;left)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    seeker=seeker-&gt;left;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else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    seeker-&gt;left=</a:t>
            </a:r>
            <a:r>
              <a:rPr lang="en-US" sz="900" dirty="0" err="1">
                <a:latin typeface="Lucida Console" panose="020B0609040504020204" pitchFamily="49" charset="0"/>
              </a:rPr>
              <a:t>newNode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    </a:t>
            </a:r>
            <a:r>
              <a:rPr lang="en-US" sz="900" dirty="0" err="1">
                <a:latin typeface="Lucida Console" panose="020B0609040504020204" pitchFamily="49" charset="0"/>
              </a:rPr>
              <a:t>newNode</a:t>
            </a:r>
            <a:r>
              <a:rPr lang="en-US" sz="900" dirty="0">
                <a:latin typeface="Lucida Console" panose="020B0609040504020204" pitchFamily="49" charset="0"/>
              </a:rPr>
              <a:t>-&gt;parent=seeker;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    return </a:t>
            </a:r>
            <a:r>
              <a:rPr lang="en-US" sz="900" dirty="0" err="1">
                <a:latin typeface="Lucida Console" panose="020B0609040504020204" pitchFamily="49" charset="0"/>
              </a:rPr>
              <a:t>rootNode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else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if(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!=seeker-&gt;right)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    seeker=seeker-&gt;right;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else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    seeker-&gt;right=</a:t>
            </a:r>
            <a:r>
              <a:rPr lang="en-US" sz="900" dirty="0" err="1">
                <a:latin typeface="Lucida Console" panose="020B0609040504020204" pitchFamily="49" charset="0"/>
              </a:rPr>
              <a:t>newNode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    </a:t>
            </a:r>
            <a:r>
              <a:rPr lang="en-US" sz="900" dirty="0" err="1">
                <a:latin typeface="Lucida Console" panose="020B0609040504020204" pitchFamily="49" charset="0"/>
              </a:rPr>
              <a:t>newNode</a:t>
            </a:r>
            <a:r>
              <a:rPr lang="en-US" sz="900" dirty="0">
                <a:latin typeface="Lucida Console" panose="020B0609040504020204" pitchFamily="49" charset="0"/>
              </a:rPr>
              <a:t>-&gt;parent=seeker;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    return </a:t>
            </a:r>
            <a:r>
              <a:rPr lang="en-US" sz="900" dirty="0" err="1">
                <a:latin typeface="Lucida Console" panose="020B0609040504020204" pitchFamily="49" charset="0"/>
              </a:rPr>
              <a:t>rootNode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return 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; // Not supposed to come here.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806764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Templated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746" y="1082488"/>
            <a:ext cx="32205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KeyClass,class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ValueClass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class </a:t>
            </a:r>
            <a:r>
              <a:rPr lang="en-US" sz="900" dirty="0" err="1">
                <a:latin typeface="Lucida Console" panose="020B0609040504020204" pitchFamily="49" charset="0"/>
              </a:rPr>
              <a:t>BinTreeNode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KeyClass</a:t>
            </a:r>
            <a:r>
              <a:rPr lang="en-US" sz="900" dirty="0">
                <a:latin typeface="Lucida Console" panose="020B0609040504020204" pitchFamily="49" charset="0"/>
              </a:rPr>
              <a:t> key;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ValueClass</a:t>
            </a:r>
            <a:r>
              <a:rPr lang="en-US" sz="900" dirty="0">
                <a:latin typeface="Lucida Console" panose="020B0609040504020204" pitchFamily="49" charset="0"/>
              </a:rPr>
              <a:t> value;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BinTreeNode</a:t>
            </a:r>
            <a:r>
              <a:rPr lang="en-US" sz="900" dirty="0">
                <a:latin typeface="Lucida Console" panose="020B0609040504020204" pitchFamily="49" charset="0"/>
              </a:rPr>
              <a:t> *parent,*left,*right;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BinTreeNode</a:t>
            </a:r>
            <a:r>
              <a:rPr lang="en-US" sz="900" dirty="0">
                <a:latin typeface="Lucida Console" panose="020B0609040504020204" pitchFamily="49" charset="0"/>
              </a:rPr>
              <a:t>()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parent=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left=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right=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endParaRPr lang="en-US" sz="9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83742" y="1082488"/>
            <a:ext cx="4303058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KeyClass,class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ValueClass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latin typeface="Lucida Console" panose="020B0609040504020204" pitchFamily="49" charset="0"/>
              </a:rPr>
              <a:t>BinTreeNode</a:t>
            </a:r>
            <a:r>
              <a:rPr lang="en-US" sz="900" dirty="0">
                <a:latin typeface="Lucida Console" panose="020B0609040504020204" pitchFamily="49" charset="0"/>
              </a:rPr>
              <a:t> &lt;</a:t>
            </a:r>
            <a:r>
              <a:rPr lang="en-US" sz="900" dirty="0" err="1">
                <a:latin typeface="Lucida Console" panose="020B0609040504020204" pitchFamily="49" charset="0"/>
              </a:rPr>
              <a:t>KeyClass,ValueClass</a:t>
            </a:r>
            <a:r>
              <a:rPr lang="en-US" sz="900" dirty="0">
                <a:latin typeface="Lucida Console" panose="020B0609040504020204" pitchFamily="49" charset="0"/>
              </a:rPr>
              <a:t>&gt; *</a:t>
            </a:r>
            <a:r>
              <a:rPr lang="en-US" sz="900" dirty="0" err="1">
                <a:latin typeface="Lucida Console" panose="020B0609040504020204" pitchFamily="49" charset="0"/>
              </a:rPr>
              <a:t>AddBinTreeNode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BinTreeNode</a:t>
            </a:r>
            <a:r>
              <a:rPr lang="en-US" sz="900" dirty="0">
                <a:latin typeface="Lucida Console" panose="020B0609040504020204" pitchFamily="49" charset="0"/>
              </a:rPr>
              <a:t> &lt;</a:t>
            </a:r>
            <a:r>
              <a:rPr lang="en-US" sz="900" dirty="0" err="1">
                <a:latin typeface="Lucida Console" panose="020B0609040504020204" pitchFamily="49" charset="0"/>
              </a:rPr>
              <a:t>KeyClass,ValueClass</a:t>
            </a:r>
            <a:r>
              <a:rPr lang="en-US" sz="900" dirty="0">
                <a:latin typeface="Lucida Console" panose="020B0609040504020204" pitchFamily="49" charset="0"/>
              </a:rPr>
              <a:t>&gt; *</a:t>
            </a:r>
            <a:r>
              <a:rPr lang="en-US" sz="900" dirty="0" err="1">
                <a:latin typeface="Lucida Console" panose="020B0609040504020204" pitchFamily="49" charset="0"/>
              </a:rPr>
              <a:t>newNode</a:t>
            </a:r>
            <a:r>
              <a:rPr lang="en-US" sz="900" dirty="0">
                <a:latin typeface="Lucida Console" panose="020B0609040504020204" pitchFamily="49" charset="0"/>
              </a:rPr>
              <a:t>,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BinTreeNode</a:t>
            </a:r>
            <a:r>
              <a:rPr lang="en-US" sz="900" dirty="0">
                <a:latin typeface="Lucida Console" panose="020B0609040504020204" pitchFamily="49" charset="0"/>
              </a:rPr>
              <a:t> &lt;</a:t>
            </a:r>
            <a:r>
              <a:rPr lang="en-US" sz="900" dirty="0" err="1">
                <a:latin typeface="Lucida Console" panose="020B0609040504020204" pitchFamily="49" charset="0"/>
              </a:rPr>
              <a:t>KeyClass,ValueClass</a:t>
            </a:r>
            <a:r>
              <a:rPr lang="en-US" sz="900" dirty="0">
                <a:latin typeface="Lucida Console" panose="020B0609040504020204" pitchFamily="49" charset="0"/>
              </a:rPr>
              <a:t>&gt; *</a:t>
            </a:r>
            <a:r>
              <a:rPr lang="en-US" sz="900" dirty="0" err="1">
                <a:latin typeface="Lucida Console" panose="020B0609040504020204" pitchFamily="49" charset="0"/>
              </a:rPr>
              <a:t>rootNode</a:t>
            </a:r>
            <a:r>
              <a:rPr lang="en-US" sz="9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if(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==</a:t>
            </a:r>
            <a:r>
              <a:rPr lang="en-US" sz="900" dirty="0" err="1">
                <a:latin typeface="Lucida Console" panose="020B0609040504020204" pitchFamily="49" charset="0"/>
              </a:rPr>
              <a:t>rootNode</a:t>
            </a:r>
            <a:r>
              <a:rPr lang="en-US" sz="9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latin typeface="Lucida Console" panose="020B0609040504020204" pitchFamily="49" charset="0"/>
              </a:rPr>
              <a:t>rootNode</a:t>
            </a:r>
            <a:r>
              <a:rPr lang="en-US" sz="900" dirty="0"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latin typeface="Lucida Console" panose="020B0609040504020204" pitchFamily="49" charset="0"/>
              </a:rPr>
              <a:t>newNode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return </a:t>
            </a:r>
            <a:r>
              <a:rPr lang="en-US" sz="900" dirty="0" err="1">
                <a:latin typeface="Lucida Console" panose="020B0609040504020204" pitchFamily="49" charset="0"/>
              </a:rPr>
              <a:t>rootNode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else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auto *seeker=</a:t>
            </a:r>
            <a:r>
              <a:rPr lang="en-US" sz="900" dirty="0" err="1">
                <a:latin typeface="Lucida Console" panose="020B0609040504020204" pitchFamily="49" charset="0"/>
              </a:rPr>
              <a:t>rootNode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for(;;)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if(</a:t>
            </a:r>
            <a:r>
              <a:rPr lang="en-US" sz="900" dirty="0" err="1">
                <a:latin typeface="Lucida Console" panose="020B0609040504020204" pitchFamily="49" charset="0"/>
              </a:rPr>
              <a:t>newNode</a:t>
            </a:r>
            <a:r>
              <a:rPr lang="en-US" sz="900" dirty="0">
                <a:latin typeface="Lucida Console" panose="020B0609040504020204" pitchFamily="49" charset="0"/>
              </a:rPr>
              <a:t>-&gt;key&lt;seeker-&gt;key)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if(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==seeker-&gt;left)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    seeker-&gt;left=</a:t>
            </a:r>
            <a:r>
              <a:rPr lang="en-US" sz="900" dirty="0" err="1">
                <a:latin typeface="Lucida Console" panose="020B0609040504020204" pitchFamily="49" charset="0"/>
              </a:rPr>
              <a:t>newNode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    break;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seeker=seeker-&gt;left;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else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if(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==seeker-&gt;right)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    seeker-&gt;right=</a:t>
            </a:r>
            <a:r>
              <a:rPr lang="en-US" sz="900" dirty="0" err="1">
                <a:latin typeface="Lucida Console" panose="020B0609040504020204" pitchFamily="49" charset="0"/>
              </a:rPr>
              <a:t>newNode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    break;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seeker=seeker-&gt;right;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latin typeface="Lucida Console" panose="020B0609040504020204" pitchFamily="49" charset="0"/>
              </a:rPr>
              <a:t>newNode</a:t>
            </a:r>
            <a:r>
              <a:rPr lang="en-US" sz="900" dirty="0">
                <a:latin typeface="Lucida Console" panose="020B0609040504020204" pitchFamily="49" charset="0"/>
              </a:rPr>
              <a:t>-&gt;parent=seeker;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return </a:t>
            </a:r>
            <a:r>
              <a:rPr lang="en-US" sz="900" dirty="0" err="1">
                <a:latin typeface="Lucida Console" panose="020B0609040504020204" pitchFamily="49" charset="0"/>
              </a:rPr>
              <a:t>rootNode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return 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; // Not supposed to come here.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" y="3731558"/>
            <a:ext cx="33617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Binary-tree is often used for finding a key-value pair.  For this purpose, each node must carry a key and a value.</a:t>
            </a:r>
          </a:p>
        </p:txBody>
      </p:sp>
    </p:spTree>
    <p:extLst>
      <p:ext uri="{BB962C8B-B14F-4D97-AF65-F5344CB8AC3E}">
        <p14:creationId xmlns:p14="http://schemas.microsoft.com/office/powerpoint/2010/main" val="24624646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Better protected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746" y="1082488"/>
            <a:ext cx="322057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Lucida Console" panose="020B0609040504020204" pitchFamily="49" charset="0"/>
              </a:rPr>
              <a:t>#include &lt;</a:t>
            </a:r>
            <a:r>
              <a:rPr lang="en-US" sz="900" dirty="0" err="1">
                <a:latin typeface="Lucida Console" panose="020B0609040504020204" pitchFamily="49" charset="0"/>
              </a:rPr>
              <a:t>stdio.h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#include &lt;</a:t>
            </a:r>
            <a:r>
              <a:rPr lang="en-US" sz="900" dirty="0" err="1">
                <a:latin typeface="Lucida Console" panose="020B0609040504020204" pitchFamily="49" charset="0"/>
              </a:rPr>
              <a:t>stdlib.h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#include &lt;</a:t>
            </a:r>
            <a:r>
              <a:rPr lang="en-US" sz="900" dirty="0" err="1">
                <a:latin typeface="Lucida Console" panose="020B0609040504020204" pitchFamily="49" charset="0"/>
              </a:rPr>
              <a:t>time.h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KeyClass,class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ValueClass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class </a:t>
            </a:r>
            <a:r>
              <a:rPr lang="en-US" sz="900" dirty="0" err="1">
                <a:latin typeface="Lucida Console" panose="020B0609040504020204" pitchFamily="49" charset="0"/>
              </a:rPr>
              <a:t>BinaryTree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class Node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public: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latin typeface="Lucida Console" panose="020B0609040504020204" pitchFamily="49" charset="0"/>
              </a:rPr>
              <a:t>KeyClass</a:t>
            </a:r>
            <a:r>
              <a:rPr lang="en-US" sz="900" dirty="0">
                <a:latin typeface="Lucida Console" panose="020B0609040504020204" pitchFamily="49" charset="0"/>
              </a:rPr>
              <a:t> key;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latin typeface="Lucida Console" panose="020B0609040504020204" pitchFamily="49" charset="0"/>
              </a:rPr>
              <a:t>ValueClass</a:t>
            </a:r>
            <a:r>
              <a:rPr lang="en-US" sz="900" dirty="0">
                <a:latin typeface="Lucida Console" panose="020B0609040504020204" pitchFamily="49" charset="0"/>
              </a:rPr>
              <a:t> value;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Node *parent,*left,*right;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Node()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parent=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left=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right=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protected: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Node *</a:t>
            </a:r>
            <a:r>
              <a:rPr lang="en-US" sz="900" dirty="0" err="1">
                <a:latin typeface="Lucida Console" panose="020B0609040504020204" pitchFamily="49" charset="0"/>
              </a:rPr>
              <a:t>rootNode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BinaryTree</a:t>
            </a:r>
            <a:r>
              <a:rPr lang="en-US" sz="900" dirty="0">
                <a:latin typeface="Lucida Console" panose="020B0609040504020204" pitchFamily="49" charset="0"/>
              </a:rPr>
              <a:t>()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latin typeface="Lucida Console" panose="020B0609040504020204" pitchFamily="49" charset="0"/>
              </a:rPr>
              <a:t>rootNode</a:t>
            </a:r>
            <a:r>
              <a:rPr lang="en-US" sz="900" dirty="0"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~</a:t>
            </a:r>
            <a:r>
              <a:rPr lang="en-US" sz="900" dirty="0" err="1">
                <a:latin typeface="Lucida Console" panose="020B0609040504020204" pitchFamily="49" charset="0"/>
              </a:rPr>
              <a:t>BinaryTree</a:t>
            </a:r>
            <a:r>
              <a:rPr lang="en-US" sz="900" dirty="0">
                <a:latin typeface="Lucida Console" panose="020B0609040504020204" pitchFamily="49" charset="0"/>
              </a:rPr>
              <a:t>()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latin typeface="Lucida Console" panose="020B0609040504020204" pitchFamily="49" charset="0"/>
              </a:rPr>
              <a:t>CleanUp</a:t>
            </a:r>
            <a:r>
              <a:rPr lang="en-US" sz="9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Node *</a:t>
            </a:r>
            <a:r>
              <a:rPr lang="en-US" sz="900" dirty="0" err="1">
                <a:latin typeface="Lucida Console" panose="020B0609040504020204" pitchFamily="49" charset="0"/>
              </a:rPr>
              <a:t>GetRoot</a:t>
            </a:r>
            <a:r>
              <a:rPr lang="en-US" sz="900" dirty="0">
                <a:latin typeface="Lucida Console" panose="020B0609040504020204" pitchFamily="49" charset="0"/>
              </a:rPr>
              <a:t>(void)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return </a:t>
            </a:r>
            <a:r>
              <a:rPr lang="en-US" sz="900" dirty="0" err="1">
                <a:latin typeface="Lucida Console" panose="020B0609040504020204" pitchFamily="49" charset="0"/>
              </a:rPr>
              <a:t>rootNode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999" y="1075764"/>
            <a:ext cx="4471147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Lucida Console" panose="020B0609040504020204" pitchFamily="49" charset="0"/>
              </a:rPr>
              <a:t>private: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void Free(Node *</a:t>
            </a:r>
            <a:r>
              <a:rPr lang="en-US" sz="900" dirty="0" err="1">
                <a:latin typeface="Lucida Console" panose="020B0609040504020204" pitchFamily="49" charset="0"/>
              </a:rPr>
              <a:t>ptr</a:t>
            </a:r>
            <a:r>
              <a:rPr lang="en-US" sz="9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if(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!=</a:t>
            </a:r>
            <a:r>
              <a:rPr lang="en-US" sz="900" dirty="0" err="1">
                <a:latin typeface="Lucida Console" panose="020B0609040504020204" pitchFamily="49" charset="0"/>
              </a:rPr>
              <a:t>ptr</a:t>
            </a:r>
            <a:r>
              <a:rPr lang="en-US" sz="9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Free(</a:t>
            </a:r>
            <a:r>
              <a:rPr lang="en-US" sz="900" dirty="0" err="1">
                <a:latin typeface="Lucida Console" panose="020B0609040504020204" pitchFamily="49" charset="0"/>
              </a:rPr>
              <a:t>ptr</a:t>
            </a:r>
            <a:r>
              <a:rPr lang="en-US" sz="900" dirty="0">
                <a:latin typeface="Lucida Console" panose="020B0609040504020204" pitchFamily="49" charset="0"/>
              </a:rPr>
              <a:t>-&gt;left);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Free(</a:t>
            </a:r>
            <a:r>
              <a:rPr lang="en-US" sz="900" dirty="0" err="1">
                <a:latin typeface="Lucida Console" panose="020B0609040504020204" pitchFamily="49" charset="0"/>
              </a:rPr>
              <a:t>ptr</a:t>
            </a:r>
            <a:r>
              <a:rPr lang="en-US" sz="900" dirty="0">
                <a:latin typeface="Lucida Console" panose="020B0609040504020204" pitchFamily="49" charset="0"/>
              </a:rPr>
              <a:t>-&gt;right);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delete </a:t>
            </a:r>
            <a:r>
              <a:rPr lang="en-US" sz="900" dirty="0" err="1">
                <a:latin typeface="Lucida Console" panose="020B0609040504020204" pitchFamily="49" charset="0"/>
              </a:rPr>
              <a:t>ptr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void </a:t>
            </a:r>
            <a:r>
              <a:rPr lang="en-US" sz="900" dirty="0" err="1">
                <a:latin typeface="Lucida Console" panose="020B0609040504020204" pitchFamily="49" charset="0"/>
              </a:rPr>
              <a:t>CleanUp</a:t>
            </a:r>
            <a:r>
              <a:rPr lang="en-US" sz="9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Free(</a:t>
            </a:r>
            <a:r>
              <a:rPr lang="en-US" sz="900" dirty="0" err="1">
                <a:latin typeface="Lucida Console" panose="020B0609040504020204" pitchFamily="49" charset="0"/>
              </a:rPr>
              <a:t>rootNode</a:t>
            </a:r>
            <a:r>
              <a:rPr lang="en-US" sz="9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latin typeface="Lucida Console" panose="020B0609040504020204" pitchFamily="49" charset="0"/>
              </a:rPr>
              <a:t>rootNode</a:t>
            </a:r>
            <a:r>
              <a:rPr lang="en-US" sz="900" dirty="0"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private: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void Add(Node *</a:t>
            </a:r>
            <a:r>
              <a:rPr lang="en-US" sz="900" dirty="0" err="1">
                <a:latin typeface="Lucida Console" panose="020B0609040504020204" pitchFamily="49" charset="0"/>
              </a:rPr>
              <a:t>newNode</a:t>
            </a:r>
            <a:r>
              <a:rPr lang="en-US" sz="9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Node *Add(</a:t>
            </a:r>
            <a:r>
              <a:rPr lang="en-US" sz="900" dirty="0" err="1">
                <a:latin typeface="Lucida Console" panose="020B0609040504020204" pitchFamily="49" charset="0"/>
              </a:rPr>
              <a:t>KeyClass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key,const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ValueClass</a:t>
            </a:r>
            <a:r>
              <a:rPr lang="en-US" sz="900" dirty="0">
                <a:latin typeface="Lucida Console" panose="020B0609040504020204" pitchFamily="49" charset="0"/>
              </a:rPr>
              <a:t> &amp;value);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272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Better protected version (</a:t>
            </a:r>
            <a:r>
              <a:rPr lang="en-US" dirty="0" err="1"/>
              <a:t>Cotninued</a:t>
            </a:r>
            <a:r>
              <a:rPr lang="en-US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746" y="1082488"/>
            <a:ext cx="444425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Lucida Console" panose="020B0609040504020204" pitchFamily="49" charset="0"/>
              </a:rPr>
              <a:t>//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KeyClass,class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ValueClass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void </a:t>
            </a:r>
            <a:r>
              <a:rPr lang="en-US" sz="900" dirty="0" err="1">
                <a:latin typeface="Lucida Console" panose="020B0609040504020204" pitchFamily="49" charset="0"/>
              </a:rPr>
              <a:t>BinaryTree</a:t>
            </a:r>
            <a:r>
              <a:rPr lang="en-US" sz="900" dirty="0">
                <a:latin typeface="Lucida Console" panose="020B0609040504020204" pitchFamily="49" charset="0"/>
              </a:rPr>
              <a:t> &lt;</a:t>
            </a:r>
            <a:r>
              <a:rPr lang="en-US" sz="900" dirty="0" err="1">
                <a:latin typeface="Lucida Console" panose="020B0609040504020204" pitchFamily="49" charset="0"/>
              </a:rPr>
              <a:t>KeyClass,ValueClass</a:t>
            </a:r>
            <a:r>
              <a:rPr lang="en-US" sz="900" dirty="0">
                <a:latin typeface="Lucida Console" panose="020B0609040504020204" pitchFamily="49" charset="0"/>
              </a:rPr>
              <a:t>&gt;::Add(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typename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BinaryTree</a:t>
            </a:r>
            <a:r>
              <a:rPr lang="en-US" sz="900" dirty="0">
                <a:latin typeface="Lucida Console" panose="020B0609040504020204" pitchFamily="49" charset="0"/>
              </a:rPr>
              <a:t> &lt;</a:t>
            </a:r>
            <a:r>
              <a:rPr lang="en-US" sz="900" dirty="0" err="1">
                <a:latin typeface="Lucida Console" panose="020B0609040504020204" pitchFamily="49" charset="0"/>
              </a:rPr>
              <a:t>KeyClass,ValueClass</a:t>
            </a:r>
            <a:r>
              <a:rPr lang="en-US" sz="900" dirty="0">
                <a:latin typeface="Lucida Console" panose="020B0609040504020204" pitchFamily="49" charset="0"/>
              </a:rPr>
              <a:t>&gt;::Node *</a:t>
            </a:r>
            <a:r>
              <a:rPr lang="en-US" sz="900" dirty="0" err="1">
                <a:latin typeface="Lucida Console" panose="020B0609040504020204" pitchFamily="49" charset="0"/>
              </a:rPr>
              <a:t>newNode</a:t>
            </a:r>
            <a:r>
              <a:rPr lang="en-US" sz="9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if(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==</a:t>
            </a:r>
            <a:r>
              <a:rPr lang="en-US" sz="900" dirty="0" err="1">
                <a:latin typeface="Lucida Console" panose="020B0609040504020204" pitchFamily="49" charset="0"/>
              </a:rPr>
              <a:t>rootNode</a:t>
            </a:r>
            <a:r>
              <a:rPr lang="en-US" sz="9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latin typeface="Lucida Console" panose="020B0609040504020204" pitchFamily="49" charset="0"/>
              </a:rPr>
              <a:t>rootNode</a:t>
            </a:r>
            <a:r>
              <a:rPr lang="en-US" sz="900" dirty="0"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latin typeface="Lucida Console" panose="020B0609040504020204" pitchFamily="49" charset="0"/>
              </a:rPr>
              <a:t>newNode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else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auto *seeker=</a:t>
            </a:r>
            <a:r>
              <a:rPr lang="en-US" sz="900" dirty="0" err="1">
                <a:latin typeface="Lucida Console" panose="020B0609040504020204" pitchFamily="49" charset="0"/>
              </a:rPr>
              <a:t>rootNode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for(;;)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if(</a:t>
            </a:r>
            <a:r>
              <a:rPr lang="en-US" sz="900" dirty="0" err="1">
                <a:latin typeface="Lucida Console" panose="020B0609040504020204" pitchFamily="49" charset="0"/>
              </a:rPr>
              <a:t>newNode</a:t>
            </a:r>
            <a:r>
              <a:rPr lang="en-US" sz="900" dirty="0">
                <a:latin typeface="Lucida Console" panose="020B0609040504020204" pitchFamily="49" charset="0"/>
              </a:rPr>
              <a:t>-&gt;key&lt;seeker-&gt;key)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if(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==seeker-&gt;left)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    seeker-&gt;left=</a:t>
            </a:r>
            <a:r>
              <a:rPr lang="en-US" sz="900" dirty="0" err="1">
                <a:latin typeface="Lucida Console" panose="020B0609040504020204" pitchFamily="49" charset="0"/>
              </a:rPr>
              <a:t>newNode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    break;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seeker=seeker-&gt;left;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else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if(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==seeker-&gt;right)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    seeker-&gt;right=</a:t>
            </a:r>
            <a:r>
              <a:rPr lang="en-US" sz="900" dirty="0" err="1">
                <a:latin typeface="Lucida Console" panose="020B0609040504020204" pitchFamily="49" charset="0"/>
              </a:rPr>
              <a:t>newNode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    break;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seeker=seeker-&gt;right;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latin typeface="Lucida Console" panose="020B0609040504020204" pitchFamily="49" charset="0"/>
              </a:rPr>
              <a:t>newNode</a:t>
            </a:r>
            <a:r>
              <a:rPr lang="en-US" sz="900" dirty="0">
                <a:latin typeface="Lucida Console" panose="020B0609040504020204" pitchFamily="49" charset="0"/>
              </a:rPr>
              <a:t>-&gt;parent=seeker;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999" y="1075764"/>
            <a:ext cx="4572001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KeyClass,class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ValueClass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typename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BinaryTree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KeyClass,ValueClass</a:t>
            </a:r>
            <a:r>
              <a:rPr lang="en-US" sz="900" dirty="0">
                <a:latin typeface="Lucida Console" panose="020B0609040504020204" pitchFamily="49" charset="0"/>
              </a:rPr>
              <a:t>&gt;::Node *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latin typeface="Lucida Console" panose="020B0609040504020204" pitchFamily="49" charset="0"/>
              </a:rPr>
              <a:t>BinaryTree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KeyClass,ValueClass</a:t>
            </a:r>
            <a:r>
              <a:rPr lang="en-US" sz="900" dirty="0">
                <a:latin typeface="Lucida Console" panose="020B0609040504020204" pitchFamily="49" charset="0"/>
              </a:rPr>
              <a:t>&gt;::Add(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        </a:t>
            </a:r>
            <a:r>
              <a:rPr lang="en-US" sz="900" dirty="0" err="1">
                <a:latin typeface="Lucida Console" panose="020B0609040504020204" pitchFamily="49" charset="0"/>
              </a:rPr>
              <a:t>KeyClass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key,const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ValueClass</a:t>
            </a:r>
            <a:r>
              <a:rPr lang="en-US" sz="900" dirty="0">
                <a:latin typeface="Lucida Console" panose="020B0609040504020204" pitchFamily="49" charset="0"/>
              </a:rPr>
              <a:t> &amp;value)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latin typeface="Lucida Console" panose="020B0609040504020204" pitchFamily="49" charset="0"/>
              </a:rPr>
              <a:t>newNode</a:t>
            </a:r>
            <a:r>
              <a:rPr lang="en-US" sz="900" dirty="0">
                <a:latin typeface="Lucida Console" panose="020B0609040504020204" pitchFamily="49" charset="0"/>
              </a:rPr>
              <a:t>=new </a:t>
            </a:r>
            <a:r>
              <a:rPr lang="en-US" sz="900" dirty="0" err="1">
                <a:latin typeface="Lucida Console" panose="020B0609040504020204" pitchFamily="49" charset="0"/>
              </a:rPr>
              <a:t>BinaryTree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KeyClass,ValueClass</a:t>
            </a:r>
            <a:r>
              <a:rPr lang="en-US" sz="900" dirty="0">
                <a:latin typeface="Lucida Console" panose="020B0609040504020204" pitchFamily="49" charset="0"/>
              </a:rPr>
              <a:t>&gt;::Node;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newNode</a:t>
            </a:r>
            <a:r>
              <a:rPr lang="en-US" sz="900" dirty="0">
                <a:latin typeface="Lucida Console" panose="020B0609040504020204" pitchFamily="49" charset="0"/>
              </a:rPr>
              <a:t>-&gt;key=key;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newNode</a:t>
            </a:r>
            <a:r>
              <a:rPr lang="en-US" sz="900" dirty="0">
                <a:latin typeface="Lucida Console" panose="020B0609040504020204" pitchFamily="49" charset="0"/>
              </a:rPr>
              <a:t>-&gt;value=value;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Add(</a:t>
            </a:r>
            <a:r>
              <a:rPr lang="en-US" sz="900" dirty="0" err="1">
                <a:latin typeface="Lucida Console" panose="020B0609040504020204" pitchFamily="49" charset="0"/>
              </a:rPr>
              <a:t>newNode</a:t>
            </a:r>
            <a:r>
              <a:rPr lang="en-US" sz="9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return </a:t>
            </a:r>
            <a:r>
              <a:rPr lang="en-US" sz="900" dirty="0" err="1">
                <a:latin typeface="Lucida Console" panose="020B0609040504020204" pitchFamily="49" charset="0"/>
              </a:rPr>
              <a:t>newNode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// Test functions &gt;&gt;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void Traverse(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BinaryTree</a:t>
            </a:r>
            <a:r>
              <a:rPr lang="en-US" sz="900" dirty="0">
                <a:latin typeface="Lucida Console" panose="020B0609040504020204" pitchFamily="49" charset="0"/>
              </a:rPr>
              <a:t> &lt;</a:t>
            </a:r>
            <a:r>
              <a:rPr lang="en-US" sz="900" dirty="0" err="1">
                <a:latin typeface="Lucida Console" panose="020B0609040504020204" pitchFamily="49" charset="0"/>
              </a:rPr>
              <a:t>int,int</a:t>
            </a:r>
            <a:r>
              <a:rPr lang="en-US" sz="900" dirty="0">
                <a:latin typeface="Lucida Console" panose="020B0609040504020204" pitchFamily="49" charset="0"/>
              </a:rPr>
              <a:t>&gt;::Node *node)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if(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!=node)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Traverse(node-&gt;left);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latin typeface="Lucida Console" panose="020B0609040504020204" pitchFamily="49" charset="0"/>
              </a:rPr>
              <a:t>printf</a:t>
            </a:r>
            <a:r>
              <a:rPr lang="en-US" sz="900" dirty="0">
                <a:latin typeface="Lucida Console" panose="020B0609040504020204" pitchFamily="49" charset="0"/>
              </a:rPr>
              <a:t>(" %</a:t>
            </a:r>
            <a:r>
              <a:rPr lang="en-US" sz="900" dirty="0" err="1">
                <a:latin typeface="Lucida Console" panose="020B0609040504020204" pitchFamily="49" charset="0"/>
              </a:rPr>
              <a:t>d",node</a:t>
            </a:r>
            <a:r>
              <a:rPr lang="en-US" sz="900" dirty="0">
                <a:latin typeface="Lucida Console" panose="020B0609040504020204" pitchFamily="49" charset="0"/>
              </a:rPr>
              <a:t>-&gt;key);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Traverse(node-&gt;right);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err="1">
                <a:latin typeface="Lucida Console" panose="020B0609040504020204" pitchFamily="49" charset="0"/>
              </a:rPr>
              <a:t>int</a:t>
            </a:r>
            <a:r>
              <a:rPr lang="en-US" sz="900" dirty="0">
                <a:latin typeface="Lucida Console" panose="020B0609040504020204" pitchFamily="49" charset="0"/>
              </a:rPr>
              <a:t> main(void)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srand</a:t>
            </a:r>
            <a:r>
              <a:rPr lang="en-US" sz="900" dirty="0">
                <a:latin typeface="Lucida Console" panose="020B0609040504020204" pitchFamily="49" charset="0"/>
              </a:rPr>
              <a:t>((</a:t>
            </a:r>
            <a:r>
              <a:rPr lang="en-US" sz="900" dirty="0" err="1">
                <a:latin typeface="Lucida Console" panose="020B0609040504020204" pitchFamily="49" charset="0"/>
              </a:rPr>
              <a:t>int</a:t>
            </a:r>
            <a:r>
              <a:rPr lang="en-US" sz="900" dirty="0">
                <a:latin typeface="Lucida Console" panose="020B0609040504020204" pitchFamily="49" charset="0"/>
              </a:rPr>
              <a:t>)time(</a:t>
            </a:r>
            <a:r>
              <a:rPr lang="en-US" sz="900" dirty="0" err="1"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latin typeface="Lucida Console" panose="020B0609040504020204" pitchFamily="49" charset="0"/>
              </a:rPr>
              <a:t>));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</a:t>
            </a:r>
            <a:r>
              <a:rPr lang="en-US" sz="900" dirty="0" err="1">
                <a:latin typeface="Lucida Console" panose="020B0609040504020204" pitchFamily="49" charset="0"/>
              </a:rPr>
              <a:t>BinaryTree</a:t>
            </a:r>
            <a:r>
              <a:rPr lang="en-US" sz="900" dirty="0">
                <a:latin typeface="Lucida Console" panose="020B0609040504020204" pitchFamily="49" charset="0"/>
              </a:rPr>
              <a:t> &lt;</a:t>
            </a:r>
            <a:r>
              <a:rPr lang="en-US" sz="900" dirty="0" err="1">
                <a:latin typeface="Lucida Console" panose="020B0609040504020204" pitchFamily="49" charset="0"/>
              </a:rPr>
              <a:t>int,int</a:t>
            </a:r>
            <a:r>
              <a:rPr lang="en-US" sz="900" dirty="0">
                <a:latin typeface="Lucida Console" panose="020B0609040504020204" pitchFamily="49" charset="0"/>
              </a:rPr>
              <a:t>&gt; </a:t>
            </a:r>
            <a:r>
              <a:rPr lang="en-US" sz="900" dirty="0" err="1">
                <a:latin typeface="Lucida Console" panose="020B0609040504020204" pitchFamily="49" charset="0"/>
              </a:rPr>
              <a:t>bTree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for(</a:t>
            </a:r>
            <a:r>
              <a:rPr lang="en-US" sz="900" dirty="0" err="1">
                <a:latin typeface="Lucida Console" panose="020B0609040504020204" pitchFamily="49" charset="0"/>
              </a:rPr>
              <a:t>int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i</a:t>
            </a:r>
            <a:r>
              <a:rPr lang="en-US" sz="900" dirty="0">
                <a:latin typeface="Lucida Console" panose="020B0609040504020204" pitchFamily="49" charset="0"/>
              </a:rPr>
              <a:t>=0; </a:t>
            </a:r>
            <a:r>
              <a:rPr lang="en-US" sz="900" dirty="0" err="1">
                <a:latin typeface="Lucida Console" panose="020B0609040504020204" pitchFamily="49" charset="0"/>
              </a:rPr>
              <a:t>i</a:t>
            </a:r>
            <a:r>
              <a:rPr lang="en-US" sz="900" dirty="0">
                <a:latin typeface="Lucida Console" panose="020B0609040504020204" pitchFamily="49" charset="0"/>
              </a:rPr>
              <a:t>&lt;10; ++</a:t>
            </a:r>
            <a:r>
              <a:rPr lang="en-US" sz="900" dirty="0" err="1">
                <a:latin typeface="Lucida Console" panose="020B0609040504020204" pitchFamily="49" charset="0"/>
              </a:rPr>
              <a:t>i</a:t>
            </a:r>
            <a:r>
              <a:rPr lang="en-US" sz="9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latin typeface="Lucida Console" panose="020B0609040504020204" pitchFamily="49" charset="0"/>
              </a:rPr>
              <a:t>bTree.Add</a:t>
            </a:r>
            <a:r>
              <a:rPr lang="en-US" sz="900" dirty="0">
                <a:latin typeface="Lucida Console" panose="020B0609040504020204" pitchFamily="49" charset="0"/>
              </a:rPr>
              <a:t>(rand()%100,0);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Traverse(</a:t>
            </a:r>
            <a:r>
              <a:rPr lang="en-US" sz="900" dirty="0" err="1">
                <a:latin typeface="Lucida Console" panose="020B0609040504020204" pitchFamily="49" charset="0"/>
              </a:rPr>
              <a:t>bTree.GetRoot</a:t>
            </a:r>
            <a:r>
              <a:rPr lang="en-US" sz="900" dirty="0">
                <a:latin typeface="Lucida Console" panose="020B0609040504020204" pitchFamily="49" charset="0"/>
              </a:rPr>
              <a:t>());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    return 0;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// Test functions &lt;&lt;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endParaRPr lang="en-US" sz="900" dirty="0">
              <a:latin typeface="Lucida Console" panose="020B0609040504020204" pitchFamily="49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77371" y="1687606"/>
            <a:ext cx="571500" cy="67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852974" y="1690842"/>
            <a:ext cx="3136835" cy="4582211"/>
          </a:xfrm>
          <a:custGeom>
            <a:avLst/>
            <a:gdLst>
              <a:gd name="connsiteX0" fmla="*/ 2072106 w 2149864"/>
              <a:gd name="connsiteY0" fmla="*/ 443753 h 443753"/>
              <a:gd name="connsiteX1" fmla="*/ 1937636 w 2149864"/>
              <a:gd name="connsiteY1" fmla="*/ 188259 h 443753"/>
              <a:gd name="connsiteX2" fmla="*/ 263477 w 2149864"/>
              <a:gd name="connsiteY2" fmla="*/ 47065 h 443753"/>
              <a:gd name="connsiteX3" fmla="*/ 28153 w 2149864"/>
              <a:gd name="connsiteY3" fmla="*/ 0 h 443753"/>
              <a:gd name="connsiteX0" fmla="*/ 3114253 w 3120409"/>
              <a:gd name="connsiteY0" fmla="*/ 4751569 h 4751569"/>
              <a:gd name="connsiteX1" fmla="*/ 1937636 w 3120409"/>
              <a:gd name="connsiteY1" fmla="*/ 367828 h 4751569"/>
              <a:gd name="connsiteX2" fmla="*/ 263477 w 3120409"/>
              <a:gd name="connsiteY2" fmla="*/ 226634 h 4751569"/>
              <a:gd name="connsiteX3" fmla="*/ 28153 w 3120409"/>
              <a:gd name="connsiteY3" fmla="*/ 179569 h 4751569"/>
              <a:gd name="connsiteX0" fmla="*/ 3127355 w 3136835"/>
              <a:gd name="connsiteY0" fmla="*/ 4582211 h 4582211"/>
              <a:gd name="connsiteX1" fmla="*/ 2253297 w 3136835"/>
              <a:gd name="connsiteY1" fmla="*/ 595158 h 4582211"/>
              <a:gd name="connsiteX2" fmla="*/ 276579 w 3136835"/>
              <a:gd name="connsiteY2" fmla="*/ 57276 h 4582211"/>
              <a:gd name="connsiteX3" fmla="*/ 41255 w 3136835"/>
              <a:gd name="connsiteY3" fmla="*/ 10211 h 4582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36835" h="4582211">
                <a:moveTo>
                  <a:pt x="3127355" y="4582211"/>
                </a:moveTo>
                <a:cubicBezTo>
                  <a:pt x="3210839" y="4487521"/>
                  <a:pt x="2728426" y="1349314"/>
                  <a:pt x="2253297" y="595158"/>
                </a:cubicBezTo>
                <a:cubicBezTo>
                  <a:pt x="1778168" y="-158998"/>
                  <a:pt x="645253" y="154767"/>
                  <a:pt x="276579" y="57276"/>
                </a:cubicBezTo>
                <a:cubicBezTo>
                  <a:pt x="-92095" y="-40215"/>
                  <a:pt x="-207" y="18055"/>
                  <a:pt x="41255" y="10211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27746" y="6232988"/>
            <a:ext cx="844475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FF0000"/>
                </a:solidFill>
              </a:rPr>
              <a:t>Typename</a:t>
            </a:r>
            <a:r>
              <a:rPr lang="en-US" sz="1100" dirty="0">
                <a:solidFill>
                  <a:srgbClr val="FF0000"/>
                </a:solidFill>
              </a:rPr>
              <a:t> is a bit confusing.  Whenever the compiler identifies that the type can cause an ambiguity, the compiler requires to add a keyword “</a:t>
            </a:r>
            <a:r>
              <a:rPr lang="en-US" sz="1100" dirty="0" err="1">
                <a:solidFill>
                  <a:srgbClr val="FF0000"/>
                </a:solidFill>
              </a:rPr>
              <a:t>typename</a:t>
            </a:r>
            <a:r>
              <a:rPr lang="en-US" sz="1100" dirty="0">
                <a:solidFill>
                  <a:srgbClr val="FF0000"/>
                </a:solidFill>
              </a:rPr>
              <a:t>” in front of the data type.  Very conservative C++ specification (because compiler can tell </a:t>
            </a:r>
            <a:r>
              <a:rPr lang="en-US" sz="1100" dirty="0" err="1">
                <a:solidFill>
                  <a:srgbClr val="FF0000"/>
                </a:solidFill>
              </a:rPr>
              <a:t>typename</a:t>
            </a:r>
            <a:r>
              <a:rPr lang="en-US" sz="1100" dirty="0">
                <a:solidFill>
                  <a:srgbClr val="FF0000"/>
                </a:solidFill>
              </a:rPr>
              <a:t> is required or not.)  When you get an error “</a:t>
            </a:r>
            <a:r>
              <a:rPr lang="en-US" sz="1100" dirty="0" err="1">
                <a:solidFill>
                  <a:srgbClr val="FF0000"/>
                </a:solidFill>
              </a:rPr>
              <a:t>typename</a:t>
            </a:r>
            <a:r>
              <a:rPr lang="en-US" sz="1100" dirty="0">
                <a:solidFill>
                  <a:srgbClr val="FF0000"/>
                </a:solidFill>
              </a:rPr>
              <a:t> required”</a:t>
            </a:r>
          </a:p>
        </p:txBody>
      </p:sp>
    </p:spTree>
    <p:extLst>
      <p:ext uri="{BB962C8B-B14F-4D97-AF65-F5344CB8AC3E}">
        <p14:creationId xmlns:p14="http://schemas.microsoft.com/office/powerpoint/2010/main" val="38343704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065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it Even Better Protected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Want to hide the pointer from the code that uses the binary-tree class.  Use </a:t>
            </a:r>
            <a:r>
              <a:rPr lang="en-US" dirty="0" err="1"/>
              <a:t>NodeHandle</a:t>
            </a:r>
            <a:r>
              <a:rPr lang="en-US" dirty="0"/>
              <a:t> class.</a:t>
            </a:r>
          </a:p>
          <a:p>
            <a:r>
              <a:rPr lang="en-US" dirty="0"/>
              <a:t>Allocation / De-allocation must be of the </a:t>
            </a:r>
            <a:r>
              <a:rPr lang="en-US" dirty="0" err="1"/>
              <a:t>BinaryTree</a:t>
            </a:r>
            <a:r>
              <a:rPr lang="en-US" dirty="0"/>
              <a:t> class's responsibility.  No node-allocation outside of the class.</a:t>
            </a:r>
          </a:p>
          <a:p>
            <a:r>
              <a:rPr lang="en-US" dirty="0"/>
              <a:t>All access must be via the </a:t>
            </a:r>
            <a:r>
              <a:rPr lang="en-US" dirty="0" err="1"/>
              <a:t>BinaryTree</a:t>
            </a:r>
            <a:r>
              <a:rPr lang="en-US" dirty="0"/>
              <a:t> class.</a:t>
            </a:r>
          </a:p>
          <a:p>
            <a:r>
              <a:rPr lang="en-US" dirty="0"/>
              <a:t>Want to count how many nodes are in the tree.  (Updated on insertion, deletion, and cleaning-up.)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6385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7199" y="-4006"/>
            <a:ext cx="5374153" cy="6878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template &lt;class </a:t>
            </a:r>
            <a:r>
              <a:rPr lang="en-US" sz="1050" dirty="0" err="1">
                <a:latin typeface="Consolas" panose="020B0609020204030204" pitchFamily="49" charset="0"/>
              </a:rPr>
              <a:t>KeyClass,class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ValueClass</a:t>
            </a:r>
            <a:r>
              <a:rPr lang="en-US" sz="105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class </a:t>
            </a:r>
            <a:r>
              <a:rPr lang="en-US" sz="1050" dirty="0" err="1">
                <a:latin typeface="Consolas" panose="020B0609020204030204" pitchFamily="49" charset="0"/>
              </a:rPr>
              <a:t>BinaryTree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protected: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class Node;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class 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friend </a:t>
            </a:r>
            <a:r>
              <a:rPr lang="en-US" sz="1050" dirty="0" err="1">
                <a:latin typeface="Consolas" panose="020B0609020204030204" pitchFamily="49" charset="0"/>
              </a:rPr>
              <a:t>BinaryTree</a:t>
            </a:r>
            <a:r>
              <a:rPr lang="en-US" sz="1050" dirty="0">
                <a:latin typeface="Consolas" panose="020B0609020204030204" pitchFamily="49" charset="0"/>
              </a:rPr>
              <a:t> &lt;</a:t>
            </a:r>
            <a:r>
              <a:rPr lang="en-US" sz="1050" dirty="0" err="1">
                <a:latin typeface="Consolas" panose="020B0609020204030204" pitchFamily="49" charset="0"/>
              </a:rPr>
              <a:t>KeyClass,ValueClass</a:t>
            </a:r>
            <a:r>
              <a:rPr lang="en-US" sz="1050" dirty="0">
                <a:latin typeface="Consolas" panose="020B0609020204030204" pitchFamily="49" charset="0"/>
              </a:rPr>
              <a:t>&gt;;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private: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Node *</a:t>
            </a:r>
            <a:r>
              <a:rPr lang="en-US" sz="1050" dirty="0" err="1">
                <a:latin typeface="Consolas" panose="020B0609020204030204" pitchFamily="49" charset="0"/>
              </a:rPr>
              <a:t>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public: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inline void Nullify(void);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inline bool </a:t>
            </a:r>
            <a:r>
              <a:rPr lang="en-US" sz="1050" dirty="0" err="1">
                <a:latin typeface="Consolas" panose="020B0609020204030204" pitchFamily="49" charset="0"/>
              </a:rPr>
              <a:t>IsNull</a:t>
            </a:r>
            <a:r>
              <a:rPr lang="en-US" sz="1050" dirty="0">
                <a:latin typeface="Consolas" panose="020B0609020204030204" pitchFamily="49" charset="0"/>
              </a:rPr>
              <a:t>(void)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inline bool </a:t>
            </a:r>
            <a:r>
              <a:rPr lang="en-US" sz="1050" dirty="0" err="1">
                <a:latin typeface="Consolas" panose="020B0609020204030204" pitchFamily="49" charset="0"/>
              </a:rPr>
              <a:t>IsNotNull</a:t>
            </a:r>
            <a:r>
              <a:rPr lang="en-US" sz="1050" dirty="0">
                <a:latin typeface="Consolas" panose="020B0609020204030204" pitchFamily="49" charset="0"/>
              </a:rPr>
              <a:t>(void)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inline bool operator==(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hd</a:t>
            </a:r>
            <a:r>
              <a:rPr lang="en-US" sz="1050" dirty="0">
                <a:latin typeface="Consolas" panose="020B0609020204030204" pitchFamily="49" charset="0"/>
              </a:rPr>
              <a:t>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inline bool operator!=(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hd</a:t>
            </a:r>
            <a:r>
              <a:rPr lang="en-US" sz="1050" dirty="0">
                <a:latin typeface="Consolas" panose="020B0609020204030204" pitchFamily="49" charset="0"/>
              </a:rPr>
              <a:t>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inline bool operator==(</a:t>
            </a:r>
            <a:r>
              <a:rPr lang="en-US" sz="1050" dirty="0" err="1">
                <a:latin typeface="Consolas" panose="020B0609020204030204" pitchFamily="49" charset="0"/>
              </a:rPr>
              <a:t>std</a:t>
            </a:r>
            <a:r>
              <a:rPr lang="en-US" sz="1050" dirty="0">
                <a:latin typeface="Consolas" panose="020B0609020204030204" pitchFamily="49" charset="0"/>
              </a:rPr>
              <a:t>::</a:t>
            </a:r>
            <a:r>
              <a:rPr lang="en-US" sz="1050" dirty="0" err="1">
                <a:latin typeface="Consolas" panose="020B0609020204030204" pitchFamily="49" charset="0"/>
              </a:rPr>
              <a:t>nullptr_t</a:t>
            </a:r>
            <a:r>
              <a:rPr lang="en-US" sz="1050" dirty="0">
                <a:latin typeface="Consolas" panose="020B0609020204030204" pitchFamily="49" charset="0"/>
              </a:rPr>
              <a:t>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inline bool operator!=(</a:t>
            </a:r>
            <a:r>
              <a:rPr lang="en-US" sz="1050" dirty="0" err="1">
                <a:latin typeface="Consolas" panose="020B0609020204030204" pitchFamily="49" charset="0"/>
              </a:rPr>
              <a:t>std</a:t>
            </a:r>
            <a:r>
              <a:rPr lang="en-US" sz="1050" dirty="0">
                <a:latin typeface="Consolas" panose="020B0609020204030204" pitchFamily="49" charset="0"/>
              </a:rPr>
              <a:t>::</a:t>
            </a:r>
            <a:r>
              <a:rPr lang="en-US" sz="1050" dirty="0" err="1">
                <a:latin typeface="Consolas" panose="020B0609020204030204" pitchFamily="49" charset="0"/>
              </a:rPr>
              <a:t>nullptr_t</a:t>
            </a:r>
            <a:r>
              <a:rPr lang="en-US" sz="1050" dirty="0">
                <a:latin typeface="Consolas" panose="020B0609020204030204" pitchFamily="49" charset="0"/>
              </a:rPr>
              <a:t>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protected: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Node *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 Node *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static 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MakeHandle</a:t>
            </a:r>
            <a:r>
              <a:rPr lang="en-US" sz="1050" dirty="0">
                <a:latin typeface="Consolas" panose="020B0609020204030204" pitchFamily="49" charset="0"/>
              </a:rPr>
              <a:t>(Node *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private: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Node *root;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long </a:t>
            </a:r>
            <a:r>
              <a:rPr lang="en-US" sz="1050" dirty="0" err="1">
                <a:latin typeface="Consolas" panose="020B0609020204030204" pitchFamily="49" charset="0"/>
              </a:rPr>
              <a:t>long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int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nElem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BinaryTree</a:t>
            </a:r>
            <a:r>
              <a:rPr lang="en-US" sz="105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static 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Null(void);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RootNode</a:t>
            </a:r>
            <a:r>
              <a:rPr lang="en-US" sz="1050" dirty="0">
                <a:latin typeface="Consolas" panose="020B0609020204030204" pitchFamily="49" charset="0"/>
              </a:rPr>
              <a:t>(void)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Left(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Up(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Right(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long </a:t>
            </a:r>
            <a:r>
              <a:rPr lang="en-US" sz="1050" dirty="0" err="1">
                <a:latin typeface="Consolas" panose="020B0609020204030204" pitchFamily="49" charset="0"/>
              </a:rPr>
              <a:t>long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int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GetN</a:t>
            </a:r>
            <a:r>
              <a:rPr lang="en-US" sz="1050" dirty="0">
                <a:latin typeface="Consolas" panose="020B0609020204030204" pitchFamily="49" charset="0"/>
              </a:rPr>
              <a:t>(void)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KeyClass</a:t>
            </a:r>
            <a:r>
              <a:rPr lang="en-US" sz="1050" dirty="0">
                <a:latin typeface="Consolas" panose="020B0609020204030204" pitchFamily="49" charset="0"/>
              </a:rPr>
              <a:t> &amp;</a:t>
            </a:r>
            <a:r>
              <a:rPr lang="en-US" sz="1050" dirty="0" err="1">
                <a:latin typeface="Consolas" panose="020B0609020204030204" pitchFamily="49" charset="0"/>
              </a:rPr>
              <a:t>GetKey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ValueClass</a:t>
            </a:r>
            <a:r>
              <a:rPr lang="en-US" sz="1050" dirty="0">
                <a:latin typeface="Consolas" panose="020B0609020204030204" pitchFamily="49" charset="0"/>
              </a:rPr>
              <a:t> &amp;</a:t>
            </a:r>
            <a:r>
              <a:rPr lang="en-US" sz="1050" dirty="0" err="1">
                <a:latin typeface="Consolas" panose="020B0609020204030204" pitchFamily="49" charset="0"/>
              </a:rPr>
              <a:t>GetValue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ValueClass</a:t>
            </a:r>
            <a:r>
              <a:rPr lang="en-US" sz="1050" dirty="0">
                <a:latin typeface="Consolas" panose="020B0609020204030204" pitchFamily="49" charset="0"/>
              </a:rPr>
              <a:t> &amp;</a:t>
            </a:r>
            <a:r>
              <a:rPr lang="en-US" sz="1050" dirty="0" err="1">
                <a:latin typeface="Consolas" panose="020B0609020204030204" pitchFamily="49" charset="0"/>
              </a:rPr>
              <a:t>GetValue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FindNode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KeyClass</a:t>
            </a:r>
            <a:r>
              <a:rPr lang="en-US" sz="1050" dirty="0">
                <a:latin typeface="Consolas" panose="020B0609020204030204" pitchFamily="49" charset="0"/>
              </a:rPr>
              <a:t> &amp;key)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bool </a:t>
            </a:r>
            <a:r>
              <a:rPr lang="en-US" sz="1050" dirty="0" err="1">
                <a:latin typeface="Consolas" panose="020B0609020204030204" pitchFamily="49" charset="0"/>
              </a:rPr>
              <a:t>IsKeyIncluded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KeyClass</a:t>
            </a:r>
            <a:r>
              <a:rPr lang="en-US" sz="1050" dirty="0">
                <a:latin typeface="Consolas" panose="020B0609020204030204" pitchFamily="49" charset="0"/>
              </a:rPr>
              <a:t> &amp;key)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Insert(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KeyClass</a:t>
            </a:r>
            <a:r>
              <a:rPr lang="en-US" sz="1050" dirty="0">
                <a:latin typeface="Consolas" panose="020B0609020204030204" pitchFamily="49" charset="0"/>
              </a:rPr>
              <a:t> &amp;</a:t>
            </a:r>
            <a:r>
              <a:rPr lang="en-US" sz="1050" dirty="0" err="1">
                <a:latin typeface="Consolas" panose="020B0609020204030204" pitchFamily="49" charset="0"/>
              </a:rPr>
              <a:t>key,const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ValueClass</a:t>
            </a:r>
            <a:r>
              <a:rPr lang="en-US" sz="1050" dirty="0">
                <a:latin typeface="Consolas" panose="020B0609020204030204" pitchFamily="49" charset="0"/>
              </a:rPr>
              <a:t> &amp;value);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Right Brace 5"/>
          <p:cNvSpPr/>
          <p:nvPr/>
        </p:nvSpPr>
        <p:spPr>
          <a:xfrm>
            <a:off x="4376057" y="1069179"/>
            <a:ext cx="244929" cy="199208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620986" y="1581003"/>
            <a:ext cx="4210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want a handle to be similar to a pointer, but don't want to expose a pointer.</a:t>
            </a:r>
          </a:p>
        </p:txBody>
      </p:sp>
      <p:sp>
        <p:nvSpPr>
          <p:cNvPr id="8" name="Right Brace 7"/>
          <p:cNvSpPr/>
          <p:nvPr/>
        </p:nvSpPr>
        <p:spPr>
          <a:xfrm>
            <a:off x="5037413" y="3495659"/>
            <a:ext cx="117260" cy="394831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179775" y="3495659"/>
            <a:ext cx="373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Allow this class and sub-classes a direct access to nodes.</a:t>
            </a:r>
          </a:p>
        </p:txBody>
      </p:sp>
      <p:sp>
        <p:nvSpPr>
          <p:cNvPr id="10" name="Right Brace 9"/>
          <p:cNvSpPr/>
          <p:nvPr/>
        </p:nvSpPr>
        <p:spPr>
          <a:xfrm>
            <a:off x="3778060" y="4692462"/>
            <a:ext cx="169739" cy="66800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035406" y="4785545"/>
            <a:ext cx="2698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Functions for navigating.</a:t>
            </a:r>
          </a:p>
        </p:txBody>
      </p:sp>
      <p:sp>
        <p:nvSpPr>
          <p:cNvPr id="12" name="Right Brace 11"/>
          <p:cNvSpPr/>
          <p:nvPr/>
        </p:nvSpPr>
        <p:spPr>
          <a:xfrm>
            <a:off x="4572000" y="5442599"/>
            <a:ext cx="147837" cy="76108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791018" y="5634239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Access functions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5459884" y="6521303"/>
            <a:ext cx="371468" cy="54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31352" y="6336593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3742" y="152400"/>
            <a:ext cx="2313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Skeleton of the class</a:t>
            </a:r>
          </a:p>
        </p:txBody>
      </p:sp>
    </p:spTree>
    <p:extLst>
      <p:ext uri="{BB962C8B-B14F-4D97-AF65-F5344CB8AC3E}">
        <p14:creationId xmlns:p14="http://schemas.microsoft.com/office/powerpoint/2010/main" val="15246804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Node, </a:t>
            </a:r>
            <a:r>
              <a:rPr lang="en-US" dirty="0" err="1"/>
              <a:t>NodeHandle</a:t>
            </a:r>
            <a:r>
              <a:rPr lang="en-US" dirty="0"/>
              <a:t>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04033" y="914400"/>
            <a:ext cx="4387740" cy="1869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    class Node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public: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KeyClass</a:t>
            </a:r>
            <a:r>
              <a:rPr lang="en-US" sz="1050" dirty="0">
                <a:latin typeface="Consolas" panose="020B0609020204030204" pitchFamily="49" charset="0"/>
              </a:rPr>
              <a:t> key;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ValueClass</a:t>
            </a:r>
            <a:r>
              <a:rPr lang="en-US" sz="1050" dirty="0">
                <a:latin typeface="Consolas" panose="020B0609020204030204" pitchFamily="49" charset="0"/>
              </a:rPr>
              <a:t> value;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Node *left,*right,*up;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Node() : left(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),right(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),up(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};</a:t>
            </a:r>
          </a:p>
          <a:p>
            <a:endParaRPr lang="en-US" sz="1050" dirty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63933" y="914400"/>
            <a:ext cx="4019049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    class 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friend </a:t>
            </a:r>
            <a:r>
              <a:rPr lang="en-US" sz="1050" dirty="0" err="1">
                <a:latin typeface="Consolas" panose="020B0609020204030204" pitchFamily="49" charset="0"/>
              </a:rPr>
              <a:t>BinaryTree</a:t>
            </a:r>
            <a:r>
              <a:rPr lang="en-US" sz="1050" dirty="0">
                <a:latin typeface="Consolas" panose="020B0609020204030204" pitchFamily="49" charset="0"/>
              </a:rPr>
              <a:t> &lt;</a:t>
            </a:r>
            <a:r>
              <a:rPr lang="en-US" sz="1050" dirty="0" err="1">
                <a:latin typeface="Consolas" panose="020B0609020204030204" pitchFamily="49" charset="0"/>
              </a:rPr>
              <a:t>KeyClass,ValueClass</a:t>
            </a:r>
            <a:r>
              <a:rPr lang="en-US" sz="1050" dirty="0">
                <a:latin typeface="Consolas" panose="020B0609020204030204" pitchFamily="49" charset="0"/>
              </a:rPr>
              <a:t>&gt;;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private: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Node *</a:t>
            </a:r>
            <a:r>
              <a:rPr lang="en-US" sz="1050" dirty="0" err="1">
                <a:latin typeface="Consolas" panose="020B0609020204030204" pitchFamily="49" charset="0"/>
              </a:rPr>
              <a:t>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public: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inline void Nullify(void)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</a:t>
            </a:r>
            <a:r>
              <a:rPr lang="en-US" sz="1050" dirty="0" err="1">
                <a:latin typeface="Consolas" panose="020B0609020204030204" pitchFamily="49" charset="0"/>
              </a:rPr>
              <a:t>ptr</a:t>
            </a:r>
            <a:r>
              <a:rPr lang="en-US" sz="1050" dirty="0">
                <a:latin typeface="Consolas" panose="020B0609020204030204" pitchFamily="49" charset="0"/>
              </a:rPr>
              <a:t>=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inline bool </a:t>
            </a:r>
            <a:r>
              <a:rPr lang="en-US" sz="1050" dirty="0" err="1">
                <a:latin typeface="Consolas" panose="020B0609020204030204" pitchFamily="49" charset="0"/>
              </a:rPr>
              <a:t>IsNull</a:t>
            </a:r>
            <a:r>
              <a:rPr lang="en-US" sz="1050" dirty="0">
                <a:latin typeface="Consolas" panose="020B0609020204030204" pitchFamily="49" charset="0"/>
              </a:rPr>
              <a:t>(void)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return </a:t>
            </a:r>
            <a:r>
              <a:rPr lang="en-US" sz="1050" dirty="0" err="1">
                <a:latin typeface="Consolas" panose="020B0609020204030204" pitchFamily="49" charset="0"/>
              </a:rPr>
              <a:t>ptr</a:t>
            </a:r>
            <a:r>
              <a:rPr lang="en-US" sz="1050" dirty="0">
                <a:latin typeface="Consolas" panose="020B0609020204030204" pitchFamily="49" charset="0"/>
              </a:rPr>
              <a:t>==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inline bool </a:t>
            </a:r>
            <a:r>
              <a:rPr lang="en-US" sz="1050" dirty="0" err="1">
                <a:latin typeface="Consolas" panose="020B0609020204030204" pitchFamily="49" charset="0"/>
              </a:rPr>
              <a:t>IsNotNull</a:t>
            </a:r>
            <a:r>
              <a:rPr lang="en-US" sz="1050" dirty="0">
                <a:latin typeface="Consolas" panose="020B0609020204030204" pitchFamily="49" charset="0"/>
              </a:rPr>
              <a:t>(void)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return </a:t>
            </a:r>
            <a:r>
              <a:rPr lang="en-US" sz="1050" dirty="0" err="1">
                <a:latin typeface="Consolas" panose="020B0609020204030204" pitchFamily="49" charset="0"/>
              </a:rPr>
              <a:t>ptr</a:t>
            </a:r>
            <a:r>
              <a:rPr lang="en-US" sz="1050" dirty="0">
                <a:latin typeface="Consolas" panose="020B0609020204030204" pitchFamily="49" charset="0"/>
              </a:rPr>
              <a:t>!=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inline bool operator==(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hd</a:t>
            </a:r>
            <a:r>
              <a:rPr lang="en-US" sz="1050" dirty="0">
                <a:latin typeface="Consolas" panose="020B0609020204030204" pitchFamily="49" charset="0"/>
              </a:rPr>
              <a:t>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return this-&gt;</a:t>
            </a:r>
            <a:r>
              <a:rPr lang="en-US" sz="1050" dirty="0" err="1">
                <a:latin typeface="Consolas" panose="020B0609020204030204" pitchFamily="49" charset="0"/>
              </a:rPr>
              <a:t>ptr</a:t>
            </a:r>
            <a:r>
              <a:rPr lang="en-US" sz="1050" dirty="0">
                <a:latin typeface="Consolas" panose="020B0609020204030204" pitchFamily="49" charset="0"/>
              </a:rPr>
              <a:t>==</a:t>
            </a:r>
            <a:r>
              <a:rPr lang="en-US" sz="1050" dirty="0" err="1">
                <a:latin typeface="Consolas" panose="020B0609020204030204" pitchFamily="49" charset="0"/>
              </a:rPr>
              <a:t>hd.ptr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inline bool operator!=(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hd</a:t>
            </a:r>
            <a:r>
              <a:rPr lang="en-US" sz="1050" dirty="0">
                <a:latin typeface="Consolas" panose="020B0609020204030204" pitchFamily="49" charset="0"/>
              </a:rPr>
              <a:t>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return this-&gt;</a:t>
            </a:r>
            <a:r>
              <a:rPr lang="en-US" sz="1050" dirty="0" err="1">
                <a:latin typeface="Consolas" panose="020B0609020204030204" pitchFamily="49" charset="0"/>
              </a:rPr>
              <a:t>ptr</a:t>
            </a:r>
            <a:r>
              <a:rPr lang="en-US" sz="1050" dirty="0">
                <a:latin typeface="Consolas" panose="020B0609020204030204" pitchFamily="49" charset="0"/>
              </a:rPr>
              <a:t>!=</a:t>
            </a:r>
            <a:r>
              <a:rPr lang="en-US" sz="1050" dirty="0" err="1">
                <a:latin typeface="Consolas" panose="020B0609020204030204" pitchFamily="49" charset="0"/>
              </a:rPr>
              <a:t>hd.ptr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inline bool operator==(</a:t>
            </a:r>
            <a:r>
              <a:rPr lang="en-US" sz="1050" dirty="0" err="1">
                <a:latin typeface="Consolas" panose="020B0609020204030204" pitchFamily="49" charset="0"/>
              </a:rPr>
              <a:t>std</a:t>
            </a:r>
            <a:r>
              <a:rPr lang="en-US" sz="1050" dirty="0">
                <a:latin typeface="Consolas" panose="020B0609020204030204" pitchFamily="49" charset="0"/>
              </a:rPr>
              <a:t>::</a:t>
            </a:r>
            <a:r>
              <a:rPr lang="en-US" sz="1050" dirty="0" err="1">
                <a:latin typeface="Consolas" panose="020B0609020204030204" pitchFamily="49" charset="0"/>
              </a:rPr>
              <a:t>nullptr_t</a:t>
            </a:r>
            <a:r>
              <a:rPr lang="en-US" sz="1050" dirty="0">
                <a:latin typeface="Consolas" panose="020B0609020204030204" pitchFamily="49" charset="0"/>
              </a:rPr>
              <a:t>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return </a:t>
            </a:r>
            <a:r>
              <a:rPr lang="en-US" sz="1050" dirty="0" err="1">
                <a:latin typeface="Consolas" panose="020B0609020204030204" pitchFamily="49" charset="0"/>
              </a:rPr>
              <a:t>ptr</a:t>
            </a:r>
            <a:r>
              <a:rPr lang="en-US" sz="1050" dirty="0">
                <a:latin typeface="Consolas" panose="020B0609020204030204" pitchFamily="49" charset="0"/>
              </a:rPr>
              <a:t>==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inline bool operator!=(</a:t>
            </a:r>
            <a:r>
              <a:rPr lang="en-US" sz="1050" dirty="0" err="1">
                <a:latin typeface="Consolas" panose="020B0609020204030204" pitchFamily="49" charset="0"/>
              </a:rPr>
              <a:t>std</a:t>
            </a:r>
            <a:r>
              <a:rPr lang="en-US" sz="1050" dirty="0">
                <a:latin typeface="Consolas" panose="020B0609020204030204" pitchFamily="49" charset="0"/>
              </a:rPr>
              <a:t>::</a:t>
            </a:r>
            <a:r>
              <a:rPr lang="en-US" sz="1050" dirty="0" err="1">
                <a:latin typeface="Consolas" panose="020B0609020204030204" pitchFamily="49" charset="0"/>
              </a:rPr>
              <a:t>nullptr_t</a:t>
            </a:r>
            <a:r>
              <a:rPr lang="en-US" sz="1050" dirty="0">
                <a:latin typeface="Consolas" panose="020B0609020204030204" pitchFamily="49" charset="0"/>
              </a:rPr>
              <a:t>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return </a:t>
            </a:r>
            <a:r>
              <a:rPr lang="en-US" sz="1050" dirty="0" err="1">
                <a:latin typeface="Consolas" panose="020B0609020204030204" pitchFamily="49" charset="0"/>
              </a:rPr>
              <a:t>ptr</a:t>
            </a:r>
            <a:r>
              <a:rPr lang="en-US" sz="1050" dirty="0">
                <a:latin typeface="Consolas" panose="020B0609020204030204" pitchFamily="49" charset="0"/>
              </a:rPr>
              <a:t>!=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};</a:t>
            </a:r>
          </a:p>
          <a:p>
            <a:endParaRPr lang="en-US" sz="105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7616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</a:t>
            </a:r>
            <a:r>
              <a:rPr lang="en-US" dirty="0" err="1"/>
              <a:t>GetNode</a:t>
            </a:r>
            <a:r>
              <a:rPr lang="en-US" dirty="0"/>
              <a:t>, </a:t>
            </a:r>
            <a:r>
              <a:rPr lang="en-US" dirty="0" err="1"/>
              <a:t>MakeHandle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017815"/>
            <a:ext cx="3650358" cy="38087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    Node *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if(</a:t>
            </a:r>
            <a:r>
              <a:rPr lang="en-US" sz="1050" dirty="0" err="1">
                <a:latin typeface="Consolas" panose="020B0609020204030204" pitchFamily="49" charset="0"/>
              </a:rPr>
              <a:t>ndHd.IsNotNull</a:t>
            </a:r>
            <a:r>
              <a:rPr lang="en-US" sz="105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return </a:t>
            </a:r>
            <a:r>
              <a:rPr lang="en-US" sz="1050" dirty="0" err="1">
                <a:latin typeface="Consolas" panose="020B0609020204030204" pitchFamily="49" charset="0"/>
              </a:rPr>
              <a:t>ndHd.ptr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return 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 Node *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if(</a:t>
            </a:r>
            <a:r>
              <a:rPr lang="en-US" sz="1050" dirty="0" err="1">
                <a:latin typeface="Consolas" panose="020B0609020204030204" pitchFamily="49" charset="0"/>
              </a:rPr>
              <a:t>ndHd.IsNotNull</a:t>
            </a:r>
            <a:r>
              <a:rPr lang="en-US" sz="105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return </a:t>
            </a:r>
            <a:r>
              <a:rPr lang="en-US" sz="1050" dirty="0" err="1">
                <a:latin typeface="Consolas" panose="020B0609020204030204" pitchFamily="49" charset="0"/>
              </a:rPr>
              <a:t>ndHd.ptr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return 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static 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MakeHandle</a:t>
            </a:r>
            <a:r>
              <a:rPr lang="en-US" sz="1050" dirty="0">
                <a:latin typeface="Consolas" panose="020B0609020204030204" pitchFamily="49" charset="0"/>
              </a:rPr>
              <a:t>(Node *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ndHd.ptr</a:t>
            </a:r>
            <a:r>
              <a:rPr lang="en-US" sz="1050" dirty="0">
                <a:latin typeface="Consolas" panose="020B0609020204030204" pitchFamily="49" charset="0"/>
              </a:rPr>
              <a:t>=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return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  <a:p>
            <a:endParaRPr lang="en-US" sz="105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9107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Constructor, Null, </a:t>
            </a:r>
            <a:r>
              <a:rPr lang="en-US" dirty="0" err="1"/>
              <a:t>RootNode</a:t>
            </a:r>
            <a:r>
              <a:rPr lang="en-US" dirty="0"/>
              <a:t>, Left, Up,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829" y="1148443"/>
            <a:ext cx="276550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BinaryTree</a:t>
            </a:r>
            <a:r>
              <a:rPr lang="en-US" sz="1050" dirty="0">
                <a:latin typeface="Consolas" panose="020B0609020204030204" pitchFamily="49" charset="0"/>
              </a:rPr>
              <a:t>()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root=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nElem</a:t>
            </a:r>
            <a:r>
              <a:rPr lang="en-US" sz="1050" dirty="0">
                <a:latin typeface="Consolas" panose="020B0609020204030204" pitchFamily="49" charset="0"/>
              </a:rPr>
              <a:t>=0;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static 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Null(void)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ndHd.ptr</a:t>
            </a:r>
            <a:r>
              <a:rPr lang="en-US" sz="1050" dirty="0">
                <a:latin typeface="Consolas" panose="020B0609020204030204" pitchFamily="49" charset="0"/>
              </a:rPr>
              <a:t>=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return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RootNode</a:t>
            </a:r>
            <a:r>
              <a:rPr lang="en-US" sz="1050" dirty="0">
                <a:latin typeface="Consolas" panose="020B0609020204030204" pitchFamily="49" charset="0"/>
              </a:rPr>
              <a:t>(void)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return </a:t>
            </a:r>
            <a:r>
              <a:rPr lang="en-US" sz="1050" dirty="0" err="1">
                <a:latin typeface="Consolas" panose="020B0609020204030204" pitchFamily="49" charset="0"/>
              </a:rPr>
              <a:t>MakeHandle</a:t>
            </a:r>
            <a:r>
              <a:rPr lang="en-US" sz="1050" dirty="0">
                <a:latin typeface="Consolas" panose="020B0609020204030204" pitchFamily="49" charset="0"/>
              </a:rPr>
              <a:t>(root);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  <a:p>
            <a:endParaRPr lang="en-US" sz="1050" dirty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54187" y="1148443"/>
            <a:ext cx="3576620" cy="4778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Left(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auto 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=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if(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!=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return </a:t>
            </a:r>
            <a:r>
              <a:rPr lang="en-US" sz="1050" dirty="0" err="1">
                <a:latin typeface="Consolas" panose="020B0609020204030204" pitchFamily="49" charset="0"/>
              </a:rPr>
              <a:t>MakeHandle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-&gt;left);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return Null();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Up(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auto 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=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if(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!=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return </a:t>
            </a:r>
            <a:r>
              <a:rPr lang="en-US" sz="1050" dirty="0" err="1">
                <a:latin typeface="Consolas" panose="020B0609020204030204" pitchFamily="49" charset="0"/>
              </a:rPr>
              <a:t>MakeHandle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-&gt;up);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return Null();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Right(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auto 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=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if(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!=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return </a:t>
            </a:r>
            <a:r>
              <a:rPr lang="en-US" sz="1050" dirty="0" err="1">
                <a:latin typeface="Consolas" panose="020B0609020204030204" pitchFamily="49" charset="0"/>
              </a:rPr>
              <a:t>MakeHandle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-&gt;right);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return Null();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  <a:p>
            <a:endParaRPr lang="en-US" sz="1050" dirty="0"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000" y="5676899"/>
            <a:ext cx="8567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point is to let the user-code navigate within the binary tree without directly exposing a pointer to the nodes. </a:t>
            </a:r>
          </a:p>
        </p:txBody>
      </p:sp>
    </p:spTree>
    <p:extLst>
      <p:ext uri="{BB962C8B-B14F-4D97-AF65-F5344CB8AC3E}">
        <p14:creationId xmlns:p14="http://schemas.microsoft.com/office/powerpoint/2010/main" val="8058165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00744" y="1404258"/>
            <a:ext cx="7558479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    long </a:t>
            </a:r>
            <a:r>
              <a:rPr lang="en-US" sz="1050" dirty="0" err="1">
                <a:latin typeface="Consolas" panose="020B0609020204030204" pitchFamily="49" charset="0"/>
              </a:rPr>
              <a:t>long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int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GetN</a:t>
            </a:r>
            <a:r>
              <a:rPr lang="en-US" sz="1050" dirty="0">
                <a:latin typeface="Consolas" panose="020B0609020204030204" pitchFamily="49" charset="0"/>
              </a:rPr>
              <a:t>(void)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return </a:t>
            </a:r>
            <a:r>
              <a:rPr lang="en-US" sz="1050" dirty="0" err="1">
                <a:latin typeface="Consolas" panose="020B0609020204030204" pitchFamily="49" charset="0"/>
              </a:rPr>
              <a:t>nElem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KeyClass</a:t>
            </a:r>
            <a:r>
              <a:rPr lang="en-US" sz="1050" dirty="0">
                <a:latin typeface="Consolas" panose="020B0609020204030204" pitchFamily="49" charset="0"/>
              </a:rPr>
              <a:t> &amp;</a:t>
            </a:r>
            <a:r>
              <a:rPr lang="en-US" sz="1050" dirty="0" err="1">
                <a:latin typeface="Consolas" panose="020B0609020204030204" pitchFamily="49" charset="0"/>
              </a:rPr>
              <a:t>GetKey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// This will crash if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==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.  Therefore,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 must be non-null to use this function.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return 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)-&gt;key;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ValueClass</a:t>
            </a:r>
            <a:r>
              <a:rPr lang="en-US" sz="1050" dirty="0">
                <a:latin typeface="Consolas" panose="020B0609020204030204" pitchFamily="49" charset="0"/>
              </a:rPr>
              <a:t> &amp;</a:t>
            </a:r>
            <a:r>
              <a:rPr lang="en-US" sz="1050" dirty="0" err="1">
                <a:latin typeface="Consolas" panose="020B0609020204030204" pitchFamily="49" charset="0"/>
              </a:rPr>
              <a:t>GetValue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// This will crash if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==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.  Therefore,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 must be non-null to use this function.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return 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)-&gt;value;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ValueClass</a:t>
            </a:r>
            <a:r>
              <a:rPr lang="en-US" sz="1050" dirty="0">
                <a:latin typeface="Consolas" panose="020B0609020204030204" pitchFamily="49" charset="0"/>
              </a:rPr>
              <a:t> &amp;</a:t>
            </a:r>
            <a:r>
              <a:rPr lang="en-US" sz="1050" dirty="0" err="1">
                <a:latin typeface="Consolas" panose="020B0609020204030204" pitchFamily="49" charset="0"/>
              </a:rPr>
              <a:t>GetValue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// This will crash if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==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.  Therefore,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 must be non-null to use this function.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return 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)-&gt;value;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035407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28601" y="1083129"/>
            <a:ext cx="3871573" cy="42934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   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FindNode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KeyClass</a:t>
            </a:r>
            <a:r>
              <a:rPr lang="en-US" sz="1050" dirty="0">
                <a:latin typeface="Consolas" panose="020B0609020204030204" pitchFamily="49" charset="0"/>
              </a:rPr>
              <a:t> &amp;key)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auto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=Root();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while(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!=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if(key==</a:t>
            </a:r>
            <a:r>
              <a:rPr lang="en-US" sz="1050" dirty="0" err="1">
                <a:latin typeface="Consolas" panose="020B0609020204030204" pitchFamily="49" charset="0"/>
              </a:rPr>
              <a:t>GetKey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return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if(key&lt;</a:t>
            </a:r>
            <a:r>
              <a:rPr lang="en-US" sz="1050" dirty="0" err="1">
                <a:latin typeface="Consolas" panose="020B0609020204030204" pitchFamily="49" charset="0"/>
              </a:rPr>
              <a:t>GetKey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=Left(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else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=Right(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return Null();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bool </a:t>
            </a:r>
            <a:r>
              <a:rPr lang="en-US" sz="1050" dirty="0" err="1">
                <a:latin typeface="Consolas" panose="020B0609020204030204" pitchFamily="49" charset="0"/>
              </a:rPr>
              <a:t>IsKeyIncluded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KeyClass</a:t>
            </a:r>
            <a:r>
              <a:rPr lang="en-US" sz="1050" dirty="0">
                <a:latin typeface="Consolas" panose="020B0609020204030204" pitchFamily="49" charset="0"/>
              </a:rPr>
              <a:t> &amp;key)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return </a:t>
            </a:r>
            <a:r>
              <a:rPr lang="en-US" sz="1050" dirty="0" err="1">
                <a:latin typeface="Consolas" panose="020B0609020204030204" pitchFamily="49" charset="0"/>
              </a:rPr>
              <a:t>FindNode</a:t>
            </a:r>
            <a:r>
              <a:rPr lang="en-US" sz="1050" dirty="0">
                <a:latin typeface="Consolas" panose="020B0609020204030204" pitchFamily="49" charset="0"/>
              </a:rPr>
              <a:t>(key).</a:t>
            </a:r>
            <a:r>
              <a:rPr lang="en-US" sz="1050" dirty="0" err="1">
                <a:latin typeface="Consolas" panose="020B0609020204030204" pitchFamily="49" charset="0"/>
              </a:rPr>
              <a:t>IsNotNull</a:t>
            </a:r>
            <a:r>
              <a:rPr lang="en-US" sz="105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  <a:p>
            <a:endParaRPr lang="en-US" sz="105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39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871358" y="985158"/>
            <a:ext cx="4092787" cy="60708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        else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while(</a:t>
            </a:r>
            <a:r>
              <a:rPr lang="en-US" sz="1050" dirty="0" err="1">
                <a:latin typeface="Consolas" panose="020B0609020204030204" pitchFamily="49" charset="0"/>
              </a:rPr>
              <a:t>ndHd.IsNotNull</a:t>
            </a:r>
            <a:r>
              <a:rPr lang="en-US" sz="105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if(key&lt;</a:t>
            </a:r>
            <a:r>
              <a:rPr lang="en-US" sz="1050" dirty="0" err="1">
                <a:latin typeface="Consolas" panose="020B0609020204030204" pitchFamily="49" charset="0"/>
              </a:rPr>
              <a:t>GetKey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if(Left(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)!=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=Left(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else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)-&gt;left=</a:t>
            </a:r>
            <a:r>
              <a:rPr lang="en-US" sz="1050" dirty="0" err="1">
                <a:latin typeface="Consolas" panose="020B0609020204030204" pitchFamily="49" charset="0"/>
              </a:rPr>
              <a:t>newNode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</a:t>
            </a:r>
            <a:r>
              <a:rPr lang="en-US" sz="1050" dirty="0" err="1">
                <a:latin typeface="Consolas" panose="020B0609020204030204" pitchFamily="49" charset="0"/>
              </a:rPr>
              <a:t>newNode</a:t>
            </a:r>
            <a:r>
              <a:rPr lang="en-US" sz="1050" dirty="0">
                <a:latin typeface="Consolas" panose="020B0609020204030204" pitchFamily="49" charset="0"/>
              </a:rPr>
              <a:t>-&gt;up=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break;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else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if(Right(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)!=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=Right(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else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)-&gt;right=</a:t>
            </a:r>
            <a:r>
              <a:rPr lang="en-US" sz="1050" dirty="0" err="1">
                <a:latin typeface="Consolas" panose="020B0609020204030204" pitchFamily="49" charset="0"/>
              </a:rPr>
              <a:t>newNode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</a:t>
            </a:r>
            <a:r>
              <a:rPr lang="en-US" sz="1050" dirty="0" err="1">
                <a:latin typeface="Consolas" panose="020B0609020204030204" pitchFamily="49" charset="0"/>
              </a:rPr>
              <a:t>newNode</a:t>
            </a:r>
            <a:r>
              <a:rPr lang="en-US" sz="1050" dirty="0">
                <a:latin typeface="Consolas" panose="020B0609020204030204" pitchFamily="49" charset="0"/>
              </a:rPr>
              <a:t>-&gt;up=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break;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nElem</a:t>
            </a:r>
            <a:r>
              <a:rPr lang="en-US" sz="1050" dirty="0">
                <a:latin typeface="Consolas" panose="020B0609020204030204" pitchFamily="49" charset="0"/>
              </a:rPr>
              <a:t>++;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return </a:t>
            </a:r>
            <a:r>
              <a:rPr lang="en-US" sz="1050" dirty="0" err="1">
                <a:latin typeface="Consolas" panose="020B0609020204030204" pitchFamily="49" charset="0"/>
              </a:rPr>
              <a:t>MakeHandle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newNode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};</a:t>
            </a:r>
          </a:p>
          <a:p>
            <a:endParaRPr lang="en-US" sz="1050" dirty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429" y="985158"/>
            <a:ext cx="505138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Insert(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KeyClass</a:t>
            </a:r>
            <a:r>
              <a:rPr lang="en-US" sz="1050" dirty="0">
                <a:latin typeface="Consolas" panose="020B0609020204030204" pitchFamily="49" charset="0"/>
              </a:rPr>
              <a:t> &amp;</a:t>
            </a:r>
            <a:r>
              <a:rPr lang="en-US" sz="1050" dirty="0" err="1">
                <a:latin typeface="Consolas" panose="020B0609020204030204" pitchFamily="49" charset="0"/>
              </a:rPr>
              <a:t>key,const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ValueClass</a:t>
            </a:r>
            <a:r>
              <a:rPr lang="en-US" sz="1050" dirty="0">
                <a:latin typeface="Consolas" panose="020B0609020204030204" pitchFamily="49" charset="0"/>
              </a:rPr>
              <a:t> &amp;value)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auto </a:t>
            </a:r>
            <a:r>
              <a:rPr lang="en-US" sz="1050" dirty="0" err="1">
                <a:latin typeface="Consolas" panose="020B0609020204030204" pitchFamily="49" charset="0"/>
              </a:rPr>
              <a:t>newNode</a:t>
            </a:r>
            <a:r>
              <a:rPr lang="en-US" sz="1050" dirty="0">
                <a:latin typeface="Consolas" panose="020B0609020204030204" pitchFamily="49" charset="0"/>
              </a:rPr>
              <a:t>=new Node;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newNode</a:t>
            </a:r>
            <a:r>
              <a:rPr lang="en-US" sz="1050" dirty="0">
                <a:latin typeface="Consolas" panose="020B0609020204030204" pitchFamily="49" charset="0"/>
              </a:rPr>
              <a:t>-&gt;key=key;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newNode</a:t>
            </a:r>
            <a:r>
              <a:rPr lang="en-US" sz="1050" dirty="0">
                <a:latin typeface="Consolas" panose="020B0609020204030204" pitchFamily="49" charset="0"/>
              </a:rPr>
              <a:t>-&gt;value=value;</a:t>
            </a:r>
          </a:p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    auto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=</a:t>
            </a:r>
            <a:r>
              <a:rPr lang="en-US" sz="1050" dirty="0" err="1">
                <a:latin typeface="Consolas" panose="020B0609020204030204" pitchFamily="49" charset="0"/>
              </a:rPr>
              <a:t>RootNode</a:t>
            </a:r>
            <a:r>
              <a:rPr lang="en-US" sz="105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if(</a:t>
            </a:r>
            <a:r>
              <a:rPr lang="en-US" sz="1050" dirty="0" err="1">
                <a:latin typeface="Consolas" panose="020B0609020204030204" pitchFamily="49" charset="0"/>
              </a:rPr>
              <a:t>ndHd.IsNull</a:t>
            </a:r>
            <a:r>
              <a:rPr lang="en-US" sz="105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root=</a:t>
            </a:r>
            <a:r>
              <a:rPr lang="en-US" sz="1050" dirty="0" err="1">
                <a:latin typeface="Consolas" panose="020B0609020204030204" pitchFamily="49" charset="0"/>
              </a:rPr>
              <a:t>newNode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endParaRPr lang="en-US" sz="105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3750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it free of memory leak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Add: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    ~</a:t>
            </a:r>
            <a:r>
              <a:rPr lang="en-US" dirty="0" err="1">
                <a:latin typeface="Consolas" panose="020B0609020204030204" pitchFamily="49" charset="0"/>
              </a:rPr>
              <a:t>BinaryTree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void </a:t>
            </a:r>
            <a:r>
              <a:rPr lang="en-US" dirty="0" err="1">
                <a:latin typeface="Consolas" panose="020B0609020204030204" pitchFamily="49" charset="0"/>
              </a:rPr>
              <a:t>CleanUp</a:t>
            </a:r>
            <a:r>
              <a:rPr lang="en-US" dirty="0">
                <a:latin typeface="Consolas" panose="020B0609020204030204" pitchFamily="49" charset="0"/>
              </a:rPr>
              <a:t>(void);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911350" y="2679700"/>
            <a:ext cx="3031599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void </a:t>
            </a:r>
            <a:r>
              <a:rPr lang="en-US" sz="1100" dirty="0" err="1">
                <a:latin typeface="Consolas" panose="020B0609020204030204" pitchFamily="49" charset="0"/>
              </a:rPr>
              <a:t>CleanUp</a:t>
            </a:r>
            <a:r>
              <a:rPr lang="en-US" sz="1100" dirty="0">
                <a:latin typeface="Consolas" panose="020B0609020204030204" pitchFamily="49" charset="0"/>
              </a:rPr>
              <a:t>(void)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CleanUp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GetNode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RootNode</a:t>
            </a:r>
            <a:r>
              <a:rPr lang="en-US" sz="1100" dirty="0">
                <a:latin typeface="Consolas" panose="020B0609020204030204" pitchFamily="49" charset="0"/>
              </a:rPr>
              <a:t>()));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private: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void </a:t>
            </a:r>
            <a:r>
              <a:rPr lang="en-US" sz="1100" dirty="0" err="1">
                <a:latin typeface="Consolas" panose="020B0609020204030204" pitchFamily="49" charset="0"/>
              </a:rPr>
              <a:t>CleanUp</a:t>
            </a:r>
            <a:r>
              <a:rPr lang="en-US" sz="1100" dirty="0">
                <a:latin typeface="Consolas" panose="020B0609020204030204" pitchFamily="49" charset="0"/>
              </a:rPr>
              <a:t>(Node *</a:t>
            </a:r>
            <a:r>
              <a:rPr lang="en-US" sz="1100" dirty="0" err="1">
                <a:latin typeface="Consolas" panose="020B0609020204030204" pitchFamily="49" charset="0"/>
              </a:rPr>
              <a:t>nodePtr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if(</a:t>
            </a:r>
            <a:r>
              <a:rPr lang="en-US" sz="1100" dirty="0" err="1">
                <a:latin typeface="Consolas" panose="020B0609020204030204" pitchFamily="49" charset="0"/>
              </a:rPr>
              <a:t>nullptr</a:t>
            </a:r>
            <a:r>
              <a:rPr lang="en-US" sz="1100" dirty="0">
                <a:latin typeface="Consolas" panose="020B0609020204030204" pitchFamily="49" charset="0"/>
              </a:rPr>
              <a:t>!=</a:t>
            </a:r>
            <a:r>
              <a:rPr lang="en-US" sz="1100" dirty="0" err="1">
                <a:latin typeface="Consolas" panose="020B0609020204030204" pitchFamily="49" charset="0"/>
              </a:rPr>
              <a:t>nodePtr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</a:rPr>
              <a:t>CleanUp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nodePtr</a:t>
            </a:r>
            <a:r>
              <a:rPr lang="en-US" sz="1100" dirty="0">
                <a:latin typeface="Consolas" panose="020B0609020204030204" pitchFamily="49" charset="0"/>
              </a:rPr>
              <a:t>-&gt;left);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</a:rPr>
              <a:t>CleanUp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nodePtr</a:t>
            </a:r>
            <a:r>
              <a:rPr lang="en-US" sz="1100" dirty="0">
                <a:latin typeface="Consolas" panose="020B0609020204030204" pitchFamily="49" charset="0"/>
              </a:rPr>
              <a:t>-&gt;right);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delete </a:t>
            </a:r>
            <a:r>
              <a:rPr lang="en-US" sz="1100" dirty="0" err="1">
                <a:latin typeface="Consolas" panose="020B0609020204030204" pitchFamily="49" charset="0"/>
              </a:rPr>
              <a:t>nodePtr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747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First, Last, </a:t>
            </a:r>
            <a:r>
              <a:rPr lang="en-US" dirty="0" err="1"/>
              <a:t>FindNext</a:t>
            </a:r>
            <a:r>
              <a:rPr lang="en-US" dirty="0"/>
              <a:t>, and </a:t>
            </a:r>
            <a:r>
              <a:rPr lang="en-US" dirty="0" err="1"/>
              <a:t>FindPrev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the user-program navigate without using recursion.</a:t>
            </a:r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dirty="0" err="1"/>
              <a:t>NodeHandle</a:t>
            </a:r>
            <a:r>
              <a:rPr lang="en-US" dirty="0"/>
              <a:t> First(void) </a:t>
            </a:r>
            <a:r>
              <a:rPr lang="en-US" dirty="0" err="1"/>
              <a:t>const</a:t>
            </a:r>
            <a:r>
              <a:rPr lang="en-US" dirty="0"/>
              <a:t>;</a:t>
            </a:r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dirty="0" err="1"/>
              <a:t>NodeHandle</a:t>
            </a:r>
            <a:r>
              <a:rPr lang="en-US" dirty="0"/>
              <a:t> </a:t>
            </a:r>
            <a:r>
              <a:rPr lang="en-US" dirty="0" err="1"/>
              <a:t>FindNext</a:t>
            </a:r>
            <a:r>
              <a:rPr lang="en-US" dirty="0"/>
              <a:t>(</a:t>
            </a:r>
            <a:r>
              <a:rPr lang="en-US" dirty="0" err="1"/>
              <a:t>NodeHandle</a:t>
            </a:r>
            <a:r>
              <a:rPr lang="en-US" dirty="0"/>
              <a:t> </a:t>
            </a:r>
            <a:r>
              <a:rPr lang="en-US" dirty="0" err="1"/>
              <a:t>ndHd</a:t>
            </a:r>
            <a:r>
              <a:rPr lang="en-US" dirty="0"/>
              <a:t>) </a:t>
            </a:r>
            <a:r>
              <a:rPr lang="en-US" dirty="0" err="1"/>
              <a:t>const</a:t>
            </a:r>
            <a:r>
              <a:rPr lang="en-US" dirty="0"/>
              <a:t>;</a:t>
            </a:r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dirty="0" err="1"/>
              <a:t>NodeHandle</a:t>
            </a:r>
            <a:r>
              <a:rPr lang="en-US" dirty="0"/>
              <a:t> Last(void) </a:t>
            </a:r>
            <a:r>
              <a:rPr lang="en-US" dirty="0" err="1"/>
              <a:t>const</a:t>
            </a:r>
            <a:r>
              <a:rPr lang="en-US" dirty="0"/>
              <a:t>;</a:t>
            </a:r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dirty="0" err="1"/>
              <a:t>NodeHandle</a:t>
            </a:r>
            <a:r>
              <a:rPr lang="en-US" dirty="0"/>
              <a:t> </a:t>
            </a:r>
            <a:r>
              <a:rPr lang="en-US" dirty="0" err="1"/>
              <a:t>FindPrev</a:t>
            </a:r>
            <a:r>
              <a:rPr lang="en-US" dirty="0"/>
              <a:t>(</a:t>
            </a:r>
            <a:r>
              <a:rPr lang="en-US" dirty="0" err="1"/>
              <a:t>NodeHandle</a:t>
            </a:r>
            <a:r>
              <a:rPr lang="en-US" dirty="0"/>
              <a:t> </a:t>
            </a:r>
            <a:r>
              <a:rPr lang="en-US" dirty="0" err="1"/>
              <a:t>ndHd</a:t>
            </a:r>
            <a:r>
              <a:rPr lang="en-US" dirty="0"/>
              <a:t>) </a:t>
            </a:r>
            <a:r>
              <a:rPr lang="en-US" dirty="0" err="1"/>
              <a:t>const</a:t>
            </a:r>
            <a:r>
              <a:rPr lang="en-US" dirty="0"/>
              <a:t>;</a:t>
            </a:r>
          </a:p>
          <a:p>
            <a:pPr lvl="1"/>
            <a:endParaRPr lang="en-US" dirty="0"/>
          </a:p>
          <a:p>
            <a:r>
              <a:rPr lang="en-US" dirty="0"/>
              <a:t>Last and </a:t>
            </a:r>
            <a:r>
              <a:rPr lang="en-US" dirty="0" err="1"/>
              <a:t>FindPrev</a:t>
            </a:r>
            <a:r>
              <a:rPr lang="en-US" dirty="0"/>
              <a:t> are symmetric.  Let you do in the assignment.</a:t>
            </a:r>
          </a:p>
        </p:txBody>
      </p:sp>
    </p:spTree>
    <p:extLst>
      <p:ext uri="{BB962C8B-B14F-4D97-AF65-F5344CB8AC3E}">
        <p14:creationId xmlns:p14="http://schemas.microsoft.com/office/powerpoint/2010/main" val="30955516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9100" y="181709"/>
            <a:ext cx="5198859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First(void)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auto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=</a:t>
            </a:r>
            <a:r>
              <a:rPr lang="en-US" sz="1050" dirty="0" err="1">
                <a:latin typeface="Consolas" panose="020B0609020204030204" pitchFamily="49" charset="0"/>
              </a:rPr>
              <a:t>RootNode</a:t>
            </a:r>
            <a:r>
              <a:rPr lang="en-US" sz="105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while(Left(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).</a:t>
            </a:r>
            <a:r>
              <a:rPr lang="en-US" sz="1050" dirty="0" err="1">
                <a:latin typeface="Consolas" panose="020B0609020204030204" pitchFamily="49" charset="0"/>
              </a:rPr>
              <a:t>IsNotNull</a:t>
            </a:r>
            <a:r>
              <a:rPr lang="en-US" sz="105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=Left(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return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FindNext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auto </a:t>
            </a:r>
            <a:r>
              <a:rPr lang="en-US" sz="1050" dirty="0" err="1">
                <a:latin typeface="Consolas" panose="020B0609020204030204" pitchFamily="49" charset="0"/>
              </a:rPr>
              <a:t>rightHd</a:t>
            </a:r>
            <a:r>
              <a:rPr lang="en-US" sz="1050" dirty="0">
                <a:latin typeface="Consolas" panose="020B0609020204030204" pitchFamily="49" charset="0"/>
              </a:rPr>
              <a:t>=Right(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if(</a:t>
            </a:r>
            <a:r>
              <a:rPr lang="en-US" sz="1050" dirty="0" err="1">
                <a:latin typeface="Consolas" panose="020B0609020204030204" pitchFamily="49" charset="0"/>
              </a:rPr>
              <a:t>rightHd.IsNotNull</a:t>
            </a:r>
            <a:r>
              <a:rPr lang="en-US" sz="105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// Has a right sub-tree.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// The next node is the left-most of the right sub-tree.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=Right(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while(Left(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).</a:t>
            </a:r>
            <a:r>
              <a:rPr lang="en-US" sz="1050" dirty="0" err="1">
                <a:latin typeface="Consolas" panose="020B0609020204030204" pitchFamily="49" charset="0"/>
              </a:rPr>
              <a:t>IsNotNull</a:t>
            </a:r>
            <a:r>
              <a:rPr lang="en-US" sz="105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=Left(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return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else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// Does not have a right sub-tree.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// Go up until it goes up from the left.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while(</a:t>
            </a:r>
            <a:r>
              <a:rPr lang="en-US" sz="1050" dirty="0" err="1">
                <a:latin typeface="Consolas" panose="020B0609020204030204" pitchFamily="49" charset="0"/>
              </a:rPr>
              <a:t>ndHd.IsNotNull</a:t>
            </a:r>
            <a:r>
              <a:rPr lang="en-US" sz="105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auto </a:t>
            </a:r>
            <a:r>
              <a:rPr lang="en-US" sz="1050" dirty="0" err="1">
                <a:latin typeface="Consolas" panose="020B0609020204030204" pitchFamily="49" charset="0"/>
              </a:rPr>
              <a:t>upHd</a:t>
            </a:r>
            <a:r>
              <a:rPr lang="en-US" sz="1050" dirty="0">
                <a:latin typeface="Consolas" panose="020B0609020204030204" pitchFamily="49" charset="0"/>
              </a:rPr>
              <a:t>=Up(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if(</a:t>
            </a:r>
            <a:r>
              <a:rPr lang="en-US" sz="1050" dirty="0" err="1">
                <a:latin typeface="Consolas" panose="020B0609020204030204" pitchFamily="49" charset="0"/>
              </a:rPr>
              <a:t>upHd.IsNotNull</a:t>
            </a:r>
            <a:r>
              <a:rPr lang="en-US" sz="1050" dirty="0">
                <a:latin typeface="Consolas" panose="020B0609020204030204" pitchFamily="49" charset="0"/>
              </a:rPr>
              <a:t>() &amp;&amp;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==Left(</a:t>
            </a:r>
            <a:r>
              <a:rPr lang="en-US" sz="1050" dirty="0" err="1">
                <a:latin typeface="Consolas" panose="020B0609020204030204" pitchFamily="49" charset="0"/>
              </a:rPr>
              <a:t>upHd</a:t>
            </a:r>
            <a:r>
              <a:rPr lang="en-US" sz="1050" dirty="0">
                <a:latin typeface="Consolas" panose="020B0609020204030204" pitchFamily="49" charset="0"/>
              </a:rPr>
              <a:t>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return </a:t>
            </a:r>
            <a:r>
              <a:rPr lang="en-US" sz="1050" dirty="0" err="1">
                <a:latin typeface="Consolas" panose="020B0609020204030204" pitchFamily="49" charset="0"/>
              </a:rPr>
              <a:t>upHd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=</a:t>
            </a:r>
            <a:r>
              <a:rPr lang="en-US" sz="1050" dirty="0" err="1">
                <a:latin typeface="Consolas" panose="020B0609020204030204" pitchFamily="49" charset="0"/>
              </a:rPr>
              <a:t>upHd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return Null();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  <a:p>
            <a:endParaRPr lang="en-US" sz="105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2950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binary-tree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Problem: Want to delete one node from the binary tree </a:t>
            </a:r>
            <a:r>
              <a:rPr lang="en-US" u="sng" dirty="0"/>
              <a:t>without breaking the order in the tree.</a:t>
            </a:r>
          </a:p>
        </p:txBody>
      </p:sp>
      <p:sp>
        <p:nvSpPr>
          <p:cNvPr id="4" name="Oval 3"/>
          <p:cNvSpPr/>
          <p:nvPr/>
        </p:nvSpPr>
        <p:spPr>
          <a:xfrm>
            <a:off x="4260707" y="2228847"/>
            <a:ext cx="622586" cy="62258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377737" y="3451259"/>
            <a:ext cx="476434" cy="449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772986" y="3451259"/>
            <a:ext cx="445620" cy="4456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iamond 6"/>
          <p:cNvSpPr/>
          <p:nvPr/>
        </p:nvSpPr>
        <p:spPr>
          <a:xfrm>
            <a:off x="5676929" y="4575361"/>
            <a:ext cx="632012" cy="632012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gular Pentagon 7"/>
          <p:cNvSpPr/>
          <p:nvPr/>
        </p:nvSpPr>
        <p:spPr>
          <a:xfrm>
            <a:off x="7229138" y="4588807"/>
            <a:ext cx="508300" cy="484096"/>
          </a:xfrm>
          <a:prstGeom prst="pent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>
            <a:stCxn id="4" idx="3"/>
            <a:endCxn id="6" idx="0"/>
          </p:cNvCxnSpPr>
          <p:nvPr/>
        </p:nvCxnSpPr>
        <p:spPr>
          <a:xfrm flipH="1">
            <a:off x="3995796" y="2760257"/>
            <a:ext cx="356087" cy="69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4" idx="5"/>
            <a:endCxn id="5" idx="0"/>
          </p:cNvCxnSpPr>
          <p:nvPr/>
        </p:nvCxnSpPr>
        <p:spPr>
          <a:xfrm>
            <a:off x="4792117" y="2760257"/>
            <a:ext cx="1823837" cy="69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5" idx="2"/>
            <a:endCxn id="7" idx="0"/>
          </p:cNvCxnSpPr>
          <p:nvPr/>
        </p:nvCxnSpPr>
        <p:spPr>
          <a:xfrm flipH="1">
            <a:off x="5992935" y="3900423"/>
            <a:ext cx="623019" cy="6749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endCxn id="8" idx="0"/>
          </p:cNvCxnSpPr>
          <p:nvPr/>
        </p:nvCxnSpPr>
        <p:spPr>
          <a:xfrm>
            <a:off x="6615954" y="3900423"/>
            <a:ext cx="867334" cy="6883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Hexagon 12"/>
          <p:cNvSpPr/>
          <p:nvPr/>
        </p:nvSpPr>
        <p:spPr>
          <a:xfrm>
            <a:off x="5171220" y="5617509"/>
            <a:ext cx="547810" cy="443753"/>
          </a:xfrm>
          <a:prstGeom prst="hex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 Diagonal Corner Rectangle 13"/>
          <p:cNvSpPr/>
          <p:nvPr/>
        </p:nvSpPr>
        <p:spPr>
          <a:xfrm>
            <a:off x="6248430" y="5617509"/>
            <a:ext cx="535611" cy="376518"/>
          </a:xfrm>
          <a:prstGeom prst="round2Diag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>
            <a:stCxn id="7" idx="2"/>
            <a:endCxn id="13" idx="5"/>
          </p:cNvCxnSpPr>
          <p:nvPr/>
        </p:nvCxnSpPr>
        <p:spPr>
          <a:xfrm flipH="1">
            <a:off x="5608092" y="5207373"/>
            <a:ext cx="384843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endCxn id="14" idx="3"/>
          </p:cNvCxnSpPr>
          <p:nvPr/>
        </p:nvCxnSpPr>
        <p:spPr>
          <a:xfrm>
            <a:off x="5992935" y="5207373"/>
            <a:ext cx="523301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9616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binary-tree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Sloppy method.  (1) Connecting the right sub-tree to the right-most node of the left-sub-tree, and then (2) put left sub-tree in position for the node to be deleted.</a:t>
            </a:r>
          </a:p>
        </p:txBody>
      </p:sp>
      <p:sp>
        <p:nvSpPr>
          <p:cNvPr id="4" name="Oval 3"/>
          <p:cNvSpPr/>
          <p:nvPr/>
        </p:nvSpPr>
        <p:spPr>
          <a:xfrm>
            <a:off x="783976" y="2336423"/>
            <a:ext cx="622586" cy="62258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901006" y="3558835"/>
            <a:ext cx="476434" cy="449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96255" y="3558835"/>
            <a:ext cx="445620" cy="4456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iamond 6"/>
          <p:cNvSpPr/>
          <p:nvPr/>
        </p:nvSpPr>
        <p:spPr>
          <a:xfrm>
            <a:off x="2200198" y="4682937"/>
            <a:ext cx="632012" cy="632012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gular Pentagon 7"/>
          <p:cNvSpPr/>
          <p:nvPr/>
        </p:nvSpPr>
        <p:spPr>
          <a:xfrm>
            <a:off x="3752407" y="4696383"/>
            <a:ext cx="508300" cy="484096"/>
          </a:xfrm>
          <a:prstGeom prst="pent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>
            <a:stCxn id="4" idx="3"/>
            <a:endCxn id="6" idx="0"/>
          </p:cNvCxnSpPr>
          <p:nvPr/>
        </p:nvCxnSpPr>
        <p:spPr>
          <a:xfrm flipH="1">
            <a:off x="519065" y="2867833"/>
            <a:ext cx="356087" cy="69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4" idx="5"/>
            <a:endCxn id="5" idx="0"/>
          </p:cNvCxnSpPr>
          <p:nvPr/>
        </p:nvCxnSpPr>
        <p:spPr>
          <a:xfrm>
            <a:off x="1315386" y="2867833"/>
            <a:ext cx="1823837" cy="69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5" idx="2"/>
            <a:endCxn id="7" idx="0"/>
          </p:cNvCxnSpPr>
          <p:nvPr/>
        </p:nvCxnSpPr>
        <p:spPr>
          <a:xfrm flipH="1">
            <a:off x="2516204" y="4007999"/>
            <a:ext cx="623019" cy="6749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Hexagon 12"/>
          <p:cNvSpPr/>
          <p:nvPr/>
        </p:nvSpPr>
        <p:spPr>
          <a:xfrm>
            <a:off x="1694489" y="5725085"/>
            <a:ext cx="547810" cy="443753"/>
          </a:xfrm>
          <a:prstGeom prst="hex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 Diagonal Corner Rectangle 13"/>
          <p:cNvSpPr/>
          <p:nvPr/>
        </p:nvSpPr>
        <p:spPr>
          <a:xfrm>
            <a:off x="2771699" y="5725085"/>
            <a:ext cx="535611" cy="376518"/>
          </a:xfrm>
          <a:prstGeom prst="round2Diag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>
            <a:stCxn id="7" idx="2"/>
            <a:endCxn id="13" idx="5"/>
          </p:cNvCxnSpPr>
          <p:nvPr/>
        </p:nvCxnSpPr>
        <p:spPr>
          <a:xfrm flipH="1">
            <a:off x="2131361" y="5314949"/>
            <a:ext cx="384843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endCxn id="14" idx="3"/>
          </p:cNvCxnSpPr>
          <p:nvPr/>
        </p:nvCxnSpPr>
        <p:spPr>
          <a:xfrm>
            <a:off x="2516204" y="5314949"/>
            <a:ext cx="523301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gular Pentagon 18"/>
          <p:cNvSpPr/>
          <p:nvPr/>
        </p:nvSpPr>
        <p:spPr>
          <a:xfrm>
            <a:off x="3318740" y="6301065"/>
            <a:ext cx="508300" cy="484096"/>
          </a:xfrm>
          <a:prstGeom prst="pent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>
            <a:stCxn id="14" idx="1"/>
            <a:endCxn id="19" idx="0"/>
          </p:cNvCxnSpPr>
          <p:nvPr/>
        </p:nvCxnSpPr>
        <p:spPr>
          <a:xfrm>
            <a:off x="3039505" y="6101603"/>
            <a:ext cx="533385" cy="1994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3738282" y="5197288"/>
            <a:ext cx="331447" cy="1190065"/>
          </a:xfrm>
          <a:custGeom>
            <a:avLst/>
            <a:gdLst>
              <a:gd name="connsiteX0" fmla="*/ 282389 w 331447"/>
              <a:gd name="connsiteY0" fmla="*/ 0 h 1190065"/>
              <a:gd name="connsiteX1" fmla="*/ 309283 w 331447"/>
              <a:gd name="connsiteY1" fmla="*/ 463924 h 1190065"/>
              <a:gd name="connsiteX2" fmla="*/ 0 w 331447"/>
              <a:gd name="connsiteY2" fmla="*/ 1190065 h 11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1447" h="1190065">
                <a:moveTo>
                  <a:pt x="282389" y="0"/>
                </a:moveTo>
                <a:cubicBezTo>
                  <a:pt x="319368" y="132790"/>
                  <a:pt x="356348" y="265580"/>
                  <a:pt x="309283" y="463924"/>
                </a:cubicBezTo>
                <a:cubicBezTo>
                  <a:pt x="262218" y="662268"/>
                  <a:pt x="131109" y="926166"/>
                  <a:pt x="0" y="1190065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>
            <a:off x="4632512" y="4403911"/>
            <a:ext cx="598394" cy="59503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175312" y="5725085"/>
            <a:ext cx="618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3735" y="4034579"/>
            <a:ext cx="618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(2)</a:t>
            </a:r>
          </a:p>
        </p:txBody>
      </p:sp>
      <p:sp>
        <p:nvSpPr>
          <p:cNvPr id="26" name="Freeform 25"/>
          <p:cNvSpPr/>
          <p:nvPr/>
        </p:nvSpPr>
        <p:spPr>
          <a:xfrm>
            <a:off x="2312355" y="3839135"/>
            <a:ext cx="545145" cy="968189"/>
          </a:xfrm>
          <a:custGeom>
            <a:avLst/>
            <a:gdLst>
              <a:gd name="connsiteX0" fmla="*/ 34157 w 545145"/>
              <a:gd name="connsiteY0" fmla="*/ 968189 h 968189"/>
              <a:gd name="connsiteX1" fmla="*/ 54327 w 545145"/>
              <a:gd name="connsiteY1" fmla="*/ 463924 h 968189"/>
              <a:gd name="connsiteX2" fmla="*/ 545145 w 545145"/>
              <a:gd name="connsiteY2" fmla="*/ 0 h 968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145" h="968189">
                <a:moveTo>
                  <a:pt x="34157" y="968189"/>
                </a:moveTo>
                <a:cubicBezTo>
                  <a:pt x="1659" y="796739"/>
                  <a:pt x="-30838" y="625289"/>
                  <a:pt x="54327" y="463924"/>
                </a:cubicBezTo>
                <a:cubicBezTo>
                  <a:pt x="139492" y="302559"/>
                  <a:pt x="342318" y="151279"/>
                  <a:pt x="545145" y="0"/>
                </a:cubicBezTo>
              </a:path>
            </a:pathLst>
          </a:custGeom>
          <a:noFill/>
          <a:ln>
            <a:solidFill>
              <a:srgbClr val="FF33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5891278" y="2854535"/>
            <a:ext cx="622586" cy="62258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5403557" y="4076947"/>
            <a:ext cx="445620" cy="4456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Diamond 29"/>
          <p:cNvSpPr/>
          <p:nvPr/>
        </p:nvSpPr>
        <p:spPr>
          <a:xfrm>
            <a:off x="7082364" y="4066614"/>
            <a:ext cx="632012" cy="632012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>
            <a:stCxn id="27" idx="3"/>
            <a:endCxn id="29" idx="0"/>
          </p:cNvCxnSpPr>
          <p:nvPr/>
        </p:nvCxnSpPr>
        <p:spPr>
          <a:xfrm flipH="1">
            <a:off x="5626367" y="3385945"/>
            <a:ext cx="356087" cy="69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7" idx="5"/>
            <a:endCxn id="30" idx="0"/>
          </p:cNvCxnSpPr>
          <p:nvPr/>
        </p:nvCxnSpPr>
        <p:spPr>
          <a:xfrm>
            <a:off x="6422688" y="3385945"/>
            <a:ext cx="975682" cy="6806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Hexagon 33"/>
          <p:cNvSpPr/>
          <p:nvPr/>
        </p:nvSpPr>
        <p:spPr>
          <a:xfrm>
            <a:off x="6576655" y="5108762"/>
            <a:ext cx="547810" cy="443753"/>
          </a:xfrm>
          <a:prstGeom prst="hex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 Diagonal Corner Rectangle 34"/>
          <p:cNvSpPr/>
          <p:nvPr/>
        </p:nvSpPr>
        <p:spPr>
          <a:xfrm>
            <a:off x="7653865" y="5108762"/>
            <a:ext cx="535611" cy="376518"/>
          </a:xfrm>
          <a:prstGeom prst="round2Diag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/>
          <p:cNvCxnSpPr>
            <a:stCxn id="30" idx="2"/>
            <a:endCxn id="34" idx="5"/>
          </p:cNvCxnSpPr>
          <p:nvPr/>
        </p:nvCxnSpPr>
        <p:spPr>
          <a:xfrm flipH="1">
            <a:off x="7013527" y="4698626"/>
            <a:ext cx="384843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endCxn id="35" idx="3"/>
          </p:cNvCxnSpPr>
          <p:nvPr/>
        </p:nvCxnSpPr>
        <p:spPr>
          <a:xfrm>
            <a:off x="7398370" y="4698626"/>
            <a:ext cx="523301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gular Pentagon 37"/>
          <p:cNvSpPr/>
          <p:nvPr/>
        </p:nvSpPr>
        <p:spPr>
          <a:xfrm>
            <a:off x="8200906" y="5684742"/>
            <a:ext cx="508300" cy="484096"/>
          </a:xfrm>
          <a:prstGeom prst="pent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>
            <a:stCxn id="35" idx="1"/>
            <a:endCxn id="38" idx="0"/>
          </p:cNvCxnSpPr>
          <p:nvPr/>
        </p:nvCxnSpPr>
        <p:spPr>
          <a:xfrm>
            <a:off x="7921671" y="5485280"/>
            <a:ext cx="533385" cy="1994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68999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of the sloppy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height of the tree may increase after deletion.</a:t>
            </a:r>
          </a:p>
          <a:p>
            <a:r>
              <a:rPr lang="en-US" dirty="0"/>
              <a:t>We are deleting a node.  Want to keep the tree height same or even shorter.</a:t>
            </a:r>
          </a:p>
        </p:txBody>
      </p:sp>
    </p:spTree>
    <p:extLst>
      <p:ext uri="{BB962C8B-B14F-4D97-AF65-F5344CB8AC3E}">
        <p14:creationId xmlns:p14="http://schemas.microsoft.com/office/powerpoint/2010/main" val="16771569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binary-tree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Good method.</a:t>
            </a:r>
          </a:p>
          <a:p>
            <a:r>
              <a:rPr lang="en-US" dirty="0"/>
              <a:t>Want to delete a square in the binary-tree below.</a:t>
            </a:r>
          </a:p>
          <a:p>
            <a:r>
              <a:rPr lang="en-US" dirty="0"/>
              <a:t>Easiest case: The node to be deleted has null left or right.</a:t>
            </a:r>
          </a:p>
          <a:p>
            <a:r>
              <a:rPr lang="en-US" dirty="0"/>
              <a:t>General case.</a:t>
            </a:r>
          </a:p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5719030" y="2877668"/>
            <a:ext cx="622586" cy="62258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377737" y="4100080"/>
            <a:ext cx="476434" cy="449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231309" y="4100080"/>
            <a:ext cx="445620" cy="4456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iamond 6"/>
          <p:cNvSpPr/>
          <p:nvPr/>
        </p:nvSpPr>
        <p:spPr>
          <a:xfrm>
            <a:off x="5676929" y="5224182"/>
            <a:ext cx="632012" cy="632012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gular Pentagon 7"/>
          <p:cNvSpPr/>
          <p:nvPr/>
        </p:nvSpPr>
        <p:spPr>
          <a:xfrm>
            <a:off x="7229138" y="5237628"/>
            <a:ext cx="508300" cy="484096"/>
          </a:xfrm>
          <a:prstGeom prst="pent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>
            <a:stCxn id="4" idx="3"/>
            <a:endCxn id="6" idx="0"/>
          </p:cNvCxnSpPr>
          <p:nvPr/>
        </p:nvCxnSpPr>
        <p:spPr>
          <a:xfrm flipH="1">
            <a:off x="5454119" y="3409078"/>
            <a:ext cx="356087" cy="69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5"/>
            <a:endCxn id="5" idx="0"/>
          </p:cNvCxnSpPr>
          <p:nvPr/>
        </p:nvCxnSpPr>
        <p:spPr>
          <a:xfrm>
            <a:off x="6250440" y="3409078"/>
            <a:ext cx="365514" cy="69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5" idx="2"/>
            <a:endCxn id="7" idx="0"/>
          </p:cNvCxnSpPr>
          <p:nvPr/>
        </p:nvCxnSpPr>
        <p:spPr>
          <a:xfrm flipH="1">
            <a:off x="5992935" y="4549244"/>
            <a:ext cx="623019" cy="6749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8" idx="0"/>
          </p:cNvCxnSpPr>
          <p:nvPr/>
        </p:nvCxnSpPr>
        <p:spPr>
          <a:xfrm>
            <a:off x="6615954" y="4549244"/>
            <a:ext cx="867334" cy="6883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Hexagon 18"/>
          <p:cNvSpPr/>
          <p:nvPr/>
        </p:nvSpPr>
        <p:spPr>
          <a:xfrm>
            <a:off x="5171220" y="6266330"/>
            <a:ext cx="547810" cy="443753"/>
          </a:xfrm>
          <a:prstGeom prst="hex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 Diagonal Corner Rectangle 19"/>
          <p:cNvSpPr/>
          <p:nvPr/>
        </p:nvSpPr>
        <p:spPr>
          <a:xfrm>
            <a:off x="6248430" y="6266330"/>
            <a:ext cx="535611" cy="376518"/>
          </a:xfrm>
          <a:prstGeom prst="round2Diag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>
            <a:stCxn id="7" idx="2"/>
            <a:endCxn id="19" idx="5"/>
          </p:cNvCxnSpPr>
          <p:nvPr/>
        </p:nvCxnSpPr>
        <p:spPr>
          <a:xfrm flipH="1">
            <a:off x="5608092" y="5856194"/>
            <a:ext cx="384843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endCxn id="20" idx="3"/>
          </p:cNvCxnSpPr>
          <p:nvPr/>
        </p:nvCxnSpPr>
        <p:spPr>
          <a:xfrm>
            <a:off x="5992935" y="5856194"/>
            <a:ext cx="523301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928130" y="3955330"/>
            <a:ext cx="2061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Delete this!</a:t>
            </a:r>
          </a:p>
        </p:txBody>
      </p:sp>
    </p:spTree>
    <p:extLst>
      <p:ext uri="{BB962C8B-B14F-4D97-AF65-F5344CB8AC3E}">
        <p14:creationId xmlns:p14="http://schemas.microsoft.com/office/powerpoint/2010/main" val="20260870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binary-tree node : Easiest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Easiest case: The node being deleted does not have a sub-tree.</a:t>
            </a:r>
          </a:p>
          <a:p>
            <a:pPr lvl="1"/>
            <a:r>
              <a:rPr lang="en-US" dirty="0"/>
              <a:t>If the node has a parent node</a:t>
            </a:r>
          </a:p>
          <a:p>
            <a:pPr lvl="2"/>
            <a:r>
              <a:rPr lang="en-US" dirty="0"/>
              <a:t>If the node is the left of the parent node, nullify left connection from the parent node,</a:t>
            </a:r>
          </a:p>
          <a:p>
            <a:pPr lvl="2"/>
            <a:r>
              <a:rPr lang="en-US" dirty="0"/>
              <a:t>Or right of the parent node</a:t>
            </a:r>
          </a:p>
          <a:p>
            <a:pPr lvl="1"/>
            <a:r>
              <a:rPr lang="en-US" dirty="0"/>
              <a:t>If the node has no parent node</a:t>
            </a:r>
          </a:p>
          <a:p>
            <a:pPr lvl="2"/>
            <a:r>
              <a:rPr lang="en-US" dirty="0"/>
              <a:t>The node is root.  Nullify root node.</a:t>
            </a:r>
          </a:p>
        </p:txBody>
      </p:sp>
      <p:sp>
        <p:nvSpPr>
          <p:cNvPr id="4" name="Oval 3"/>
          <p:cNvSpPr/>
          <p:nvPr/>
        </p:nvSpPr>
        <p:spPr>
          <a:xfrm>
            <a:off x="5719030" y="2877668"/>
            <a:ext cx="622586" cy="62258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377737" y="4100080"/>
            <a:ext cx="476434" cy="449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231309" y="4100080"/>
            <a:ext cx="445620" cy="4456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iamond 6"/>
          <p:cNvSpPr/>
          <p:nvPr/>
        </p:nvSpPr>
        <p:spPr>
          <a:xfrm>
            <a:off x="5676929" y="5224182"/>
            <a:ext cx="632012" cy="632012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gular Pentagon 7"/>
          <p:cNvSpPr/>
          <p:nvPr/>
        </p:nvSpPr>
        <p:spPr>
          <a:xfrm>
            <a:off x="7229138" y="5237628"/>
            <a:ext cx="508300" cy="484096"/>
          </a:xfrm>
          <a:prstGeom prst="pent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>
            <a:stCxn id="4" idx="3"/>
            <a:endCxn id="6" idx="0"/>
          </p:cNvCxnSpPr>
          <p:nvPr/>
        </p:nvCxnSpPr>
        <p:spPr>
          <a:xfrm flipH="1">
            <a:off x="5454119" y="3409078"/>
            <a:ext cx="356087" cy="69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4" idx="5"/>
            <a:endCxn id="5" idx="0"/>
          </p:cNvCxnSpPr>
          <p:nvPr/>
        </p:nvCxnSpPr>
        <p:spPr>
          <a:xfrm>
            <a:off x="6250440" y="3409078"/>
            <a:ext cx="365514" cy="69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5" idx="2"/>
            <a:endCxn id="7" idx="0"/>
          </p:cNvCxnSpPr>
          <p:nvPr/>
        </p:nvCxnSpPr>
        <p:spPr>
          <a:xfrm flipH="1">
            <a:off x="5992935" y="4549244"/>
            <a:ext cx="623019" cy="6749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endCxn id="8" idx="0"/>
          </p:cNvCxnSpPr>
          <p:nvPr/>
        </p:nvCxnSpPr>
        <p:spPr>
          <a:xfrm>
            <a:off x="6615954" y="4549244"/>
            <a:ext cx="867334" cy="6883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Hexagon 12"/>
          <p:cNvSpPr/>
          <p:nvPr/>
        </p:nvSpPr>
        <p:spPr>
          <a:xfrm>
            <a:off x="5171220" y="6266330"/>
            <a:ext cx="547810" cy="443753"/>
          </a:xfrm>
          <a:prstGeom prst="hex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 Diagonal Corner Rectangle 13"/>
          <p:cNvSpPr/>
          <p:nvPr/>
        </p:nvSpPr>
        <p:spPr>
          <a:xfrm>
            <a:off x="6248430" y="6266330"/>
            <a:ext cx="535611" cy="376518"/>
          </a:xfrm>
          <a:prstGeom prst="round2Diag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>
            <a:stCxn id="7" idx="2"/>
            <a:endCxn id="13" idx="5"/>
          </p:cNvCxnSpPr>
          <p:nvPr/>
        </p:nvCxnSpPr>
        <p:spPr>
          <a:xfrm flipH="1">
            <a:off x="5608092" y="5856194"/>
            <a:ext cx="384843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endCxn id="14" idx="3"/>
          </p:cNvCxnSpPr>
          <p:nvPr/>
        </p:nvCxnSpPr>
        <p:spPr>
          <a:xfrm>
            <a:off x="5992935" y="5856194"/>
            <a:ext cx="523301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18946" y="4753532"/>
            <a:ext cx="1506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Delete this!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7483288" y="5097461"/>
            <a:ext cx="307013" cy="382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173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binary-tree node: Second easiest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node to be deleted has null left or right, then…</a:t>
            </a:r>
          </a:p>
          <a:p>
            <a:r>
              <a:rPr lang="en-US" dirty="0"/>
              <a:t>Put non-null leaf in place for the deleted node.</a:t>
            </a:r>
          </a:p>
        </p:txBody>
      </p:sp>
      <p:sp>
        <p:nvSpPr>
          <p:cNvPr id="4" name="Oval 3"/>
          <p:cNvSpPr/>
          <p:nvPr/>
        </p:nvSpPr>
        <p:spPr>
          <a:xfrm>
            <a:off x="743619" y="2598233"/>
            <a:ext cx="622586" cy="62258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639455" y="3911821"/>
            <a:ext cx="476434" cy="449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55898" y="3820645"/>
            <a:ext cx="445620" cy="4456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iamond 6"/>
          <p:cNvSpPr/>
          <p:nvPr/>
        </p:nvSpPr>
        <p:spPr>
          <a:xfrm>
            <a:off x="1938647" y="5035923"/>
            <a:ext cx="632012" cy="632012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>
            <a:stCxn id="4" idx="3"/>
            <a:endCxn id="6" idx="0"/>
          </p:cNvCxnSpPr>
          <p:nvPr/>
        </p:nvCxnSpPr>
        <p:spPr>
          <a:xfrm flipH="1">
            <a:off x="478708" y="3129643"/>
            <a:ext cx="356087" cy="69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4" idx="5"/>
            <a:endCxn id="5" idx="0"/>
          </p:cNvCxnSpPr>
          <p:nvPr/>
        </p:nvCxnSpPr>
        <p:spPr>
          <a:xfrm>
            <a:off x="1275029" y="3129643"/>
            <a:ext cx="1602643" cy="7821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5" idx="2"/>
            <a:endCxn id="7" idx="0"/>
          </p:cNvCxnSpPr>
          <p:nvPr/>
        </p:nvCxnSpPr>
        <p:spPr>
          <a:xfrm flipH="1">
            <a:off x="2254653" y="4360985"/>
            <a:ext cx="623019" cy="6749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Hexagon 12"/>
          <p:cNvSpPr/>
          <p:nvPr/>
        </p:nvSpPr>
        <p:spPr>
          <a:xfrm>
            <a:off x="1432938" y="6078071"/>
            <a:ext cx="547810" cy="443753"/>
          </a:xfrm>
          <a:prstGeom prst="hex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 Diagonal Corner Rectangle 13"/>
          <p:cNvSpPr/>
          <p:nvPr/>
        </p:nvSpPr>
        <p:spPr>
          <a:xfrm>
            <a:off x="2510148" y="6078071"/>
            <a:ext cx="535611" cy="376518"/>
          </a:xfrm>
          <a:prstGeom prst="round2Diag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>
            <a:stCxn id="7" idx="2"/>
            <a:endCxn id="13" idx="5"/>
          </p:cNvCxnSpPr>
          <p:nvPr/>
        </p:nvCxnSpPr>
        <p:spPr>
          <a:xfrm flipH="1">
            <a:off x="1869810" y="5667935"/>
            <a:ext cx="384843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endCxn id="14" idx="3"/>
          </p:cNvCxnSpPr>
          <p:nvPr/>
        </p:nvCxnSpPr>
        <p:spPr>
          <a:xfrm>
            <a:off x="2254653" y="5667935"/>
            <a:ext cx="523301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189848" y="3767071"/>
            <a:ext cx="2061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Delete this!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296335" y="4360985"/>
            <a:ext cx="537883" cy="4934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284193" y="4914900"/>
            <a:ext cx="1905655" cy="170105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592282" y="2689409"/>
            <a:ext cx="622586" cy="62258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5104561" y="3911821"/>
            <a:ext cx="445620" cy="4456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iamond 22"/>
          <p:cNvSpPr/>
          <p:nvPr/>
        </p:nvSpPr>
        <p:spPr>
          <a:xfrm>
            <a:off x="6891647" y="3911821"/>
            <a:ext cx="632012" cy="632012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/>
          <p:cNvCxnSpPr>
            <a:stCxn id="20" idx="3"/>
            <a:endCxn id="22" idx="0"/>
          </p:cNvCxnSpPr>
          <p:nvPr/>
        </p:nvCxnSpPr>
        <p:spPr>
          <a:xfrm flipH="1">
            <a:off x="5327371" y="3220819"/>
            <a:ext cx="356087" cy="69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20" idx="5"/>
          </p:cNvCxnSpPr>
          <p:nvPr/>
        </p:nvCxnSpPr>
        <p:spPr>
          <a:xfrm>
            <a:off x="6123692" y="3220819"/>
            <a:ext cx="1074968" cy="69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Hexagon 26"/>
          <p:cNvSpPr/>
          <p:nvPr/>
        </p:nvSpPr>
        <p:spPr>
          <a:xfrm>
            <a:off x="6385938" y="4953969"/>
            <a:ext cx="547810" cy="443753"/>
          </a:xfrm>
          <a:prstGeom prst="hex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 Diagonal Corner Rectangle 27"/>
          <p:cNvSpPr/>
          <p:nvPr/>
        </p:nvSpPr>
        <p:spPr>
          <a:xfrm>
            <a:off x="7463148" y="4953969"/>
            <a:ext cx="535611" cy="376518"/>
          </a:xfrm>
          <a:prstGeom prst="round2Diag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/>
          <p:cNvCxnSpPr>
            <a:stCxn id="23" idx="2"/>
            <a:endCxn id="27" idx="5"/>
          </p:cNvCxnSpPr>
          <p:nvPr/>
        </p:nvCxnSpPr>
        <p:spPr>
          <a:xfrm flipH="1">
            <a:off x="6822810" y="4543833"/>
            <a:ext cx="384843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28" idx="3"/>
          </p:cNvCxnSpPr>
          <p:nvPr/>
        </p:nvCxnSpPr>
        <p:spPr>
          <a:xfrm>
            <a:off x="7207653" y="4543833"/>
            <a:ext cx="523301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237193" y="3790798"/>
            <a:ext cx="1905655" cy="170105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2510148" y="3820645"/>
            <a:ext cx="754345" cy="6231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2510148" y="3820645"/>
            <a:ext cx="754345" cy="53679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15456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binary-tree node: Second easiest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5598269" cy="5059363"/>
          </a:xfrm>
        </p:spPr>
        <p:txBody>
          <a:bodyPr/>
          <a:lstStyle/>
          <a:p>
            <a:r>
              <a:rPr lang="en-US" dirty="0"/>
              <a:t>If        has a parent node:</a:t>
            </a:r>
          </a:p>
          <a:p>
            <a:pPr lvl="1"/>
            <a:r>
              <a:rPr lang="en-US" dirty="0"/>
              <a:t>If           is right of its parent,</a:t>
            </a:r>
          </a:p>
          <a:p>
            <a:pPr lvl="2"/>
            <a:r>
              <a:rPr lang="en-US" dirty="0"/>
              <a:t>connect      to the right of       's parent.</a:t>
            </a:r>
          </a:p>
          <a:p>
            <a:pPr lvl="1"/>
            <a:r>
              <a:rPr lang="en-US" dirty="0"/>
              <a:t>If           is left of its parent,</a:t>
            </a:r>
          </a:p>
          <a:p>
            <a:pPr lvl="2"/>
            <a:r>
              <a:rPr lang="en-US" dirty="0"/>
              <a:t>connect      to the left of       's parent.</a:t>
            </a:r>
          </a:p>
          <a:p>
            <a:r>
              <a:rPr lang="en-US" dirty="0"/>
              <a:t>If not,</a:t>
            </a:r>
          </a:p>
          <a:p>
            <a:pPr lvl="1"/>
            <a:r>
              <a:rPr lang="en-US" dirty="0"/>
              <a:t>        is the root.  Make      the root node.</a:t>
            </a:r>
          </a:p>
          <a:p>
            <a:pPr lvl="1"/>
            <a:endParaRPr lang="en-US" dirty="0"/>
          </a:p>
          <a:p>
            <a:r>
              <a:rPr lang="en-US" dirty="0"/>
              <a:t>Don't forget updating      's parent. </a:t>
            </a:r>
          </a:p>
        </p:txBody>
      </p:sp>
      <p:sp>
        <p:nvSpPr>
          <p:cNvPr id="4" name="Oval 3"/>
          <p:cNvSpPr/>
          <p:nvPr/>
        </p:nvSpPr>
        <p:spPr>
          <a:xfrm>
            <a:off x="6442290" y="2668991"/>
            <a:ext cx="622586" cy="62258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38126" y="3982579"/>
            <a:ext cx="476434" cy="449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954569" y="3891403"/>
            <a:ext cx="445620" cy="4456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iamond 6"/>
          <p:cNvSpPr/>
          <p:nvPr/>
        </p:nvSpPr>
        <p:spPr>
          <a:xfrm>
            <a:off x="7637318" y="5106681"/>
            <a:ext cx="632012" cy="632012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>
            <a:stCxn id="4" idx="3"/>
            <a:endCxn id="6" idx="0"/>
          </p:cNvCxnSpPr>
          <p:nvPr/>
        </p:nvCxnSpPr>
        <p:spPr>
          <a:xfrm flipH="1">
            <a:off x="6177379" y="3200401"/>
            <a:ext cx="356087" cy="69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4" idx="5"/>
            <a:endCxn id="5" idx="0"/>
          </p:cNvCxnSpPr>
          <p:nvPr/>
        </p:nvCxnSpPr>
        <p:spPr>
          <a:xfrm>
            <a:off x="6973700" y="3200401"/>
            <a:ext cx="1602643" cy="7821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5" idx="2"/>
            <a:endCxn id="7" idx="0"/>
          </p:cNvCxnSpPr>
          <p:nvPr/>
        </p:nvCxnSpPr>
        <p:spPr>
          <a:xfrm flipH="1">
            <a:off x="7953324" y="4431743"/>
            <a:ext cx="623019" cy="6749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Hexagon 10"/>
          <p:cNvSpPr/>
          <p:nvPr/>
        </p:nvSpPr>
        <p:spPr>
          <a:xfrm>
            <a:off x="7131609" y="6148829"/>
            <a:ext cx="547810" cy="443753"/>
          </a:xfrm>
          <a:prstGeom prst="hex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 Diagonal Corner Rectangle 11"/>
          <p:cNvSpPr/>
          <p:nvPr/>
        </p:nvSpPr>
        <p:spPr>
          <a:xfrm>
            <a:off x="8208819" y="6148829"/>
            <a:ext cx="535611" cy="376518"/>
          </a:xfrm>
          <a:prstGeom prst="round2Diag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>
            <a:stCxn id="7" idx="2"/>
            <a:endCxn id="11" idx="5"/>
          </p:cNvCxnSpPr>
          <p:nvPr/>
        </p:nvCxnSpPr>
        <p:spPr>
          <a:xfrm flipH="1">
            <a:off x="7568481" y="5738693"/>
            <a:ext cx="384843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endCxn id="12" idx="3"/>
          </p:cNvCxnSpPr>
          <p:nvPr/>
        </p:nvCxnSpPr>
        <p:spPr>
          <a:xfrm>
            <a:off x="7953324" y="5738693"/>
            <a:ext cx="523301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04178" y="3079699"/>
            <a:ext cx="2061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Delete this!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82864" y="4985658"/>
            <a:ext cx="1905655" cy="170105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8208819" y="3891403"/>
            <a:ext cx="754345" cy="6231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8208819" y="3891403"/>
            <a:ext cx="754345" cy="53679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235528" y="1148737"/>
            <a:ext cx="301932" cy="2846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709056" y="1570074"/>
            <a:ext cx="301932" cy="2846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4282486" y="1915075"/>
            <a:ext cx="301932" cy="2846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158734" y="2592969"/>
            <a:ext cx="301932" cy="2846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709056" y="2255944"/>
            <a:ext cx="301932" cy="2846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iamond 23"/>
          <p:cNvSpPr/>
          <p:nvPr/>
        </p:nvSpPr>
        <p:spPr>
          <a:xfrm>
            <a:off x="2541814" y="1915075"/>
            <a:ext cx="283702" cy="283702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iamond 24"/>
          <p:cNvSpPr/>
          <p:nvPr/>
        </p:nvSpPr>
        <p:spPr>
          <a:xfrm>
            <a:off x="2535042" y="2592832"/>
            <a:ext cx="283702" cy="283702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iamond 25"/>
          <p:cNvSpPr/>
          <p:nvPr/>
        </p:nvSpPr>
        <p:spPr>
          <a:xfrm>
            <a:off x="3875032" y="3404051"/>
            <a:ext cx="283702" cy="283702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Diamond 26"/>
          <p:cNvSpPr/>
          <p:nvPr/>
        </p:nvSpPr>
        <p:spPr>
          <a:xfrm>
            <a:off x="3801610" y="4184154"/>
            <a:ext cx="283702" cy="283702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7674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binary-tree node: General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both left and right of the node to be deleted are non-null, then…</a:t>
            </a:r>
          </a:p>
          <a:p>
            <a:r>
              <a:rPr lang="en-US" dirty="0"/>
              <a:t>The right-most of the left sub-tree need to take position for the deleted node.  (Or, left-most of the right-sub-tree.  It is symmetric.)</a:t>
            </a:r>
          </a:p>
        </p:txBody>
      </p:sp>
      <p:sp>
        <p:nvSpPr>
          <p:cNvPr id="4" name="Oval 3"/>
          <p:cNvSpPr/>
          <p:nvPr/>
        </p:nvSpPr>
        <p:spPr>
          <a:xfrm>
            <a:off x="4300365" y="2877668"/>
            <a:ext cx="622586" cy="62258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377737" y="4100080"/>
            <a:ext cx="476434" cy="449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812644" y="4100080"/>
            <a:ext cx="445620" cy="4456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iamond 6"/>
          <p:cNvSpPr/>
          <p:nvPr/>
        </p:nvSpPr>
        <p:spPr>
          <a:xfrm>
            <a:off x="5676929" y="5224182"/>
            <a:ext cx="632012" cy="632012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gular Pentagon 7"/>
          <p:cNvSpPr/>
          <p:nvPr/>
        </p:nvSpPr>
        <p:spPr>
          <a:xfrm>
            <a:off x="7229138" y="5237628"/>
            <a:ext cx="508300" cy="484096"/>
          </a:xfrm>
          <a:prstGeom prst="pent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>
            <a:stCxn id="4" idx="3"/>
            <a:endCxn id="6" idx="0"/>
          </p:cNvCxnSpPr>
          <p:nvPr/>
        </p:nvCxnSpPr>
        <p:spPr>
          <a:xfrm flipH="1">
            <a:off x="4035454" y="3409078"/>
            <a:ext cx="356087" cy="69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4" idx="5"/>
            <a:endCxn id="5" idx="0"/>
          </p:cNvCxnSpPr>
          <p:nvPr/>
        </p:nvCxnSpPr>
        <p:spPr>
          <a:xfrm>
            <a:off x="4831775" y="3409078"/>
            <a:ext cx="1784179" cy="69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5" idx="2"/>
            <a:endCxn id="7" idx="0"/>
          </p:cNvCxnSpPr>
          <p:nvPr/>
        </p:nvCxnSpPr>
        <p:spPr>
          <a:xfrm flipH="1">
            <a:off x="5992935" y="4549244"/>
            <a:ext cx="623019" cy="6749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endCxn id="8" idx="0"/>
          </p:cNvCxnSpPr>
          <p:nvPr/>
        </p:nvCxnSpPr>
        <p:spPr>
          <a:xfrm>
            <a:off x="6615954" y="4549244"/>
            <a:ext cx="867334" cy="6883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Hexagon 12"/>
          <p:cNvSpPr/>
          <p:nvPr/>
        </p:nvSpPr>
        <p:spPr>
          <a:xfrm>
            <a:off x="5171220" y="6266330"/>
            <a:ext cx="547810" cy="443753"/>
          </a:xfrm>
          <a:prstGeom prst="hex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 Diagonal Corner Rectangle 13"/>
          <p:cNvSpPr/>
          <p:nvPr/>
        </p:nvSpPr>
        <p:spPr>
          <a:xfrm>
            <a:off x="6248430" y="6266330"/>
            <a:ext cx="535611" cy="376518"/>
          </a:xfrm>
          <a:prstGeom prst="round2Diag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>
            <a:stCxn id="7" idx="2"/>
            <a:endCxn id="13" idx="5"/>
          </p:cNvCxnSpPr>
          <p:nvPr/>
        </p:nvCxnSpPr>
        <p:spPr>
          <a:xfrm flipH="1">
            <a:off x="5608092" y="5856194"/>
            <a:ext cx="384843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endCxn id="14" idx="3"/>
          </p:cNvCxnSpPr>
          <p:nvPr/>
        </p:nvCxnSpPr>
        <p:spPr>
          <a:xfrm>
            <a:off x="5992935" y="5856194"/>
            <a:ext cx="523301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28130" y="3955330"/>
            <a:ext cx="2061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Delete this!</a:t>
            </a:r>
          </a:p>
        </p:txBody>
      </p:sp>
      <p:sp>
        <p:nvSpPr>
          <p:cNvPr id="20" name="Freeform 19"/>
          <p:cNvSpPr/>
          <p:nvPr/>
        </p:nvSpPr>
        <p:spPr>
          <a:xfrm>
            <a:off x="6763871" y="4565276"/>
            <a:ext cx="316054" cy="1858408"/>
          </a:xfrm>
          <a:custGeom>
            <a:avLst/>
            <a:gdLst>
              <a:gd name="connsiteX0" fmla="*/ 20170 w 275728"/>
              <a:gd name="connsiteY0" fmla="*/ 1855695 h 1886449"/>
              <a:gd name="connsiteX1" fmla="*/ 275664 w 275728"/>
              <a:gd name="connsiteY1" fmla="*/ 1633818 h 1886449"/>
              <a:gd name="connsiteX2" fmla="*/ 0 w 275728"/>
              <a:gd name="connsiteY2" fmla="*/ 0 h 1886449"/>
              <a:gd name="connsiteX0" fmla="*/ 20170 w 316054"/>
              <a:gd name="connsiteY0" fmla="*/ 1855695 h 1858408"/>
              <a:gd name="connsiteX1" fmla="*/ 316005 w 316054"/>
              <a:gd name="connsiteY1" fmla="*/ 1095936 h 1858408"/>
              <a:gd name="connsiteX2" fmla="*/ 0 w 316054"/>
              <a:gd name="connsiteY2" fmla="*/ 0 h 1858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6054" h="1858408">
                <a:moveTo>
                  <a:pt x="20170" y="1855695"/>
                </a:moveTo>
                <a:cubicBezTo>
                  <a:pt x="149598" y="1899397"/>
                  <a:pt x="319367" y="1405218"/>
                  <a:pt x="316005" y="1095936"/>
                </a:cubicBezTo>
                <a:cubicBezTo>
                  <a:pt x="312643" y="786654"/>
                  <a:pt x="136151" y="662268"/>
                  <a:pt x="0" y="0"/>
                </a:cubicBezTo>
              </a:path>
            </a:pathLst>
          </a:custGeom>
          <a:noFill/>
          <a:ln>
            <a:solidFill>
              <a:srgbClr val="FF33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5040107" y="5096435"/>
            <a:ext cx="1905655" cy="170105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654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binary-tree node: General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3926541" cy="5059363"/>
          </a:xfrm>
        </p:spPr>
        <p:txBody>
          <a:bodyPr/>
          <a:lstStyle/>
          <a:p>
            <a:r>
              <a:rPr lang="en-US" dirty="0"/>
              <a:t>The right-most of the left sub-tree may have its left node.</a:t>
            </a:r>
          </a:p>
          <a:p>
            <a:r>
              <a:rPr lang="en-US" dirty="0"/>
              <a:t>So, first detach the right-most of the left sub-tree safely, and then replace.  (Like easiest and second easiest case.)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5115095" y="1801904"/>
            <a:ext cx="622586" cy="62258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192467" y="3024316"/>
            <a:ext cx="476434" cy="449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627374" y="3024316"/>
            <a:ext cx="445620" cy="4456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iamond 6"/>
          <p:cNvSpPr/>
          <p:nvPr/>
        </p:nvSpPr>
        <p:spPr>
          <a:xfrm>
            <a:off x="6491659" y="4148418"/>
            <a:ext cx="632012" cy="632012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gular Pentagon 7"/>
          <p:cNvSpPr/>
          <p:nvPr/>
        </p:nvSpPr>
        <p:spPr>
          <a:xfrm>
            <a:off x="8043868" y="4161864"/>
            <a:ext cx="508300" cy="484096"/>
          </a:xfrm>
          <a:prstGeom prst="pent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>
            <a:stCxn id="4" idx="3"/>
            <a:endCxn id="6" idx="0"/>
          </p:cNvCxnSpPr>
          <p:nvPr/>
        </p:nvCxnSpPr>
        <p:spPr>
          <a:xfrm flipH="1">
            <a:off x="4850184" y="2333314"/>
            <a:ext cx="356087" cy="69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4" idx="5"/>
            <a:endCxn id="5" idx="0"/>
          </p:cNvCxnSpPr>
          <p:nvPr/>
        </p:nvCxnSpPr>
        <p:spPr>
          <a:xfrm>
            <a:off x="5646505" y="2333314"/>
            <a:ext cx="1784179" cy="69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5" idx="2"/>
            <a:endCxn id="7" idx="0"/>
          </p:cNvCxnSpPr>
          <p:nvPr/>
        </p:nvCxnSpPr>
        <p:spPr>
          <a:xfrm flipH="1">
            <a:off x="6807665" y="3473480"/>
            <a:ext cx="623019" cy="6749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endCxn id="8" idx="0"/>
          </p:cNvCxnSpPr>
          <p:nvPr/>
        </p:nvCxnSpPr>
        <p:spPr>
          <a:xfrm>
            <a:off x="7430684" y="3473480"/>
            <a:ext cx="867334" cy="6883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Hexagon 12"/>
          <p:cNvSpPr/>
          <p:nvPr/>
        </p:nvSpPr>
        <p:spPr>
          <a:xfrm>
            <a:off x="5985950" y="5190566"/>
            <a:ext cx="547810" cy="443753"/>
          </a:xfrm>
          <a:prstGeom prst="hex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 Diagonal Corner Rectangle 13"/>
          <p:cNvSpPr/>
          <p:nvPr/>
        </p:nvSpPr>
        <p:spPr>
          <a:xfrm>
            <a:off x="7063160" y="5190566"/>
            <a:ext cx="535611" cy="376518"/>
          </a:xfrm>
          <a:prstGeom prst="round2Diag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>
            <a:stCxn id="7" idx="2"/>
            <a:endCxn id="13" idx="5"/>
          </p:cNvCxnSpPr>
          <p:nvPr/>
        </p:nvCxnSpPr>
        <p:spPr>
          <a:xfrm flipH="1">
            <a:off x="6422822" y="4780430"/>
            <a:ext cx="384843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endCxn id="14" idx="3"/>
          </p:cNvCxnSpPr>
          <p:nvPr/>
        </p:nvCxnSpPr>
        <p:spPr>
          <a:xfrm>
            <a:off x="6807665" y="4780430"/>
            <a:ext cx="523301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7578601" y="3489512"/>
            <a:ext cx="316054" cy="1858408"/>
          </a:xfrm>
          <a:custGeom>
            <a:avLst/>
            <a:gdLst>
              <a:gd name="connsiteX0" fmla="*/ 20170 w 275728"/>
              <a:gd name="connsiteY0" fmla="*/ 1855695 h 1886449"/>
              <a:gd name="connsiteX1" fmla="*/ 275664 w 275728"/>
              <a:gd name="connsiteY1" fmla="*/ 1633818 h 1886449"/>
              <a:gd name="connsiteX2" fmla="*/ 0 w 275728"/>
              <a:gd name="connsiteY2" fmla="*/ 0 h 1886449"/>
              <a:gd name="connsiteX0" fmla="*/ 20170 w 316054"/>
              <a:gd name="connsiteY0" fmla="*/ 1855695 h 1858408"/>
              <a:gd name="connsiteX1" fmla="*/ 316005 w 316054"/>
              <a:gd name="connsiteY1" fmla="*/ 1095936 h 1858408"/>
              <a:gd name="connsiteX2" fmla="*/ 0 w 316054"/>
              <a:gd name="connsiteY2" fmla="*/ 0 h 1858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6054" h="1858408">
                <a:moveTo>
                  <a:pt x="20170" y="1855695"/>
                </a:moveTo>
                <a:cubicBezTo>
                  <a:pt x="149598" y="1899397"/>
                  <a:pt x="319367" y="1405218"/>
                  <a:pt x="316005" y="1095936"/>
                </a:cubicBezTo>
                <a:cubicBezTo>
                  <a:pt x="312643" y="786654"/>
                  <a:pt x="136151" y="662268"/>
                  <a:pt x="0" y="0"/>
                </a:cubicBezTo>
              </a:path>
            </a:pathLst>
          </a:custGeom>
          <a:noFill/>
          <a:ln>
            <a:solidFill>
              <a:srgbClr val="FF33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5854837" y="4020671"/>
            <a:ext cx="1905655" cy="260200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/>
          <p:cNvSpPr/>
          <p:nvPr/>
        </p:nvSpPr>
        <p:spPr>
          <a:xfrm>
            <a:off x="6871447" y="6098241"/>
            <a:ext cx="459518" cy="383241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stCxn id="14" idx="1"/>
            <a:endCxn id="19" idx="0"/>
          </p:cNvCxnSpPr>
          <p:nvPr/>
        </p:nvCxnSpPr>
        <p:spPr>
          <a:xfrm flipH="1">
            <a:off x="7101206" y="5567084"/>
            <a:ext cx="229760" cy="5311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5092" y="4160938"/>
            <a:ext cx="48164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Right-most of the left sub-tree may be direct left of the node being deleted.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3307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binary-tree node: General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3926541" cy="5059363"/>
          </a:xfrm>
        </p:spPr>
        <p:txBody>
          <a:bodyPr/>
          <a:lstStyle/>
          <a:p>
            <a:r>
              <a:rPr lang="en-US" dirty="0"/>
              <a:t>Then copy connections from         to  </a:t>
            </a:r>
          </a:p>
          <a:p>
            <a:r>
              <a:rPr lang="en-US" dirty="0"/>
              <a:t>Then make connections from          bi-directional.</a:t>
            </a:r>
          </a:p>
          <a:p>
            <a:r>
              <a:rPr lang="en-US" dirty="0"/>
              <a:t>If the parent of         is </a:t>
            </a:r>
            <a:r>
              <a:rPr lang="en-US" dirty="0" err="1"/>
              <a:t>nullptr</a:t>
            </a:r>
            <a:r>
              <a:rPr lang="en-US" dirty="0"/>
              <a:t>, make         the root node.</a:t>
            </a:r>
          </a:p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5115095" y="1801904"/>
            <a:ext cx="622586" cy="62258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192467" y="3024316"/>
            <a:ext cx="476434" cy="449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627374" y="3024316"/>
            <a:ext cx="445620" cy="4456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iamond 6"/>
          <p:cNvSpPr/>
          <p:nvPr/>
        </p:nvSpPr>
        <p:spPr>
          <a:xfrm>
            <a:off x="6491659" y="4148418"/>
            <a:ext cx="632012" cy="632012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gular Pentagon 7"/>
          <p:cNvSpPr/>
          <p:nvPr/>
        </p:nvSpPr>
        <p:spPr>
          <a:xfrm>
            <a:off x="8043868" y="4161864"/>
            <a:ext cx="508300" cy="484096"/>
          </a:xfrm>
          <a:prstGeom prst="pent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>
            <a:stCxn id="4" idx="3"/>
            <a:endCxn id="6" idx="0"/>
          </p:cNvCxnSpPr>
          <p:nvPr/>
        </p:nvCxnSpPr>
        <p:spPr>
          <a:xfrm flipH="1">
            <a:off x="4850184" y="2333314"/>
            <a:ext cx="356087" cy="691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4" idx="5"/>
            <a:endCxn id="5" idx="0"/>
          </p:cNvCxnSpPr>
          <p:nvPr/>
        </p:nvCxnSpPr>
        <p:spPr>
          <a:xfrm>
            <a:off x="5646505" y="2333314"/>
            <a:ext cx="1784179" cy="69100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5" idx="2"/>
            <a:endCxn id="7" idx="0"/>
          </p:cNvCxnSpPr>
          <p:nvPr/>
        </p:nvCxnSpPr>
        <p:spPr>
          <a:xfrm flipH="1">
            <a:off x="6807665" y="3473480"/>
            <a:ext cx="623019" cy="67493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endCxn id="8" idx="0"/>
          </p:cNvCxnSpPr>
          <p:nvPr/>
        </p:nvCxnSpPr>
        <p:spPr>
          <a:xfrm>
            <a:off x="7430684" y="3473480"/>
            <a:ext cx="867334" cy="68838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Hexagon 12"/>
          <p:cNvSpPr/>
          <p:nvPr/>
        </p:nvSpPr>
        <p:spPr>
          <a:xfrm>
            <a:off x="5985950" y="5190566"/>
            <a:ext cx="547810" cy="443753"/>
          </a:xfrm>
          <a:prstGeom prst="hex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 Diagonal Corner Rectangle 13"/>
          <p:cNvSpPr/>
          <p:nvPr/>
        </p:nvSpPr>
        <p:spPr>
          <a:xfrm>
            <a:off x="6335836" y="3089798"/>
            <a:ext cx="535611" cy="376518"/>
          </a:xfrm>
          <a:prstGeom prst="round2Diag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>
            <a:stCxn id="7" idx="2"/>
            <a:endCxn id="13" idx="5"/>
          </p:cNvCxnSpPr>
          <p:nvPr/>
        </p:nvCxnSpPr>
        <p:spPr>
          <a:xfrm flipH="1">
            <a:off x="6422822" y="4780430"/>
            <a:ext cx="384843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7" idx="2"/>
          </p:cNvCxnSpPr>
          <p:nvPr/>
        </p:nvCxnSpPr>
        <p:spPr>
          <a:xfrm>
            <a:off x="6807665" y="4780430"/>
            <a:ext cx="393405" cy="6784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854837" y="4020671"/>
            <a:ext cx="1905655" cy="260200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/>
          <p:cNvSpPr/>
          <p:nvPr/>
        </p:nvSpPr>
        <p:spPr>
          <a:xfrm>
            <a:off x="6871447" y="6098241"/>
            <a:ext cx="459518" cy="383241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endCxn id="19" idx="0"/>
          </p:cNvCxnSpPr>
          <p:nvPr/>
        </p:nvCxnSpPr>
        <p:spPr>
          <a:xfrm flipH="1">
            <a:off x="7101206" y="5458869"/>
            <a:ext cx="99864" cy="639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640753" y="1520194"/>
            <a:ext cx="476434" cy="449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 Diagonal Corner Rectangle 27"/>
          <p:cNvSpPr/>
          <p:nvPr/>
        </p:nvSpPr>
        <p:spPr>
          <a:xfrm>
            <a:off x="2584929" y="1520194"/>
            <a:ext cx="535611" cy="376518"/>
          </a:xfrm>
          <a:prstGeom prst="round2Diag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/>
          <p:cNvCxnSpPr>
            <a:stCxn id="14" idx="3"/>
            <a:endCxn id="4" idx="5"/>
          </p:cNvCxnSpPr>
          <p:nvPr/>
        </p:nvCxnSpPr>
        <p:spPr>
          <a:xfrm flipH="1" flipV="1">
            <a:off x="5646505" y="2333314"/>
            <a:ext cx="957137" cy="7564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14" idx="1"/>
            <a:endCxn id="7" idx="0"/>
          </p:cNvCxnSpPr>
          <p:nvPr/>
        </p:nvCxnSpPr>
        <p:spPr>
          <a:xfrm>
            <a:off x="6603642" y="3466316"/>
            <a:ext cx="204023" cy="6821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4" idx="1"/>
            <a:endCxn id="8" idx="0"/>
          </p:cNvCxnSpPr>
          <p:nvPr/>
        </p:nvCxnSpPr>
        <p:spPr>
          <a:xfrm>
            <a:off x="6603642" y="3466316"/>
            <a:ext cx="1694376" cy="6955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 Diagonal Corner Rectangle 36"/>
          <p:cNvSpPr/>
          <p:nvPr/>
        </p:nvSpPr>
        <p:spPr>
          <a:xfrm>
            <a:off x="1640753" y="2302297"/>
            <a:ext cx="535611" cy="376518"/>
          </a:xfrm>
          <a:prstGeom prst="round2Diag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2921420" y="2596567"/>
            <a:ext cx="476434" cy="449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 Diagonal Corner Rectangle 38"/>
          <p:cNvSpPr/>
          <p:nvPr/>
        </p:nvSpPr>
        <p:spPr>
          <a:xfrm>
            <a:off x="2714007" y="3107064"/>
            <a:ext cx="535611" cy="376518"/>
          </a:xfrm>
          <a:prstGeom prst="round2Diag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/>
          <p:nvPr/>
        </p:nvCxnSpPr>
        <p:spPr>
          <a:xfrm>
            <a:off x="7109664" y="2966473"/>
            <a:ext cx="754345" cy="6231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7109664" y="2966473"/>
            <a:ext cx="754345" cy="53679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77697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Bunch of dis-connecting and connecting.</a:t>
            </a:r>
          </a:p>
          <a:p>
            <a:r>
              <a:rPr lang="en-US" dirty="0"/>
              <a:t>Easy to make a mistake.</a:t>
            </a:r>
          </a:p>
          <a:p>
            <a:r>
              <a:rPr lang="en-US" dirty="0"/>
              <a:t>But, doable.  Each step is very simple.</a:t>
            </a:r>
          </a:p>
        </p:txBody>
      </p:sp>
    </p:spTree>
    <p:extLst>
      <p:ext uri="{BB962C8B-B14F-4D97-AF65-F5344CB8AC3E}">
        <p14:creationId xmlns:p14="http://schemas.microsoft.com/office/powerpoint/2010/main" val="426186590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1800" y="82550"/>
            <a:ext cx="6894836" cy="6717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private: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RightMostOf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while(Right(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).</a:t>
            </a:r>
            <a:r>
              <a:rPr lang="en-US" sz="1050" dirty="0" err="1">
                <a:latin typeface="Consolas" panose="020B0609020204030204" pitchFamily="49" charset="0"/>
              </a:rPr>
              <a:t>IsNotNull</a:t>
            </a:r>
            <a:r>
              <a:rPr lang="en-US" sz="105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=Right(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return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bool </a:t>
            </a:r>
            <a:r>
              <a:rPr lang="en-US" sz="1050" dirty="0" err="1">
                <a:latin typeface="Consolas" panose="020B0609020204030204" pitchFamily="49" charset="0"/>
              </a:rPr>
              <a:t>SimpleDetach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if(</a:t>
            </a:r>
            <a:r>
              <a:rPr lang="en-US" sz="1050" dirty="0" err="1">
                <a:latin typeface="Consolas" panose="020B0609020204030204" pitchFamily="49" charset="0"/>
              </a:rPr>
              <a:t>ndHd.IsNotNull</a:t>
            </a:r>
            <a:r>
              <a:rPr lang="en-US" sz="105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auto </a:t>
            </a:r>
            <a:r>
              <a:rPr lang="en-US" sz="1050" dirty="0" err="1">
                <a:latin typeface="Consolas" panose="020B0609020204030204" pitchFamily="49" charset="0"/>
              </a:rPr>
              <a:t>upHd</a:t>
            </a:r>
            <a:r>
              <a:rPr lang="en-US" sz="1050" dirty="0">
                <a:latin typeface="Consolas" panose="020B0609020204030204" pitchFamily="49" charset="0"/>
              </a:rPr>
              <a:t>=Up(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auto </a:t>
            </a:r>
            <a:r>
              <a:rPr lang="en-US" sz="1050" dirty="0" err="1">
                <a:latin typeface="Consolas" panose="020B0609020204030204" pitchFamily="49" charset="0"/>
              </a:rPr>
              <a:t>rightHd</a:t>
            </a:r>
            <a:r>
              <a:rPr lang="en-US" sz="1050" dirty="0">
                <a:latin typeface="Consolas" panose="020B0609020204030204" pitchFamily="49" charset="0"/>
              </a:rPr>
              <a:t>=Right(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auto </a:t>
            </a:r>
            <a:r>
              <a:rPr lang="en-US" sz="1050" dirty="0" err="1">
                <a:latin typeface="Consolas" panose="020B0609020204030204" pitchFamily="49" charset="0"/>
              </a:rPr>
              <a:t>leftHd</a:t>
            </a:r>
            <a:r>
              <a:rPr lang="en-US" sz="1050" dirty="0">
                <a:latin typeface="Consolas" panose="020B0609020204030204" pitchFamily="49" charset="0"/>
              </a:rPr>
              <a:t>=Left(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if(</a:t>
            </a:r>
            <a:r>
              <a:rPr lang="en-US" sz="1050" dirty="0" err="1">
                <a:latin typeface="Consolas" panose="020B0609020204030204" pitchFamily="49" charset="0"/>
              </a:rPr>
              <a:t>rightHd.IsNull</a:t>
            </a:r>
            <a:r>
              <a:rPr lang="en-US" sz="1050" dirty="0">
                <a:latin typeface="Consolas" panose="020B0609020204030204" pitchFamily="49" charset="0"/>
              </a:rPr>
              <a:t>() &amp;&amp; </a:t>
            </a:r>
            <a:r>
              <a:rPr lang="en-US" sz="1050" dirty="0" err="1">
                <a:latin typeface="Consolas" panose="020B0609020204030204" pitchFamily="49" charset="0"/>
              </a:rPr>
              <a:t>leftHd.IsNull</a:t>
            </a:r>
            <a:r>
              <a:rPr lang="en-US" sz="105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if(</a:t>
            </a:r>
            <a:r>
              <a:rPr lang="en-US" sz="1050" dirty="0" err="1">
                <a:latin typeface="Consolas" panose="020B0609020204030204" pitchFamily="49" charset="0"/>
              </a:rPr>
              <a:t>upHd.IsNull</a:t>
            </a:r>
            <a:r>
              <a:rPr lang="en-US" sz="1050" dirty="0">
                <a:latin typeface="Consolas" panose="020B0609020204030204" pitchFamily="49" charset="0"/>
              </a:rPr>
              <a:t>()) //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 is a root.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root=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else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auto </a:t>
            </a:r>
            <a:r>
              <a:rPr lang="en-US" sz="1050" dirty="0" err="1">
                <a:latin typeface="Consolas" panose="020B0609020204030204" pitchFamily="49" charset="0"/>
              </a:rPr>
              <a:t>upPtr</a:t>
            </a:r>
            <a:r>
              <a:rPr lang="en-US" sz="1050" dirty="0">
                <a:latin typeface="Consolas" panose="020B0609020204030204" pitchFamily="49" charset="0"/>
              </a:rPr>
              <a:t>=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upHd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if(Left(</a:t>
            </a:r>
            <a:r>
              <a:rPr lang="en-US" sz="1050" dirty="0" err="1">
                <a:latin typeface="Consolas" panose="020B0609020204030204" pitchFamily="49" charset="0"/>
              </a:rPr>
              <a:t>upHd</a:t>
            </a:r>
            <a:r>
              <a:rPr lang="en-US" sz="1050" dirty="0">
                <a:latin typeface="Consolas" panose="020B0609020204030204" pitchFamily="49" charset="0"/>
              </a:rPr>
              <a:t>)==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</a:t>
            </a:r>
            <a:r>
              <a:rPr lang="en-US" sz="1050" dirty="0" err="1">
                <a:latin typeface="Consolas" panose="020B0609020204030204" pitchFamily="49" charset="0"/>
              </a:rPr>
              <a:t>upPtr</a:t>
            </a:r>
            <a:r>
              <a:rPr lang="en-US" sz="1050" dirty="0">
                <a:latin typeface="Consolas" panose="020B0609020204030204" pitchFamily="49" charset="0"/>
              </a:rPr>
              <a:t>-&gt;left=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else if(Right(</a:t>
            </a:r>
            <a:r>
              <a:rPr lang="en-US" sz="1050" dirty="0" err="1">
                <a:latin typeface="Consolas" panose="020B0609020204030204" pitchFamily="49" charset="0"/>
              </a:rPr>
              <a:t>upHd</a:t>
            </a:r>
            <a:r>
              <a:rPr lang="en-US" sz="1050" dirty="0">
                <a:latin typeface="Consolas" panose="020B0609020204030204" pitchFamily="49" charset="0"/>
              </a:rPr>
              <a:t>)==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</a:t>
            </a:r>
            <a:r>
              <a:rPr lang="en-US" sz="1050" dirty="0" err="1">
                <a:latin typeface="Consolas" panose="020B0609020204030204" pitchFamily="49" charset="0"/>
              </a:rPr>
              <a:t>upPtr</a:t>
            </a:r>
            <a:r>
              <a:rPr lang="en-US" sz="1050" dirty="0">
                <a:latin typeface="Consolas" panose="020B0609020204030204" pitchFamily="49" charset="0"/>
              </a:rPr>
              <a:t>-&gt;right=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else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</a:t>
            </a:r>
            <a:r>
              <a:rPr lang="en-US" sz="1050" dirty="0" err="1">
                <a:latin typeface="Consolas" panose="020B0609020204030204" pitchFamily="49" charset="0"/>
              </a:rPr>
              <a:t>fprintf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stderr</a:t>
            </a:r>
            <a:r>
              <a:rPr lang="en-US" sz="1050" dirty="0">
                <a:latin typeface="Consolas" panose="020B0609020204030204" pitchFamily="49" charset="0"/>
              </a:rPr>
              <a:t>,"Error! Internal Tree Data Structure is broken.\n");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return false;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return true;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}</a:t>
            </a:r>
          </a:p>
        </p:txBody>
      </p:sp>
    </p:spTree>
    <p:extLst>
      <p:ext uri="{BB962C8B-B14F-4D97-AF65-F5344CB8AC3E}">
        <p14:creationId xmlns:p14="http://schemas.microsoft.com/office/powerpoint/2010/main" val="161985340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1800" y="82550"/>
            <a:ext cx="6894836" cy="54245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        else if(</a:t>
            </a:r>
            <a:r>
              <a:rPr lang="en-US" sz="1050" dirty="0" err="1">
                <a:latin typeface="Consolas" panose="020B0609020204030204" pitchFamily="49" charset="0"/>
              </a:rPr>
              <a:t>rightHd.IsNull</a:t>
            </a:r>
            <a:r>
              <a:rPr lang="en-US" sz="105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if(</a:t>
            </a:r>
            <a:r>
              <a:rPr lang="en-US" sz="1050" dirty="0" err="1">
                <a:latin typeface="Consolas" panose="020B0609020204030204" pitchFamily="49" charset="0"/>
              </a:rPr>
              <a:t>upHd.IsNull</a:t>
            </a:r>
            <a:r>
              <a:rPr lang="en-US" sz="105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root=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leftHd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root-&gt;up=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return true;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else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// Connect </a:t>
            </a:r>
            <a:r>
              <a:rPr lang="en-US" sz="1050" dirty="0" err="1">
                <a:latin typeface="Consolas" panose="020B0609020204030204" pitchFamily="49" charset="0"/>
              </a:rPr>
              <a:t>upHd</a:t>
            </a:r>
            <a:r>
              <a:rPr lang="en-US" sz="1050" dirty="0">
                <a:latin typeface="Consolas" panose="020B0609020204030204" pitchFamily="49" charset="0"/>
              </a:rPr>
              <a:t> and </a:t>
            </a:r>
            <a:r>
              <a:rPr lang="en-US" sz="1050" dirty="0" err="1">
                <a:latin typeface="Consolas" panose="020B0609020204030204" pitchFamily="49" charset="0"/>
              </a:rPr>
              <a:t>leftHd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                auto </a:t>
            </a:r>
            <a:r>
              <a:rPr lang="en-US" sz="1050" dirty="0" err="1">
                <a:latin typeface="Consolas" panose="020B0609020204030204" pitchFamily="49" charset="0"/>
              </a:rPr>
              <a:t>upPtr</a:t>
            </a:r>
            <a:r>
              <a:rPr lang="en-US" sz="1050" dirty="0">
                <a:latin typeface="Consolas" panose="020B0609020204030204" pitchFamily="49" charset="0"/>
              </a:rPr>
              <a:t>=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upHd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auto </a:t>
            </a:r>
            <a:r>
              <a:rPr lang="en-US" sz="1050" dirty="0" err="1">
                <a:latin typeface="Consolas" panose="020B0609020204030204" pitchFamily="49" charset="0"/>
              </a:rPr>
              <a:t>leftPtr</a:t>
            </a:r>
            <a:r>
              <a:rPr lang="en-US" sz="1050" dirty="0">
                <a:latin typeface="Consolas" panose="020B0609020204030204" pitchFamily="49" charset="0"/>
              </a:rPr>
              <a:t>=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leftHd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if(Left(</a:t>
            </a:r>
            <a:r>
              <a:rPr lang="en-US" sz="1050" dirty="0" err="1">
                <a:latin typeface="Consolas" panose="020B0609020204030204" pitchFamily="49" charset="0"/>
              </a:rPr>
              <a:t>upHd</a:t>
            </a:r>
            <a:r>
              <a:rPr lang="en-US" sz="1050" dirty="0">
                <a:latin typeface="Consolas" panose="020B0609020204030204" pitchFamily="49" charset="0"/>
              </a:rPr>
              <a:t>)==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</a:t>
            </a:r>
            <a:r>
              <a:rPr lang="en-US" sz="1050" dirty="0" err="1">
                <a:latin typeface="Consolas" panose="020B0609020204030204" pitchFamily="49" charset="0"/>
              </a:rPr>
              <a:t>upPtr</a:t>
            </a:r>
            <a:r>
              <a:rPr lang="en-US" sz="1050" dirty="0">
                <a:latin typeface="Consolas" panose="020B0609020204030204" pitchFamily="49" charset="0"/>
              </a:rPr>
              <a:t>-&gt;left=</a:t>
            </a:r>
            <a:r>
              <a:rPr lang="en-US" sz="1050" dirty="0" err="1">
                <a:latin typeface="Consolas" panose="020B0609020204030204" pitchFamily="49" charset="0"/>
              </a:rPr>
              <a:t>leftPtr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</a:t>
            </a:r>
            <a:r>
              <a:rPr lang="en-US" sz="1050" dirty="0" err="1">
                <a:latin typeface="Consolas" panose="020B0609020204030204" pitchFamily="49" charset="0"/>
              </a:rPr>
              <a:t>leftPtr</a:t>
            </a:r>
            <a:r>
              <a:rPr lang="en-US" sz="1050" dirty="0">
                <a:latin typeface="Consolas" panose="020B0609020204030204" pitchFamily="49" charset="0"/>
              </a:rPr>
              <a:t>-&gt;up=</a:t>
            </a:r>
            <a:r>
              <a:rPr lang="en-US" sz="1050" dirty="0" err="1">
                <a:latin typeface="Consolas" panose="020B0609020204030204" pitchFamily="49" charset="0"/>
              </a:rPr>
              <a:t>upPtr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return true;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else if(Right(</a:t>
            </a:r>
            <a:r>
              <a:rPr lang="en-US" sz="1050" dirty="0" err="1">
                <a:latin typeface="Consolas" panose="020B0609020204030204" pitchFamily="49" charset="0"/>
              </a:rPr>
              <a:t>upHd</a:t>
            </a:r>
            <a:r>
              <a:rPr lang="en-US" sz="1050" dirty="0">
                <a:latin typeface="Consolas" panose="020B0609020204030204" pitchFamily="49" charset="0"/>
              </a:rPr>
              <a:t>)==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</a:t>
            </a:r>
            <a:r>
              <a:rPr lang="en-US" sz="1050" dirty="0" err="1">
                <a:latin typeface="Consolas" panose="020B0609020204030204" pitchFamily="49" charset="0"/>
              </a:rPr>
              <a:t>upPtr</a:t>
            </a:r>
            <a:r>
              <a:rPr lang="en-US" sz="1050" dirty="0">
                <a:latin typeface="Consolas" panose="020B0609020204030204" pitchFamily="49" charset="0"/>
              </a:rPr>
              <a:t>-&gt;right=</a:t>
            </a:r>
            <a:r>
              <a:rPr lang="en-US" sz="1050" dirty="0" err="1">
                <a:latin typeface="Consolas" panose="020B0609020204030204" pitchFamily="49" charset="0"/>
              </a:rPr>
              <a:t>leftPtr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</a:t>
            </a:r>
            <a:r>
              <a:rPr lang="en-US" sz="1050" dirty="0" err="1">
                <a:latin typeface="Consolas" panose="020B0609020204030204" pitchFamily="49" charset="0"/>
              </a:rPr>
              <a:t>leftPtr</a:t>
            </a:r>
            <a:r>
              <a:rPr lang="en-US" sz="1050" dirty="0">
                <a:latin typeface="Consolas" panose="020B0609020204030204" pitchFamily="49" charset="0"/>
              </a:rPr>
              <a:t>-&gt;up=</a:t>
            </a:r>
            <a:r>
              <a:rPr lang="en-US" sz="1050" dirty="0" err="1">
                <a:latin typeface="Consolas" panose="020B0609020204030204" pitchFamily="49" charset="0"/>
              </a:rPr>
              <a:t>upPtr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return true;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else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</a:t>
            </a:r>
            <a:r>
              <a:rPr lang="en-US" sz="1050" dirty="0" err="1">
                <a:latin typeface="Consolas" panose="020B0609020204030204" pitchFamily="49" charset="0"/>
              </a:rPr>
              <a:t>fprintf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stderr</a:t>
            </a:r>
            <a:r>
              <a:rPr lang="en-US" sz="1050" dirty="0">
                <a:latin typeface="Consolas" panose="020B0609020204030204" pitchFamily="49" charset="0"/>
              </a:rPr>
              <a:t>,"Error! Internal Tree Data Structure is broken.\n");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return false;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}</a:t>
            </a:r>
          </a:p>
        </p:txBody>
      </p:sp>
    </p:spTree>
    <p:extLst>
      <p:ext uri="{BB962C8B-B14F-4D97-AF65-F5344CB8AC3E}">
        <p14:creationId xmlns:p14="http://schemas.microsoft.com/office/powerpoint/2010/main" val="349544907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1800" y="82550"/>
            <a:ext cx="6894836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        else if(</a:t>
            </a:r>
            <a:r>
              <a:rPr lang="en-US" sz="1050" dirty="0" err="1">
                <a:latin typeface="Consolas" panose="020B0609020204030204" pitchFamily="49" charset="0"/>
              </a:rPr>
              <a:t>leftHd.IsNull</a:t>
            </a:r>
            <a:r>
              <a:rPr lang="en-US" sz="105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if(</a:t>
            </a:r>
            <a:r>
              <a:rPr lang="en-US" sz="1050" dirty="0" err="1">
                <a:latin typeface="Consolas" panose="020B0609020204030204" pitchFamily="49" charset="0"/>
              </a:rPr>
              <a:t>upHd.IsNull</a:t>
            </a:r>
            <a:r>
              <a:rPr lang="en-US" sz="105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root=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rightHd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root-&gt;up=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return true;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else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// Connect </a:t>
            </a:r>
            <a:r>
              <a:rPr lang="en-US" sz="1050" dirty="0" err="1">
                <a:latin typeface="Consolas" panose="020B0609020204030204" pitchFamily="49" charset="0"/>
              </a:rPr>
              <a:t>upHd</a:t>
            </a:r>
            <a:r>
              <a:rPr lang="en-US" sz="1050" dirty="0">
                <a:latin typeface="Consolas" panose="020B0609020204030204" pitchFamily="49" charset="0"/>
              </a:rPr>
              <a:t> and </a:t>
            </a:r>
            <a:r>
              <a:rPr lang="en-US" sz="1050" dirty="0" err="1">
                <a:latin typeface="Consolas" panose="020B0609020204030204" pitchFamily="49" charset="0"/>
              </a:rPr>
              <a:t>rightHd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                auto </a:t>
            </a:r>
            <a:r>
              <a:rPr lang="en-US" sz="1050" dirty="0" err="1">
                <a:latin typeface="Consolas" panose="020B0609020204030204" pitchFamily="49" charset="0"/>
              </a:rPr>
              <a:t>upPtr</a:t>
            </a:r>
            <a:r>
              <a:rPr lang="en-US" sz="1050" dirty="0">
                <a:latin typeface="Consolas" panose="020B0609020204030204" pitchFamily="49" charset="0"/>
              </a:rPr>
              <a:t>=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upHd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auto </a:t>
            </a:r>
            <a:r>
              <a:rPr lang="en-US" sz="1050" dirty="0" err="1">
                <a:latin typeface="Consolas" panose="020B0609020204030204" pitchFamily="49" charset="0"/>
              </a:rPr>
              <a:t>rightPtr</a:t>
            </a:r>
            <a:r>
              <a:rPr lang="en-US" sz="1050" dirty="0">
                <a:latin typeface="Consolas" panose="020B0609020204030204" pitchFamily="49" charset="0"/>
              </a:rPr>
              <a:t>=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rightHd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if(Left(</a:t>
            </a:r>
            <a:r>
              <a:rPr lang="en-US" sz="1050" dirty="0" err="1">
                <a:latin typeface="Consolas" panose="020B0609020204030204" pitchFamily="49" charset="0"/>
              </a:rPr>
              <a:t>upHd</a:t>
            </a:r>
            <a:r>
              <a:rPr lang="en-US" sz="1050" dirty="0">
                <a:latin typeface="Consolas" panose="020B0609020204030204" pitchFamily="49" charset="0"/>
              </a:rPr>
              <a:t>)==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</a:t>
            </a:r>
            <a:r>
              <a:rPr lang="en-US" sz="1050" dirty="0" err="1">
                <a:latin typeface="Consolas" panose="020B0609020204030204" pitchFamily="49" charset="0"/>
              </a:rPr>
              <a:t>upPtr</a:t>
            </a:r>
            <a:r>
              <a:rPr lang="en-US" sz="1050" dirty="0">
                <a:latin typeface="Consolas" panose="020B0609020204030204" pitchFamily="49" charset="0"/>
              </a:rPr>
              <a:t>-&gt;left=</a:t>
            </a:r>
            <a:r>
              <a:rPr lang="en-US" sz="1050" dirty="0" err="1">
                <a:latin typeface="Consolas" panose="020B0609020204030204" pitchFamily="49" charset="0"/>
              </a:rPr>
              <a:t>rightPtr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</a:t>
            </a:r>
            <a:r>
              <a:rPr lang="en-US" sz="1050" dirty="0" err="1">
                <a:latin typeface="Consolas" panose="020B0609020204030204" pitchFamily="49" charset="0"/>
              </a:rPr>
              <a:t>rightPtr</a:t>
            </a:r>
            <a:r>
              <a:rPr lang="en-US" sz="1050" dirty="0">
                <a:latin typeface="Consolas" panose="020B0609020204030204" pitchFamily="49" charset="0"/>
              </a:rPr>
              <a:t>-&gt;up=</a:t>
            </a:r>
            <a:r>
              <a:rPr lang="en-US" sz="1050" dirty="0" err="1">
                <a:latin typeface="Consolas" panose="020B0609020204030204" pitchFamily="49" charset="0"/>
              </a:rPr>
              <a:t>upPtr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return true;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else if(Right(</a:t>
            </a:r>
            <a:r>
              <a:rPr lang="en-US" sz="1050" dirty="0" err="1">
                <a:latin typeface="Consolas" panose="020B0609020204030204" pitchFamily="49" charset="0"/>
              </a:rPr>
              <a:t>upHd</a:t>
            </a:r>
            <a:r>
              <a:rPr lang="en-US" sz="1050" dirty="0">
                <a:latin typeface="Consolas" panose="020B0609020204030204" pitchFamily="49" charset="0"/>
              </a:rPr>
              <a:t>)==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</a:t>
            </a:r>
            <a:r>
              <a:rPr lang="en-US" sz="1050" dirty="0" err="1">
                <a:latin typeface="Consolas" panose="020B0609020204030204" pitchFamily="49" charset="0"/>
              </a:rPr>
              <a:t>upPtr</a:t>
            </a:r>
            <a:r>
              <a:rPr lang="en-US" sz="1050" dirty="0">
                <a:latin typeface="Consolas" panose="020B0609020204030204" pitchFamily="49" charset="0"/>
              </a:rPr>
              <a:t>-&gt;right=</a:t>
            </a:r>
            <a:r>
              <a:rPr lang="en-US" sz="1050" dirty="0" err="1">
                <a:latin typeface="Consolas" panose="020B0609020204030204" pitchFamily="49" charset="0"/>
              </a:rPr>
              <a:t>rightPtr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</a:t>
            </a:r>
            <a:r>
              <a:rPr lang="en-US" sz="1050" dirty="0" err="1">
                <a:latin typeface="Consolas" panose="020B0609020204030204" pitchFamily="49" charset="0"/>
              </a:rPr>
              <a:t>rightPtr</a:t>
            </a:r>
            <a:r>
              <a:rPr lang="en-US" sz="1050" dirty="0">
                <a:latin typeface="Consolas" panose="020B0609020204030204" pitchFamily="49" charset="0"/>
              </a:rPr>
              <a:t>-&gt;up=</a:t>
            </a:r>
            <a:r>
              <a:rPr lang="en-US" sz="1050" dirty="0" err="1">
                <a:latin typeface="Consolas" panose="020B0609020204030204" pitchFamily="49" charset="0"/>
              </a:rPr>
              <a:t>upPtr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return true;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else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</a:t>
            </a:r>
            <a:r>
              <a:rPr lang="en-US" sz="1050" dirty="0" err="1">
                <a:latin typeface="Consolas" panose="020B0609020204030204" pitchFamily="49" charset="0"/>
              </a:rPr>
              <a:t>fprintf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stderr</a:t>
            </a:r>
            <a:r>
              <a:rPr lang="en-US" sz="1050" dirty="0">
                <a:latin typeface="Consolas" panose="020B0609020204030204" pitchFamily="49" charset="0"/>
              </a:rPr>
              <a:t>,"Error! Internal Tree Data Structure is broken.\n");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    return false;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else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return false;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return false;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42839589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2100" y="0"/>
            <a:ext cx="6894836" cy="687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bool Delete(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if(true==</a:t>
            </a:r>
            <a:r>
              <a:rPr lang="en-US" sz="1050" dirty="0" err="1">
                <a:latin typeface="Consolas" panose="020B0609020204030204" pitchFamily="49" charset="0"/>
              </a:rPr>
              <a:t>SimpleDetach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delete 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--</a:t>
            </a:r>
            <a:r>
              <a:rPr lang="en-US" sz="1050" dirty="0" err="1">
                <a:latin typeface="Consolas" panose="020B0609020204030204" pitchFamily="49" charset="0"/>
              </a:rPr>
              <a:t>nElem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return true;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else if(</a:t>
            </a:r>
            <a:r>
              <a:rPr lang="en-US" sz="1050" dirty="0" err="1">
                <a:latin typeface="Consolas" panose="020B0609020204030204" pitchFamily="49" charset="0"/>
              </a:rPr>
              <a:t>ndHd.IsNotNull</a:t>
            </a:r>
            <a:r>
              <a:rPr lang="en-US" sz="105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// Right most of left. Always Simple-Detachable.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// Also, since </a:t>
            </a:r>
            <a:r>
              <a:rPr lang="en-US" sz="1050" dirty="0" err="1">
                <a:latin typeface="Consolas" panose="020B0609020204030204" pitchFamily="49" charset="0"/>
              </a:rPr>
              <a:t>SimpleDetach</a:t>
            </a:r>
            <a:r>
              <a:rPr lang="en-US" sz="1050" dirty="0">
                <a:latin typeface="Consolas" panose="020B0609020204030204" pitchFamily="49" charset="0"/>
              </a:rPr>
              <a:t> of itself has failed, it must have a left sub-tree.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auto RMOL=</a:t>
            </a:r>
            <a:r>
              <a:rPr lang="en-US" sz="1050" dirty="0" err="1">
                <a:latin typeface="Consolas" panose="020B0609020204030204" pitchFamily="49" charset="0"/>
              </a:rPr>
              <a:t>RightMostOf</a:t>
            </a:r>
            <a:r>
              <a:rPr lang="en-US" sz="1050" dirty="0">
                <a:latin typeface="Consolas" panose="020B0609020204030204" pitchFamily="49" charset="0"/>
              </a:rPr>
              <a:t>(Left(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if(true==</a:t>
            </a:r>
            <a:r>
              <a:rPr lang="en-US" sz="1050" dirty="0" err="1">
                <a:latin typeface="Consolas" panose="020B0609020204030204" pitchFamily="49" charset="0"/>
              </a:rPr>
              <a:t>SimpleDetach</a:t>
            </a:r>
            <a:r>
              <a:rPr lang="en-US" sz="1050" dirty="0">
                <a:latin typeface="Consolas" panose="020B0609020204030204" pitchFamily="49" charset="0"/>
              </a:rPr>
              <a:t>(RMOL))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// Now, RMOL needs to take position of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.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auto </a:t>
            </a:r>
            <a:r>
              <a:rPr lang="en-US" sz="1050" dirty="0" err="1">
                <a:latin typeface="Consolas" panose="020B0609020204030204" pitchFamily="49" charset="0"/>
              </a:rPr>
              <a:t>RMOLptr</a:t>
            </a:r>
            <a:r>
              <a:rPr lang="en-US" sz="1050" dirty="0">
                <a:latin typeface="Consolas" panose="020B0609020204030204" pitchFamily="49" charset="0"/>
              </a:rPr>
              <a:t>=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(RMOL);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auto </a:t>
            </a:r>
            <a:r>
              <a:rPr lang="en-US" sz="1050" dirty="0" err="1">
                <a:latin typeface="Consolas" panose="020B0609020204030204" pitchFamily="49" charset="0"/>
              </a:rPr>
              <a:t>upPtr</a:t>
            </a:r>
            <a:r>
              <a:rPr lang="en-US" sz="1050" dirty="0">
                <a:latin typeface="Consolas" panose="020B0609020204030204" pitchFamily="49" charset="0"/>
              </a:rPr>
              <a:t>=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(Up(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auto </a:t>
            </a:r>
            <a:r>
              <a:rPr lang="en-US" sz="1050" dirty="0" err="1">
                <a:latin typeface="Consolas" panose="020B0609020204030204" pitchFamily="49" charset="0"/>
              </a:rPr>
              <a:t>leftPtr</a:t>
            </a:r>
            <a:r>
              <a:rPr lang="en-US" sz="1050" dirty="0">
                <a:latin typeface="Consolas" panose="020B0609020204030204" pitchFamily="49" charset="0"/>
              </a:rPr>
              <a:t>=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(Left(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auto </a:t>
            </a:r>
            <a:r>
              <a:rPr lang="en-US" sz="1050" dirty="0" err="1">
                <a:latin typeface="Consolas" panose="020B0609020204030204" pitchFamily="49" charset="0"/>
              </a:rPr>
              <a:t>rightPtr</a:t>
            </a:r>
            <a:r>
              <a:rPr lang="en-US" sz="1050" dirty="0">
                <a:latin typeface="Consolas" panose="020B0609020204030204" pitchFamily="49" charset="0"/>
              </a:rPr>
              <a:t>=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(Right(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));</a:t>
            </a:r>
          </a:p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            if(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==</a:t>
            </a:r>
            <a:r>
              <a:rPr lang="en-US" sz="1050" dirty="0" err="1">
                <a:latin typeface="Consolas" panose="020B0609020204030204" pitchFamily="49" charset="0"/>
              </a:rPr>
              <a:t>upPtr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root=</a:t>
            </a:r>
            <a:r>
              <a:rPr lang="en-US" sz="1050" dirty="0" err="1">
                <a:latin typeface="Consolas" panose="020B0609020204030204" pitchFamily="49" charset="0"/>
              </a:rPr>
              <a:t>RMOLptr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root-&gt;up=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else if(</a:t>
            </a:r>
            <a:r>
              <a:rPr lang="en-US" sz="1050" dirty="0" err="1">
                <a:latin typeface="Consolas" panose="020B0609020204030204" pitchFamily="49" charset="0"/>
              </a:rPr>
              <a:t>upPtr</a:t>
            </a:r>
            <a:r>
              <a:rPr lang="en-US" sz="1050" dirty="0">
                <a:latin typeface="Consolas" panose="020B0609020204030204" pitchFamily="49" charset="0"/>
              </a:rPr>
              <a:t>-&gt;left==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</a:t>
            </a:r>
            <a:r>
              <a:rPr lang="en-US" sz="1050" dirty="0" err="1">
                <a:latin typeface="Consolas" panose="020B0609020204030204" pitchFamily="49" charset="0"/>
              </a:rPr>
              <a:t>upPtr</a:t>
            </a:r>
            <a:r>
              <a:rPr lang="en-US" sz="1050" dirty="0">
                <a:latin typeface="Consolas" panose="020B0609020204030204" pitchFamily="49" charset="0"/>
              </a:rPr>
              <a:t>-&gt;left=</a:t>
            </a:r>
            <a:r>
              <a:rPr lang="en-US" sz="1050" dirty="0" err="1">
                <a:latin typeface="Consolas" panose="020B0609020204030204" pitchFamily="49" charset="0"/>
              </a:rPr>
              <a:t>RMOLptr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</a:t>
            </a:r>
            <a:r>
              <a:rPr lang="en-US" sz="1050" dirty="0" err="1">
                <a:latin typeface="Consolas" panose="020B0609020204030204" pitchFamily="49" charset="0"/>
              </a:rPr>
              <a:t>RMOLptr</a:t>
            </a:r>
            <a:r>
              <a:rPr lang="en-US" sz="1050" dirty="0">
                <a:latin typeface="Consolas" panose="020B0609020204030204" pitchFamily="49" charset="0"/>
              </a:rPr>
              <a:t>-&gt;up=</a:t>
            </a:r>
            <a:r>
              <a:rPr lang="en-US" sz="1050" dirty="0" err="1">
                <a:latin typeface="Consolas" panose="020B0609020204030204" pitchFamily="49" charset="0"/>
              </a:rPr>
              <a:t>upPtr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else if(</a:t>
            </a:r>
            <a:r>
              <a:rPr lang="en-US" sz="1050" dirty="0" err="1">
                <a:latin typeface="Consolas" panose="020B0609020204030204" pitchFamily="49" charset="0"/>
              </a:rPr>
              <a:t>upPtr</a:t>
            </a:r>
            <a:r>
              <a:rPr lang="en-US" sz="1050" dirty="0">
                <a:latin typeface="Consolas" panose="020B0609020204030204" pitchFamily="49" charset="0"/>
              </a:rPr>
              <a:t>-&gt;right==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</a:t>
            </a:r>
            <a:r>
              <a:rPr lang="en-US" sz="1050" dirty="0" err="1">
                <a:latin typeface="Consolas" panose="020B0609020204030204" pitchFamily="49" charset="0"/>
              </a:rPr>
              <a:t>upPtr</a:t>
            </a:r>
            <a:r>
              <a:rPr lang="en-US" sz="1050" dirty="0">
                <a:latin typeface="Consolas" panose="020B0609020204030204" pitchFamily="49" charset="0"/>
              </a:rPr>
              <a:t>-&gt;right=</a:t>
            </a:r>
            <a:r>
              <a:rPr lang="en-US" sz="1050" dirty="0" err="1">
                <a:latin typeface="Consolas" panose="020B0609020204030204" pitchFamily="49" charset="0"/>
              </a:rPr>
              <a:t>RMOLptr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</a:t>
            </a:r>
            <a:r>
              <a:rPr lang="en-US" sz="1050" dirty="0" err="1">
                <a:latin typeface="Consolas" panose="020B0609020204030204" pitchFamily="49" charset="0"/>
              </a:rPr>
              <a:t>RMOLptr</a:t>
            </a:r>
            <a:r>
              <a:rPr lang="en-US" sz="1050" dirty="0">
                <a:latin typeface="Consolas" panose="020B0609020204030204" pitchFamily="49" charset="0"/>
              </a:rPr>
              <a:t>-&gt;up=</a:t>
            </a:r>
            <a:r>
              <a:rPr lang="en-US" sz="1050" dirty="0" err="1">
                <a:latin typeface="Consolas" panose="020B0609020204030204" pitchFamily="49" charset="0"/>
              </a:rPr>
              <a:t>upPtr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else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</a:t>
            </a:r>
            <a:r>
              <a:rPr lang="en-US" sz="1050" dirty="0" err="1">
                <a:latin typeface="Consolas" panose="020B0609020204030204" pitchFamily="49" charset="0"/>
              </a:rPr>
              <a:t>fprintf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stderr</a:t>
            </a:r>
            <a:r>
              <a:rPr lang="en-US" sz="1050" dirty="0">
                <a:latin typeface="Consolas" panose="020B0609020204030204" pitchFamily="49" charset="0"/>
              </a:rPr>
              <a:t>,"Error! Internal Tree Data Structure is broken.\n");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return false;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}</a:t>
            </a:r>
          </a:p>
        </p:txBody>
      </p:sp>
    </p:spTree>
    <p:extLst>
      <p:ext uri="{BB962C8B-B14F-4D97-AF65-F5344CB8AC3E}">
        <p14:creationId xmlns:p14="http://schemas.microsoft.com/office/powerpoint/2010/main" val="19954451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2100" y="0"/>
            <a:ext cx="3945311" cy="31624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            </a:t>
            </a:r>
            <a:r>
              <a:rPr lang="en-US" sz="1050" dirty="0" err="1">
                <a:latin typeface="Consolas" panose="020B0609020204030204" pitchFamily="49" charset="0"/>
              </a:rPr>
              <a:t>RMOLptr</a:t>
            </a:r>
            <a:r>
              <a:rPr lang="en-US" sz="1050" dirty="0">
                <a:latin typeface="Consolas" panose="020B0609020204030204" pitchFamily="49" charset="0"/>
              </a:rPr>
              <a:t>-&gt;left=</a:t>
            </a:r>
            <a:r>
              <a:rPr lang="en-US" sz="1050" dirty="0" err="1">
                <a:latin typeface="Consolas" panose="020B0609020204030204" pitchFamily="49" charset="0"/>
              </a:rPr>
              <a:t>leftPtr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if(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!=</a:t>
            </a:r>
            <a:r>
              <a:rPr lang="en-US" sz="1050" dirty="0" err="1">
                <a:latin typeface="Consolas" panose="020B0609020204030204" pitchFamily="49" charset="0"/>
              </a:rPr>
              <a:t>leftPtr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</a:t>
            </a:r>
            <a:r>
              <a:rPr lang="en-US" sz="1050" dirty="0" err="1">
                <a:latin typeface="Consolas" panose="020B0609020204030204" pitchFamily="49" charset="0"/>
              </a:rPr>
              <a:t>leftPtr</a:t>
            </a:r>
            <a:r>
              <a:rPr lang="en-US" sz="1050" dirty="0">
                <a:latin typeface="Consolas" panose="020B0609020204030204" pitchFamily="49" charset="0"/>
              </a:rPr>
              <a:t>-&gt;up=</a:t>
            </a:r>
            <a:r>
              <a:rPr lang="en-US" sz="1050" dirty="0" err="1">
                <a:latin typeface="Consolas" panose="020B0609020204030204" pitchFamily="49" charset="0"/>
              </a:rPr>
              <a:t>RMOLptr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</a:t>
            </a:r>
            <a:r>
              <a:rPr lang="en-US" sz="1050" dirty="0" err="1">
                <a:latin typeface="Consolas" panose="020B0609020204030204" pitchFamily="49" charset="0"/>
              </a:rPr>
              <a:t>RMOLptr</a:t>
            </a:r>
            <a:r>
              <a:rPr lang="en-US" sz="1050" dirty="0">
                <a:latin typeface="Consolas" panose="020B0609020204030204" pitchFamily="49" charset="0"/>
              </a:rPr>
              <a:t>-&gt;right=</a:t>
            </a:r>
            <a:r>
              <a:rPr lang="en-US" sz="1050" dirty="0" err="1">
                <a:latin typeface="Consolas" panose="020B0609020204030204" pitchFamily="49" charset="0"/>
              </a:rPr>
              <a:t>rightPtr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if(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!=</a:t>
            </a:r>
            <a:r>
              <a:rPr lang="en-US" sz="1050" dirty="0" err="1">
                <a:latin typeface="Consolas" panose="020B0609020204030204" pitchFamily="49" charset="0"/>
              </a:rPr>
              <a:t>rightPtr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</a:t>
            </a:r>
            <a:r>
              <a:rPr lang="en-US" sz="1050" dirty="0" err="1">
                <a:latin typeface="Consolas" panose="020B0609020204030204" pitchFamily="49" charset="0"/>
              </a:rPr>
              <a:t>rightPtr</a:t>
            </a:r>
            <a:r>
              <a:rPr lang="en-US" sz="1050" dirty="0">
                <a:latin typeface="Consolas" panose="020B0609020204030204" pitchFamily="49" charset="0"/>
              </a:rPr>
              <a:t>-&gt;up=</a:t>
            </a:r>
            <a:r>
              <a:rPr lang="en-US" sz="1050" dirty="0" err="1">
                <a:latin typeface="Consolas" panose="020B0609020204030204" pitchFamily="49" charset="0"/>
              </a:rPr>
              <a:t>RMOLptr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}</a:t>
            </a:r>
          </a:p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            delete 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--</a:t>
            </a:r>
            <a:r>
              <a:rPr lang="en-US" sz="1050" dirty="0" err="1">
                <a:latin typeface="Consolas" panose="020B0609020204030204" pitchFamily="49" charset="0"/>
              </a:rPr>
              <a:t>nElem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return true;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return false; // Cannot delete a null node.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40302164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a binary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Goal:  </a:t>
            </a:r>
          </a:p>
          <a:p>
            <a:r>
              <a:rPr lang="en-US" dirty="0"/>
              <a:t>Visualize how the binary-tree is constructed.</a:t>
            </a:r>
          </a:p>
          <a:p>
            <a:r>
              <a:rPr lang="en-US" dirty="0"/>
              <a:t>Test deletion and insertion in graphical interface.</a:t>
            </a:r>
          </a:p>
          <a:p>
            <a:r>
              <a:rPr lang="en-US" dirty="0"/>
              <a:t>Interactively apply a binary-tree operation called tree rotation.</a:t>
            </a:r>
          </a:p>
          <a:p>
            <a:r>
              <a:rPr lang="en-US" dirty="0"/>
              <a:t>Implement and verify tree-rebalancing algorithm.</a:t>
            </a:r>
          </a:p>
        </p:txBody>
      </p:sp>
    </p:spTree>
    <p:extLst>
      <p:ext uri="{BB962C8B-B14F-4D97-AF65-F5344CB8AC3E}">
        <p14:creationId xmlns:p14="http://schemas.microsoft.com/office/powerpoint/2010/main" val="427119870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Nodes and Window Regions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level takes 40 pixels vertically.</a:t>
            </a:r>
          </a:p>
          <a:p>
            <a:r>
              <a:rPr lang="en-US" dirty="0"/>
              <a:t>The top-level (root) takes from 0 to 800 horizontally.</a:t>
            </a:r>
          </a:p>
          <a:p>
            <a:r>
              <a:rPr lang="en-US" dirty="0"/>
              <a:t>The second level nodes take left and right halves of the top-level node.</a:t>
            </a:r>
          </a:p>
          <a:p>
            <a:r>
              <a:rPr lang="en-US" dirty="0"/>
              <a:t>Can be drawn by recursion.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413250" y="3524250"/>
            <a:ext cx="4375150" cy="3232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286250" y="3543300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286250" y="4000500"/>
            <a:ext cx="469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286250" y="4000500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286250" y="4457700"/>
            <a:ext cx="469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4286250" y="4451350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286250" y="4908550"/>
            <a:ext cx="469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286250" y="4908550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286250" y="5365750"/>
            <a:ext cx="469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4286250" y="5372100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286250" y="5829300"/>
            <a:ext cx="469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286250" y="5835650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286250" y="6292850"/>
            <a:ext cx="469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286250" y="6299200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286250" y="6756400"/>
            <a:ext cx="469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248228" y="3587234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40 pixels</a:t>
            </a:r>
          </a:p>
        </p:txBody>
      </p:sp>
      <p:cxnSp>
        <p:nvCxnSpPr>
          <p:cNvPr id="24" name="Straight Connector 23"/>
          <p:cNvCxnSpPr>
            <a:endCxn id="4" idx="2"/>
          </p:cNvCxnSpPr>
          <p:nvPr/>
        </p:nvCxnSpPr>
        <p:spPr>
          <a:xfrm>
            <a:off x="6600825" y="4000500"/>
            <a:ext cx="0" cy="2755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46795" y="3549651"/>
            <a:ext cx="1108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Top-level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73661" y="4022211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2nd Level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3046" y="4016893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2nd Level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5486400" y="4457700"/>
            <a:ext cx="0" cy="22987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7734300" y="4457700"/>
            <a:ext cx="0" cy="22987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343400" y="4461394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3rd Level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76874" y="4461394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3rd Level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35750" y="4474092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3rd Level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43992" y="4480442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3rd Level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4910222" y="4914901"/>
            <a:ext cx="0" cy="1841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6043696" y="4914901"/>
            <a:ext cx="0" cy="1841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7154855" y="4908550"/>
            <a:ext cx="0" cy="1841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8247986" y="4908549"/>
            <a:ext cx="0" cy="18414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401689" y="4949310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46705" y="4946652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24362" y="4955659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71746" y="4942961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4631" y="4955659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89308" y="4950345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60056" y="4942961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95035" y="4937641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4th</a:t>
            </a:r>
          </a:p>
        </p:txBody>
      </p:sp>
      <p:cxnSp>
        <p:nvCxnSpPr>
          <p:cNvPr id="54" name="Straight Connector 53"/>
          <p:cNvCxnSpPr/>
          <p:nvPr/>
        </p:nvCxnSpPr>
        <p:spPr>
          <a:xfrm>
            <a:off x="4663533" y="5365750"/>
            <a:ext cx="0" cy="13842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5199338" y="5365750"/>
            <a:ext cx="0" cy="13842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5769333" y="5365750"/>
            <a:ext cx="0" cy="13842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6308862" y="5372100"/>
            <a:ext cx="0" cy="13842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6877264" y="5365750"/>
            <a:ext cx="0" cy="13842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7448505" y="5372100"/>
            <a:ext cx="0" cy="13842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8012689" y="5365750"/>
            <a:ext cx="0" cy="13842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8546657" y="5365750"/>
            <a:ext cx="0" cy="13842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4533900" y="5829298"/>
            <a:ext cx="0" cy="920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4787900" y="5829298"/>
            <a:ext cx="0" cy="920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5060950" y="5829298"/>
            <a:ext cx="0" cy="920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5314950" y="5829298"/>
            <a:ext cx="0" cy="920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626100" y="5835648"/>
            <a:ext cx="0" cy="920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5880100" y="5835648"/>
            <a:ext cx="0" cy="920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6153150" y="5835648"/>
            <a:ext cx="0" cy="920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6407150" y="5835648"/>
            <a:ext cx="0" cy="920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743700" y="5822948"/>
            <a:ext cx="0" cy="920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997700" y="5822948"/>
            <a:ext cx="0" cy="920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7302500" y="5822948"/>
            <a:ext cx="0" cy="920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7556500" y="5822948"/>
            <a:ext cx="0" cy="920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7867650" y="5829298"/>
            <a:ext cx="0" cy="920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8121650" y="5829298"/>
            <a:ext cx="0" cy="920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8401050" y="5829298"/>
            <a:ext cx="0" cy="920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>
            <a:off x="8655050" y="5829298"/>
            <a:ext cx="0" cy="920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Group 115"/>
          <p:cNvGrpSpPr/>
          <p:nvPr/>
        </p:nvGrpSpPr>
        <p:grpSpPr>
          <a:xfrm>
            <a:off x="4480281" y="6283323"/>
            <a:ext cx="4121150" cy="460375"/>
            <a:chOff x="4435831" y="4924423"/>
            <a:chExt cx="4121150" cy="933450"/>
          </a:xfrm>
        </p:grpSpPr>
        <p:cxnSp>
          <p:nvCxnSpPr>
            <p:cNvPr id="84" name="Straight Connector 83"/>
            <p:cNvCxnSpPr/>
            <p:nvPr/>
          </p:nvCxnSpPr>
          <p:spPr>
            <a:xfrm>
              <a:off x="4435831" y="4930773"/>
              <a:ext cx="0" cy="920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>
              <a:off x="4689831" y="4930773"/>
              <a:ext cx="0" cy="920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>
              <a:off x="4962881" y="4930773"/>
              <a:ext cx="0" cy="920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>
              <a:off x="5216881" y="4930773"/>
              <a:ext cx="0" cy="920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5528031" y="4937123"/>
              <a:ext cx="0" cy="920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>
              <a:off x="5782031" y="4937123"/>
              <a:ext cx="0" cy="920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>
              <a:off x="6055081" y="4937123"/>
              <a:ext cx="0" cy="920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>
            <a:xfrm>
              <a:off x="6309081" y="4937123"/>
              <a:ext cx="0" cy="920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>
              <a:off x="6645631" y="4924423"/>
              <a:ext cx="0" cy="920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>
            <a:xfrm>
              <a:off x="6899631" y="4924423"/>
              <a:ext cx="0" cy="920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7204431" y="4924423"/>
              <a:ext cx="0" cy="920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7458431" y="4924423"/>
              <a:ext cx="0" cy="920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>
              <a:off x="7769581" y="4930773"/>
              <a:ext cx="0" cy="920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>
              <a:off x="8023581" y="4930773"/>
              <a:ext cx="0" cy="920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>
              <a:off x="8302981" y="4930773"/>
              <a:ext cx="0" cy="920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8556981" y="4930773"/>
              <a:ext cx="0" cy="9207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8" name="Straight Connector 117"/>
          <p:cNvCxnSpPr/>
          <p:nvPr/>
        </p:nvCxnSpPr>
        <p:spPr>
          <a:xfrm>
            <a:off x="8718550" y="6292850"/>
            <a:ext cx="0" cy="4635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4295550" y="313003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440569" y="3154917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800</a:t>
            </a:r>
          </a:p>
        </p:txBody>
      </p:sp>
    </p:spTree>
    <p:extLst>
      <p:ext uri="{BB962C8B-B14F-4D97-AF65-F5344CB8AC3E}">
        <p14:creationId xmlns:p14="http://schemas.microsoft.com/office/powerpoint/2010/main" val="199258568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Setting up a project.</a:t>
            </a:r>
          </a:p>
          <a:p>
            <a:r>
              <a:rPr lang="en-US" dirty="0"/>
              <a:t>Copy main.cpp from the </a:t>
            </a:r>
            <a:r>
              <a:rPr lang="en-US" dirty="0" err="1"/>
              <a:t>FsLazyWindow</a:t>
            </a:r>
            <a:r>
              <a:rPr lang="en-US" dirty="0"/>
              <a:t> template.</a:t>
            </a:r>
          </a:p>
          <a:p>
            <a:r>
              <a:rPr lang="en-US" dirty="0"/>
              <a:t>You need to add two libraries:</a:t>
            </a:r>
          </a:p>
          <a:p>
            <a:pPr lvl="1"/>
            <a:r>
              <a:rPr lang="en-US" dirty="0" err="1"/>
              <a:t>fslazywindow</a:t>
            </a:r>
            <a:r>
              <a:rPr lang="en-US" dirty="0"/>
              <a:t>, and</a:t>
            </a:r>
          </a:p>
          <a:p>
            <a:pPr lvl="1"/>
            <a:r>
              <a:rPr lang="en-US" dirty="0" err="1"/>
              <a:t>ysbitmapfont</a:t>
            </a:r>
            <a:endParaRPr lang="en-US" dirty="0"/>
          </a:p>
          <a:p>
            <a:r>
              <a:rPr lang="en-US" dirty="0" err="1"/>
              <a:t>Ysbitmapfont</a:t>
            </a:r>
            <a:r>
              <a:rPr lang="en-US" dirty="0"/>
              <a:t> library is the same font-drawing library used in 24780.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200" y="4616450"/>
            <a:ext cx="7778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</a:rPr>
              <a:t>add_executable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binary_tree_visualizer</a:t>
            </a:r>
            <a:r>
              <a:rPr lang="en-US" sz="1400" dirty="0">
                <a:latin typeface="Consolas" panose="020B0609020204030204" pitchFamily="49" charset="0"/>
              </a:rPr>
              <a:t> main.cpp </a:t>
            </a:r>
            <a:r>
              <a:rPr lang="en-US" sz="1400" dirty="0" err="1">
                <a:latin typeface="Consolas" panose="020B0609020204030204" pitchFamily="49" charset="0"/>
              </a:rPr>
              <a:t>bintree.h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 err="1">
                <a:latin typeface="Consolas" panose="020B0609020204030204" pitchFamily="49" charset="0"/>
              </a:rPr>
              <a:t>target_link_libraries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binary_tree_visualizer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fslazywindow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r>
              <a:rPr lang="en-US" sz="1400" dirty="0" err="1">
                <a:latin typeface="Consolas" panose="020B0609020204030204" pitchFamily="49" charset="0"/>
              </a:rPr>
              <a:t>ysbitmapfont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7279051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 structure that needs to be stored in the application class is a binary tree.</a:t>
            </a:r>
          </a:p>
          <a:p>
            <a:r>
              <a:rPr lang="en-US" dirty="0"/>
              <a:t>In the initialization, add 50 random numbers to the tree.</a:t>
            </a:r>
          </a:p>
          <a:p>
            <a:r>
              <a:rPr lang="en-US" dirty="0"/>
              <a:t>In Interval, at this point, you don't have to do anything.</a:t>
            </a:r>
          </a:p>
          <a:p>
            <a:r>
              <a:rPr lang="en-US" dirty="0"/>
              <a:t>In Draw, visualize the tree.</a:t>
            </a:r>
          </a:p>
          <a:p>
            <a:endParaRPr lang="en-US" dirty="0"/>
          </a:p>
          <a:p>
            <a:r>
              <a:rPr lang="en-US" dirty="0"/>
              <a:t>Cut-out Binary-Tree code in </a:t>
            </a:r>
            <a:r>
              <a:rPr lang="en-US" dirty="0" err="1"/>
              <a:t>bintree.h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4469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to the </a:t>
            </a:r>
            <a:r>
              <a:rPr lang="en-US" dirty="0" err="1"/>
              <a:t>FsLazyWindowApplication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following headers at the beginning of main.cpp</a:t>
            </a:r>
            <a:br>
              <a:rPr lang="en-US" dirty="0"/>
            </a:br>
            <a:r>
              <a:rPr lang="en-US" sz="1050" dirty="0">
                <a:latin typeface="Consolas" panose="020B0609020204030204" pitchFamily="49" charset="0"/>
              </a:rPr>
              <a:t>#include &lt;</a:t>
            </a:r>
            <a:r>
              <a:rPr lang="en-US" sz="1050" dirty="0" err="1">
                <a:latin typeface="Consolas" panose="020B0609020204030204" pitchFamily="49" charset="0"/>
              </a:rPr>
              <a:t>stdio.h</a:t>
            </a:r>
            <a:r>
              <a:rPr lang="en-US" sz="1050" dirty="0">
                <a:latin typeface="Consolas" panose="020B0609020204030204" pitchFamily="49" charset="0"/>
              </a:rPr>
              <a:t>&gt;</a:t>
            </a:r>
            <a:br>
              <a:rPr lang="en-US" sz="1050" dirty="0">
                <a:latin typeface="Consolas" panose="020B0609020204030204" pitchFamily="49" charset="0"/>
              </a:rPr>
            </a:br>
            <a:r>
              <a:rPr lang="en-US" sz="1050" dirty="0">
                <a:latin typeface="Consolas" panose="020B0609020204030204" pitchFamily="49" charset="0"/>
              </a:rPr>
              <a:t>#include &lt;</a:t>
            </a:r>
            <a:r>
              <a:rPr lang="en-US" sz="1050" dirty="0" err="1">
                <a:latin typeface="Consolas" panose="020B0609020204030204" pitchFamily="49" charset="0"/>
              </a:rPr>
              <a:t>stdlib.h</a:t>
            </a:r>
            <a:r>
              <a:rPr lang="en-US" sz="1050" dirty="0">
                <a:latin typeface="Consolas" panose="020B0609020204030204" pitchFamily="49" charset="0"/>
              </a:rPr>
              <a:t>&gt;</a:t>
            </a:r>
            <a:br>
              <a:rPr lang="en-US" sz="1050" dirty="0">
                <a:latin typeface="Consolas" panose="020B0609020204030204" pitchFamily="49" charset="0"/>
              </a:rPr>
            </a:br>
            <a:r>
              <a:rPr lang="en-US" sz="1050" dirty="0">
                <a:latin typeface="Consolas" panose="020B0609020204030204" pitchFamily="49" charset="0"/>
              </a:rPr>
              <a:t>#include &lt;</a:t>
            </a:r>
            <a:r>
              <a:rPr lang="en-US" sz="1050" dirty="0" err="1">
                <a:latin typeface="Consolas" panose="020B0609020204030204" pitchFamily="49" charset="0"/>
              </a:rPr>
              <a:t>time.h</a:t>
            </a:r>
            <a:r>
              <a:rPr lang="en-US" sz="1050" dirty="0">
                <a:latin typeface="Consolas" panose="020B0609020204030204" pitchFamily="49" charset="0"/>
              </a:rPr>
              <a:t>&gt;</a:t>
            </a:r>
            <a:br>
              <a:rPr lang="en-US" sz="1050" dirty="0">
                <a:latin typeface="Consolas" panose="020B0609020204030204" pitchFamily="49" charset="0"/>
              </a:rPr>
            </a:br>
            <a:r>
              <a:rPr lang="en-US" sz="1050" dirty="0">
                <a:latin typeface="Consolas" panose="020B0609020204030204" pitchFamily="49" charset="0"/>
              </a:rPr>
              <a:t>#include &lt;</a:t>
            </a:r>
            <a:r>
              <a:rPr lang="en-US" sz="1050" dirty="0" err="1">
                <a:latin typeface="Consolas" panose="020B0609020204030204" pitchFamily="49" charset="0"/>
              </a:rPr>
              <a:t>ysglfontdata.h</a:t>
            </a:r>
            <a:r>
              <a:rPr lang="en-US" sz="1050" dirty="0">
                <a:latin typeface="Consolas" panose="020B0609020204030204" pitchFamily="49" charset="0"/>
              </a:rPr>
              <a:t>&gt;</a:t>
            </a:r>
            <a:br>
              <a:rPr lang="en-US" sz="1050" dirty="0">
                <a:latin typeface="Consolas" panose="020B0609020204030204" pitchFamily="49" charset="0"/>
              </a:rPr>
            </a:br>
            <a:r>
              <a:rPr lang="en-US" sz="1050" dirty="0">
                <a:latin typeface="Consolas" panose="020B0609020204030204" pitchFamily="49" charset="0"/>
              </a:rPr>
              <a:t>#include &lt;</a:t>
            </a:r>
            <a:r>
              <a:rPr lang="en-US" sz="1050" dirty="0" err="1">
                <a:latin typeface="Consolas" panose="020B0609020204030204" pitchFamily="49" charset="0"/>
              </a:rPr>
              <a:t>fslazywindow.h</a:t>
            </a:r>
            <a:r>
              <a:rPr lang="en-US" sz="1050" dirty="0">
                <a:latin typeface="Consolas" panose="020B0609020204030204" pitchFamily="49" charset="0"/>
              </a:rPr>
              <a:t>&gt;</a:t>
            </a:r>
            <a:br>
              <a:rPr lang="en-US" sz="1050" dirty="0">
                <a:latin typeface="Consolas" panose="020B0609020204030204" pitchFamily="49" charset="0"/>
              </a:rPr>
            </a:br>
            <a:r>
              <a:rPr lang="en-US" sz="1050" dirty="0">
                <a:latin typeface="Consolas" panose="020B0609020204030204" pitchFamily="49" charset="0"/>
              </a:rPr>
              <a:t>#include "</a:t>
            </a:r>
            <a:r>
              <a:rPr lang="en-US" sz="1050" dirty="0" err="1">
                <a:latin typeface="Consolas" panose="020B0609020204030204" pitchFamily="49" charset="0"/>
              </a:rPr>
              <a:t>bintree.h</a:t>
            </a:r>
            <a:r>
              <a:rPr lang="en-US" sz="1050" dirty="0">
                <a:latin typeface="Consolas" panose="020B0609020204030204" pitchFamily="49" charset="0"/>
              </a:rPr>
              <a:t>"</a:t>
            </a:r>
          </a:p>
          <a:p>
            <a:r>
              <a:rPr lang="en-US" dirty="0"/>
              <a:t>Add a member variable in </a:t>
            </a:r>
            <a:r>
              <a:rPr lang="en-US" dirty="0" err="1"/>
              <a:t>FsLazyWindowApplication</a:t>
            </a:r>
            <a:r>
              <a:rPr lang="en-US" dirty="0"/>
              <a:t> class as:</a:t>
            </a:r>
            <a:br>
              <a:rPr lang="en-US" dirty="0"/>
            </a:br>
            <a:r>
              <a:rPr lang="en-US" sz="1400" dirty="0" err="1">
                <a:latin typeface="Lucida Console" panose="020B0609040504020204" pitchFamily="49" charset="0"/>
              </a:rPr>
              <a:t>BinaryTree</a:t>
            </a:r>
            <a:r>
              <a:rPr lang="en-US" sz="1400" dirty="0">
                <a:latin typeface="Lucida Console" panose="020B0609040504020204" pitchFamily="49" charset="0"/>
              </a:rPr>
              <a:t> &lt;</a:t>
            </a:r>
            <a:r>
              <a:rPr lang="en-US" sz="1400" dirty="0" err="1">
                <a:latin typeface="Lucida Console" panose="020B0609040504020204" pitchFamily="49" charset="0"/>
              </a:rPr>
              <a:t>int,int</a:t>
            </a:r>
            <a:r>
              <a:rPr lang="en-US" sz="1400" dirty="0">
                <a:latin typeface="Lucida Console" panose="020B0609040504020204" pitchFamily="49" charset="0"/>
              </a:rPr>
              <a:t>&gt; </a:t>
            </a:r>
            <a:r>
              <a:rPr lang="en-US" sz="1400" dirty="0" err="1">
                <a:latin typeface="Lucida Console" panose="020B0609040504020204" pitchFamily="49" charset="0"/>
              </a:rPr>
              <a:t>btree</a:t>
            </a:r>
            <a:r>
              <a:rPr lang="en-US" sz="1400" dirty="0">
                <a:latin typeface="Lucida Console" panose="020B0609040504020204" pitchFamily="49" charset="0"/>
              </a:rPr>
              <a:t>;</a:t>
            </a:r>
            <a:endParaRPr lang="en-US" dirty="0">
              <a:latin typeface="Lucida Console" panose="020B0609040504020204" pitchFamily="49" charset="0"/>
            </a:endParaRPr>
          </a:p>
          <a:p>
            <a:r>
              <a:rPr lang="en-US" dirty="0"/>
              <a:t>In Initialize, do the following:</a:t>
            </a:r>
            <a:br>
              <a:rPr lang="en-US" dirty="0"/>
            </a:br>
            <a:r>
              <a:rPr lang="en-US" sz="1400" dirty="0">
                <a:latin typeface="Lucida Console" panose="020B0609040504020204" pitchFamily="49" charset="0"/>
              </a:rPr>
              <a:t>     </a:t>
            </a:r>
            <a:r>
              <a:rPr lang="en-US" sz="1400" dirty="0" err="1">
                <a:latin typeface="Lucida Console" panose="020B0609040504020204" pitchFamily="49" charset="0"/>
              </a:rPr>
              <a:t>srand</a:t>
            </a:r>
            <a:r>
              <a:rPr lang="en-US" sz="1400" dirty="0">
                <a:latin typeface="Lucida Console" panose="020B0609040504020204" pitchFamily="49" charset="0"/>
              </a:rPr>
              <a:t>((</a:t>
            </a:r>
            <a:r>
              <a:rPr lang="en-US" sz="1400" dirty="0" err="1">
                <a:latin typeface="Lucida Console" panose="020B0609040504020204" pitchFamily="49" charset="0"/>
              </a:rPr>
              <a:t>int</a:t>
            </a:r>
            <a:r>
              <a:rPr lang="en-US" sz="1400" dirty="0">
                <a:latin typeface="Lucida Console" panose="020B0609040504020204" pitchFamily="49" charset="0"/>
              </a:rPr>
              <a:t>)time(</a:t>
            </a:r>
            <a:r>
              <a:rPr lang="en-US" sz="1400" dirty="0" err="1">
                <a:latin typeface="Lucida Console" panose="020B0609040504020204" pitchFamily="49" charset="0"/>
              </a:rPr>
              <a:t>nullptr</a:t>
            </a:r>
            <a:r>
              <a:rPr lang="en-US" sz="1400" dirty="0">
                <a:latin typeface="Lucida Console" panose="020B0609040504020204" pitchFamily="49" charset="0"/>
              </a:rPr>
              <a:t>));</a:t>
            </a:r>
            <a:br>
              <a:rPr lang="en-US" sz="1400" dirty="0">
                <a:latin typeface="Lucida Console" panose="020B0609040504020204" pitchFamily="49" charset="0"/>
              </a:rPr>
            </a:br>
            <a:r>
              <a:rPr lang="en-US" sz="1400" dirty="0">
                <a:latin typeface="Lucida Console" panose="020B0609040504020204" pitchFamily="49" charset="0"/>
              </a:rPr>
              <a:t>    for(</a:t>
            </a:r>
            <a:r>
              <a:rPr lang="en-US" sz="1400" dirty="0" err="1">
                <a:latin typeface="Lucida Console" panose="020B0609040504020204" pitchFamily="49" charset="0"/>
              </a:rPr>
              <a:t>int</a:t>
            </a:r>
            <a:r>
              <a:rPr lang="en-US" sz="1400" dirty="0"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latin typeface="Lucida Console" panose="020B0609040504020204" pitchFamily="49" charset="0"/>
              </a:rPr>
              <a:t>i</a:t>
            </a:r>
            <a:r>
              <a:rPr lang="en-US" sz="1400" dirty="0">
                <a:latin typeface="Lucida Console" panose="020B0609040504020204" pitchFamily="49" charset="0"/>
              </a:rPr>
              <a:t>=0; </a:t>
            </a:r>
            <a:r>
              <a:rPr lang="en-US" sz="1400" dirty="0" err="1">
                <a:latin typeface="Lucida Console" panose="020B0609040504020204" pitchFamily="49" charset="0"/>
              </a:rPr>
              <a:t>i</a:t>
            </a:r>
            <a:r>
              <a:rPr lang="en-US" sz="1400" dirty="0">
                <a:latin typeface="Lucida Console" panose="020B0609040504020204" pitchFamily="49" charset="0"/>
              </a:rPr>
              <a:t>&lt;50; ++</a:t>
            </a:r>
            <a:r>
              <a:rPr lang="en-US" sz="1400" dirty="0" err="1">
                <a:latin typeface="Lucida Console" panose="020B0609040504020204" pitchFamily="49" charset="0"/>
              </a:rPr>
              <a:t>i</a:t>
            </a:r>
            <a:r>
              <a:rPr lang="en-US" sz="1400" dirty="0">
                <a:latin typeface="Lucida Console" panose="020B0609040504020204" pitchFamily="49" charset="0"/>
              </a:rPr>
              <a:t>)</a:t>
            </a:r>
            <a:br>
              <a:rPr lang="en-US" sz="1400" dirty="0">
                <a:latin typeface="Lucida Console" panose="020B0609040504020204" pitchFamily="49" charset="0"/>
              </a:rPr>
            </a:br>
            <a:r>
              <a:rPr lang="en-US" sz="1400" dirty="0">
                <a:latin typeface="Lucida Console" panose="020B0609040504020204" pitchFamily="49" charset="0"/>
              </a:rPr>
              <a:t>    {</a:t>
            </a:r>
            <a:br>
              <a:rPr lang="en-US" sz="1400" dirty="0">
                <a:latin typeface="Lucida Console" panose="020B0609040504020204" pitchFamily="49" charset="0"/>
              </a:rPr>
            </a:br>
            <a:r>
              <a:rPr lang="en-US" sz="1400" dirty="0">
                <a:latin typeface="Lucida Console" panose="020B0609040504020204" pitchFamily="49" charset="0"/>
              </a:rPr>
              <a:t>        </a:t>
            </a:r>
            <a:r>
              <a:rPr lang="en-US" sz="1400" dirty="0" err="1">
                <a:latin typeface="Lucida Console" panose="020B0609040504020204" pitchFamily="49" charset="0"/>
              </a:rPr>
              <a:t>tree.Insert</a:t>
            </a:r>
            <a:r>
              <a:rPr lang="en-US" sz="1400" dirty="0">
                <a:latin typeface="Lucida Console" panose="020B0609040504020204" pitchFamily="49" charset="0"/>
              </a:rPr>
              <a:t>(rand()%100,0);</a:t>
            </a:r>
            <a:br>
              <a:rPr lang="en-US" sz="1400" dirty="0">
                <a:latin typeface="Lucida Console" panose="020B0609040504020204" pitchFamily="49" charset="0"/>
              </a:rPr>
            </a:br>
            <a:r>
              <a:rPr lang="en-US" sz="1400" dirty="0">
                <a:latin typeface="Lucida Console" panose="020B0609040504020204" pitchFamily="49" charset="0"/>
              </a:rPr>
              <a:t>    }</a:t>
            </a:r>
          </a:p>
          <a:p>
            <a:endParaRPr lang="en-US" sz="1400" dirty="0">
              <a:latin typeface="Lucida Console" panose="020B0609040504020204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03468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 member-function: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66498" y="1772905"/>
            <a:ext cx="7411003" cy="3647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void </a:t>
            </a:r>
            <a:r>
              <a:rPr lang="en-US" sz="1050" dirty="0" err="1">
                <a:latin typeface="Consolas" panose="020B0609020204030204" pitchFamily="49" charset="0"/>
              </a:rPr>
              <a:t>FsLazyWindowApplication</a:t>
            </a:r>
            <a:r>
              <a:rPr lang="en-US" sz="1050" dirty="0">
                <a:latin typeface="Consolas" panose="020B0609020204030204" pitchFamily="49" charset="0"/>
              </a:rPr>
              <a:t>::</a:t>
            </a:r>
            <a:r>
              <a:rPr lang="en-US" sz="1050" dirty="0" err="1">
                <a:latin typeface="Consolas" panose="020B0609020204030204" pitchFamily="49" charset="0"/>
              </a:rPr>
              <a:t>DrawNode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int</a:t>
            </a:r>
            <a:r>
              <a:rPr lang="en-US" sz="1050" dirty="0">
                <a:latin typeface="Consolas" panose="020B0609020204030204" pitchFamily="49" charset="0"/>
              </a:rPr>
              <a:t> x0,int x1,int y0,int </a:t>
            </a:r>
            <a:r>
              <a:rPr lang="en-US" sz="1050" dirty="0" err="1">
                <a:latin typeface="Consolas" panose="020B0609020204030204" pitchFamily="49" charset="0"/>
              </a:rPr>
              <a:t>yStep,int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prevX,int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prevY,BinaryTree</a:t>
            </a:r>
            <a:r>
              <a:rPr lang="en-US" sz="1050" dirty="0">
                <a:latin typeface="Consolas" panose="020B0609020204030204" pitchFamily="49" charset="0"/>
              </a:rPr>
              <a:t>&lt;</a:t>
            </a:r>
            <a:r>
              <a:rPr lang="en-US" sz="1050" dirty="0" err="1">
                <a:latin typeface="Consolas" panose="020B0609020204030204" pitchFamily="49" charset="0"/>
              </a:rPr>
              <a:t>int,int</a:t>
            </a:r>
            <a:r>
              <a:rPr lang="en-US" sz="1050" dirty="0">
                <a:latin typeface="Consolas" panose="020B0609020204030204" pitchFamily="49" charset="0"/>
              </a:rPr>
              <a:t>&gt;::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if(</a:t>
            </a:r>
            <a:r>
              <a:rPr lang="en-US" sz="1050" dirty="0" err="1">
                <a:latin typeface="Consolas" panose="020B0609020204030204" pitchFamily="49" charset="0"/>
              </a:rPr>
              <a:t>ndHd.IsNotNull</a:t>
            </a:r>
            <a:r>
              <a:rPr lang="en-US" sz="105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int</a:t>
            </a:r>
            <a:r>
              <a:rPr lang="en-US" sz="1050" dirty="0">
                <a:latin typeface="Consolas" panose="020B0609020204030204" pitchFamily="49" charset="0"/>
              </a:rPr>
              <a:t> x=(x0+x1)/2,y=y0+yStep/2;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glColor3ub(0,0,0);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glBegin</a:t>
            </a:r>
            <a:r>
              <a:rPr lang="en-US" sz="1050" dirty="0">
                <a:latin typeface="Consolas" panose="020B0609020204030204" pitchFamily="49" charset="0"/>
              </a:rPr>
              <a:t>(GL_LINES);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glVertex2i(</a:t>
            </a:r>
            <a:r>
              <a:rPr lang="en-US" sz="1050" dirty="0" err="1">
                <a:latin typeface="Consolas" panose="020B0609020204030204" pitchFamily="49" charset="0"/>
              </a:rPr>
              <a:t>prevX,prevY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glVertex2i(</a:t>
            </a:r>
            <a:r>
              <a:rPr lang="en-US" sz="1050" dirty="0" err="1">
                <a:latin typeface="Consolas" panose="020B0609020204030204" pitchFamily="49" charset="0"/>
              </a:rPr>
              <a:t>x,y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glEnd</a:t>
            </a:r>
            <a:r>
              <a:rPr lang="en-US" sz="1050" dirty="0">
                <a:latin typeface="Consolas" panose="020B0609020204030204" pitchFamily="49" charset="0"/>
              </a:rPr>
              <a:t>();</a:t>
            </a:r>
          </a:p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    glRasterPos2i(</a:t>
            </a:r>
            <a:r>
              <a:rPr lang="en-US" sz="1050" dirty="0" err="1">
                <a:latin typeface="Consolas" panose="020B0609020204030204" pitchFamily="49" charset="0"/>
              </a:rPr>
              <a:t>x,y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char </a:t>
            </a:r>
            <a:r>
              <a:rPr lang="en-US" sz="1050" dirty="0" err="1">
                <a:latin typeface="Consolas" panose="020B0609020204030204" pitchFamily="49" charset="0"/>
              </a:rPr>
              <a:t>str</a:t>
            </a:r>
            <a:r>
              <a:rPr lang="en-US" sz="1050" dirty="0">
                <a:latin typeface="Consolas" panose="020B0609020204030204" pitchFamily="49" charset="0"/>
              </a:rPr>
              <a:t>[256];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sprintf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str</a:t>
            </a:r>
            <a:r>
              <a:rPr lang="en-US" sz="1050" dirty="0">
                <a:latin typeface="Consolas" panose="020B0609020204030204" pitchFamily="49" charset="0"/>
              </a:rPr>
              <a:t>,"%d",</a:t>
            </a:r>
            <a:r>
              <a:rPr lang="en-US" sz="1050" dirty="0" err="1">
                <a:latin typeface="Consolas" panose="020B0609020204030204" pitchFamily="49" charset="0"/>
              </a:rPr>
              <a:t>tree.GetKey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YsGlDrawFontBitmap12x16(</a:t>
            </a:r>
            <a:r>
              <a:rPr lang="en-US" sz="1050" dirty="0" err="1">
                <a:latin typeface="Consolas" panose="020B0609020204030204" pitchFamily="49" charset="0"/>
              </a:rPr>
              <a:t>str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DrawNode</a:t>
            </a:r>
            <a:r>
              <a:rPr lang="en-US" sz="1050" dirty="0">
                <a:latin typeface="Consolas" panose="020B0609020204030204" pitchFamily="49" charset="0"/>
              </a:rPr>
              <a:t>(x0,(x0+x1)/2,y0+yStep,yStep,x,y,tree.Left(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DrawNode</a:t>
            </a:r>
            <a:r>
              <a:rPr lang="en-US" sz="1050" dirty="0">
                <a:latin typeface="Consolas" panose="020B0609020204030204" pitchFamily="49" charset="0"/>
              </a:rPr>
              <a:t>((x0+x1)/2,x1,y0+yStep,yStep,x,y,tree.Right(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}</a:t>
            </a:r>
          </a:p>
          <a:p>
            <a:endParaRPr lang="en-US" sz="1050" dirty="0">
              <a:latin typeface="Consolas" panose="020B0609020204030204" pitchFamily="49" charset="0"/>
            </a:endParaRPr>
          </a:p>
        </p:txBody>
      </p:sp>
      <p:sp>
        <p:nvSpPr>
          <p:cNvPr id="7" name="Right Brace 6"/>
          <p:cNvSpPr/>
          <p:nvPr/>
        </p:nvSpPr>
        <p:spPr>
          <a:xfrm>
            <a:off x="5822950" y="4502150"/>
            <a:ext cx="171450" cy="43815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32500" y="4533900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Recursion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2654300" y="3733800"/>
            <a:ext cx="2552700" cy="819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2838450" y="4903232"/>
            <a:ext cx="1250950" cy="669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07000" y="3383518"/>
            <a:ext cx="3202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 node takes left-half of the current node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9400" y="5272033"/>
            <a:ext cx="3202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Right node takes right-half of the current node</a:t>
            </a:r>
          </a:p>
        </p:txBody>
      </p:sp>
    </p:spTree>
    <p:extLst>
      <p:ext uri="{BB962C8B-B14F-4D97-AF65-F5344CB8AC3E}">
        <p14:creationId xmlns:p14="http://schemas.microsoft.com/office/powerpoint/2010/main" val="172558559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to the </a:t>
            </a:r>
            <a:r>
              <a:rPr lang="en-US" dirty="0" err="1"/>
              <a:t>FsLazyWindowApplication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Draw function must look like:</a:t>
            </a:r>
          </a:p>
          <a:p>
            <a:pPr marL="0" indent="0">
              <a:buNone/>
            </a:pPr>
            <a:br>
              <a:rPr lang="en-US" sz="1200" dirty="0">
                <a:latin typeface="Lucida Console" panose="020B0609040504020204" pitchFamily="49" charset="0"/>
              </a:rPr>
            </a:br>
            <a:br>
              <a:rPr lang="en-US" sz="1200" dirty="0">
                <a:latin typeface="Lucida Console" panose="020B0609040504020204" pitchFamily="49" charset="0"/>
              </a:rPr>
            </a:br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FsLazyWindowApplication</a:t>
            </a:r>
            <a:r>
              <a:rPr lang="en-US" sz="1200" dirty="0">
                <a:latin typeface="Lucida Console" panose="020B0609040504020204" pitchFamily="49" charset="0"/>
              </a:rPr>
              <a:t>::Draw(void)</a:t>
            </a:r>
          </a:p>
          <a:p>
            <a:pPr marL="0" indent="0">
              <a:buNone/>
            </a:pPr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glClear</a:t>
            </a:r>
            <a:r>
              <a:rPr lang="en-US" sz="1200" dirty="0">
                <a:latin typeface="Lucida Console" panose="020B0609040504020204" pitchFamily="49" charset="0"/>
              </a:rPr>
              <a:t>(GL_COLOR_BUFFER_BIT|GL_DEPTH_BUFFER_BIT);</a:t>
            </a:r>
          </a:p>
          <a:p>
            <a:pPr marL="0" indent="0">
              <a:buNone/>
            </a:pPr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DrawNode</a:t>
            </a:r>
            <a:r>
              <a:rPr lang="en-US" sz="1200" dirty="0">
                <a:latin typeface="Lucida Console" panose="020B0609040504020204" pitchFamily="49" charset="0"/>
              </a:rPr>
              <a:t>(0,800,0,40, 400,20, </a:t>
            </a:r>
            <a:r>
              <a:rPr lang="en-US" sz="1200" dirty="0" err="1">
                <a:latin typeface="Lucida Console" panose="020B0609040504020204" pitchFamily="49" charset="0"/>
              </a:rPr>
              <a:t>tree.RootNode</a:t>
            </a:r>
            <a:r>
              <a:rPr lang="en-US" sz="1200" dirty="0">
                <a:latin typeface="Lucida Console" panose="020B0609040504020204" pitchFamily="49" charset="0"/>
              </a:rPr>
              <a:t>());</a:t>
            </a:r>
          </a:p>
          <a:p>
            <a:pPr marL="0" indent="0">
              <a:buNone/>
            </a:pPr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FsSwapBuffers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200" dirty="0"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latin typeface="Lucida Console" panose="020B0609040504020204" pitchFamily="49" charset="0"/>
              </a:rPr>
              <a:t>needRedraw</a:t>
            </a:r>
            <a:r>
              <a:rPr lang="en-US" sz="1200" dirty="0">
                <a:latin typeface="Lucida Console" panose="020B0609040504020204" pitchFamily="49" charset="0"/>
              </a:rPr>
              <a:t>=false;</a:t>
            </a:r>
          </a:p>
          <a:p>
            <a:pPr marL="0" indent="0">
              <a:buNone/>
            </a:pPr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17381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accept Windows-size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dirty="0">
                <a:latin typeface="Lucida Console" panose="020B0609040504020204" pitchFamily="49" charset="0"/>
              </a:rPr>
              <a:t>void </a:t>
            </a:r>
            <a:r>
              <a:rPr lang="en-US" sz="1400" dirty="0" err="1">
                <a:latin typeface="Lucida Console" panose="020B0609040504020204" pitchFamily="49" charset="0"/>
              </a:rPr>
              <a:t>FsLazyWindowApplication</a:t>
            </a:r>
            <a:r>
              <a:rPr lang="en-US" sz="1400" dirty="0">
                <a:latin typeface="Lucida Console" panose="020B0609040504020204" pitchFamily="49" charset="0"/>
              </a:rPr>
              <a:t>::Draw(void)</a:t>
            </a:r>
          </a:p>
          <a:p>
            <a:pPr marL="0" indent="0">
              <a:buNone/>
            </a:pPr>
            <a:r>
              <a:rPr lang="en-US" sz="1400" dirty="0">
                <a:latin typeface="Lucida Console" panose="020B060904050402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int</a:t>
            </a:r>
            <a:r>
              <a:rPr lang="en-US" sz="1400" dirty="0"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latin typeface="Lucida Console" panose="020B0609040504020204" pitchFamily="49" charset="0"/>
              </a:rPr>
              <a:t>wid,hei</a:t>
            </a:r>
            <a:r>
              <a:rPr lang="en-US" sz="1400" dirty="0">
                <a:latin typeface="Lucida Console" panose="020B060904050402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FsGetWindowSize</a:t>
            </a:r>
            <a:r>
              <a:rPr lang="en-US" sz="1400" dirty="0">
                <a:latin typeface="Lucida Console" panose="020B0609040504020204" pitchFamily="49" charset="0"/>
              </a:rPr>
              <a:t>(</a:t>
            </a:r>
            <a:r>
              <a:rPr lang="en-US" sz="1400" dirty="0" err="1">
                <a:latin typeface="Lucida Console" panose="020B0609040504020204" pitchFamily="49" charset="0"/>
              </a:rPr>
              <a:t>wid,hei</a:t>
            </a:r>
            <a:r>
              <a:rPr lang="en-US" sz="1400" dirty="0">
                <a:latin typeface="Lucida Console" panose="020B0609040504020204" pitchFamily="49" charset="0"/>
              </a:rPr>
              <a:t>);</a:t>
            </a:r>
          </a:p>
          <a:p>
            <a:pPr marL="0" indent="0">
              <a:buNone/>
            </a:pPr>
            <a:endParaRPr lang="en-US" sz="1400" dirty="0"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glViewport</a:t>
            </a:r>
            <a:r>
              <a:rPr lang="en-US" sz="1400" dirty="0">
                <a:latin typeface="Lucida Console" panose="020B0609040504020204" pitchFamily="49" charset="0"/>
              </a:rPr>
              <a:t>(0,0,wid,hei);</a:t>
            </a:r>
          </a:p>
          <a:p>
            <a:pPr marL="0" indent="0">
              <a:buNone/>
            </a:pPr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glMatrixMode</a:t>
            </a:r>
            <a:r>
              <a:rPr lang="en-US" sz="1400" dirty="0">
                <a:latin typeface="Lucida Console" panose="020B0609040504020204" pitchFamily="49" charset="0"/>
              </a:rPr>
              <a:t>(GL_PROJECTION);</a:t>
            </a:r>
          </a:p>
          <a:p>
            <a:pPr marL="0" indent="0">
              <a:buNone/>
            </a:pPr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glLoadIdentity</a:t>
            </a:r>
            <a:r>
              <a:rPr lang="en-US" sz="1400" dirty="0">
                <a:latin typeface="Lucida Console" panose="020B060904050402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glOrtho</a:t>
            </a:r>
            <a:r>
              <a:rPr lang="en-US" sz="1400" dirty="0">
                <a:latin typeface="Lucida Console" panose="020B0609040504020204" pitchFamily="49" charset="0"/>
              </a:rPr>
              <a:t>(0,(float)wid-1,(float)hei-1,0,-1,1);</a:t>
            </a:r>
          </a:p>
          <a:p>
            <a:pPr marL="0" indent="0">
              <a:buNone/>
            </a:pPr>
            <a:endParaRPr lang="en-US" sz="1400" dirty="0"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glClear</a:t>
            </a:r>
            <a:r>
              <a:rPr lang="en-US" sz="1400" dirty="0">
                <a:latin typeface="Lucida Console" panose="020B0609040504020204" pitchFamily="49" charset="0"/>
              </a:rPr>
              <a:t>(GL_COLOR_BUFFER_BIT|GL_DEPTH_BUFFER_BIT);</a:t>
            </a:r>
          </a:p>
          <a:p>
            <a:pPr marL="0" indent="0">
              <a:buNone/>
            </a:pPr>
            <a:r>
              <a:rPr lang="en-US" sz="1400" dirty="0">
                <a:latin typeface="Lucida Console" panose="020B0609040504020204" pitchFamily="49" charset="0"/>
              </a:rPr>
              <a:t>    Draw(</a:t>
            </a:r>
            <a:r>
              <a:rPr lang="en-US" sz="1400" dirty="0" err="1">
                <a:latin typeface="Lucida Console" panose="020B0609040504020204" pitchFamily="49" charset="0"/>
              </a:rPr>
              <a:t>btree.GetRoot</a:t>
            </a:r>
            <a:r>
              <a:rPr lang="en-US" sz="1400" dirty="0">
                <a:latin typeface="Lucida Console" panose="020B0609040504020204" pitchFamily="49" charset="0"/>
              </a:rPr>
              <a:t>(),0,wid,40,40);</a:t>
            </a:r>
          </a:p>
          <a:p>
            <a:pPr marL="0" indent="0">
              <a:buNone/>
            </a:pPr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FsSwapBuffers</a:t>
            </a:r>
            <a:r>
              <a:rPr lang="en-US" sz="1400" dirty="0">
                <a:latin typeface="Lucida Console" panose="020B060904050402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needRedraw</a:t>
            </a:r>
            <a:r>
              <a:rPr lang="en-US" sz="1400" dirty="0">
                <a:latin typeface="Lucida Console" panose="020B0609040504020204" pitchFamily="49" charset="0"/>
              </a:rPr>
              <a:t>=false;</a:t>
            </a:r>
          </a:p>
          <a:p>
            <a:pPr marL="0" indent="0">
              <a:buNone/>
            </a:pPr>
            <a:r>
              <a:rPr lang="en-US" sz="1400" dirty="0">
                <a:latin typeface="Lucida Console" panose="020B0609040504020204" pitchFamily="49" charset="0"/>
              </a:rPr>
              <a:t>}</a:t>
            </a:r>
          </a:p>
          <a:p>
            <a:pPr marL="0" indent="0">
              <a:buNone/>
            </a:pPr>
            <a:endParaRPr lang="en-US" sz="14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91877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it Interactive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Highlight a node where the mouse cursor is on.</a:t>
            </a:r>
          </a:p>
          <a:p>
            <a:r>
              <a:rPr lang="en-US" dirty="0"/>
              <a:t>Press DEL to delete the highlighted node.</a:t>
            </a:r>
          </a:p>
          <a:p>
            <a:r>
              <a:rPr lang="en-US" dirty="0"/>
              <a:t>Press INSERT to insert a new node.</a:t>
            </a:r>
          </a:p>
        </p:txBody>
      </p:sp>
    </p:spTree>
    <p:extLst>
      <p:ext uri="{BB962C8B-B14F-4D97-AF65-F5344CB8AC3E}">
        <p14:creationId xmlns:p14="http://schemas.microsoft.com/office/powerpoint/2010/main" val="138258575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which node the mouse cursor is 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Member variable for storing highlighted node.</a:t>
            </a:r>
            <a:br>
              <a:rPr lang="en-US" dirty="0"/>
            </a:br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BinaryTree</a:t>
            </a:r>
            <a:r>
              <a:rPr lang="en-US" sz="1600" dirty="0">
                <a:latin typeface="Consolas" panose="020B0609020204030204" pitchFamily="49" charset="0"/>
              </a:rPr>
              <a:t> &lt;</a:t>
            </a:r>
            <a:r>
              <a:rPr lang="en-US" sz="1600" dirty="0" err="1">
                <a:latin typeface="Consolas" panose="020B0609020204030204" pitchFamily="49" charset="0"/>
              </a:rPr>
              <a:t>int,int</a:t>
            </a:r>
            <a:r>
              <a:rPr lang="en-US" sz="1600" dirty="0">
                <a:latin typeface="Consolas" panose="020B0609020204030204" pitchFamily="49" charset="0"/>
              </a:rPr>
              <a:t>&gt;::</a:t>
            </a:r>
            <a:r>
              <a:rPr lang="en-US" sz="1600" dirty="0" err="1">
                <a:latin typeface="Consolas" panose="020B0609020204030204" pitchFamily="49" charset="0"/>
              </a:rPr>
              <a:t>NodeHandle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mouseOn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/>
              <a:t>Nullify it in the constructor.</a:t>
            </a:r>
          </a:p>
          <a:p>
            <a:r>
              <a:rPr lang="en-US" dirty="0"/>
              <a:t>Add the following function declarations in </a:t>
            </a:r>
            <a:r>
              <a:rPr lang="en-US" dirty="0" err="1"/>
              <a:t>FsLazyWindowApplication</a:t>
            </a:r>
            <a:r>
              <a:rPr lang="en-US" dirty="0"/>
              <a:t> class.</a:t>
            </a:r>
            <a:br>
              <a:rPr lang="en-US" dirty="0"/>
            </a:br>
            <a:r>
              <a:rPr lang="en-US" sz="1400" dirty="0">
                <a:latin typeface="Lucida Console" panose="020B0609040504020204" pitchFamily="49" charset="0"/>
              </a:rPr>
              <a:t>public:</a:t>
            </a:r>
            <a:br>
              <a:rPr lang="en-US" sz="1400" dirty="0">
                <a:latin typeface="Lucida Console" panose="020B0609040504020204" pitchFamily="49" charset="0"/>
              </a:rPr>
            </a:br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const</a:t>
            </a:r>
            <a:r>
              <a:rPr lang="en-US" sz="1400" dirty="0"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latin typeface="Lucida Console" panose="020B0609040504020204" pitchFamily="49" charset="0"/>
              </a:rPr>
              <a:t>BinaryTree</a:t>
            </a:r>
            <a:r>
              <a:rPr lang="en-US" sz="1400" dirty="0">
                <a:latin typeface="Lucida Console" panose="020B0609040504020204" pitchFamily="49" charset="0"/>
              </a:rPr>
              <a:t> &lt;</a:t>
            </a:r>
            <a:r>
              <a:rPr lang="en-US" sz="1400" dirty="0" err="1">
                <a:latin typeface="Lucida Console" panose="020B0609040504020204" pitchFamily="49" charset="0"/>
              </a:rPr>
              <a:t>int,int</a:t>
            </a:r>
            <a:r>
              <a:rPr lang="en-US" sz="1400" dirty="0">
                <a:latin typeface="Lucida Console" panose="020B0609040504020204" pitchFamily="49" charset="0"/>
              </a:rPr>
              <a:t>&gt;::Node *</a:t>
            </a:r>
            <a:r>
              <a:rPr lang="en-US" sz="1400" dirty="0" err="1">
                <a:latin typeface="Lucida Console" panose="020B0609040504020204" pitchFamily="49" charset="0"/>
              </a:rPr>
              <a:t>PickedNode</a:t>
            </a:r>
            <a:r>
              <a:rPr lang="en-US" sz="1400" dirty="0">
                <a:latin typeface="Lucida Console" panose="020B0609040504020204" pitchFamily="49" charset="0"/>
              </a:rPr>
              <a:t>(</a:t>
            </a:r>
            <a:r>
              <a:rPr lang="en-US" sz="1400" dirty="0" err="1">
                <a:latin typeface="Lucida Console" panose="020B0609040504020204" pitchFamily="49" charset="0"/>
              </a:rPr>
              <a:t>int</a:t>
            </a:r>
            <a:r>
              <a:rPr lang="en-US" sz="1400" dirty="0"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latin typeface="Lucida Console" panose="020B0609040504020204" pitchFamily="49" charset="0"/>
              </a:rPr>
              <a:t>mx,int</a:t>
            </a:r>
            <a:r>
              <a:rPr lang="en-US" sz="1400" dirty="0">
                <a:latin typeface="Lucida Console" panose="020B0609040504020204" pitchFamily="49" charset="0"/>
              </a:rPr>
              <a:t> my) </a:t>
            </a:r>
            <a:r>
              <a:rPr lang="en-US" sz="1400" dirty="0" err="1">
                <a:latin typeface="Lucida Console" panose="020B0609040504020204" pitchFamily="49" charset="0"/>
              </a:rPr>
              <a:t>const</a:t>
            </a:r>
            <a:r>
              <a:rPr lang="en-US" sz="1400" dirty="0">
                <a:latin typeface="Lucida Console" panose="020B0609040504020204" pitchFamily="49" charset="0"/>
              </a:rPr>
              <a:t>;</a:t>
            </a:r>
            <a:br>
              <a:rPr lang="en-US" sz="1400" dirty="0">
                <a:latin typeface="Lucida Console" panose="020B0609040504020204" pitchFamily="49" charset="0"/>
              </a:rPr>
            </a:br>
            <a:r>
              <a:rPr lang="en-US" sz="1400" dirty="0">
                <a:latin typeface="Lucida Console" panose="020B0609040504020204" pitchFamily="49" charset="0"/>
              </a:rPr>
              <a:t>private:</a:t>
            </a:r>
            <a:br>
              <a:rPr lang="en-US" sz="1400" dirty="0">
                <a:latin typeface="Lucida Console" panose="020B0609040504020204" pitchFamily="49" charset="0"/>
              </a:rPr>
            </a:br>
            <a:r>
              <a:rPr lang="en-US" sz="1400" dirty="0"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</a:rPr>
              <a:t>const</a:t>
            </a:r>
            <a:r>
              <a:rPr lang="en-US" sz="1400" dirty="0"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latin typeface="Lucida Console" panose="020B0609040504020204" pitchFamily="49" charset="0"/>
              </a:rPr>
              <a:t>BinaryTree</a:t>
            </a:r>
            <a:r>
              <a:rPr lang="en-US" sz="1400" dirty="0">
                <a:latin typeface="Lucida Console" panose="020B0609040504020204" pitchFamily="49" charset="0"/>
              </a:rPr>
              <a:t> &lt;</a:t>
            </a:r>
            <a:r>
              <a:rPr lang="en-US" sz="1400" dirty="0" err="1">
                <a:latin typeface="Lucida Console" panose="020B0609040504020204" pitchFamily="49" charset="0"/>
              </a:rPr>
              <a:t>int,int</a:t>
            </a:r>
            <a:r>
              <a:rPr lang="en-US" sz="1400" dirty="0">
                <a:latin typeface="Lucida Console" panose="020B0609040504020204" pitchFamily="49" charset="0"/>
              </a:rPr>
              <a:t>&gt;::Node *</a:t>
            </a:r>
            <a:r>
              <a:rPr lang="en-US" sz="1400" dirty="0" err="1">
                <a:latin typeface="Lucida Console" panose="020B0609040504020204" pitchFamily="49" charset="0"/>
              </a:rPr>
              <a:t>PickedNode</a:t>
            </a:r>
            <a:r>
              <a:rPr lang="en-US" sz="1400" dirty="0">
                <a:latin typeface="Lucida Console" panose="020B0609040504020204" pitchFamily="49" charset="0"/>
              </a:rPr>
              <a:t>(</a:t>
            </a:r>
            <a:br>
              <a:rPr lang="en-US" sz="1400" dirty="0">
                <a:latin typeface="Lucida Console" panose="020B0609040504020204" pitchFamily="49" charset="0"/>
              </a:rPr>
            </a:br>
            <a:r>
              <a:rPr lang="en-US" sz="1400" dirty="0">
                <a:latin typeface="Lucida Console" panose="020B0609040504020204" pitchFamily="49" charset="0"/>
              </a:rPr>
              <a:t>        </a:t>
            </a:r>
            <a:r>
              <a:rPr lang="en-US" sz="1400" dirty="0" err="1">
                <a:latin typeface="Lucida Console" panose="020B0609040504020204" pitchFamily="49" charset="0"/>
              </a:rPr>
              <a:t>const</a:t>
            </a:r>
            <a:r>
              <a:rPr lang="en-US" sz="1400" dirty="0"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latin typeface="Lucida Console" panose="020B0609040504020204" pitchFamily="49" charset="0"/>
              </a:rPr>
              <a:t>BinaryTree</a:t>
            </a:r>
            <a:r>
              <a:rPr lang="en-US" sz="1400" dirty="0">
                <a:latin typeface="Lucida Console" panose="020B0609040504020204" pitchFamily="49" charset="0"/>
              </a:rPr>
              <a:t> &lt;</a:t>
            </a:r>
            <a:r>
              <a:rPr lang="en-US" sz="1400" dirty="0" err="1">
                <a:latin typeface="Lucida Console" panose="020B0609040504020204" pitchFamily="49" charset="0"/>
              </a:rPr>
              <a:t>int,int</a:t>
            </a:r>
            <a:r>
              <a:rPr lang="en-US" sz="1400" dirty="0">
                <a:latin typeface="Lucida Console" panose="020B0609040504020204" pitchFamily="49" charset="0"/>
              </a:rPr>
              <a:t>&gt;::Node *node,</a:t>
            </a:r>
            <a:br>
              <a:rPr lang="en-US" sz="1400" dirty="0">
                <a:latin typeface="Lucida Console" panose="020B0609040504020204" pitchFamily="49" charset="0"/>
              </a:rPr>
            </a:br>
            <a:r>
              <a:rPr lang="en-US" sz="1400" dirty="0">
                <a:latin typeface="Lucida Console" panose="020B0609040504020204" pitchFamily="49" charset="0"/>
              </a:rPr>
              <a:t>        </a:t>
            </a:r>
            <a:r>
              <a:rPr lang="en-US" sz="1400" dirty="0" err="1">
                <a:latin typeface="Lucida Console" panose="020B0609040504020204" pitchFamily="49" charset="0"/>
              </a:rPr>
              <a:t>int</a:t>
            </a:r>
            <a:r>
              <a:rPr lang="en-US" sz="1400" dirty="0"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latin typeface="Lucida Console" panose="020B0609040504020204" pitchFamily="49" charset="0"/>
              </a:rPr>
              <a:t>mx,int</a:t>
            </a:r>
            <a:r>
              <a:rPr lang="en-US" sz="1400" dirty="0"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latin typeface="Lucida Console" panose="020B0609040504020204" pitchFamily="49" charset="0"/>
              </a:rPr>
              <a:t>my,int</a:t>
            </a:r>
            <a:r>
              <a:rPr lang="en-US" sz="1400" dirty="0">
                <a:latin typeface="Lucida Console" panose="020B0609040504020204" pitchFamily="49" charset="0"/>
              </a:rPr>
              <a:t> x0,int x1,int </a:t>
            </a:r>
            <a:r>
              <a:rPr lang="en-US" sz="1400" dirty="0" err="1">
                <a:latin typeface="Lucida Console" panose="020B0609040504020204" pitchFamily="49" charset="0"/>
              </a:rPr>
              <a:t>y,int</a:t>
            </a:r>
            <a:r>
              <a:rPr lang="en-US" sz="1400" dirty="0"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latin typeface="Lucida Console" panose="020B0609040504020204" pitchFamily="49" charset="0"/>
              </a:rPr>
              <a:t>yStep</a:t>
            </a:r>
            <a:r>
              <a:rPr lang="en-US" sz="1400" dirty="0">
                <a:latin typeface="Lucida Console" panose="020B0609040504020204" pitchFamily="49" charset="0"/>
              </a:rPr>
              <a:t>) </a:t>
            </a:r>
            <a:r>
              <a:rPr lang="en-US" sz="1400" dirty="0" err="1">
                <a:latin typeface="Lucida Console" panose="020B0609040504020204" pitchFamily="49" charset="0"/>
              </a:rPr>
              <a:t>const</a:t>
            </a:r>
            <a:r>
              <a:rPr lang="en-US" sz="1400" dirty="0">
                <a:latin typeface="Lucida Console" panose="020B0609040504020204" pitchFamily="49" charset="0"/>
              </a:rPr>
              <a:t>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82068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9786" y="1104900"/>
            <a:ext cx="7744428" cy="49398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err="1">
                <a:latin typeface="Consolas" panose="020B0609020204030204" pitchFamily="49" charset="0"/>
              </a:rPr>
              <a:t>BinaryTree</a:t>
            </a:r>
            <a:r>
              <a:rPr lang="en-US" sz="1050" dirty="0">
                <a:latin typeface="Consolas" panose="020B0609020204030204" pitchFamily="49" charset="0"/>
              </a:rPr>
              <a:t> &lt;</a:t>
            </a:r>
            <a:r>
              <a:rPr lang="en-US" sz="1050" dirty="0" err="1">
                <a:latin typeface="Consolas" panose="020B0609020204030204" pitchFamily="49" charset="0"/>
              </a:rPr>
              <a:t>int,int</a:t>
            </a:r>
            <a:r>
              <a:rPr lang="en-US" sz="1050" dirty="0">
                <a:latin typeface="Consolas" panose="020B0609020204030204" pitchFamily="49" charset="0"/>
              </a:rPr>
              <a:t>&gt;::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FsLazyWindowApplication</a:t>
            </a:r>
            <a:r>
              <a:rPr lang="en-US" sz="1050" dirty="0">
                <a:latin typeface="Consolas" panose="020B0609020204030204" pitchFamily="49" charset="0"/>
              </a:rPr>
              <a:t>::</a:t>
            </a:r>
            <a:r>
              <a:rPr lang="en-US" sz="1050" dirty="0" err="1">
                <a:latin typeface="Consolas" panose="020B0609020204030204" pitchFamily="49" charset="0"/>
              </a:rPr>
              <a:t>FindNodeFromMouseCoord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int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mx,int</a:t>
            </a:r>
            <a:r>
              <a:rPr lang="en-US" sz="1050" dirty="0">
                <a:latin typeface="Consolas" panose="020B0609020204030204" pitchFamily="49" charset="0"/>
              </a:rPr>
              <a:t> my)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int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wid,hei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FsGetWindowSize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wid,hei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return </a:t>
            </a:r>
            <a:r>
              <a:rPr lang="en-US" sz="1050" dirty="0" err="1">
                <a:latin typeface="Consolas" panose="020B0609020204030204" pitchFamily="49" charset="0"/>
              </a:rPr>
              <a:t>FindNodeFromMouseCoord</a:t>
            </a:r>
            <a:r>
              <a:rPr lang="en-US" sz="1050" dirty="0">
                <a:latin typeface="Consolas" panose="020B0609020204030204" pitchFamily="49" charset="0"/>
              </a:rPr>
              <a:t>(mx,my,0,wid,0,40, </a:t>
            </a:r>
            <a:r>
              <a:rPr lang="en-US" sz="1050" dirty="0" err="1">
                <a:latin typeface="Consolas" panose="020B0609020204030204" pitchFamily="49" charset="0"/>
              </a:rPr>
              <a:t>tree.RootNode</a:t>
            </a:r>
            <a:r>
              <a:rPr lang="en-US" sz="1050" dirty="0">
                <a:latin typeface="Consolas" panose="020B0609020204030204" pitchFamily="49" charset="0"/>
              </a:rPr>
              <a:t>());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}</a:t>
            </a:r>
          </a:p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 err="1">
                <a:latin typeface="Consolas" panose="020B0609020204030204" pitchFamily="49" charset="0"/>
              </a:rPr>
              <a:t>BinaryTree</a:t>
            </a:r>
            <a:r>
              <a:rPr lang="en-US" sz="1050" dirty="0">
                <a:latin typeface="Consolas" panose="020B0609020204030204" pitchFamily="49" charset="0"/>
              </a:rPr>
              <a:t> &lt;</a:t>
            </a:r>
            <a:r>
              <a:rPr lang="en-US" sz="1050" dirty="0" err="1">
                <a:latin typeface="Consolas" panose="020B0609020204030204" pitchFamily="49" charset="0"/>
              </a:rPr>
              <a:t>int,int</a:t>
            </a:r>
            <a:r>
              <a:rPr lang="en-US" sz="1050" dirty="0">
                <a:latin typeface="Consolas" panose="020B0609020204030204" pitchFamily="49" charset="0"/>
              </a:rPr>
              <a:t>&gt;::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FsLazyWindowApplication</a:t>
            </a:r>
            <a:r>
              <a:rPr lang="en-US" sz="1050" dirty="0">
                <a:latin typeface="Consolas" panose="020B0609020204030204" pitchFamily="49" charset="0"/>
              </a:rPr>
              <a:t>::</a:t>
            </a:r>
            <a:r>
              <a:rPr lang="en-US" sz="1050" dirty="0" err="1">
                <a:latin typeface="Consolas" panose="020B0609020204030204" pitchFamily="49" charset="0"/>
              </a:rPr>
              <a:t>FindNodeFromMouseCoord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int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mx,int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my,int</a:t>
            </a:r>
            <a:r>
              <a:rPr lang="en-US" sz="1050" dirty="0">
                <a:latin typeface="Consolas" panose="020B0609020204030204" pitchFamily="49" charset="0"/>
              </a:rPr>
              <a:t> x0,int x1,int y0,int </a:t>
            </a:r>
            <a:r>
              <a:rPr lang="en-US" sz="1050" dirty="0" err="1">
                <a:latin typeface="Consolas" panose="020B0609020204030204" pitchFamily="49" charset="0"/>
              </a:rPr>
              <a:t>yStep,BinaryTree</a:t>
            </a:r>
            <a:r>
              <a:rPr lang="en-US" sz="1050" dirty="0">
                <a:latin typeface="Consolas" panose="020B0609020204030204" pitchFamily="49" charset="0"/>
              </a:rPr>
              <a:t>&lt;</a:t>
            </a:r>
            <a:r>
              <a:rPr lang="en-US" sz="1050" dirty="0" err="1">
                <a:latin typeface="Consolas" panose="020B0609020204030204" pitchFamily="49" charset="0"/>
              </a:rPr>
              <a:t>int,int</a:t>
            </a:r>
            <a:r>
              <a:rPr lang="en-US" sz="1050" dirty="0">
                <a:latin typeface="Consolas" panose="020B0609020204030204" pitchFamily="49" charset="0"/>
              </a:rPr>
              <a:t>&gt;::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if(</a:t>
            </a:r>
            <a:r>
              <a:rPr lang="en-US" sz="1050" dirty="0" err="1">
                <a:latin typeface="Consolas" panose="020B0609020204030204" pitchFamily="49" charset="0"/>
              </a:rPr>
              <a:t>ndHd.IsNotNull</a:t>
            </a:r>
            <a:r>
              <a:rPr lang="en-US" sz="105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if(x0&lt;=mx &amp;&amp; mx&lt;x1 &amp;&amp; y0&lt;=my &amp;&amp; my&lt;y0+yStep)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return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auto </a:t>
            </a:r>
            <a:r>
              <a:rPr lang="en-US" sz="1050" dirty="0" err="1">
                <a:latin typeface="Consolas" panose="020B0609020204030204" pitchFamily="49" charset="0"/>
              </a:rPr>
              <a:t>fromLeft</a:t>
            </a:r>
            <a:r>
              <a:rPr lang="en-US" sz="1050" dirty="0">
                <a:latin typeface="Consolas" panose="020B0609020204030204" pitchFamily="49" charset="0"/>
              </a:rPr>
              <a:t>=</a:t>
            </a:r>
            <a:r>
              <a:rPr lang="en-US" sz="1050" dirty="0" err="1">
                <a:latin typeface="Consolas" panose="020B0609020204030204" pitchFamily="49" charset="0"/>
              </a:rPr>
              <a:t>FindNodeFromMouseCoord</a:t>
            </a:r>
            <a:r>
              <a:rPr lang="en-US" sz="1050" dirty="0">
                <a:latin typeface="Consolas" panose="020B0609020204030204" pitchFamily="49" charset="0"/>
              </a:rPr>
              <a:t>(mx,my,x0,(x0+x1)/2,y0+yStep,yStep,tree.Left(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if(</a:t>
            </a:r>
            <a:r>
              <a:rPr lang="en-US" sz="1050" dirty="0" err="1">
                <a:latin typeface="Consolas" panose="020B0609020204030204" pitchFamily="49" charset="0"/>
              </a:rPr>
              <a:t>fromLeft.IsNotNull</a:t>
            </a:r>
            <a:r>
              <a:rPr lang="en-US" sz="105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return </a:t>
            </a:r>
            <a:r>
              <a:rPr lang="en-US" sz="1050" dirty="0" err="1">
                <a:latin typeface="Consolas" panose="020B0609020204030204" pitchFamily="49" charset="0"/>
              </a:rPr>
              <a:t>fromLeft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auto </a:t>
            </a:r>
            <a:r>
              <a:rPr lang="en-US" sz="1050" dirty="0" err="1">
                <a:latin typeface="Consolas" panose="020B0609020204030204" pitchFamily="49" charset="0"/>
              </a:rPr>
              <a:t>fromRight</a:t>
            </a:r>
            <a:r>
              <a:rPr lang="en-US" sz="1050" dirty="0">
                <a:latin typeface="Consolas" panose="020B0609020204030204" pitchFamily="49" charset="0"/>
              </a:rPr>
              <a:t>=</a:t>
            </a:r>
            <a:r>
              <a:rPr lang="en-US" sz="1050" dirty="0" err="1">
                <a:latin typeface="Consolas" panose="020B0609020204030204" pitchFamily="49" charset="0"/>
              </a:rPr>
              <a:t>FindNodeFromMouseCoord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mx,my</a:t>
            </a:r>
            <a:r>
              <a:rPr lang="en-US" sz="1050" dirty="0">
                <a:latin typeface="Consolas" panose="020B0609020204030204" pitchFamily="49" charset="0"/>
              </a:rPr>
              <a:t>,(x0+x1)/2,x1,y0+yStep,yStep,tree.Right(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if(</a:t>
            </a:r>
            <a:r>
              <a:rPr lang="en-US" sz="1050" dirty="0" err="1">
                <a:latin typeface="Consolas" panose="020B0609020204030204" pitchFamily="49" charset="0"/>
              </a:rPr>
              <a:t>fromRight.IsNotNull</a:t>
            </a:r>
            <a:r>
              <a:rPr lang="en-US" sz="105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return </a:t>
            </a:r>
            <a:r>
              <a:rPr lang="en-US" sz="1050" dirty="0" err="1">
                <a:latin typeface="Consolas" panose="020B0609020204030204" pitchFamily="49" charset="0"/>
              </a:rPr>
              <a:t>fromRight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return </a:t>
            </a:r>
            <a:r>
              <a:rPr lang="en-US" sz="1050" dirty="0" err="1">
                <a:latin typeface="Consolas" panose="020B0609020204030204" pitchFamily="49" charset="0"/>
              </a:rPr>
              <a:t>tree.Null</a:t>
            </a:r>
            <a:r>
              <a:rPr lang="en-US" sz="105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}</a:t>
            </a:r>
          </a:p>
          <a:p>
            <a:endParaRPr lang="en-US" sz="105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12885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Interval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2700" y="914400"/>
            <a:ext cx="3502882" cy="300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void </a:t>
            </a:r>
            <a:r>
              <a:rPr lang="en-US" sz="1050" dirty="0" err="1">
                <a:latin typeface="Consolas" panose="020B0609020204030204" pitchFamily="49" charset="0"/>
              </a:rPr>
              <a:t>FsLazyWindowApplication</a:t>
            </a:r>
            <a:r>
              <a:rPr lang="en-US" sz="1050" dirty="0">
                <a:latin typeface="Consolas" panose="020B0609020204030204" pitchFamily="49" charset="0"/>
              </a:rPr>
              <a:t>::Interval(void)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auto key=</a:t>
            </a:r>
            <a:r>
              <a:rPr lang="en-US" sz="1050" dirty="0" err="1">
                <a:latin typeface="Consolas" panose="020B0609020204030204" pitchFamily="49" charset="0"/>
              </a:rPr>
              <a:t>FsInkey</a:t>
            </a:r>
            <a:r>
              <a:rPr lang="en-US" sz="105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if(FSKEY_ESC==key)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SetMustTerminate</a:t>
            </a:r>
            <a:r>
              <a:rPr lang="en-US" sz="1050" dirty="0">
                <a:latin typeface="Consolas" panose="020B0609020204030204" pitchFamily="49" charset="0"/>
              </a:rPr>
              <a:t>(true);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int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lb,mb,rb,mx,my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auto </a:t>
            </a:r>
            <a:r>
              <a:rPr lang="en-US" sz="1050" dirty="0" err="1">
                <a:latin typeface="Consolas" panose="020B0609020204030204" pitchFamily="49" charset="0"/>
              </a:rPr>
              <a:t>evt</a:t>
            </a:r>
            <a:r>
              <a:rPr lang="en-US" sz="1050" dirty="0">
                <a:latin typeface="Consolas" panose="020B0609020204030204" pitchFamily="49" charset="0"/>
              </a:rPr>
              <a:t>=</a:t>
            </a:r>
            <a:r>
              <a:rPr lang="en-US" sz="1050" dirty="0" err="1">
                <a:latin typeface="Consolas" panose="020B0609020204030204" pitchFamily="49" charset="0"/>
              </a:rPr>
              <a:t>FsGetMouseEvent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lb,mb,rb,mx,my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auto pick=</a:t>
            </a:r>
            <a:r>
              <a:rPr lang="en-US" sz="1050" dirty="0" err="1">
                <a:latin typeface="Consolas" panose="020B0609020204030204" pitchFamily="49" charset="0"/>
              </a:rPr>
              <a:t>FindNodeFromMouseCoord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mx,my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if(pick!=</a:t>
            </a:r>
            <a:r>
              <a:rPr lang="en-US" sz="1050" dirty="0" err="1">
                <a:latin typeface="Consolas" panose="020B0609020204030204" pitchFamily="49" charset="0"/>
              </a:rPr>
              <a:t>mouseOn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mouseOn</a:t>
            </a:r>
            <a:r>
              <a:rPr lang="en-US" sz="1050" dirty="0">
                <a:latin typeface="Consolas" panose="020B0609020204030204" pitchFamily="49" charset="0"/>
              </a:rPr>
              <a:t>=pick;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needRedraw</a:t>
            </a:r>
            <a:r>
              <a:rPr lang="en-US" sz="1050" dirty="0">
                <a:latin typeface="Consolas" panose="020B0609020204030204" pitchFamily="49" charset="0"/>
              </a:rPr>
              <a:t>=true;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}</a:t>
            </a:r>
          </a:p>
          <a:p>
            <a:endParaRPr lang="en-US" sz="1050" dirty="0">
              <a:latin typeface="Consolas" panose="020B0609020204030204" pitchFamily="49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4889500" y="2266950"/>
            <a:ext cx="114300" cy="142875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143856" y="2414809"/>
            <a:ext cx="3891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Cache the node pointed by the mouse cursor</a:t>
            </a:r>
          </a:p>
        </p:txBody>
      </p:sp>
    </p:spTree>
    <p:extLst>
      <p:ext uri="{BB962C8B-B14F-4D97-AF65-F5344CB8AC3E}">
        <p14:creationId xmlns:p14="http://schemas.microsoft.com/office/powerpoint/2010/main" val="177634687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494" y="1227725"/>
            <a:ext cx="7411003" cy="4778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void </a:t>
            </a:r>
            <a:r>
              <a:rPr lang="en-US" sz="1050" dirty="0" err="1">
                <a:latin typeface="Consolas" panose="020B0609020204030204" pitchFamily="49" charset="0"/>
              </a:rPr>
              <a:t>FsLazyWindowApplication</a:t>
            </a:r>
            <a:r>
              <a:rPr lang="en-US" sz="1050" dirty="0">
                <a:latin typeface="Consolas" panose="020B0609020204030204" pitchFamily="49" charset="0"/>
              </a:rPr>
              <a:t>::</a:t>
            </a:r>
            <a:r>
              <a:rPr lang="en-US" sz="1050" dirty="0" err="1">
                <a:latin typeface="Consolas" panose="020B0609020204030204" pitchFamily="49" charset="0"/>
              </a:rPr>
              <a:t>DrawNode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</a:t>
            </a:r>
            <a:r>
              <a:rPr lang="en-US" sz="1050" dirty="0" err="1">
                <a:latin typeface="Consolas" panose="020B0609020204030204" pitchFamily="49" charset="0"/>
              </a:rPr>
              <a:t>int</a:t>
            </a:r>
            <a:r>
              <a:rPr lang="en-US" sz="1050" dirty="0">
                <a:latin typeface="Consolas" panose="020B0609020204030204" pitchFamily="49" charset="0"/>
              </a:rPr>
              <a:t> x0,int x1,int y0,int </a:t>
            </a:r>
            <a:r>
              <a:rPr lang="en-US" sz="1050" dirty="0" err="1">
                <a:latin typeface="Consolas" panose="020B0609020204030204" pitchFamily="49" charset="0"/>
              </a:rPr>
              <a:t>yStep,int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prevX,int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prevY,BinaryTree</a:t>
            </a:r>
            <a:r>
              <a:rPr lang="en-US" sz="1050" dirty="0">
                <a:latin typeface="Consolas" panose="020B0609020204030204" pitchFamily="49" charset="0"/>
              </a:rPr>
              <a:t>&lt;</a:t>
            </a:r>
            <a:r>
              <a:rPr lang="en-US" sz="1050" dirty="0" err="1">
                <a:latin typeface="Consolas" panose="020B0609020204030204" pitchFamily="49" charset="0"/>
              </a:rPr>
              <a:t>int,int</a:t>
            </a:r>
            <a:r>
              <a:rPr lang="en-US" sz="1050" dirty="0">
                <a:latin typeface="Consolas" panose="020B0609020204030204" pitchFamily="49" charset="0"/>
              </a:rPr>
              <a:t>&gt;::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 </a:t>
            </a:r>
            <a:r>
              <a:rPr lang="en-US" sz="1050" dirty="0" err="1">
                <a:latin typeface="Consolas" panose="020B0609020204030204" pitchFamily="49" charset="0"/>
              </a:rPr>
              <a:t>const</a:t>
            </a:r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if(</a:t>
            </a:r>
            <a:r>
              <a:rPr lang="en-US" sz="1050" dirty="0" err="1">
                <a:latin typeface="Consolas" panose="020B0609020204030204" pitchFamily="49" charset="0"/>
              </a:rPr>
              <a:t>ndHd.IsNotNull</a:t>
            </a:r>
            <a:r>
              <a:rPr lang="en-US" sz="105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int</a:t>
            </a:r>
            <a:r>
              <a:rPr lang="en-US" sz="1050" dirty="0">
                <a:latin typeface="Consolas" panose="020B0609020204030204" pitchFamily="49" charset="0"/>
              </a:rPr>
              <a:t> x=(x0+x1)/2,y=y0+yStep/2;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if(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==</a:t>
            </a:r>
            <a:r>
              <a:rPr lang="en-US" sz="1050" dirty="0" err="1">
                <a:latin typeface="Consolas" panose="020B0609020204030204" pitchFamily="49" charset="0"/>
              </a:rPr>
              <a:t>mouseOn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glColor3ub(255,0,0);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else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glColor3ub(0,0,0);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glBegin</a:t>
            </a:r>
            <a:r>
              <a:rPr lang="en-US" sz="1050" dirty="0">
                <a:latin typeface="Consolas" panose="020B0609020204030204" pitchFamily="49" charset="0"/>
              </a:rPr>
              <a:t>(GL_LINES);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glVertex2i(</a:t>
            </a:r>
            <a:r>
              <a:rPr lang="en-US" sz="1050" dirty="0" err="1">
                <a:latin typeface="Consolas" panose="020B0609020204030204" pitchFamily="49" charset="0"/>
              </a:rPr>
              <a:t>prevX,prevY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glVertex2i(</a:t>
            </a:r>
            <a:r>
              <a:rPr lang="en-US" sz="1050" dirty="0" err="1">
                <a:latin typeface="Consolas" panose="020B0609020204030204" pitchFamily="49" charset="0"/>
              </a:rPr>
              <a:t>x,y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glEnd</a:t>
            </a:r>
            <a:r>
              <a:rPr lang="en-US" sz="1050" dirty="0">
                <a:latin typeface="Consolas" panose="020B0609020204030204" pitchFamily="49" charset="0"/>
              </a:rPr>
              <a:t>();</a:t>
            </a:r>
          </a:p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    glRasterPos2i(</a:t>
            </a:r>
            <a:r>
              <a:rPr lang="en-US" sz="1050" dirty="0" err="1">
                <a:latin typeface="Consolas" panose="020B0609020204030204" pitchFamily="49" charset="0"/>
              </a:rPr>
              <a:t>x,y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char </a:t>
            </a:r>
            <a:r>
              <a:rPr lang="en-US" sz="1050" dirty="0" err="1">
                <a:latin typeface="Consolas" panose="020B0609020204030204" pitchFamily="49" charset="0"/>
              </a:rPr>
              <a:t>str</a:t>
            </a:r>
            <a:r>
              <a:rPr lang="en-US" sz="1050" dirty="0">
                <a:latin typeface="Consolas" panose="020B0609020204030204" pitchFamily="49" charset="0"/>
              </a:rPr>
              <a:t>[256];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sprintf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str</a:t>
            </a:r>
            <a:r>
              <a:rPr lang="en-US" sz="1050" dirty="0">
                <a:latin typeface="Consolas" panose="020B0609020204030204" pitchFamily="49" charset="0"/>
              </a:rPr>
              <a:t>,"%d",</a:t>
            </a:r>
            <a:r>
              <a:rPr lang="en-US" sz="1050" dirty="0" err="1">
                <a:latin typeface="Consolas" panose="020B0609020204030204" pitchFamily="49" charset="0"/>
              </a:rPr>
              <a:t>tree.GetKey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YsGlDrawFontBitmap12x16(</a:t>
            </a:r>
            <a:r>
              <a:rPr lang="en-US" sz="1050" dirty="0" err="1">
                <a:latin typeface="Consolas" panose="020B0609020204030204" pitchFamily="49" charset="0"/>
              </a:rPr>
              <a:t>str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DrawNode</a:t>
            </a:r>
            <a:r>
              <a:rPr lang="en-US" sz="1050" dirty="0">
                <a:latin typeface="Consolas" panose="020B0609020204030204" pitchFamily="49" charset="0"/>
              </a:rPr>
              <a:t>(x0,(x0+x1)/2,y0+yStep,yStep,x,y,tree.Left(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latin typeface="Consolas" panose="020B0609020204030204" pitchFamily="49" charset="0"/>
              </a:rPr>
              <a:t>DrawNode</a:t>
            </a:r>
            <a:r>
              <a:rPr lang="en-US" sz="1050" dirty="0">
                <a:latin typeface="Consolas" panose="020B0609020204030204" pitchFamily="49" charset="0"/>
              </a:rPr>
              <a:t>((x0+x1)/2,x1,y0+yStep,yStep,x,y,tree.Right(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}</a:t>
            </a:r>
          </a:p>
          <a:p>
            <a:endParaRPr lang="en-US" sz="1050" dirty="0">
              <a:latin typeface="Consolas" panose="020B0609020204030204" pitchFamily="49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2597150" y="2279650"/>
            <a:ext cx="139700" cy="10795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736850" y="2546350"/>
            <a:ext cx="4455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Change color if the mouse is on the node.</a:t>
            </a:r>
          </a:p>
        </p:txBody>
      </p:sp>
    </p:spTree>
    <p:extLst>
      <p:ext uri="{BB962C8B-B14F-4D97-AF65-F5344CB8AC3E}">
        <p14:creationId xmlns:p14="http://schemas.microsoft.com/office/powerpoint/2010/main" val="148410396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Motivation: Unbalanced tree is inefficient.  Want to transform an unbalanced tree into a balanced tree.</a:t>
            </a:r>
          </a:p>
          <a:p>
            <a:r>
              <a:rPr lang="en-US" dirty="0"/>
              <a:t>Transform a binary tree without breaking the node order.</a:t>
            </a:r>
          </a:p>
        </p:txBody>
      </p:sp>
    </p:spTree>
    <p:extLst>
      <p:ext uri="{BB962C8B-B14F-4D97-AF65-F5344CB8AC3E}">
        <p14:creationId xmlns:p14="http://schemas.microsoft.com/office/powerpoint/2010/main" val="4560317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rotation.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left sub-tree of node B is between nodes A and B.  I.e., every node in the sub-tree’s key must be between the keys of A and B.  Therefore, </a:t>
            </a:r>
          </a:p>
        </p:txBody>
      </p:sp>
      <p:sp>
        <p:nvSpPr>
          <p:cNvPr id="4" name="Oval 3"/>
          <p:cNvSpPr/>
          <p:nvPr/>
        </p:nvSpPr>
        <p:spPr>
          <a:xfrm>
            <a:off x="4855430" y="3354803"/>
            <a:ext cx="622586" cy="62258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Rectangle 4"/>
          <p:cNvSpPr/>
          <p:nvPr/>
        </p:nvSpPr>
        <p:spPr>
          <a:xfrm>
            <a:off x="7037434" y="4231714"/>
            <a:ext cx="476434" cy="449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7709" y="4231714"/>
            <a:ext cx="445620" cy="4456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iamond 6"/>
          <p:cNvSpPr/>
          <p:nvPr/>
        </p:nvSpPr>
        <p:spPr>
          <a:xfrm>
            <a:off x="6332129" y="5053256"/>
            <a:ext cx="632012" cy="632012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gular Pentagon 7"/>
          <p:cNvSpPr/>
          <p:nvPr/>
        </p:nvSpPr>
        <p:spPr>
          <a:xfrm>
            <a:off x="7884338" y="5066702"/>
            <a:ext cx="508300" cy="484096"/>
          </a:xfrm>
          <a:prstGeom prst="pent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>
            <a:stCxn id="4" idx="3"/>
            <a:endCxn id="6" idx="0"/>
          </p:cNvCxnSpPr>
          <p:nvPr/>
        </p:nvCxnSpPr>
        <p:spPr>
          <a:xfrm flipH="1">
            <a:off x="4590519" y="3886213"/>
            <a:ext cx="356087" cy="3455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4" idx="5"/>
            <a:endCxn id="5" idx="0"/>
          </p:cNvCxnSpPr>
          <p:nvPr/>
        </p:nvCxnSpPr>
        <p:spPr>
          <a:xfrm>
            <a:off x="5386840" y="3886213"/>
            <a:ext cx="1888811" cy="3455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5" idx="2"/>
            <a:endCxn id="7" idx="0"/>
          </p:cNvCxnSpPr>
          <p:nvPr/>
        </p:nvCxnSpPr>
        <p:spPr>
          <a:xfrm flipH="1">
            <a:off x="6648135" y="4680878"/>
            <a:ext cx="627516" cy="3723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5" idx="2"/>
            <a:endCxn id="8" idx="0"/>
          </p:cNvCxnSpPr>
          <p:nvPr/>
        </p:nvCxnSpPr>
        <p:spPr>
          <a:xfrm>
            <a:off x="7275651" y="4680878"/>
            <a:ext cx="862837" cy="3858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Hexagon 12"/>
          <p:cNvSpPr/>
          <p:nvPr/>
        </p:nvSpPr>
        <p:spPr>
          <a:xfrm>
            <a:off x="5826420" y="6095404"/>
            <a:ext cx="547810" cy="443753"/>
          </a:xfrm>
          <a:prstGeom prst="hex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 Diagonal Corner Rectangle 13"/>
          <p:cNvSpPr/>
          <p:nvPr/>
        </p:nvSpPr>
        <p:spPr>
          <a:xfrm>
            <a:off x="6903630" y="6095404"/>
            <a:ext cx="535611" cy="376518"/>
          </a:xfrm>
          <a:prstGeom prst="round2Diag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>
            <a:stCxn id="7" idx="2"/>
            <a:endCxn id="13" idx="5"/>
          </p:cNvCxnSpPr>
          <p:nvPr/>
        </p:nvCxnSpPr>
        <p:spPr>
          <a:xfrm flipH="1">
            <a:off x="6263292" y="5685268"/>
            <a:ext cx="384843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endCxn id="14" idx="3"/>
          </p:cNvCxnSpPr>
          <p:nvPr/>
        </p:nvCxnSpPr>
        <p:spPr>
          <a:xfrm>
            <a:off x="6648135" y="5685268"/>
            <a:ext cx="523301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685183" y="4977516"/>
            <a:ext cx="1828686" cy="171748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23662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rotation.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trees below are equivalent.</a:t>
            </a:r>
          </a:p>
          <a:p>
            <a:r>
              <a:rPr lang="en-US" dirty="0"/>
              <a:t>The node can be ‘rotated’ without breaking the node order.</a:t>
            </a:r>
          </a:p>
        </p:txBody>
      </p:sp>
      <p:sp>
        <p:nvSpPr>
          <p:cNvPr id="4" name="Oval 3"/>
          <p:cNvSpPr/>
          <p:nvPr/>
        </p:nvSpPr>
        <p:spPr>
          <a:xfrm>
            <a:off x="4855430" y="3354803"/>
            <a:ext cx="622586" cy="62258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Rectangle 4"/>
          <p:cNvSpPr/>
          <p:nvPr/>
        </p:nvSpPr>
        <p:spPr>
          <a:xfrm>
            <a:off x="7037434" y="4231714"/>
            <a:ext cx="476434" cy="449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7709" y="4231714"/>
            <a:ext cx="445620" cy="4456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iamond 6"/>
          <p:cNvSpPr/>
          <p:nvPr/>
        </p:nvSpPr>
        <p:spPr>
          <a:xfrm>
            <a:off x="6332129" y="5053256"/>
            <a:ext cx="632012" cy="632012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gular Pentagon 7"/>
          <p:cNvSpPr/>
          <p:nvPr/>
        </p:nvSpPr>
        <p:spPr>
          <a:xfrm>
            <a:off x="7884338" y="5066702"/>
            <a:ext cx="508300" cy="484096"/>
          </a:xfrm>
          <a:prstGeom prst="pent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>
            <a:stCxn id="4" idx="3"/>
            <a:endCxn id="6" idx="0"/>
          </p:cNvCxnSpPr>
          <p:nvPr/>
        </p:nvCxnSpPr>
        <p:spPr>
          <a:xfrm flipH="1">
            <a:off x="4590519" y="3886213"/>
            <a:ext cx="356087" cy="3455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4" idx="5"/>
            <a:endCxn id="5" idx="0"/>
          </p:cNvCxnSpPr>
          <p:nvPr/>
        </p:nvCxnSpPr>
        <p:spPr>
          <a:xfrm>
            <a:off x="5386840" y="3886213"/>
            <a:ext cx="1888811" cy="3455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5" idx="2"/>
            <a:endCxn id="7" idx="0"/>
          </p:cNvCxnSpPr>
          <p:nvPr/>
        </p:nvCxnSpPr>
        <p:spPr>
          <a:xfrm flipH="1">
            <a:off x="6648135" y="4680878"/>
            <a:ext cx="627516" cy="3723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5" idx="2"/>
            <a:endCxn id="8" idx="0"/>
          </p:cNvCxnSpPr>
          <p:nvPr/>
        </p:nvCxnSpPr>
        <p:spPr>
          <a:xfrm>
            <a:off x="7275651" y="4680878"/>
            <a:ext cx="862837" cy="3858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Hexagon 12"/>
          <p:cNvSpPr/>
          <p:nvPr/>
        </p:nvSpPr>
        <p:spPr>
          <a:xfrm>
            <a:off x="5826420" y="6095404"/>
            <a:ext cx="547810" cy="443753"/>
          </a:xfrm>
          <a:prstGeom prst="hex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 Diagonal Corner Rectangle 13"/>
          <p:cNvSpPr/>
          <p:nvPr/>
        </p:nvSpPr>
        <p:spPr>
          <a:xfrm>
            <a:off x="6903630" y="6095404"/>
            <a:ext cx="535611" cy="376518"/>
          </a:xfrm>
          <a:prstGeom prst="round2Diag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>
            <a:stCxn id="7" idx="2"/>
            <a:endCxn id="13" idx="5"/>
          </p:cNvCxnSpPr>
          <p:nvPr/>
        </p:nvCxnSpPr>
        <p:spPr>
          <a:xfrm flipH="1">
            <a:off x="6263292" y="5685268"/>
            <a:ext cx="384843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endCxn id="14" idx="3"/>
          </p:cNvCxnSpPr>
          <p:nvPr/>
        </p:nvCxnSpPr>
        <p:spPr>
          <a:xfrm>
            <a:off x="6648135" y="5685268"/>
            <a:ext cx="523301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685183" y="4977516"/>
            <a:ext cx="1828686" cy="171748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813147" y="4142316"/>
            <a:ext cx="622586" cy="62258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72992" y="3216932"/>
            <a:ext cx="476434" cy="449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5426" y="5019227"/>
            <a:ext cx="445620" cy="4456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iamond 36"/>
          <p:cNvSpPr/>
          <p:nvPr/>
        </p:nvSpPr>
        <p:spPr>
          <a:xfrm>
            <a:off x="1595620" y="4949530"/>
            <a:ext cx="632012" cy="632012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gular Pentagon 37"/>
          <p:cNvSpPr/>
          <p:nvPr/>
        </p:nvSpPr>
        <p:spPr>
          <a:xfrm>
            <a:off x="3289318" y="4206734"/>
            <a:ext cx="508300" cy="484096"/>
          </a:xfrm>
          <a:prstGeom prst="pent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>
            <a:stCxn id="34" idx="3"/>
            <a:endCxn id="36" idx="0"/>
          </p:cNvCxnSpPr>
          <p:nvPr/>
        </p:nvCxnSpPr>
        <p:spPr>
          <a:xfrm flipH="1">
            <a:off x="548236" y="4673726"/>
            <a:ext cx="356087" cy="3455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34" idx="7"/>
            <a:endCxn id="35" idx="2"/>
          </p:cNvCxnSpPr>
          <p:nvPr/>
        </p:nvCxnSpPr>
        <p:spPr>
          <a:xfrm flipV="1">
            <a:off x="1344557" y="3666096"/>
            <a:ext cx="1366652" cy="5673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4" idx="5"/>
            <a:endCxn id="37" idx="0"/>
          </p:cNvCxnSpPr>
          <p:nvPr/>
        </p:nvCxnSpPr>
        <p:spPr>
          <a:xfrm>
            <a:off x="1344557" y="4673726"/>
            <a:ext cx="567069" cy="2758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5" idx="2"/>
            <a:endCxn id="38" idx="0"/>
          </p:cNvCxnSpPr>
          <p:nvPr/>
        </p:nvCxnSpPr>
        <p:spPr>
          <a:xfrm>
            <a:off x="2711209" y="3666096"/>
            <a:ext cx="832259" cy="5406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Hexagon 42"/>
          <p:cNvSpPr/>
          <p:nvPr/>
        </p:nvSpPr>
        <p:spPr>
          <a:xfrm>
            <a:off x="1089911" y="5991678"/>
            <a:ext cx="547810" cy="443753"/>
          </a:xfrm>
          <a:prstGeom prst="hex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 Diagonal Corner Rectangle 43"/>
          <p:cNvSpPr/>
          <p:nvPr/>
        </p:nvSpPr>
        <p:spPr>
          <a:xfrm>
            <a:off x="2167121" y="5991678"/>
            <a:ext cx="535611" cy="376518"/>
          </a:xfrm>
          <a:prstGeom prst="round2Diag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/>
          <p:cNvCxnSpPr>
            <a:stCxn id="37" idx="2"/>
            <a:endCxn id="43" idx="5"/>
          </p:cNvCxnSpPr>
          <p:nvPr/>
        </p:nvCxnSpPr>
        <p:spPr>
          <a:xfrm flipH="1">
            <a:off x="1526783" y="5581542"/>
            <a:ext cx="384843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endCxn id="44" idx="3"/>
          </p:cNvCxnSpPr>
          <p:nvPr/>
        </p:nvCxnSpPr>
        <p:spPr>
          <a:xfrm>
            <a:off x="1911626" y="5581542"/>
            <a:ext cx="523301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948674" y="4873790"/>
            <a:ext cx="1828686" cy="171748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urved Down Arrow 63"/>
          <p:cNvSpPr/>
          <p:nvPr/>
        </p:nvSpPr>
        <p:spPr>
          <a:xfrm>
            <a:off x="2173276" y="2623283"/>
            <a:ext cx="1216152" cy="7315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5" name="Curved Down Arrow 64"/>
          <p:cNvSpPr/>
          <p:nvPr/>
        </p:nvSpPr>
        <p:spPr>
          <a:xfrm flipH="1">
            <a:off x="4536646" y="2623283"/>
            <a:ext cx="1201091" cy="7315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818660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 A can be rotated left only if it has the right node.</a:t>
            </a:r>
          </a:p>
          <a:p>
            <a:pPr marL="457200" indent="-457200">
              <a:buAutoNum type="arabicPeriod"/>
            </a:pPr>
            <a:r>
              <a:rPr lang="en-US" dirty="0"/>
              <a:t>Connect B to where A is currently connected.</a:t>
            </a:r>
          </a:p>
          <a:p>
            <a:pPr marL="457200" indent="-457200">
              <a:buAutoNum type="arabicPeriod"/>
            </a:pPr>
            <a:r>
              <a:rPr lang="en-US" dirty="0"/>
              <a:t>Connect left-sub-node of B (node C)to the right of A.  Node C may be NULL.  Parent of C must be updated only when C is not NULL.</a:t>
            </a:r>
          </a:p>
          <a:p>
            <a:pPr marL="457200" indent="-457200">
              <a:buAutoNum type="arabicPeriod"/>
            </a:pPr>
            <a:r>
              <a:rPr lang="en-US" dirty="0"/>
              <a:t>Connect A to the left of </a:t>
            </a:r>
            <a:r>
              <a:rPr lang="en-US"/>
              <a:t>B.</a:t>
            </a:r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1558455" y="4210270"/>
            <a:ext cx="2373501" cy="2401090"/>
            <a:chOff x="4367709" y="2623283"/>
            <a:chExt cx="4024929" cy="4071714"/>
          </a:xfrm>
        </p:grpSpPr>
        <p:sp>
          <p:nvSpPr>
            <p:cNvPr id="4" name="Oval 3"/>
            <p:cNvSpPr/>
            <p:nvPr/>
          </p:nvSpPr>
          <p:spPr>
            <a:xfrm>
              <a:off x="4855430" y="3354803"/>
              <a:ext cx="622586" cy="622586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7037434" y="4231714"/>
              <a:ext cx="476434" cy="44916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367709" y="4231714"/>
              <a:ext cx="445620" cy="445620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Diamond 6"/>
            <p:cNvSpPr/>
            <p:nvPr/>
          </p:nvSpPr>
          <p:spPr>
            <a:xfrm>
              <a:off x="6332129" y="5053256"/>
              <a:ext cx="632012" cy="632012"/>
            </a:xfrm>
            <a:prstGeom prst="diamon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</a:t>
              </a:r>
            </a:p>
          </p:txBody>
        </p:sp>
        <p:sp>
          <p:nvSpPr>
            <p:cNvPr id="8" name="Regular Pentagon 7"/>
            <p:cNvSpPr/>
            <p:nvPr/>
          </p:nvSpPr>
          <p:spPr>
            <a:xfrm>
              <a:off x="7884338" y="5066702"/>
              <a:ext cx="508300" cy="484096"/>
            </a:xfrm>
            <a:prstGeom prst="pentago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/>
            <p:cNvCxnSpPr>
              <a:stCxn id="4" idx="3"/>
              <a:endCxn id="6" idx="0"/>
            </p:cNvCxnSpPr>
            <p:nvPr/>
          </p:nvCxnSpPr>
          <p:spPr>
            <a:xfrm flipH="1">
              <a:off x="4590519" y="3886213"/>
              <a:ext cx="356087" cy="3455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stCxn id="4" idx="5"/>
              <a:endCxn id="5" idx="0"/>
            </p:cNvCxnSpPr>
            <p:nvPr/>
          </p:nvCxnSpPr>
          <p:spPr>
            <a:xfrm>
              <a:off x="5386840" y="3886213"/>
              <a:ext cx="1888811" cy="3455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>
              <a:stCxn id="5" idx="2"/>
              <a:endCxn id="7" idx="0"/>
            </p:cNvCxnSpPr>
            <p:nvPr/>
          </p:nvCxnSpPr>
          <p:spPr>
            <a:xfrm flipH="1">
              <a:off x="6648135" y="4680878"/>
              <a:ext cx="627516" cy="3723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5" idx="2"/>
              <a:endCxn id="8" idx="0"/>
            </p:cNvCxnSpPr>
            <p:nvPr/>
          </p:nvCxnSpPr>
          <p:spPr>
            <a:xfrm>
              <a:off x="7275651" y="4680878"/>
              <a:ext cx="862837" cy="3858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Hexagon 12"/>
            <p:cNvSpPr/>
            <p:nvPr/>
          </p:nvSpPr>
          <p:spPr>
            <a:xfrm>
              <a:off x="5826420" y="6095404"/>
              <a:ext cx="547810" cy="443753"/>
            </a:xfrm>
            <a:prstGeom prst="hexago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 Diagonal Corner Rectangle 13"/>
            <p:cNvSpPr/>
            <p:nvPr/>
          </p:nvSpPr>
          <p:spPr>
            <a:xfrm>
              <a:off x="6903630" y="6095404"/>
              <a:ext cx="535611" cy="376518"/>
            </a:xfrm>
            <a:prstGeom prst="round2Diag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/>
            <p:cNvCxnSpPr>
              <a:stCxn id="7" idx="2"/>
              <a:endCxn id="13" idx="5"/>
            </p:cNvCxnSpPr>
            <p:nvPr/>
          </p:nvCxnSpPr>
          <p:spPr>
            <a:xfrm flipH="1">
              <a:off x="6263292" y="5685268"/>
              <a:ext cx="384843" cy="4101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endCxn id="14" idx="3"/>
            </p:cNvCxnSpPr>
            <p:nvPr/>
          </p:nvCxnSpPr>
          <p:spPr>
            <a:xfrm>
              <a:off x="6648135" y="5685268"/>
              <a:ext cx="523301" cy="4101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/>
            <p:cNvSpPr/>
            <p:nvPr/>
          </p:nvSpPr>
          <p:spPr>
            <a:xfrm>
              <a:off x="5685183" y="4977516"/>
              <a:ext cx="1828686" cy="171748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Curved Down Arrow 17"/>
            <p:cNvSpPr/>
            <p:nvPr/>
          </p:nvSpPr>
          <p:spPr>
            <a:xfrm flipH="1">
              <a:off x="4536646" y="2623283"/>
              <a:ext cx="1201091" cy="731520"/>
            </a:xfrm>
            <a:prstGeom prst="curved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5152197" y="4221012"/>
            <a:ext cx="2159897" cy="2468310"/>
            <a:chOff x="325426" y="2623283"/>
            <a:chExt cx="3472192" cy="3967988"/>
          </a:xfrm>
        </p:grpSpPr>
        <p:sp>
          <p:nvSpPr>
            <p:cNvPr id="20" name="Oval 19"/>
            <p:cNvSpPr/>
            <p:nvPr/>
          </p:nvSpPr>
          <p:spPr>
            <a:xfrm>
              <a:off x="813147" y="4142316"/>
              <a:ext cx="622586" cy="622586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472992" y="3216932"/>
              <a:ext cx="476434" cy="44916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25426" y="5019227"/>
              <a:ext cx="445620" cy="445620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595620" y="4949530"/>
              <a:ext cx="632012" cy="632012"/>
            </a:xfrm>
            <a:prstGeom prst="diamond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C</a:t>
              </a:r>
            </a:p>
          </p:txBody>
        </p:sp>
        <p:sp>
          <p:nvSpPr>
            <p:cNvPr id="24" name="Regular Pentagon 23"/>
            <p:cNvSpPr/>
            <p:nvPr/>
          </p:nvSpPr>
          <p:spPr>
            <a:xfrm>
              <a:off x="3289318" y="4206734"/>
              <a:ext cx="508300" cy="484096"/>
            </a:xfrm>
            <a:prstGeom prst="pentago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/>
            <p:cNvCxnSpPr>
              <a:stCxn id="20" idx="3"/>
              <a:endCxn id="22" idx="0"/>
            </p:cNvCxnSpPr>
            <p:nvPr/>
          </p:nvCxnSpPr>
          <p:spPr>
            <a:xfrm flipH="1">
              <a:off x="548236" y="4673726"/>
              <a:ext cx="356087" cy="3455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20" idx="7"/>
              <a:endCxn id="21" idx="2"/>
            </p:cNvCxnSpPr>
            <p:nvPr/>
          </p:nvCxnSpPr>
          <p:spPr>
            <a:xfrm flipV="1">
              <a:off x="1344557" y="3666096"/>
              <a:ext cx="1366652" cy="5673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20" idx="5"/>
              <a:endCxn id="23" idx="0"/>
            </p:cNvCxnSpPr>
            <p:nvPr/>
          </p:nvCxnSpPr>
          <p:spPr>
            <a:xfrm>
              <a:off x="1344557" y="4673726"/>
              <a:ext cx="567069" cy="2758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21" idx="2"/>
              <a:endCxn id="24" idx="0"/>
            </p:cNvCxnSpPr>
            <p:nvPr/>
          </p:nvCxnSpPr>
          <p:spPr>
            <a:xfrm>
              <a:off x="2711209" y="3666096"/>
              <a:ext cx="832259" cy="5406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Hexagon 28"/>
            <p:cNvSpPr/>
            <p:nvPr/>
          </p:nvSpPr>
          <p:spPr>
            <a:xfrm>
              <a:off x="1089911" y="5991678"/>
              <a:ext cx="547810" cy="443753"/>
            </a:xfrm>
            <a:prstGeom prst="hexago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ound Diagonal Corner Rectangle 29"/>
            <p:cNvSpPr/>
            <p:nvPr/>
          </p:nvSpPr>
          <p:spPr>
            <a:xfrm>
              <a:off x="2167121" y="5991678"/>
              <a:ext cx="535611" cy="376518"/>
            </a:xfrm>
            <a:prstGeom prst="round2Diag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/>
            <p:cNvCxnSpPr>
              <a:stCxn id="23" idx="2"/>
              <a:endCxn id="29" idx="5"/>
            </p:cNvCxnSpPr>
            <p:nvPr/>
          </p:nvCxnSpPr>
          <p:spPr>
            <a:xfrm flipH="1">
              <a:off x="1526783" y="5581542"/>
              <a:ext cx="384843" cy="4101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endCxn id="30" idx="3"/>
            </p:cNvCxnSpPr>
            <p:nvPr/>
          </p:nvCxnSpPr>
          <p:spPr>
            <a:xfrm>
              <a:off x="1911626" y="5581542"/>
              <a:ext cx="523301" cy="4101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/>
            <p:cNvSpPr/>
            <p:nvPr/>
          </p:nvSpPr>
          <p:spPr>
            <a:xfrm>
              <a:off x="948674" y="4873790"/>
              <a:ext cx="1828686" cy="171748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Curved Down Arrow 33"/>
            <p:cNvSpPr/>
            <p:nvPr/>
          </p:nvSpPr>
          <p:spPr>
            <a:xfrm>
              <a:off x="2173276" y="2623283"/>
              <a:ext cx="1216152" cy="731520"/>
            </a:xfrm>
            <a:prstGeom prst="curved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36" name="Right Arrow 35"/>
          <p:cNvSpPr/>
          <p:nvPr/>
        </p:nvSpPr>
        <p:spPr>
          <a:xfrm>
            <a:off x="4198289" y="4955020"/>
            <a:ext cx="644055" cy="5981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3663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</a:t>
            </a:r>
            <a:r>
              <a:rPr lang="en-US" dirty="0" err="1"/>
              <a:t>RotateLeft</a:t>
            </a:r>
            <a:r>
              <a:rPr lang="en-US" dirty="0"/>
              <a:t> functions in the </a:t>
            </a:r>
            <a:r>
              <a:rPr lang="en-US" dirty="0" err="1"/>
              <a:t>BinaryTree</a:t>
            </a:r>
            <a:r>
              <a:rPr lang="en-US" dirty="0"/>
              <a:t> class.</a:t>
            </a:r>
          </a:p>
          <a:p>
            <a:r>
              <a:rPr lang="en-US" dirty="0"/>
              <a:t>Left-Rotate the node when the user presses the L key.</a:t>
            </a:r>
          </a:p>
        </p:txBody>
      </p:sp>
    </p:spTree>
    <p:extLst>
      <p:ext uri="{BB962C8B-B14F-4D97-AF65-F5344CB8AC3E}">
        <p14:creationId xmlns:p14="http://schemas.microsoft.com/office/powerpoint/2010/main" val="247653007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11150" y="215900"/>
            <a:ext cx="4240263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</a:rPr>
              <a:t>    bool </a:t>
            </a:r>
            <a:r>
              <a:rPr lang="en-US" sz="1050" dirty="0" err="1">
                <a:latin typeface="Consolas" panose="020B0609020204030204" pitchFamily="49" charset="0"/>
              </a:rPr>
              <a:t>RotateLeft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NodeHandle</a:t>
            </a:r>
            <a:r>
              <a:rPr lang="en-US" sz="1050" dirty="0">
                <a:latin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auto 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=</a:t>
            </a:r>
            <a:r>
              <a:rPr lang="en-US" sz="1050" dirty="0" err="1">
                <a:latin typeface="Consolas" panose="020B0609020204030204" pitchFamily="49" charset="0"/>
              </a:rPr>
              <a:t>GetNode</a:t>
            </a:r>
            <a:r>
              <a:rPr lang="en-US" sz="1050" dirty="0">
                <a:latin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</a:rPr>
              <a:t>ndHd</a:t>
            </a:r>
            <a:r>
              <a:rPr lang="en-US" sz="105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if(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!=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 &amp;&amp; 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!=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-&gt;right)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auto </a:t>
            </a:r>
            <a:r>
              <a:rPr lang="en-US" sz="1050" dirty="0" err="1">
                <a:latin typeface="Consolas" panose="020B0609020204030204" pitchFamily="49" charset="0"/>
              </a:rPr>
              <a:t>rightPtr</a:t>
            </a:r>
            <a:r>
              <a:rPr lang="en-US" sz="1050" dirty="0">
                <a:latin typeface="Consolas" panose="020B0609020204030204" pitchFamily="49" charset="0"/>
              </a:rPr>
              <a:t>=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-&gt;right;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auto </a:t>
            </a:r>
            <a:r>
              <a:rPr lang="en-US" sz="1050" dirty="0" err="1">
                <a:latin typeface="Consolas" panose="020B0609020204030204" pitchFamily="49" charset="0"/>
              </a:rPr>
              <a:t>leftOfRight</a:t>
            </a:r>
            <a:r>
              <a:rPr lang="en-US" sz="1050" dirty="0">
                <a:latin typeface="Consolas" panose="020B0609020204030204" pitchFamily="49" charset="0"/>
              </a:rPr>
              <a:t>=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-&gt;right-&gt;left;</a:t>
            </a:r>
          </a:p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        if(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==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-&gt;up)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root=</a:t>
            </a:r>
            <a:r>
              <a:rPr lang="en-US" sz="1050" dirty="0" err="1">
                <a:latin typeface="Consolas" panose="020B0609020204030204" pitchFamily="49" charset="0"/>
              </a:rPr>
              <a:t>rightPtr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</a:t>
            </a:r>
            <a:r>
              <a:rPr lang="en-US" sz="1050" dirty="0" err="1">
                <a:latin typeface="Consolas" panose="020B0609020204030204" pitchFamily="49" charset="0"/>
              </a:rPr>
              <a:t>rightPtr</a:t>
            </a:r>
            <a:r>
              <a:rPr lang="en-US" sz="1050" dirty="0">
                <a:latin typeface="Consolas" panose="020B0609020204030204" pitchFamily="49" charset="0"/>
              </a:rPr>
              <a:t>-&gt;up=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else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</a:t>
            </a:r>
            <a:r>
              <a:rPr lang="en-US" sz="1050" dirty="0" err="1">
                <a:latin typeface="Consolas" panose="020B0609020204030204" pitchFamily="49" charset="0"/>
              </a:rPr>
              <a:t>rightPtr</a:t>
            </a:r>
            <a:r>
              <a:rPr lang="en-US" sz="1050" dirty="0">
                <a:latin typeface="Consolas" panose="020B0609020204030204" pitchFamily="49" charset="0"/>
              </a:rPr>
              <a:t>-&gt;up=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-&gt;up;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if(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-&gt;up-&gt;left==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-&gt;up-&gt;left=</a:t>
            </a:r>
            <a:r>
              <a:rPr lang="en-US" sz="1050" dirty="0" err="1">
                <a:latin typeface="Consolas" panose="020B0609020204030204" pitchFamily="49" charset="0"/>
              </a:rPr>
              <a:t>rightPtr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else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    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-&gt;up-&gt;right=</a:t>
            </a:r>
            <a:r>
              <a:rPr lang="en-US" sz="1050" dirty="0" err="1">
                <a:latin typeface="Consolas" panose="020B0609020204030204" pitchFamily="49" charset="0"/>
              </a:rPr>
              <a:t>rightPtr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}</a:t>
            </a:r>
          </a:p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        </a:t>
            </a:r>
            <a:r>
              <a:rPr lang="en-US" sz="1050" dirty="0" err="1">
                <a:latin typeface="Consolas" panose="020B0609020204030204" pitchFamily="49" charset="0"/>
              </a:rPr>
              <a:t>rightPtr</a:t>
            </a:r>
            <a:r>
              <a:rPr lang="en-US" sz="1050" dirty="0">
                <a:latin typeface="Consolas" panose="020B0609020204030204" pitchFamily="49" charset="0"/>
              </a:rPr>
              <a:t>-&gt;left=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-&gt;up=</a:t>
            </a:r>
            <a:r>
              <a:rPr lang="en-US" sz="1050" dirty="0" err="1">
                <a:latin typeface="Consolas" panose="020B0609020204030204" pitchFamily="49" charset="0"/>
              </a:rPr>
              <a:t>rightPtr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        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-&gt;right=</a:t>
            </a:r>
            <a:r>
              <a:rPr lang="en-US" sz="1050" dirty="0" err="1">
                <a:latin typeface="Consolas" panose="020B0609020204030204" pitchFamily="49" charset="0"/>
              </a:rPr>
              <a:t>leftOfRight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if(</a:t>
            </a:r>
            <a:r>
              <a:rPr lang="en-US" sz="1050" dirty="0" err="1">
                <a:latin typeface="Consolas" panose="020B0609020204030204" pitchFamily="49" charset="0"/>
              </a:rPr>
              <a:t>nullptr</a:t>
            </a:r>
            <a:r>
              <a:rPr lang="en-US" sz="1050" dirty="0">
                <a:latin typeface="Consolas" panose="020B0609020204030204" pitchFamily="49" charset="0"/>
              </a:rPr>
              <a:t>!=</a:t>
            </a:r>
            <a:r>
              <a:rPr lang="en-US" sz="1050" dirty="0" err="1">
                <a:latin typeface="Consolas" panose="020B0609020204030204" pitchFamily="49" charset="0"/>
              </a:rPr>
              <a:t>leftOfRight</a:t>
            </a:r>
            <a:r>
              <a:rPr lang="en-US" sz="1050" dirty="0">
                <a:latin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    </a:t>
            </a:r>
            <a:r>
              <a:rPr lang="en-US" sz="1050" dirty="0" err="1">
                <a:latin typeface="Consolas" panose="020B0609020204030204" pitchFamily="49" charset="0"/>
              </a:rPr>
              <a:t>leftOfRight</a:t>
            </a:r>
            <a:r>
              <a:rPr lang="en-US" sz="1050" dirty="0">
                <a:latin typeface="Consolas" panose="020B0609020204030204" pitchFamily="49" charset="0"/>
              </a:rPr>
              <a:t>-&gt;up=</a:t>
            </a:r>
            <a:r>
              <a:rPr lang="en-US" sz="1050" dirty="0" err="1">
                <a:latin typeface="Consolas" panose="020B0609020204030204" pitchFamily="49" charset="0"/>
              </a:rPr>
              <a:t>nodePtr</a:t>
            </a:r>
            <a:r>
              <a:rPr lang="en-US" sz="1050" dirty="0"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    }</a:t>
            </a:r>
          </a:p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            return true;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    return false;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}</a:t>
            </a:r>
          </a:p>
          <a:p>
            <a:endParaRPr lang="en-US" sz="105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69825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Set 5-1: Re-balancing a Binary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Write your own </a:t>
            </a:r>
            <a:r>
              <a:rPr lang="en-US" dirty="0" err="1"/>
              <a:t>RotateRight</a:t>
            </a:r>
            <a:r>
              <a:rPr lang="en-US" dirty="0"/>
              <a:t> function. It is symmetric with </a:t>
            </a:r>
            <a:r>
              <a:rPr lang="en-US" dirty="0" err="1"/>
              <a:t>RotateLeft</a:t>
            </a:r>
            <a:r>
              <a:rPr lang="en-US" dirty="0"/>
              <a:t>.  Should be easy.</a:t>
            </a:r>
          </a:p>
          <a:p>
            <a:pPr marL="457200" indent="-457200">
              <a:buAutoNum type="arabicPeriod"/>
            </a:pPr>
            <a:r>
              <a:rPr lang="en-US" dirty="0"/>
              <a:t>Implement a tree-rebalancing function.  Tree re-balancing can be done with three functions.</a:t>
            </a:r>
          </a:p>
          <a:p>
            <a:pPr marL="857250" lvl="1" indent="-457200"/>
            <a:r>
              <a:rPr lang="en-US" dirty="0"/>
              <a:t>void </a:t>
            </a:r>
            <a:r>
              <a:rPr lang="en-US" dirty="0" err="1"/>
              <a:t>TreeToVine</a:t>
            </a:r>
            <a:r>
              <a:rPr lang="en-US" dirty="0"/>
              <a:t>(void);</a:t>
            </a:r>
          </a:p>
          <a:p>
            <a:pPr marL="857250" lvl="1" indent="-457200"/>
            <a:r>
              <a:rPr lang="en-US" dirty="0"/>
              <a:t>void Compress(</a:t>
            </a:r>
            <a:r>
              <a:rPr lang="en-US" dirty="0" err="1"/>
              <a:t>int</a:t>
            </a:r>
            <a:r>
              <a:rPr lang="en-US" dirty="0"/>
              <a:t> n);</a:t>
            </a:r>
          </a:p>
          <a:p>
            <a:pPr marL="857250" lvl="1" indent="-457200"/>
            <a:r>
              <a:rPr lang="en-US" dirty="0"/>
              <a:t>void </a:t>
            </a:r>
            <a:r>
              <a:rPr lang="en-US" dirty="0" err="1"/>
              <a:t>VineToTree</a:t>
            </a:r>
            <a:r>
              <a:rPr lang="en-US" dirty="0"/>
              <a:t>(void);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algorithm is based on:</a:t>
            </a:r>
          </a:p>
          <a:p>
            <a:pPr marL="0" indent="0">
              <a:buNone/>
            </a:pPr>
            <a:r>
              <a:rPr lang="en-US" dirty="0"/>
              <a:t>Quentin F. Stout and Bette L. Warren, “T</a:t>
            </a:r>
            <a:r>
              <a:rPr lang="en-US" i="1" dirty="0"/>
              <a:t>ree Rebalancing in Optimal Time and Space</a:t>
            </a:r>
            <a:r>
              <a:rPr lang="en-US" dirty="0"/>
              <a:t>,” Communications of the ACM, September 1986, Volume 29, Number 9, pp. 902-908</a:t>
            </a:r>
          </a:p>
          <a:p>
            <a:pPr marL="0" indent="0">
              <a:buNone/>
            </a:pPr>
            <a:r>
              <a:rPr lang="en-US" sz="1600" dirty="0">
                <a:hlinkClick r:id="rId2"/>
              </a:rPr>
              <a:t>http://web.eecs.umich.edu/~qstout/pap/CACM86.pdf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hlinkClick r:id="rId3"/>
              </a:rPr>
              <a:t>https://en.wikipedia.org/wiki/Day%E2%80%93Stout%E2%80%93Warren_algorithm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74193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to Vine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Apply a </a:t>
            </a:r>
            <a:r>
              <a:rPr lang="en-US" dirty="0" err="1"/>
              <a:t>sequene</a:t>
            </a:r>
            <a:r>
              <a:rPr lang="en-US" dirty="0"/>
              <a:t> </a:t>
            </a:r>
            <a:r>
              <a:rPr lang="en-US"/>
              <a:t>of right </a:t>
            </a:r>
            <a:r>
              <a:rPr lang="en-US" dirty="0"/>
              <a:t>rotation staring from the root node, until the tree becomes a linear </a:t>
            </a:r>
          </a:p>
        </p:txBody>
      </p:sp>
      <p:sp>
        <p:nvSpPr>
          <p:cNvPr id="4" name="Oval 3"/>
          <p:cNvSpPr/>
          <p:nvPr/>
        </p:nvSpPr>
        <p:spPr>
          <a:xfrm>
            <a:off x="813147" y="4142316"/>
            <a:ext cx="622586" cy="62258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472992" y="3216932"/>
            <a:ext cx="476434" cy="449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25426" y="5019227"/>
            <a:ext cx="445620" cy="4456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iamond 6"/>
          <p:cNvSpPr/>
          <p:nvPr/>
        </p:nvSpPr>
        <p:spPr>
          <a:xfrm>
            <a:off x="1595620" y="4949530"/>
            <a:ext cx="632012" cy="632012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gular Pentagon 7"/>
          <p:cNvSpPr/>
          <p:nvPr/>
        </p:nvSpPr>
        <p:spPr>
          <a:xfrm>
            <a:off x="3289318" y="4206734"/>
            <a:ext cx="508300" cy="484096"/>
          </a:xfrm>
          <a:prstGeom prst="pent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>
            <a:stCxn id="4" idx="3"/>
            <a:endCxn id="6" idx="0"/>
          </p:cNvCxnSpPr>
          <p:nvPr/>
        </p:nvCxnSpPr>
        <p:spPr>
          <a:xfrm flipH="1">
            <a:off x="548236" y="4673726"/>
            <a:ext cx="356087" cy="3455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4" idx="7"/>
            <a:endCxn id="5" idx="2"/>
          </p:cNvCxnSpPr>
          <p:nvPr/>
        </p:nvCxnSpPr>
        <p:spPr>
          <a:xfrm flipV="1">
            <a:off x="1344557" y="3666096"/>
            <a:ext cx="1366652" cy="5673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4" idx="5"/>
            <a:endCxn id="7" idx="0"/>
          </p:cNvCxnSpPr>
          <p:nvPr/>
        </p:nvCxnSpPr>
        <p:spPr>
          <a:xfrm>
            <a:off x="1344557" y="4673726"/>
            <a:ext cx="567069" cy="2758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5" idx="2"/>
            <a:endCxn id="8" idx="0"/>
          </p:cNvCxnSpPr>
          <p:nvPr/>
        </p:nvCxnSpPr>
        <p:spPr>
          <a:xfrm>
            <a:off x="2711209" y="3666096"/>
            <a:ext cx="832259" cy="5406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Hexagon 12"/>
          <p:cNvSpPr/>
          <p:nvPr/>
        </p:nvSpPr>
        <p:spPr>
          <a:xfrm>
            <a:off x="1089911" y="5991678"/>
            <a:ext cx="547810" cy="443753"/>
          </a:xfrm>
          <a:prstGeom prst="hex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 Diagonal Corner Rectangle 13"/>
          <p:cNvSpPr/>
          <p:nvPr/>
        </p:nvSpPr>
        <p:spPr>
          <a:xfrm>
            <a:off x="2167121" y="5991678"/>
            <a:ext cx="535611" cy="376518"/>
          </a:xfrm>
          <a:prstGeom prst="round2Diag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>
            <a:stCxn id="7" idx="2"/>
            <a:endCxn id="13" idx="5"/>
          </p:cNvCxnSpPr>
          <p:nvPr/>
        </p:nvCxnSpPr>
        <p:spPr>
          <a:xfrm flipH="1">
            <a:off x="1526783" y="5581542"/>
            <a:ext cx="384843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endCxn id="14" idx="3"/>
          </p:cNvCxnSpPr>
          <p:nvPr/>
        </p:nvCxnSpPr>
        <p:spPr>
          <a:xfrm>
            <a:off x="1911626" y="5581542"/>
            <a:ext cx="523301" cy="410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ight Arrow 17"/>
          <p:cNvSpPr/>
          <p:nvPr/>
        </p:nvSpPr>
        <p:spPr>
          <a:xfrm>
            <a:off x="4307080" y="4949530"/>
            <a:ext cx="444382" cy="408683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>
            <a:off x="5078670" y="2805367"/>
            <a:ext cx="3672223" cy="3630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472798" y="3097181"/>
            <a:ext cx="622586" cy="62258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902658" y="5631488"/>
            <a:ext cx="476434" cy="449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851305" y="2582007"/>
            <a:ext cx="445620" cy="4456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iamond 21"/>
          <p:cNvSpPr/>
          <p:nvPr/>
        </p:nvSpPr>
        <p:spPr>
          <a:xfrm>
            <a:off x="6611588" y="4323576"/>
            <a:ext cx="632012" cy="632012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gular Pentagon 22"/>
          <p:cNvSpPr/>
          <p:nvPr/>
        </p:nvSpPr>
        <p:spPr>
          <a:xfrm>
            <a:off x="8432650" y="6193383"/>
            <a:ext cx="508300" cy="484096"/>
          </a:xfrm>
          <a:prstGeom prst="pent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Hexagon 23"/>
          <p:cNvSpPr/>
          <p:nvPr/>
        </p:nvSpPr>
        <p:spPr>
          <a:xfrm>
            <a:off x="6095384" y="3781420"/>
            <a:ext cx="547810" cy="443753"/>
          </a:xfrm>
          <a:prstGeom prst="hex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 Diagonal Corner Rectangle 24"/>
          <p:cNvSpPr/>
          <p:nvPr/>
        </p:nvSpPr>
        <p:spPr>
          <a:xfrm>
            <a:off x="7287150" y="5088581"/>
            <a:ext cx="535611" cy="376518"/>
          </a:xfrm>
          <a:prstGeom prst="round2Diag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62215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Takes an input parameter N.  Vine node </a:t>
            </a:r>
            <a:r>
              <a:rPr lang="en-US" i="1" dirty="0" err="1"/>
              <a:t>i</a:t>
            </a:r>
            <a:r>
              <a:rPr lang="en-US" dirty="0"/>
              <a:t> (zero-based) is the </a:t>
            </a:r>
            <a:r>
              <a:rPr lang="en-US" i="1" dirty="0" err="1"/>
              <a:t>i</a:t>
            </a:r>
            <a:r>
              <a:rPr lang="en-US" dirty="0" err="1"/>
              <a:t>th</a:t>
            </a:r>
            <a:r>
              <a:rPr lang="en-US" dirty="0"/>
              <a:t> node connected from the rood by right pointer.</a:t>
            </a:r>
          </a:p>
          <a:p>
            <a:r>
              <a:rPr lang="en-US" dirty="0"/>
              <a:t>Apply left rotation to </a:t>
            </a:r>
            <a:r>
              <a:rPr lang="en-US" i="1" dirty="0" err="1"/>
              <a:t>i</a:t>
            </a:r>
            <a:r>
              <a:rPr lang="en-US" dirty="0"/>
              <a:t>=0, </a:t>
            </a:r>
            <a:r>
              <a:rPr lang="en-US" i="1" dirty="0" err="1"/>
              <a:t>i</a:t>
            </a:r>
            <a:r>
              <a:rPr lang="en-US" dirty="0"/>
              <a:t>=2,…,</a:t>
            </a:r>
            <a:r>
              <a:rPr lang="en-US" i="1" dirty="0" err="1"/>
              <a:t>i</a:t>
            </a:r>
            <a:r>
              <a:rPr lang="en-US" dirty="0"/>
              <a:t>=2*(N-1).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461755" y="2702818"/>
            <a:ext cx="3672223" cy="3630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855883" y="2994632"/>
            <a:ext cx="622586" cy="62258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85743" y="5528939"/>
            <a:ext cx="476434" cy="449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34390" y="2479458"/>
            <a:ext cx="445620" cy="4456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iamond 7"/>
          <p:cNvSpPr/>
          <p:nvPr/>
        </p:nvSpPr>
        <p:spPr>
          <a:xfrm>
            <a:off x="1994673" y="4221027"/>
            <a:ext cx="632012" cy="632012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gular Pentagon 8"/>
          <p:cNvSpPr/>
          <p:nvPr/>
        </p:nvSpPr>
        <p:spPr>
          <a:xfrm>
            <a:off x="3815735" y="6090834"/>
            <a:ext cx="508300" cy="484096"/>
          </a:xfrm>
          <a:prstGeom prst="pent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Hexagon 9"/>
          <p:cNvSpPr/>
          <p:nvPr/>
        </p:nvSpPr>
        <p:spPr>
          <a:xfrm>
            <a:off x="1478469" y="3678871"/>
            <a:ext cx="547810" cy="443753"/>
          </a:xfrm>
          <a:prstGeom prst="hex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 Diagonal Corner Rectangle 10"/>
          <p:cNvSpPr/>
          <p:nvPr/>
        </p:nvSpPr>
        <p:spPr>
          <a:xfrm>
            <a:off x="2670235" y="4986032"/>
            <a:ext cx="535611" cy="376518"/>
          </a:xfrm>
          <a:prstGeom prst="round2Diag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25973" y="2513620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</a:t>
            </a:r>
            <a:r>
              <a:rPr lang="en-US" dirty="0"/>
              <a:t>=0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1983" y="2992403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</a:t>
            </a:r>
            <a:r>
              <a:rPr lang="en-US" dirty="0"/>
              <a:t>=1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63782" y="3571055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</a:t>
            </a:r>
            <a:r>
              <a:rPr lang="en-US" dirty="0"/>
              <a:t>=2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8251" y="4112633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</a:t>
            </a:r>
            <a:r>
              <a:rPr lang="en-US" dirty="0"/>
              <a:t>=3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7863" y="4716152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</a:t>
            </a:r>
            <a:r>
              <a:rPr lang="en-US" dirty="0"/>
              <a:t>=4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2177" y="5228952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</a:t>
            </a:r>
            <a:r>
              <a:rPr lang="en-US" dirty="0"/>
              <a:t>=5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4035" y="5860191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</a:t>
            </a:r>
            <a:r>
              <a:rPr lang="en-US" dirty="0"/>
              <a:t>=6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133978" y="4007978"/>
            <a:ext cx="506388" cy="473987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5805355" y="3100366"/>
            <a:ext cx="622586" cy="62258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238183" y="4748891"/>
            <a:ext cx="476434" cy="449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50673" y="3960802"/>
            <a:ext cx="445620" cy="4456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iamond 23"/>
          <p:cNvSpPr/>
          <p:nvPr/>
        </p:nvSpPr>
        <p:spPr>
          <a:xfrm>
            <a:off x="6379193" y="3895728"/>
            <a:ext cx="632012" cy="632012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gular Pentagon 24"/>
          <p:cNvSpPr/>
          <p:nvPr/>
        </p:nvSpPr>
        <p:spPr>
          <a:xfrm>
            <a:off x="7725899" y="5483658"/>
            <a:ext cx="508300" cy="484096"/>
          </a:xfrm>
          <a:prstGeom prst="pent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Hexagon 25"/>
          <p:cNvSpPr/>
          <p:nvPr/>
        </p:nvSpPr>
        <p:spPr>
          <a:xfrm>
            <a:off x="5835086" y="4615466"/>
            <a:ext cx="547810" cy="443753"/>
          </a:xfrm>
          <a:prstGeom prst="hexagon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 Diagonal Corner Rectangle 26"/>
          <p:cNvSpPr/>
          <p:nvPr/>
        </p:nvSpPr>
        <p:spPr>
          <a:xfrm>
            <a:off x="6769181" y="5565262"/>
            <a:ext cx="535611" cy="376518"/>
          </a:xfrm>
          <a:prstGeom prst="round2Diag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/>
          <p:cNvCxnSpPr>
            <a:stCxn id="21" idx="3"/>
            <a:endCxn id="23" idx="0"/>
          </p:cNvCxnSpPr>
          <p:nvPr/>
        </p:nvCxnSpPr>
        <p:spPr>
          <a:xfrm flipH="1">
            <a:off x="5673483" y="3631776"/>
            <a:ext cx="223048" cy="3290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1" idx="5"/>
            <a:endCxn id="24" idx="0"/>
          </p:cNvCxnSpPr>
          <p:nvPr/>
        </p:nvCxnSpPr>
        <p:spPr>
          <a:xfrm>
            <a:off x="6336765" y="3631776"/>
            <a:ext cx="358434" cy="263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24" idx="1"/>
            <a:endCxn id="26" idx="5"/>
          </p:cNvCxnSpPr>
          <p:nvPr/>
        </p:nvCxnSpPr>
        <p:spPr>
          <a:xfrm flipH="1">
            <a:off x="6271958" y="4211734"/>
            <a:ext cx="107235" cy="403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24" idx="3"/>
            <a:endCxn id="22" idx="0"/>
          </p:cNvCxnSpPr>
          <p:nvPr/>
        </p:nvCxnSpPr>
        <p:spPr>
          <a:xfrm>
            <a:off x="7011205" y="4211734"/>
            <a:ext cx="465195" cy="5371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22" idx="2"/>
            <a:endCxn id="27" idx="3"/>
          </p:cNvCxnSpPr>
          <p:nvPr/>
        </p:nvCxnSpPr>
        <p:spPr>
          <a:xfrm flipH="1">
            <a:off x="7036987" y="5198055"/>
            <a:ext cx="439413" cy="3672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22" idx="2"/>
            <a:endCxn id="25" idx="0"/>
          </p:cNvCxnSpPr>
          <p:nvPr/>
        </p:nvCxnSpPr>
        <p:spPr>
          <a:xfrm>
            <a:off x="7476400" y="5198055"/>
            <a:ext cx="503649" cy="2856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16017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Vine to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Apply a sequence of compression to convert a vine to a balanced tree.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dirty="0" err="1"/>
              <a:t>sz</a:t>
            </a:r>
            <a:r>
              <a:rPr lang="en-US" sz="1800" dirty="0"/>
              <a:t>=(node count)</a:t>
            </a:r>
          </a:p>
          <a:p>
            <a:pPr marL="0" indent="0">
              <a:buNone/>
            </a:pPr>
            <a:r>
              <a:rPr lang="en-US" sz="1800" dirty="0" err="1"/>
              <a:t>lc</a:t>
            </a:r>
            <a:r>
              <a:rPr lang="en-US" sz="1800" dirty="0"/>
              <a:t>=sz+1-2</a:t>
            </a:r>
            <a:r>
              <a:rPr lang="en-US" sz="1800" baseline="30000" dirty="0"/>
              <a:t>int(log2(sz+1))</a:t>
            </a:r>
          </a:p>
          <a:p>
            <a:pPr marL="0" indent="0">
              <a:buNone/>
            </a:pPr>
            <a:r>
              <a:rPr lang="en-US" sz="1800" dirty="0"/>
              <a:t>Compress(</a:t>
            </a:r>
            <a:r>
              <a:rPr lang="en-US" sz="1800" dirty="0" err="1"/>
              <a:t>lc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dirty="0" err="1"/>
              <a:t>sz</a:t>
            </a:r>
            <a:r>
              <a:rPr lang="en-US" sz="1800" dirty="0"/>
              <a:t>=</a:t>
            </a:r>
            <a:r>
              <a:rPr lang="en-US" sz="1800" dirty="0" err="1"/>
              <a:t>sz-lc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while(1&lt;</a:t>
            </a:r>
            <a:r>
              <a:rPr lang="en-US" sz="1800" dirty="0" err="1"/>
              <a:t>sz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dirty="0"/>
              <a:t>{</a:t>
            </a:r>
          </a:p>
          <a:p>
            <a:pPr marL="0" indent="0">
              <a:buNone/>
            </a:pPr>
            <a:r>
              <a:rPr lang="en-US" sz="1800" dirty="0"/>
              <a:t>    Compress(</a:t>
            </a:r>
            <a:r>
              <a:rPr lang="en-US" sz="1800" dirty="0" err="1"/>
              <a:t>sz</a:t>
            </a:r>
            <a:r>
              <a:rPr lang="en-US" sz="1800" dirty="0"/>
              <a:t>/2)</a:t>
            </a:r>
          </a:p>
          <a:p>
            <a:pPr marL="0" indent="0">
              <a:buNone/>
            </a:pPr>
            <a:r>
              <a:rPr lang="en-US" sz="1800" dirty="0"/>
              <a:t>    </a:t>
            </a:r>
            <a:r>
              <a:rPr lang="en-US" sz="1800" dirty="0" err="1"/>
              <a:t>sz</a:t>
            </a:r>
            <a:r>
              <a:rPr lang="en-US" sz="1800" dirty="0"/>
              <a:t>/=2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  <a:p>
            <a:pPr marL="0" indent="0">
              <a:buNone/>
            </a:pPr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223831667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compression will make some leaves on the left of the vine nodes.  These left nodes will become the deepest nodes in the end.</a:t>
            </a:r>
            <a:endParaRPr lang="en-US" baseline="30000" dirty="0"/>
          </a:p>
        </p:txBody>
      </p:sp>
      <p:cxnSp>
        <p:nvCxnSpPr>
          <p:cNvPr id="36" name="Straight Connector 35"/>
          <p:cNvCxnSpPr/>
          <p:nvPr/>
        </p:nvCxnSpPr>
        <p:spPr>
          <a:xfrm>
            <a:off x="666572" y="2409914"/>
            <a:ext cx="3743058" cy="38686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57200" y="2230452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770546" y="2553670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1083892" y="2876888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1397238" y="3200106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1710584" y="3523324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023930" y="3846542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2337276" y="4169760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2650622" y="4492978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2963968" y="4816196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3277314" y="5139414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3590660" y="5462632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3904006" y="5785850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4217350" y="6109072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Arrow 36"/>
          <p:cNvSpPr/>
          <p:nvPr/>
        </p:nvSpPr>
        <p:spPr>
          <a:xfrm>
            <a:off x="3661874" y="3649054"/>
            <a:ext cx="555476" cy="52070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/>
          <p:cNvCxnSpPr/>
          <p:nvPr/>
        </p:nvCxnSpPr>
        <p:spPr>
          <a:xfrm>
            <a:off x="5566873" y="2820110"/>
            <a:ext cx="2858573" cy="29269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6979784" y="4261945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7293130" y="4585163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7606476" y="4908381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7919822" y="5231599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8233166" y="5554821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/>
          <p:cNvCxnSpPr/>
          <p:nvPr/>
        </p:nvCxnSpPr>
        <p:spPr>
          <a:xfrm flipH="1">
            <a:off x="5315484" y="2938230"/>
            <a:ext cx="326521" cy="3232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5732805" y="3347373"/>
            <a:ext cx="326521" cy="3232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6163483" y="3728422"/>
            <a:ext cx="326521" cy="3232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H="1">
            <a:off x="6531664" y="4153133"/>
            <a:ext cx="326521" cy="3232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104689" y="3097556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5453642" y="2745950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5540525" y="3491298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5855294" y="3112826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5929359" y="3890031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6256946" y="3536142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6310365" y="4314742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6666438" y="3938727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97193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Then the subsequent left rotations will make the tree perfectly balanced with deepest nodes on the left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439254" y="2811564"/>
            <a:ext cx="2449082" cy="25722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693837" y="5172444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810901" y="2818884"/>
            <a:ext cx="652100" cy="6339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 flipV="1">
            <a:off x="1112643" y="3226505"/>
            <a:ext cx="327240" cy="3555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1862371" y="4030408"/>
            <a:ext cx="372743" cy="3496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564734" y="3579888"/>
            <a:ext cx="697092" cy="7399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48978" y="3385831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897931" y="3034225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1231129" y="3402308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1260149" y="2619284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321048" y="4192017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648635" y="3838128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2012185" y="4232168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033195" y="3412915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2771149" y="4526004"/>
            <a:ext cx="326521" cy="3232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3257210" y="5027643"/>
            <a:ext cx="326521" cy="3232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2553570" y="4664541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909554" y="4319861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056336" y="5172444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380493" y="4849222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Arrow 28"/>
          <p:cNvSpPr/>
          <p:nvPr/>
        </p:nvSpPr>
        <p:spPr>
          <a:xfrm>
            <a:off x="3440896" y="3578111"/>
            <a:ext cx="445221" cy="51959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/>
          <p:cNvCxnSpPr/>
          <p:nvPr/>
        </p:nvCxnSpPr>
        <p:spPr>
          <a:xfrm flipV="1">
            <a:off x="5583637" y="2880581"/>
            <a:ext cx="1275312" cy="475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>
            <a:off x="4634195" y="3388222"/>
            <a:ext cx="962101" cy="10258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 flipV="1">
            <a:off x="5635415" y="3444368"/>
            <a:ext cx="595949" cy="6013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 flipV="1">
            <a:off x="6274762" y="4095871"/>
            <a:ext cx="372743" cy="3496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7170770" y="3440461"/>
            <a:ext cx="902323" cy="10379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4475987" y="4221584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5393583" y="3219134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6424576" y="4297631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/>
          <p:cNvCxnSpPr/>
          <p:nvPr/>
        </p:nvCxnSpPr>
        <p:spPr>
          <a:xfrm flipH="1" flipV="1">
            <a:off x="7621931" y="4055772"/>
            <a:ext cx="340233" cy="4760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H="1" flipV="1">
            <a:off x="8052253" y="3411414"/>
            <a:ext cx="626817" cy="7471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7007396" y="4329298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7392962" y="3823058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7756806" y="4371133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Connector 57"/>
          <p:cNvCxnSpPr/>
          <p:nvPr/>
        </p:nvCxnSpPr>
        <p:spPr>
          <a:xfrm>
            <a:off x="6866054" y="2900920"/>
            <a:ext cx="1229879" cy="5218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647505" y="2688301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7880813" y="3195942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/>
          <p:cNvCxnSpPr/>
          <p:nvPr/>
        </p:nvCxnSpPr>
        <p:spPr>
          <a:xfrm>
            <a:off x="5007836" y="4095871"/>
            <a:ext cx="299102" cy="2842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5919458" y="4095871"/>
            <a:ext cx="325916" cy="3553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4824940" y="3869978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5158138" y="4238061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5733439" y="4257480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6061026" y="3903591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8377480" y="3837024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78686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Set 5-2: AVL-Tree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AVL Tree is a kind of self-balancing binary tree.</a:t>
            </a:r>
          </a:p>
          <a:p>
            <a:r>
              <a:rPr lang="en-US" dirty="0"/>
              <a:t>It keeps the height difference between the left and right sub-trees less than 2.</a:t>
            </a:r>
          </a:p>
          <a:p>
            <a:r>
              <a:rPr lang="en-US" dirty="0"/>
              <a:t>When a node is inserted or deleted, the balance of the upper nodes may change.</a:t>
            </a:r>
          </a:p>
          <a:p>
            <a:r>
              <a:rPr lang="en-US" dirty="0"/>
              <a:t>If the balance becomes -2 or smaller, or 2 or greater, it performs re-balancing operations.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83406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Balance of node: </a:t>
            </a:r>
            <a:r>
              <a:rPr lang="en-US" dirty="0" err="1"/>
              <a:t>heightL-heightR</a:t>
            </a:r>
            <a:endParaRPr lang="en-US" dirty="0"/>
          </a:p>
          <a:p>
            <a:r>
              <a:rPr lang="en-US" dirty="0"/>
              <a:t>Positive balance=Left heavy</a:t>
            </a:r>
          </a:p>
          <a:p>
            <a:r>
              <a:rPr lang="en-US"/>
              <a:t>Negative balance=Right </a:t>
            </a:r>
            <a:r>
              <a:rPr lang="en-US" dirty="0"/>
              <a:t>heavy</a:t>
            </a:r>
          </a:p>
        </p:txBody>
      </p:sp>
    </p:spTree>
    <p:extLst>
      <p:ext uri="{BB962C8B-B14F-4D97-AF65-F5344CB8AC3E}">
        <p14:creationId xmlns:p14="http://schemas.microsoft.com/office/powerpoint/2010/main" val="290297527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 flipH="1" flipV="1">
            <a:off x="726218" y="5259174"/>
            <a:ext cx="372743" cy="3496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76032" y="5460934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/>
          <p:nvPr/>
        </p:nvCxnSpPr>
        <p:spPr>
          <a:xfrm flipV="1">
            <a:off x="425964" y="5203086"/>
            <a:ext cx="325916" cy="3553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84895" y="5420783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Re-balancing Left-Left case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Off-balanced node is left-heavy, and</a:t>
            </a:r>
          </a:p>
          <a:p>
            <a:r>
              <a:rPr lang="en-US" dirty="0"/>
              <a:t>Left of the off-balanced node is also left-heavy.</a:t>
            </a:r>
          </a:p>
          <a:p>
            <a:r>
              <a:rPr lang="en-US" dirty="0"/>
              <a:t>Called Left-Left case.</a:t>
            </a:r>
          </a:p>
          <a:p>
            <a:r>
              <a:rPr lang="en-US" dirty="0"/>
              <a:t>Balance is recovered by applying a Right rotation to the off-balance node.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1640007" y="3684169"/>
            <a:ext cx="1275312" cy="475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H="1">
            <a:off x="690565" y="4191810"/>
            <a:ext cx="962101" cy="10258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 flipV="1">
            <a:off x="1691785" y="4247956"/>
            <a:ext cx="595949" cy="6013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2908535" y="4267241"/>
            <a:ext cx="902323" cy="10379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32357" y="5025172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449953" y="4022722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H="1" flipV="1">
            <a:off x="3359696" y="4882552"/>
            <a:ext cx="340233" cy="4760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 flipV="1">
            <a:off x="3790018" y="4238194"/>
            <a:ext cx="626817" cy="7471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745161" y="5156078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130727" y="4649838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3494571" y="5197913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2922424" y="3704508"/>
            <a:ext cx="861742" cy="50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703875" y="3491889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3618578" y="4022722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>
            <a:off x="1064206" y="4899459"/>
            <a:ext cx="299102" cy="2842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81310" y="4673566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3" name="Oval 22"/>
          <p:cNvSpPr/>
          <p:nvPr/>
        </p:nvSpPr>
        <p:spPr>
          <a:xfrm>
            <a:off x="1214508" y="5041649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5" name="Oval 24"/>
          <p:cNvSpPr/>
          <p:nvPr/>
        </p:nvSpPr>
        <p:spPr>
          <a:xfrm>
            <a:off x="2117396" y="4707179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115245" y="4663804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426169" y="4706011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h=1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077" y="4672235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h=3</a:t>
            </a:r>
          </a:p>
        </p:txBody>
      </p:sp>
      <p:sp>
        <p:nvSpPr>
          <p:cNvPr id="30" name="Curved Down Arrow 29"/>
          <p:cNvSpPr/>
          <p:nvPr/>
        </p:nvSpPr>
        <p:spPr>
          <a:xfrm>
            <a:off x="1156785" y="3782820"/>
            <a:ext cx="1027142" cy="45497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-51638" y="3716098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Balance=2</a:t>
            </a:r>
          </a:p>
        </p:txBody>
      </p:sp>
      <p:cxnSp>
        <p:nvCxnSpPr>
          <p:cNvPr id="31" name="Straight Connector 30"/>
          <p:cNvCxnSpPr/>
          <p:nvPr/>
        </p:nvCxnSpPr>
        <p:spPr>
          <a:xfrm flipH="1" flipV="1">
            <a:off x="5210140" y="5581104"/>
            <a:ext cx="372743" cy="3496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359954" y="5782864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/>
          <p:cNvCxnSpPr>
            <a:endCxn id="50" idx="3"/>
          </p:cNvCxnSpPr>
          <p:nvPr/>
        </p:nvCxnSpPr>
        <p:spPr>
          <a:xfrm flipV="1">
            <a:off x="4909886" y="5000477"/>
            <a:ext cx="821843" cy="8799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4668817" y="5742713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 flipV="1">
            <a:off x="5876030" y="4372210"/>
            <a:ext cx="1275312" cy="475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5888690" y="4879851"/>
            <a:ext cx="574026" cy="6672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 flipV="1">
            <a:off x="6462716" y="5578710"/>
            <a:ext cx="330252" cy="3267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7463163" y="4932090"/>
            <a:ext cx="902323" cy="10379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016279" y="5347102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 flipH="1" flipV="1">
            <a:off x="7914324" y="5547401"/>
            <a:ext cx="340233" cy="4760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 flipV="1">
            <a:off x="8344646" y="4903043"/>
            <a:ext cx="626817" cy="7471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7299789" y="5820927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7685355" y="5314687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8049199" y="5862762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/>
          <p:cNvCxnSpPr/>
          <p:nvPr/>
        </p:nvCxnSpPr>
        <p:spPr>
          <a:xfrm>
            <a:off x="7158447" y="4392549"/>
            <a:ext cx="1229879" cy="5218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6939898" y="4179930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8173206" y="4687571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/>
          <p:cNvCxnSpPr/>
          <p:nvPr/>
        </p:nvCxnSpPr>
        <p:spPr>
          <a:xfrm flipH="1">
            <a:off x="6110878" y="5622686"/>
            <a:ext cx="265308" cy="252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5675411" y="4672235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Oval 50"/>
          <p:cNvSpPr/>
          <p:nvPr/>
        </p:nvSpPr>
        <p:spPr>
          <a:xfrm>
            <a:off x="5837030" y="5821891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52" name="Oval 51"/>
          <p:cNvSpPr/>
          <p:nvPr/>
        </p:nvSpPr>
        <p:spPr>
          <a:xfrm>
            <a:off x="6627842" y="5786190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8669873" y="5328653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6230400" y="5346612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4" name="Right Arrow 63"/>
          <p:cNvSpPr/>
          <p:nvPr/>
        </p:nvSpPr>
        <p:spPr>
          <a:xfrm rot="1504585">
            <a:off x="4249137" y="5180929"/>
            <a:ext cx="495501" cy="43258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52013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Re-balancing Left-Right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Off-balanced node is left-heavy, and</a:t>
            </a:r>
          </a:p>
          <a:p>
            <a:r>
              <a:rPr lang="en-US" dirty="0"/>
              <a:t>Left of the off-balanced node is right-heavy.</a:t>
            </a:r>
          </a:p>
          <a:p>
            <a:r>
              <a:rPr lang="en-US" dirty="0"/>
              <a:t>L-R case.</a:t>
            </a:r>
          </a:p>
          <a:p>
            <a:r>
              <a:rPr lang="en-US" dirty="0"/>
              <a:t>Applying the same rotation doesn’t help.</a:t>
            </a:r>
          </a:p>
        </p:txBody>
      </p:sp>
      <p:cxnSp>
        <p:nvCxnSpPr>
          <p:cNvPr id="4" name="Straight Connector 3"/>
          <p:cNvCxnSpPr/>
          <p:nvPr/>
        </p:nvCxnSpPr>
        <p:spPr>
          <a:xfrm flipH="1" flipV="1">
            <a:off x="1385672" y="5291773"/>
            <a:ext cx="372743" cy="3496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499505" y="5545410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1085418" y="5235685"/>
            <a:ext cx="325916" cy="3553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08368" y="5505259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640007" y="3684169"/>
            <a:ext cx="1275312" cy="475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690565" y="4191810"/>
            <a:ext cx="962101" cy="10258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 flipV="1">
            <a:off x="1691785" y="4247956"/>
            <a:ext cx="595949" cy="6013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2908535" y="4267241"/>
            <a:ext cx="902323" cy="10379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32357" y="5025172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449953" y="4022722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H="1" flipV="1">
            <a:off x="3359696" y="4882552"/>
            <a:ext cx="340233" cy="4760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 flipV="1">
            <a:off x="3790018" y="4238194"/>
            <a:ext cx="626817" cy="7471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745161" y="5156078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130727" y="4649838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494571" y="5197913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2922424" y="3704508"/>
            <a:ext cx="861742" cy="50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2703875" y="3491889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618578" y="4022722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/>
          <p:nvPr/>
        </p:nvCxnSpPr>
        <p:spPr>
          <a:xfrm>
            <a:off x="1064206" y="4899459"/>
            <a:ext cx="299102" cy="2842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81310" y="4673566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1214508" y="5041649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5" name="Oval 24"/>
          <p:cNvSpPr/>
          <p:nvPr/>
        </p:nvSpPr>
        <p:spPr>
          <a:xfrm>
            <a:off x="2117396" y="4707179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115245" y="4663804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426169" y="4706011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h=1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077" y="4672235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h=3</a:t>
            </a:r>
          </a:p>
        </p:txBody>
      </p:sp>
      <p:sp>
        <p:nvSpPr>
          <p:cNvPr id="29" name="Curved Down Arrow 28"/>
          <p:cNvSpPr/>
          <p:nvPr/>
        </p:nvSpPr>
        <p:spPr>
          <a:xfrm>
            <a:off x="1156785" y="3782820"/>
            <a:ext cx="1027142" cy="45497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-51638" y="3716098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Balance=2</a:t>
            </a:r>
          </a:p>
        </p:txBody>
      </p:sp>
      <p:sp>
        <p:nvSpPr>
          <p:cNvPr id="31" name="Right Arrow 30"/>
          <p:cNvSpPr/>
          <p:nvPr/>
        </p:nvSpPr>
        <p:spPr>
          <a:xfrm rot="1504585">
            <a:off x="4249137" y="5180929"/>
            <a:ext cx="495501" cy="43258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 flipH="1" flipV="1">
            <a:off x="6031272" y="6085912"/>
            <a:ext cx="372743" cy="3496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6183906" y="6270076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/>
          <p:cNvCxnSpPr>
            <a:endCxn id="77" idx="3"/>
          </p:cNvCxnSpPr>
          <p:nvPr/>
        </p:nvCxnSpPr>
        <p:spPr>
          <a:xfrm flipV="1">
            <a:off x="5225777" y="5000477"/>
            <a:ext cx="505952" cy="5466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5876030" y="4372210"/>
            <a:ext cx="1275312" cy="475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5888690" y="4879851"/>
            <a:ext cx="574026" cy="6672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H="1" flipV="1">
            <a:off x="6462716" y="5578710"/>
            <a:ext cx="330252" cy="3267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7463163" y="4932090"/>
            <a:ext cx="902323" cy="10379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5016279" y="5347102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Connector 67"/>
          <p:cNvCxnSpPr/>
          <p:nvPr/>
        </p:nvCxnSpPr>
        <p:spPr>
          <a:xfrm flipH="1" flipV="1">
            <a:off x="7914324" y="5547401"/>
            <a:ext cx="340233" cy="4760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 flipH="1" flipV="1">
            <a:off x="8344646" y="4903043"/>
            <a:ext cx="626817" cy="7471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7299789" y="5820927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7685355" y="5314687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8049199" y="5862762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Connector 72"/>
          <p:cNvCxnSpPr/>
          <p:nvPr/>
        </p:nvCxnSpPr>
        <p:spPr>
          <a:xfrm>
            <a:off x="7158447" y="4392549"/>
            <a:ext cx="1229879" cy="5218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6939898" y="4179930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8173206" y="4687571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Connector 75"/>
          <p:cNvCxnSpPr/>
          <p:nvPr/>
        </p:nvCxnSpPr>
        <p:spPr>
          <a:xfrm flipH="1">
            <a:off x="6110878" y="5622686"/>
            <a:ext cx="265308" cy="252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5675411" y="4672235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9" name="Oval 78"/>
          <p:cNvSpPr/>
          <p:nvPr/>
        </p:nvSpPr>
        <p:spPr>
          <a:xfrm>
            <a:off x="6627842" y="5786190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8669873" y="5328653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6230400" y="5346612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84" name="Straight Connector 83"/>
          <p:cNvCxnSpPr/>
          <p:nvPr/>
        </p:nvCxnSpPr>
        <p:spPr>
          <a:xfrm flipV="1">
            <a:off x="5675411" y="6085912"/>
            <a:ext cx="355861" cy="3496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492769" y="6229925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5837030" y="5821891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35731" y="4220386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Still Balance=2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75411" y="3610576"/>
            <a:ext cx="2747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Doesn’t help.</a:t>
            </a:r>
          </a:p>
        </p:txBody>
      </p:sp>
    </p:spTree>
    <p:extLst>
      <p:ext uri="{BB962C8B-B14F-4D97-AF65-F5344CB8AC3E}">
        <p14:creationId xmlns:p14="http://schemas.microsoft.com/office/powerpoint/2010/main" val="284027230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 and Solution of L-R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If, the tree is self-balancing, and if the balance is kept between -1 and 1, applying one left rotation will make B left-heavy.</a:t>
            </a:r>
          </a:p>
          <a:p>
            <a:r>
              <a:rPr lang="en-US" dirty="0"/>
              <a:t>It converts a L-R case into a L-L case.</a:t>
            </a:r>
          </a:p>
          <a:p>
            <a:r>
              <a:rPr lang="en-US" dirty="0"/>
              <a:t>Then apply a Right rotation to A.</a:t>
            </a:r>
          </a:p>
        </p:txBody>
      </p:sp>
      <p:cxnSp>
        <p:nvCxnSpPr>
          <p:cNvPr id="4" name="Straight Connector 3"/>
          <p:cNvCxnSpPr/>
          <p:nvPr/>
        </p:nvCxnSpPr>
        <p:spPr>
          <a:xfrm flipH="1" flipV="1">
            <a:off x="1470913" y="5501000"/>
            <a:ext cx="372743" cy="3496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584746" y="5754637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1170659" y="5444912"/>
            <a:ext cx="325916" cy="3553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93609" y="5714486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725248" y="3893396"/>
            <a:ext cx="1275312" cy="475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775806" y="4401037"/>
            <a:ext cx="962101" cy="10258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 flipV="1">
            <a:off x="1777026" y="4457183"/>
            <a:ext cx="595949" cy="6013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17598" y="5234399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535194" y="4231949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3007665" y="3913735"/>
            <a:ext cx="861742" cy="50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789116" y="3701116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149447" y="5108686"/>
            <a:ext cx="299102" cy="2842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66551" y="4882793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9" name="Oval 18"/>
          <p:cNvSpPr/>
          <p:nvPr/>
        </p:nvSpPr>
        <p:spPr>
          <a:xfrm>
            <a:off x="1299749" y="5250876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" name="Oval 19"/>
          <p:cNvSpPr/>
          <p:nvPr/>
        </p:nvSpPr>
        <p:spPr>
          <a:xfrm>
            <a:off x="2202637" y="4916406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urved Up Arrow 24"/>
          <p:cNvSpPr/>
          <p:nvPr/>
        </p:nvSpPr>
        <p:spPr>
          <a:xfrm rot="10800000">
            <a:off x="736687" y="4749649"/>
            <a:ext cx="790414" cy="34096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ight Arrow 25"/>
          <p:cNvSpPr/>
          <p:nvPr/>
        </p:nvSpPr>
        <p:spPr>
          <a:xfrm>
            <a:off x="4184543" y="4680489"/>
            <a:ext cx="588935" cy="58118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 flipH="1" flipV="1">
            <a:off x="4998189" y="5635436"/>
            <a:ext cx="340657" cy="2567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061796" y="5806422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 flipV="1">
            <a:off x="5893435" y="3985332"/>
            <a:ext cx="1275312" cy="475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>
            <a:off x="4615470" y="4492973"/>
            <a:ext cx="1290625" cy="14642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 flipV="1">
            <a:off x="5945213" y="4549119"/>
            <a:ext cx="595949" cy="6013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4392306" y="5771868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5703381" y="4323885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7175852" y="4005671"/>
            <a:ext cx="861742" cy="50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957303" y="3793052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/>
          <p:cNvCxnSpPr/>
          <p:nvPr/>
        </p:nvCxnSpPr>
        <p:spPr>
          <a:xfrm>
            <a:off x="5317634" y="5200622"/>
            <a:ext cx="299102" cy="2842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4741259" y="5420262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40" name="Oval 39"/>
          <p:cNvSpPr/>
          <p:nvPr/>
        </p:nvSpPr>
        <p:spPr>
          <a:xfrm>
            <a:off x="5121046" y="5001416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1" name="Oval 40"/>
          <p:cNvSpPr/>
          <p:nvPr/>
        </p:nvSpPr>
        <p:spPr>
          <a:xfrm>
            <a:off x="6370824" y="5008342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450879" y="5319740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Curved Down Arrow 44"/>
          <p:cNvSpPr/>
          <p:nvPr/>
        </p:nvSpPr>
        <p:spPr>
          <a:xfrm>
            <a:off x="5480591" y="4210381"/>
            <a:ext cx="865218" cy="37150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14221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Right-heavy situations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R-R and R-L cases are symmetric to L-L and L-R cases.</a:t>
            </a:r>
          </a:p>
        </p:txBody>
      </p:sp>
    </p:spTree>
    <p:extLst>
      <p:ext uri="{BB962C8B-B14F-4D97-AF65-F5344CB8AC3E}">
        <p14:creationId xmlns:p14="http://schemas.microsoft.com/office/powerpoint/2010/main" val="196242820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nodes need to be re-balanced?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insertion:  If X is the node that is just inserted, the nodes above X must be checked for re-balancing.</a:t>
            </a:r>
          </a:p>
        </p:txBody>
      </p:sp>
      <p:cxnSp>
        <p:nvCxnSpPr>
          <p:cNvPr id="4" name="Straight Connector 3"/>
          <p:cNvCxnSpPr/>
          <p:nvPr/>
        </p:nvCxnSpPr>
        <p:spPr>
          <a:xfrm flipH="1" flipV="1">
            <a:off x="3129231" y="5051549"/>
            <a:ext cx="372743" cy="3496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299839" y="5243829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383566" y="3443945"/>
            <a:ext cx="1275312" cy="475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2843198" y="3951586"/>
            <a:ext cx="553028" cy="6345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 flipV="1">
            <a:off x="3435344" y="4007732"/>
            <a:ext cx="595949" cy="6013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4652094" y="4027017"/>
            <a:ext cx="902323" cy="10379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193512" y="3782498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flipH="1" flipV="1">
            <a:off x="5103255" y="4642328"/>
            <a:ext cx="340233" cy="4760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 flipV="1">
            <a:off x="5533577" y="3997970"/>
            <a:ext cx="626817" cy="7471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488720" y="4915854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874286" y="4409614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238130" y="4957689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4665983" y="3464284"/>
            <a:ext cx="861742" cy="509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447434" y="3251665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5362137" y="3782498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/>
          <p:nvPr/>
        </p:nvCxnSpPr>
        <p:spPr>
          <a:xfrm>
            <a:off x="2807765" y="4659235"/>
            <a:ext cx="299102" cy="2842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624869" y="4433342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2958067" y="4801425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3860955" y="4466955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5858804" y="4423580"/>
            <a:ext cx="384560" cy="38456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 32"/>
          <p:cNvSpPr/>
          <p:nvPr/>
        </p:nvSpPr>
        <p:spPr>
          <a:xfrm>
            <a:off x="2566315" y="3417376"/>
            <a:ext cx="1804207" cy="2022529"/>
          </a:xfrm>
          <a:custGeom>
            <a:avLst/>
            <a:gdLst>
              <a:gd name="connsiteX0" fmla="*/ 665082 w 1804207"/>
              <a:gd name="connsiteY0" fmla="*/ 2022529 h 2022529"/>
              <a:gd name="connsiteX1" fmla="*/ 37400 w 1804207"/>
              <a:gd name="connsiteY1" fmla="*/ 1418095 h 2022529"/>
              <a:gd name="connsiteX2" fmla="*/ 114892 w 1804207"/>
              <a:gd name="connsiteY2" fmla="*/ 906651 h 2022529"/>
              <a:gd name="connsiteX3" fmla="*/ 471353 w 1804207"/>
              <a:gd name="connsiteY3" fmla="*/ 426204 h 2022529"/>
              <a:gd name="connsiteX4" fmla="*/ 1804207 w 1804207"/>
              <a:gd name="connsiteY4" fmla="*/ 0 h 2022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04207" h="2022529">
                <a:moveTo>
                  <a:pt x="665082" y="2022529"/>
                </a:moveTo>
                <a:cubicBezTo>
                  <a:pt x="397090" y="1813302"/>
                  <a:pt x="129098" y="1604075"/>
                  <a:pt x="37400" y="1418095"/>
                </a:cubicBezTo>
                <a:cubicBezTo>
                  <a:pt x="-54298" y="1232115"/>
                  <a:pt x="42567" y="1071966"/>
                  <a:pt x="114892" y="906651"/>
                </a:cubicBezTo>
                <a:cubicBezTo>
                  <a:pt x="187217" y="741336"/>
                  <a:pt x="189801" y="577312"/>
                  <a:pt x="471353" y="426204"/>
                </a:cubicBezTo>
                <a:cubicBezTo>
                  <a:pt x="752905" y="275096"/>
                  <a:pt x="1278556" y="137548"/>
                  <a:pt x="1804207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38467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3076</TotalTime>
  <Words>10614</Words>
  <Application>Microsoft Office PowerPoint</Application>
  <PresentationFormat>On-screen Show (4:3)</PresentationFormat>
  <Paragraphs>1960</Paragraphs>
  <Slides>103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08" baseType="lpstr">
      <vt:lpstr>Arial</vt:lpstr>
      <vt:lpstr>Calibri</vt:lpstr>
      <vt:lpstr>Consolas</vt:lpstr>
      <vt:lpstr>Lucida Console</vt:lpstr>
      <vt:lpstr>Default Design</vt:lpstr>
      <vt:lpstr>24-783 Lecture 08</vt:lpstr>
      <vt:lpstr>Project Proposal</vt:lpstr>
      <vt:lpstr>Finalizing Project Topic</vt:lpstr>
      <vt:lpstr>PowerPoint Presentation</vt:lpstr>
      <vt:lpstr>Hash Set</vt:lpstr>
      <vt:lpstr>Hash Table</vt:lpstr>
      <vt:lpstr>PowerPoint Presentation</vt:lpstr>
      <vt:lpstr>PowerPoint Presentation</vt:lpstr>
      <vt:lpstr>Enumerating keys and values in the hash table</vt:lpstr>
      <vt:lpstr>PowerPoint Presentation</vt:lpstr>
      <vt:lpstr>PowerPoint Presentation</vt:lpstr>
      <vt:lpstr>PowerPoint Presentation</vt:lpstr>
      <vt:lpstr>PowerPoint Presentation</vt:lpstr>
      <vt:lpstr>Re-designing HashSet and HashTable with a Common Base Class</vt:lpstr>
      <vt:lpstr>PowerPoint Presentation</vt:lpstr>
      <vt:lpstr>Why 2 base classes?</vt:lpstr>
      <vt:lpstr>PowerPoint Presentation</vt:lpstr>
      <vt:lpstr>hashbase.h</vt:lpstr>
      <vt:lpstr>hashset.h</vt:lpstr>
      <vt:lpstr>hashset.h (continued)</vt:lpstr>
      <vt:lpstr>hashtable.h</vt:lpstr>
      <vt:lpstr>More possible improvements</vt:lpstr>
      <vt:lpstr>PowerPoint Presentation</vt:lpstr>
      <vt:lpstr>Binary tree</vt:lpstr>
      <vt:lpstr>Binary tree</vt:lpstr>
      <vt:lpstr>Binary tree</vt:lpstr>
      <vt:lpstr>Binary tree</vt:lpstr>
      <vt:lpstr>Binary tree</vt:lpstr>
      <vt:lpstr>Binary tree</vt:lpstr>
      <vt:lpstr>Binary tree</vt:lpstr>
      <vt:lpstr>Binary tree</vt:lpstr>
      <vt:lpstr>Binary tree</vt:lpstr>
      <vt:lpstr>Binary tree</vt:lpstr>
      <vt:lpstr>Binary tree</vt:lpstr>
      <vt:lpstr>Binary tree</vt:lpstr>
      <vt:lpstr>PowerPoint Presentation</vt:lpstr>
      <vt:lpstr>Binary tree</vt:lpstr>
      <vt:lpstr>Finding the next node</vt:lpstr>
      <vt:lpstr>Finding the next node</vt:lpstr>
      <vt:lpstr>Binary tree of an integer</vt:lpstr>
      <vt:lpstr>Templated version</vt:lpstr>
      <vt:lpstr>Better protected version</vt:lpstr>
      <vt:lpstr>Better protected version (Cotninued)</vt:lpstr>
      <vt:lpstr>PowerPoint Presentation</vt:lpstr>
      <vt:lpstr>Make it Even Better Protected</vt:lpstr>
      <vt:lpstr>PowerPoint Presentation</vt:lpstr>
      <vt:lpstr>Implementation of Node, NodeHandle classes</vt:lpstr>
      <vt:lpstr>Implementation of GetNode, MakeHandle</vt:lpstr>
      <vt:lpstr>Constructor, Null, RootNode, Left, Up, Right</vt:lpstr>
      <vt:lpstr>PowerPoint Presentation</vt:lpstr>
      <vt:lpstr>PowerPoint Presentation</vt:lpstr>
      <vt:lpstr>PowerPoint Presentation</vt:lpstr>
      <vt:lpstr>Make it free of memory leak</vt:lpstr>
      <vt:lpstr>Add First, Last, FindNext, and FindPrev</vt:lpstr>
      <vt:lpstr>PowerPoint Presentation</vt:lpstr>
      <vt:lpstr>Deleting a binary-tree node</vt:lpstr>
      <vt:lpstr>Deleting a binary-tree node</vt:lpstr>
      <vt:lpstr>Problem of the sloppy method</vt:lpstr>
      <vt:lpstr>Deleting a binary-tree node</vt:lpstr>
      <vt:lpstr>Deleting a binary-tree node : Easiest case</vt:lpstr>
      <vt:lpstr>Deleting a binary-tree node: Second easiest case</vt:lpstr>
      <vt:lpstr>Deleting a binary-tree node: Second easiest case</vt:lpstr>
      <vt:lpstr>Deleting a binary-tree node: General Case</vt:lpstr>
      <vt:lpstr>Deleting a binary-tree node: General Case</vt:lpstr>
      <vt:lpstr>Deleting a binary-tree node: General Case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Visualizing a binary tree</vt:lpstr>
      <vt:lpstr>Nodes and Window Regions</vt:lpstr>
      <vt:lpstr>PowerPoint Presentation</vt:lpstr>
      <vt:lpstr>PowerPoint Presentation</vt:lpstr>
      <vt:lpstr>Change to the FsLazyWindowApplication</vt:lpstr>
      <vt:lpstr>PowerPoint Presentation</vt:lpstr>
      <vt:lpstr>Change to the FsLazyWindowApplication</vt:lpstr>
      <vt:lpstr>To accept Windows-size change</vt:lpstr>
      <vt:lpstr>Make it Interactive</vt:lpstr>
      <vt:lpstr>Identify which node the mouse cursor is on.</vt:lpstr>
      <vt:lpstr>New functions</vt:lpstr>
      <vt:lpstr>Interval function</vt:lpstr>
      <vt:lpstr>Draw function</vt:lpstr>
      <vt:lpstr>Tree Rotation</vt:lpstr>
      <vt:lpstr>Tree rotation.</vt:lpstr>
      <vt:lpstr>Tree rotation.</vt:lpstr>
      <vt:lpstr>Left rotation</vt:lpstr>
      <vt:lpstr>PowerPoint Presentation</vt:lpstr>
      <vt:lpstr>PowerPoint Presentation</vt:lpstr>
      <vt:lpstr>Problem Set 5-1: Re-balancing a Binary Tree</vt:lpstr>
      <vt:lpstr>Tree to Vine</vt:lpstr>
      <vt:lpstr>Compress</vt:lpstr>
      <vt:lpstr>Vine to Tree</vt:lpstr>
      <vt:lpstr>PowerPoint Presentation</vt:lpstr>
      <vt:lpstr>PowerPoint Presentation</vt:lpstr>
      <vt:lpstr>Problem Set 5-2: AVL-Tree</vt:lpstr>
      <vt:lpstr>PowerPoint Presentation</vt:lpstr>
      <vt:lpstr>Re-balancing Left-Left case </vt:lpstr>
      <vt:lpstr>Re-balancing Left-Right case</vt:lpstr>
      <vt:lpstr>Observation and Solution of L-R case</vt:lpstr>
      <vt:lpstr>Right-heavy situations</vt:lpstr>
      <vt:lpstr>Which nodes need to be re-balanced?</vt:lpstr>
    </vt:vector>
  </TitlesOfParts>
  <Company>CMU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soji</dc:creator>
  <cp:lastModifiedBy>Soji Yamakawa</cp:lastModifiedBy>
  <cp:revision>536</cp:revision>
  <dcterms:created xsi:type="dcterms:W3CDTF">2009-08-19T14:18:47Z</dcterms:created>
  <dcterms:modified xsi:type="dcterms:W3CDTF">2019-02-13T18:46:12Z</dcterms:modified>
</cp:coreProperties>
</file>