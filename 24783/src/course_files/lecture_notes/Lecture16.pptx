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83" r:id="rId2"/>
    <p:sldId id="264" r:id="rId3"/>
    <p:sldId id="681" r:id="rId4"/>
    <p:sldId id="666" r:id="rId5"/>
    <p:sldId id="667" r:id="rId6"/>
    <p:sldId id="668" r:id="rId7"/>
    <p:sldId id="669" r:id="rId8"/>
    <p:sldId id="670" r:id="rId9"/>
    <p:sldId id="671" r:id="rId10"/>
    <p:sldId id="672" r:id="rId11"/>
    <p:sldId id="673" r:id="rId12"/>
    <p:sldId id="674" r:id="rId13"/>
    <p:sldId id="675" r:id="rId14"/>
    <p:sldId id="676" r:id="rId15"/>
    <p:sldId id="677" r:id="rId16"/>
    <p:sldId id="678" r:id="rId17"/>
    <p:sldId id="679" r:id="rId18"/>
    <p:sldId id="680" r:id="rId19"/>
    <p:sldId id="630" r:id="rId20"/>
    <p:sldId id="632" r:id="rId21"/>
    <p:sldId id="633" r:id="rId22"/>
    <p:sldId id="634" r:id="rId23"/>
    <p:sldId id="635" r:id="rId24"/>
    <p:sldId id="636" r:id="rId25"/>
    <p:sldId id="637" r:id="rId26"/>
    <p:sldId id="631" r:id="rId27"/>
    <p:sldId id="638" r:id="rId28"/>
    <p:sldId id="639" r:id="rId29"/>
    <p:sldId id="640" r:id="rId30"/>
    <p:sldId id="641" r:id="rId31"/>
    <p:sldId id="642" r:id="rId32"/>
    <p:sldId id="643" r:id="rId33"/>
    <p:sldId id="644" r:id="rId34"/>
    <p:sldId id="645" r:id="rId35"/>
    <p:sldId id="646" r:id="rId36"/>
    <p:sldId id="647" r:id="rId37"/>
    <p:sldId id="649" r:id="rId38"/>
    <p:sldId id="650" r:id="rId39"/>
    <p:sldId id="651" r:id="rId40"/>
    <p:sldId id="652" r:id="rId41"/>
    <p:sldId id="654" r:id="rId42"/>
    <p:sldId id="655" r:id="rId43"/>
    <p:sldId id="656" r:id="rId44"/>
    <p:sldId id="657" r:id="rId45"/>
    <p:sldId id="659" r:id="rId46"/>
    <p:sldId id="664" r:id="rId47"/>
    <p:sldId id="661" r:id="rId48"/>
    <p:sldId id="662" r:id="rId49"/>
    <p:sldId id="660" r:id="rId50"/>
    <p:sldId id="665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5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/>
              <a:t>24-783 Lecture 16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468" y="2603500"/>
            <a:ext cx="4047064" cy="30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Picking</a:t>
            </a:r>
          </a:p>
          <a:p>
            <a:r>
              <a:rPr lang="en-US" dirty="0"/>
              <a:t>Merging Vertices with Same Coordinate</a:t>
            </a:r>
          </a:p>
          <a:p>
            <a:r>
              <a:rPr lang="en-US" dirty="0"/>
              <a:t>Polygonal Mesh Data Structure</a:t>
            </a:r>
          </a:p>
          <a:p>
            <a:r>
              <a:rPr lang="en-US" dirty="0"/>
              <a:t>Lattice</a:t>
            </a:r>
          </a:p>
          <a:p>
            <a:r>
              <a:rPr lang="en-US" dirty="0"/>
              <a:t>Finding Connected Vertices</a:t>
            </a:r>
          </a:p>
          <a:p>
            <a:r>
              <a:rPr lang="en-US" dirty="0"/>
              <a:t>Finding Neighboring Polygons</a:t>
            </a:r>
          </a:p>
          <a:p>
            <a:endParaRPr lang="en-US" dirty="0"/>
          </a:p>
          <a:p>
            <a:r>
              <a:rPr lang="en-US" dirty="0"/>
              <a:t>Introducing </a:t>
            </a:r>
            <a:r>
              <a:rPr lang="en-US" dirty="0" err="1"/>
              <a:t>YsShellExt</a:t>
            </a:r>
            <a:r>
              <a:rPr lang="en-US" dirty="0"/>
              <a:t>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we did….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 binary STL file into a raw array data structure (</a:t>
            </a:r>
            <a:r>
              <a:rPr lang="en-US" dirty="0" err="1"/>
              <a:t>std</a:t>
            </a:r>
            <a:r>
              <a:rPr lang="en-US" dirty="0"/>
              <a:t>::vector) then,</a:t>
            </a:r>
          </a:p>
          <a:p>
            <a:r>
              <a:rPr lang="en-US" dirty="0"/>
              <a:t>Wrote a better data structure for handling polygonal meshes.</a:t>
            </a:r>
          </a:p>
          <a:p>
            <a:r>
              <a:rPr lang="en-US" dirty="0"/>
              <a:t>Read a binary STL into the new data structure.</a:t>
            </a:r>
          </a:p>
          <a:p>
            <a:r>
              <a:rPr lang="en-US" dirty="0"/>
              <a:t>Were working on the </a:t>
            </a:r>
            <a:r>
              <a:rPr lang="en-US"/>
              <a:t>picking.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35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68186"/>
          </a:xfrm>
        </p:spPr>
        <p:txBody>
          <a:bodyPr/>
          <a:lstStyle/>
          <a:p>
            <a:r>
              <a:rPr lang="en-US" dirty="0"/>
              <a:t>Identifying which primitive is under the mouse cursor.</a:t>
            </a:r>
          </a:p>
          <a:p>
            <a:r>
              <a:rPr lang="en-US" dirty="0"/>
              <a:t>Possible options: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Using OpenGL’s picking feature – Very poorly designed.  May not be supported in the newer versions.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Drawing primitives in different color, and then check the color of the pixel under the mouse cursor – The actual RGB value written to the pixel may be reduced to as low as 12 bits.  The identification information may be lost.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Transform mouse pointer to a 3D line by the inverse of projection and view matrix, and calculate intersection with the primitives.  - The most reliable.  Can easily be parallelized.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80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OpenGL projection transforms a view frustum into a cube (-1,-1,-1)-(1,1,1)</a:t>
            </a:r>
          </a:p>
          <a:p>
            <a:r>
              <a:rPr lang="en-US" dirty="0"/>
              <a:t>Z direction will be inverted after the projection.  Larger z means forward after the projection.  (As shown in the thick arrow in the figure.)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036675" y="4412483"/>
            <a:ext cx="2147776" cy="1286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1632098" y="3327962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69851" y="5055753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387010" y="3891487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87010" y="5045120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350143" y="4165275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392327" y="3891487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006673" y="4611844"/>
            <a:ext cx="2659" cy="57681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06673" y="5188661"/>
            <a:ext cx="481124" cy="14088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488240" y="4748738"/>
            <a:ext cx="2659" cy="57681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009332" y="4611844"/>
            <a:ext cx="481124" cy="14088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2387010" y="3599092"/>
            <a:ext cx="154171" cy="292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349257" y="3971232"/>
            <a:ext cx="303027" cy="194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354574" y="5318908"/>
            <a:ext cx="159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392327" y="4970693"/>
            <a:ext cx="148854" cy="6645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9332" y="3891487"/>
            <a:ext cx="382995" cy="7203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488240" y="4173250"/>
            <a:ext cx="861017" cy="57947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466754" y="5318908"/>
            <a:ext cx="888706" cy="10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009332" y="5037146"/>
            <a:ext cx="377678" cy="151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1632098" y="4611844"/>
            <a:ext cx="377234" cy="71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1632098" y="5188661"/>
            <a:ext cx="374575" cy="140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1637414" y="5326883"/>
            <a:ext cx="850383" cy="2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632098" y="4748738"/>
            <a:ext cx="858801" cy="580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999460" y="4566655"/>
            <a:ext cx="999461" cy="334926"/>
          </a:xfrm>
          <a:custGeom>
            <a:avLst/>
            <a:gdLst>
              <a:gd name="connsiteX0" fmla="*/ 0 w 999461"/>
              <a:gd name="connsiteY0" fmla="*/ 0 h 334926"/>
              <a:gd name="connsiteX1" fmla="*/ 276447 w 999461"/>
              <a:gd name="connsiteY1" fmla="*/ 69112 h 334926"/>
              <a:gd name="connsiteX2" fmla="*/ 494414 w 999461"/>
              <a:gd name="connsiteY2" fmla="*/ 281763 h 334926"/>
              <a:gd name="connsiteX3" fmla="*/ 999461 w 999461"/>
              <a:gd name="connsiteY3" fmla="*/ 334926 h 334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461" h="334926">
                <a:moveTo>
                  <a:pt x="0" y="0"/>
                </a:moveTo>
                <a:cubicBezTo>
                  <a:pt x="97022" y="11076"/>
                  <a:pt x="194045" y="22152"/>
                  <a:pt x="276447" y="69112"/>
                </a:cubicBezTo>
                <a:cubicBezTo>
                  <a:pt x="358849" y="116072"/>
                  <a:pt x="373912" y="237461"/>
                  <a:pt x="494414" y="281763"/>
                </a:cubicBezTo>
                <a:cubicBezTo>
                  <a:pt x="614916" y="326065"/>
                  <a:pt x="807188" y="330495"/>
                  <a:pt x="999461" y="334926"/>
                </a:cubicBezTo>
              </a:path>
            </a:pathLst>
          </a:custGeom>
          <a:noFill/>
          <a:ln w="31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260498" y="4239862"/>
            <a:ext cx="118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z=-</a:t>
            </a:r>
            <a:r>
              <a:rPr lang="en-US" dirty="0" err="1"/>
              <a:t>nearz</a:t>
            </a:r>
            <a:endParaRPr lang="en-US" dirty="0"/>
          </a:p>
        </p:txBody>
      </p:sp>
      <p:sp>
        <p:nvSpPr>
          <p:cNvPr id="60" name="Freeform 59"/>
          <p:cNvSpPr/>
          <p:nvPr/>
        </p:nvSpPr>
        <p:spPr>
          <a:xfrm>
            <a:off x="2291316" y="3425541"/>
            <a:ext cx="493161" cy="561640"/>
          </a:xfrm>
          <a:custGeom>
            <a:avLst/>
            <a:gdLst>
              <a:gd name="connsiteX0" fmla="*/ 0 w 493161"/>
              <a:gd name="connsiteY0" fmla="*/ 3431 h 561640"/>
              <a:gd name="connsiteX1" fmla="*/ 446568 w 493161"/>
              <a:gd name="connsiteY1" fmla="*/ 83175 h 561640"/>
              <a:gd name="connsiteX2" fmla="*/ 457200 w 493161"/>
              <a:gd name="connsiteY2" fmla="*/ 561640 h 5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161" h="561640">
                <a:moveTo>
                  <a:pt x="0" y="3431"/>
                </a:moveTo>
                <a:cubicBezTo>
                  <a:pt x="185184" y="-3215"/>
                  <a:pt x="370368" y="-9860"/>
                  <a:pt x="446568" y="83175"/>
                </a:cubicBezTo>
                <a:cubicBezTo>
                  <a:pt x="522768" y="176210"/>
                  <a:pt x="489984" y="368925"/>
                  <a:pt x="457200" y="561640"/>
                </a:cubicBezTo>
              </a:path>
            </a:pathLst>
          </a:custGeom>
          <a:noFill/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464525" y="3227733"/>
            <a:ext cx="118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z=-</a:t>
            </a:r>
            <a:r>
              <a:rPr lang="en-US" dirty="0" err="1"/>
              <a:t>farz</a:t>
            </a:r>
            <a:endParaRPr lang="en-US" dirty="0"/>
          </a:p>
        </p:txBody>
      </p:sp>
      <p:sp>
        <p:nvSpPr>
          <p:cNvPr id="62" name="Right Arrow 61"/>
          <p:cNvSpPr/>
          <p:nvPr/>
        </p:nvSpPr>
        <p:spPr>
          <a:xfrm>
            <a:off x="4024423" y="4443065"/>
            <a:ext cx="1265275" cy="430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620457" y="500666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Matrix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5862084" y="4185308"/>
            <a:ext cx="2147776" cy="12865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6925340" y="3390521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5649432" y="4469728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7760893" y="4173263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803077" y="3894159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6803078" y="3893273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6798646" y="5039013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7055587" y="4616408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6097771" y="4337304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6097772" y="4336418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093340" y="5482158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6093340" y="3894159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058245" y="4175922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6100430" y="5039013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V="1">
            <a:off x="7045838" y="5320776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392326" y="3572521"/>
            <a:ext cx="4412511" cy="324296"/>
          </a:xfrm>
          <a:custGeom>
            <a:avLst/>
            <a:gdLst>
              <a:gd name="connsiteX0" fmla="*/ 0 w 4412511"/>
              <a:gd name="connsiteY0" fmla="*/ 318979 h 324296"/>
              <a:gd name="connsiteX1" fmla="*/ 1547037 w 4412511"/>
              <a:gd name="connsiteY1" fmla="*/ 3 h 324296"/>
              <a:gd name="connsiteX2" fmla="*/ 4412511 w 4412511"/>
              <a:gd name="connsiteY2" fmla="*/ 324296 h 32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12511" h="324296">
                <a:moveTo>
                  <a:pt x="0" y="318979"/>
                </a:moveTo>
                <a:cubicBezTo>
                  <a:pt x="405809" y="159048"/>
                  <a:pt x="811619" y="-883"/>
                  <a:pt x="1547037" y="3"/>
                </a:cubicBezTo>
                <a:cubicBezTo>
                  <a:pt x="2282455" y="889"/>
                  <a:pt x="3347483" y="162592"/>
                  <a:pt x="4412511" y="32429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/>
          <p:cNvSpPr/>
          <p:nvPr/>
        </p:nvSpPr>
        <p:spPr>
          <a:xfrm>
            <a:off x="3349256" y="4173263"/>
            <a:ext cx="4407195" cy="148888"/>
          </a:xfrm>
          <a:custGeom>
            <a:avLst/>
            <a:gdLst>
              <a:gd name="connsiteX0" fmla="*/ 0 w 4407195"/>
              <a:gd name="connsiteY0" fmla="*/ 0 h 148888"/>
              <a:gd name="connsiteX1" fmla="*/ 3327991 w 4407195"/>
              <a:gd name="connsiteY1" fmla="*/ 148856 h 148888"/>
              <a:gd name="connsiteX2" fmla="*/ 4407195 w 4407195"/>
              <a:gd name="connsiteY2" fmla="*/ 10633 h 148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07195" h="148888">
                <a:moveTo>
                  <a:pt x="0" y="0"/>
                </a:moveTo>
                <a:cubicBezTo>
                  <a:pt x="1296729" y="73542"/>
                  <a:pt x="2593459" y="147084"/>
                  <a:pt x="3327991" y="148856"/>
                </a:cubicBezTo>
                <a:cubicBezTo>
                  <a:pt x="4062524" y="150628"/>
                  <a:pt x="4234859" y="80630"/>
                  <a:pt x="4407195" y="10633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/>
          <p:cNvSpPr/>
          <p:nvPr/>
        </p:nvSpPr>
        <p:spPr>
          <a:xfrm>
            <a:off x="2477386" y="5326896"/>
            <a:ext cx="4566684" cy="688448"/>
          </a:xfrm>
          <a:custGeom>
            <a:avLst/>
            <a:gdLst>
              <a:gd name="connsiteX0" fmla="*/ 0 w 4566684"/>
              <a:gd name="connsiteY0" fmla="*/ 0 h 688448"/>
              <a:gd name="connsiteX1" fmla="*/ 2259419 w 4566684"/>
              <a:gd name="connsiteY1" fmla="*/ 669851 h 688448"/>
              <a:gd name="connsiteX2" fmla="*/ 4566684 w 4566684"/>
              <a:gd name="connsiteY2" fmla="*/ 435935 h 68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6684" h="688448">
                <a:moveTo>
                  <a:pt x="0" y="0"/>
                </a:moveTo>
                <a:cubicBezTo>
                  <a:pt x="749152" y="298597"/>
                  <a:pt x="1498305" y="597195"/>
                  <a:pt x="2259419" y="669851"/>
                </a:cubicBezTo>
                <a:cubicBezTo>
                  <a:pt x="3020533" y="742507"/>
                  <a:pt x="3793608" y="589221"/>
                  <a:pt x="4566684" y="435935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3"/>
          <p:cNvSpPr/>
          <p:nvPr/>
        </p:nvSpPr>
        <p:spPr>
          <a:xfrm>
            <a:off x="2014870" y="5193989"/>
            <a:ext cx="4077586" cy="819093"/>
          </a:xfrm>
          <a:custGeom>
            <a:avLst/>
            <a:gdLst>
              <a:gd name="connsiteX0" fmla="*/ 0 w 4077586"/>
              <a:gd name="connsiteY0" fmla="*/ 0 h 819093"/>
              <a:gd name="connsiteX1" fmla="*/ 2004237 w 4077586"/>
              <a:gd name="connsiteY1" fmla="*/ 813390 h 819093"/>
              <a:gd name="connsiteX2" fmla="*/ 4077586 w 4077586"/>
              <a:gd name="connsiteY2" fmla="*/ 297711 h 81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7586" h="819093">
                <a:moveTo>
                  <a:pt x="0" y="0"/>
                </a:moveTo>
                <a:cubicBezTo>
                  <a:pt x="662319" y="381886"/>
                  <a:pt x="1324639" y="763772"/>
                  <a:pt x="2004237" y="813390"/>
                </a:cubicBezTo>
                <a:cubicBezTo>
                  <a:pt x="2683835" y="863008"/>
                  <a:pt x="3380710" y="580359"/>
                  <a:pt x="4077586" y="29771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792126" y="561237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09860" y="398859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4265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)=(-1,-1) to (1,1) in the projected coordinate are linearly mapped to the viewport, which is in general same size as the window, specified by </a:t>
            </a:r>
            <a:r>
              <a:rPr lang="en-US" dirty="0" err="1"/>
              <a:t>glViewport</a:t>
            </a:r>
            <a:r>
              <a:rPr lang="en-US" dirty="0"/>
              <a:t>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1045536" y="4346814"/>
            <a:ext cx="2147776" cy="12865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2108792" y="3552027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832884" y="4631234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2944345" y="4334769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6529" y="4055665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986530" y="4054779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82098" y="5200519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239039" y="4777914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81223" y="4498810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281224" y="4497924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76792" y="5643664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276792" y="4055665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241697" y="4337428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283882" y="5200519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229290" y="5482282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93312" y="415010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1716" y="4150103"/>
            <a:ext cx="2434856" cy="163444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629940" y="3447756"/>
            <a:ext cx="2232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Viewport</a:t>
            </a:r>
          </a:p>
        </p:txBody>
      </p:sp>
      <p:sp>
        <p:nvSpPr>
          <p:cNvPr id="22" name="Freeform 21"/>
          <p:cNvSpPr/>
          <p:nvPr/>
        </p:nvSpPr>
        <p:spPr>
          <a:xfrm>
            <a:off x="2541181" y="3856922"/>
            <a:ext cx="5374759" cy="741659"/>
          </a:xfrm>
          <a:custGeom>
            <a:avLst/>
            <a:gdLst>
              <a:gd name="connsiteX0" fmla="*/ 0 w 5374759"/>
              <a:gd name="connsiteY0" fmla="*/ 741659 h 741659"/>
              <a:gd name="connsiteX1" fmla="*/ 3104707 w 5374759"/>
              <a:gd name="connsiteY1" fmla="*/ 18645 h 741659"/>
              <a:gd name="connsiteX2" fmla="*/ 5374759 w 5374759"/>
              <a:gd name="connsiteY2" fmla="*/ 284459 h 74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4759" h="741659">
                <a:moveTo>
                  <a:pt x="0" y="741659"/>
                </a:moveTo>
                <a:cubicBezTo>
                  <a:pt x="1104457" y="418252"/>
                  <a:pt x="2208914" y="94845"/>
                  <a:pt x="3104707" y="18645"/>
                </a:cubicBezTo>
                <a:cubicBezTo>
                  <a:pt x="4000500" y="-57555"/>
                  <a:pt x="4687629" y="113452"/>
                  <a:pt x="5374759" y="284459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1584251" y="3915212"/>
            <a:ext cx="3907465" cy="380341"/>
          </a:xfrm>
          <a:custGeom>
            <a:avLst/>
            <a:gdLst>
              <a:gd name="connsiteX0" fmla="*/ 0 w 3907465"/>
              <a:gd name="connsiteY0" fmla="*/ 380341 h 380341"/>
              <a:gd name="connsiteX1" fmla="*/ 1658679 w 3907465"/>
              <a:gd name="connsiteY1" fmla="*/ 2886 h 380341"/>
              <a:gd name="connsiteX2" fmla="*/ 3907465 w 3907465"/>
              <a:gd name="connsiteY2" fmla="*/ 236802 h 38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7465" h="380341">
                <a:moveTo>
                  <a:pt x="0" y="380341"/>
                </a:moveTo>
                <a:cubicBezTo>
                  <a:pt x="503717" y="203575"/>
                  <a:pt x="1007435" y="26809"/>
                  <a:pt x="1658679" y="2886"/>
                </a:cubicBezTo>
                <a:cubicBezTo>
                  <a:pt x="2309923" y="-21037"/>
                  <a:pt x="3108694" y="107882"/>
                  <a:pt x="3907465" y="23680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615609" y="5683102"/>
            <a:ext cx="5316279" cy="458260"/>
          </a:xfrm>
          <a:custGeom>
            <a:avLst/>
            <a:gdLst>
              <a:gd name="connsiteX0" fmla="*/ 0 w 5316279"/>
              <a:gd name="connsiteY0" fmla="*/ 0 h 458260"/>
              <a:gd name="connsiteX1" fmla="*/ 3423684 w 5316279"/>
              <a:gd name="connsiteY1" fmla="*/ 457200 h 458260"/>
              <a:gd name="connsiteX2" fmla="*/ 5316279 w 5316279"/>
              <a:gd name="connsiteY2" fmla="*/ 101010 h 45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6279" h="458260">
                <a:moveTo>
                  <a:pt x="0" y="0"/>
                </a:moveTo>
                <a:cubicBezTo>
                  <a:pt x="1268819" y="220182"/>
                  <a:pt x="2537638" y="440365"/>
                  <a:pt x="3423684" y="457200"/>
                </a:cubicBezTo>
                <a:cubicBezTo>
                  <a:pt x="4309730" y="474035"/>
                  <a:pt x="4813004" y="287522"/>
                  <a:pt x="5316279" y="1010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1605516" y="5443870"/>
            <a:ext cx="3886200" cy="628435"/>
          </a:xfrm>
          <a:custGeom>
            <a:avLst/>
            <a:gdLst>
              <a:gd name="connsiteX0" fmla="*/ 0 w 3886200"/>
              <a:gd name="connsiteY0" fmla="*/ 0 h 628435"/>
              <a:gd name="connsiteX1" fmla="*/ 1589568 w 3886200"/>
              <a:gd name="connsiteY1" fmla="*/ 616688 h 628435"/>
              <a:gd name="connsiteX2" fmla="*/ 3886200 w 3886200"/>
              <a:gd name="connsiteY2" fmla="*/ 345558 h 62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6200" h="628435">
                <a:moveTo>
                  <a:pt x="0" y="0"/>
                </a:moveTo>
                <a:cubicBezTo>
                  <a:pt x="470934" y="279547"/>
                  <a:pt x="941868" y="559095"/>
                  <a:pt x="1589568" y="616688"/>
                </a:cubicBezTo>
                <a:cubicBezTo>
                  <a:pt x="2237268" y="674281"/>
                  <a:pt x="3061734" y="509919"/>
                  <a:pt x="3886200" y="34555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356177" y="523742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982" y="326309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999074" y="4979310"/>
            <a:ext cx="340596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6700285" y="3552027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108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Mouse coordinate can be inverse-transformed to a line.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942755" y="1861492"/>
            <a:ext cx="2147776" cy="12865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2006011" y="1066705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30103" y="2145912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2841564" y="1849447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883748" y="1570343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883749" y="1569457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79317" y="2715197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136258" y="2292592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78442" y="2013488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443" y="2012602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74011" y="3158342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174011" y="1570343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138916" y="1852106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181101" y="2715197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126509" y="2996960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90531" y="166478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88935" y="1664781"/>
            <a:ext cx="2434856" cy="163444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527159" y="962434"/>
            <a:ext cx="2232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Viewport</a:t>
            </a:r>
          </a:p>
        </p:txBody>
      </p:sp>
      <p:sp>
        <p:nvSpPr>
          <p:cNvPr id="22" name="Freeform 21"/>
          <p:cNvSpPr/>
          <p:nvPr/>
        </p:nvSpPr>
        <p:spPr>
          <a:xfrm>
            <a:off x="2438400" y="1371600"/>
            <a:ext cx="5374759" cy="741659"/>
          </a:xfrm>
          <a:custGeom>
            <a:avLst/>
            <a:gdLst>
              <a:gd name="connsiteX0" fmla="*/ 0 w 5374759"/>
              <a:gd name="connsiteY0" fmla="*/ 741659 h 741659"/>
              <a:gd name="connsiteX1" fmla="*/ 3104707 w 5374759"/>
              <a:gd name="connsiteY1" fmla="*/ 18645 h 741659"/>
              <a:gd name="connsiteX2" fmla="*/ 5374759 w 5374759"/>
              <a:gd name="connsiteY2" fmla="*/ 284459 h 74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4759" h="741659">
                <a:moveTo>
                  <a:pt x="0" y="741659"/>
                </a:moveTo>
                <a:cubicBezTo>
                  <a:pt x="1104457" y="418252"/>
                  <a:pt x="2208914" y="94845"/>
                  <a:pt x="3104707" y="18645"/>
                </a:cubicBezTo>
                <a:cubicBezTo>
                  <a:pt x="4000500" y="-57555"/>
                  <a:pt x="4687629" y="113452"/>
                  <a:pt x="5374759" y="284459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1481470" y="1429890"/>
            <a:ext cx="3907465" cy="380341"/>
          </a:xfrm>
          <a:custGeom>
            <a:avLst/>
            <a:gdLst>
              <a:gd name="connsiteX0" fmla="*/ 0 w 3907465"/>
              <a:gd name="connsiteY0" fmla="*/ 380341 h 380341"/>
              <a:gd name="connsiteX1" fmla="*/ 1658679 w 3907465"/>
              <a:gd name="connsiteY1" fmla="*/ 2886 h 380341"/>
              <a:gd name="connsiteX2" fmla="*/ 3907465 w 3907465"/>
              <a:gd name="connsiteY2" fmla="*/ 236802 h 38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7465" h="380341">
                <a:moveTo>
                  <a:pt x="0" y="380341"/>
                </a:moveTo>
                <a:cubicBezTo>
                  <a:pt x="503717" y="203575"/>
                  <a:pt x="1007435" y="26809"/>
                  <a:pt x="1658679" y="2886"/>
                </a:cubicBezTo>
                <a:cubicBezTo>
                  <a:pt x="2309923" y="-21037"/>
                  <a:pt x="3108694" y="107882"/>
                  <a:pt x="3907465" y="236802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512828" y="3197780"/>
            <a:ext cx="5316279" cy="458260"/>
          </a:xfrm>
          <a:custGeom>
            <a:avLst/>
            <a:gdLst>
              <a:gd name="connsiteX0" fmla="*/ 0 w 5316279"/>
              <a:gd name="connsiteY0" fmla="*/ 0 h 458260"/>
              <a:gd name="connsiteX1" fmla="*/ 3423684 w 5316279"/>
              <a:gd name="connsiteY1" fmla="*/ 457200 h 458260"/>
              <a:gd name="connsiteX2" fmla="*/ 5316279 w 5316279"/>
              <a:gd name="connsiteY2" fmla="*/ 101010 h 45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6279" h="458260">
                <a:moveTo>
                  <a:pt x="0" y="0"/>
                </a:moveTo>
                <a:cubicBezTo>
                  <a:pt x="1268819" y="220182"/>
                  <a:pt x="2537638" y="440365"/>
                  <a:pt x="3423684" y="457200"/>
                </a:cubicBezTo>
                <a:cubicBezTo>
                  <a:pt x="4309730" y="474035"/>
                  <a:pt x="4813004" y="287522"/>
                  <a:pt x="5316279" y="10101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1502735" y="2958548"/>
            <a:ext cx="3886200" cy="628435"/>
          </a:xfrm>
          <a:custGeom>
            <a:avLst/>
            <a:gdLst>
              <a:gd name="connsiteX0" fmla="*/ 0 w 3886200"/>
              <a:gd name="connsiteY0" fmla="*/ 0 h 628435"/>
              <a:gd name="connsiteX1" fmla="*/ 1589568 w 3886200"/>
              <a:gd name="connsiteY1" fmla="*/ 616688 h 628435"/>
              <a:gd name="connsiteX2" fmla="*/ 3886200 w 3886200"/>
              <a:gd name="connsiteY2" fmla="*/ 345558 h 62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6200" h="628435">
                <a:moveTo>
                  <a:pt x="0" y="0"/>
                </a:moveTo>
                <a:cubicBezTo>
                  <a:pt x="470934" y="279547"/>
                  <a:pt x="941868" y="559095"/>
                  <a:pt x="1589568" y="616688"/>
                </a:cubicBezTo>
                <a:cubicBezTo>
                  <a:pt x="2237268" y="674281"/>
                  <a:pt x="3061734" y="509919"/>
                  <a:pt x="3886200" y="345558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253396" y="275210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6201" y="77776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896293" y="2493988"/>
            <a:ext cx="340596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6597504" y="1066705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041993" y="5081843"/>
            <a:ext cx="2147776" cy="1286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1637416" y="3997322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75169" y="5725113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2392328" y="4560847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392328" y="5714480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3355461" y="4834635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397645" y="4560847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2011991" y="5281204"/>
            <a:ext cx="2659" cy="57681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011991" y="5858021"/>
            <a:ext cx="481124" cy="14088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2493558" y="5418098"/>
            <a:ext cx="2659" cy="57681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014650" y="5281204"/>
            <a:ext cx="481124" cy="14088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392328" y="4268452"/>
            <a:ext cx="154171" cy="292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354575" y="4640592"/>
            <a:ext cx="303027" cy="194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359892" y="5988268"/>
            <a:ext cx="159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397645" y="5640053"/>
            <a:ext cx="148854" cy="6645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014650" y="4560847"/>
            <a:ext cx="382995" cy="7203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493558" y="4842610"/>
            <a:ext cx="861017" cy="57947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472072" y="5988268"/>
            <a:ext cx="888706" cy="10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2014650" y="5706506"/>
            <a:ext cx="377678" cy="151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1637416" y="5281204"/>
            <a:ext cx="377234" cy="71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1637416" y="5858021"/>
            <a:ext cx="374575" cy="140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642732" y="5996243"/>
            <a:ext cx="850383" cy="2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1637416" y="5418098"/>
            <a:ext cx="858801" cy="580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004778" y="5236015"/>
            <a:ext cx="999461" cy="334926"/>
          </a:xfrm>
          <a:custGeom>
            <a:avLst/>
            <a:gdLst>
              <a:gd name="connsiteX0" fmla="*/ 0 w 999461"/>
              <a:gd name="connsiteY0" fmla="*/ 0 h 334926"/>
              <a:gd name="connsiteX1" fmla="*/ 276447 w 999461"/>
              <a:gd name="connsiteY1" fmla="*/ 69112 h 334926"/>
              <a:gd name="connsiteX2" fmla="*/ 494414 w 999461"/>
              <a:gd name="connsiteY2" fmla="*/ 281763 h 334926"/>
              <a:gd name="connsiteX3" fmla="*/ 999461 w 999461"/>
              <a:gd name="connsiteY3" fmla="*/ 334926 h 334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461" h="334926">
                <a:moveTo>
                  <a:pt x="0" y="0"/>
                </a:moveTo>
                <a:cubicBezTo>
                  <a:pt x="97022" y="11076"/>
                  <a:pt x="194045" y="22152"/>
                  <a:pt x="276447" y="69112"/>
                </a:cubicBezTo>
                <a:cubicBezTo>
                  <a:pt x="358849" y="116072"/>
                  <a:pt x="373912" y="237461"/>
                  <a:pt x="494414" y="281763"/>
                </a:cubicBezTo>
                <a:cubicBezTo>
                  <a:pt x="614916" y="326065"/>
                  <a:pt x="807188" y="330495"/>
                  <a:pt x="999461" y="334926"/>
                </a:cubicBezTo>
              </a:path>
            </a:pathLst>
          </a:custGeom>
          <a:noFill/>
          <a:ln w="31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265816" y="4909222"/>
            <a:ext cx="118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z=-</a:t>
            </a:r>
            <a:r>
              <a:rPr lang="en-US" dirty="0" err="1"/>
              <a:t>nearz</a:t>
            </a:r>
            <a:endParaRPr lang="en-US" dirty="0"/>
          </a:p>
        </p:txBody>
      </p:sp>
      <p:sp>
        <p:nvSpPr>
          <p:cNvPr id="55" name="Freeform 54"/>
          <p:cNvSpPr/>
          <p:nvPr/>
        </p:nvSpPr>
        <p:spPr>
          <a:xfrm>
            <a:off x="2296634" y="4094901"/>
            <a:ext cx="493161" cy="561640"/>
          </a:xfrm>
          <a:custGeom>
            <a:avLst/>
            <a:gdLst>
              <a:gd name="connsiteX0" fmla="*/ 0 w 493161"/>
              <a:gd name="connsiteY0" fmla="*/ 3431 h 561640"/>
              <a:gd name="connsiteX1" fmla="*/ 446568 w 493161"/>
              <a:gd name="connsiteY1" fmla="*/ 83175 h 561640"/>
              <a:gd name="connsiteX2" fmla="*/ 457200 w 493161"/>
              <a:gd name="connsiteY2" fmla="*/ 561640 h 5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161" h="561640">
                <a:moveTo>
                  <a:pt x="0" y="3431"/>
                </a:moveTo>
                <a:cubicBezTo>
                  <a:pt x="185184" y="-3215"/>
                  <a:pt x="370368" y="-9860"/>
                  <a:pt x="446568" y="83175"/>
                </a:cubicBezTo>
                <a:cubicBezTo>
                  <a:pt x="522768" y="176210"/>
                  <a:pt x="489984" y="368925"/>
                  <a:pt x="457200" y="561640"/>
                </a:cubicBezTo>
              </a:path>
            </a:pathLst>
          </a:custGeom>
          <a:noFill/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1469843" y="3897093"/>
            <a:ext cx="118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z=-</a:t>
            </a:r>
            <a:r>
              <a:rPr lang="en-US" dirty="0" err="1"/>
              <a:t>farz</a:t>
            </a:r>
            <a:endParaRPr lang="en-US" dirty="0"/>
          </a:p>
        </p:txBody>
      </p:sp>
      <p:sp>
        <p:nvSpPr>
          <p:cNvPr id="57" name="Right Arrow 56"/>
          <p:cNvSpPr/>
          <p:nvPr/>
        </p:nvSpPr>
        <p:spPr>
          <a:xfrm rot="10800000">
            <a:off x="4029741" y="5112425"/>
            <a:ext cx="1265275" cy="430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3625775" y="567602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Matrix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5867402" y="4854668"/>
            <a:ext cx="2147776" cy="128654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6930658" y="4059881"/>
            <a:ext cx="5316" cy="2658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5654750" y="5139088"/>
            <a:ext cx="2562447" cy="749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7766211" y="4842623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6808395" y="4563519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6808396" y="4562633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803964" y="5708373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7060905" y="5285768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6103089" y="5006664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6103090" y="5005778"/>
            <a:ext cx="5317" cy="11536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098658" y="6151518"/>
            <a:ext cx="962247" cy="2817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6098658" y="4563519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7063563" y="4845282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6105748" y="5708373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7051156" y="5990136"/>
            <a:ext cx="715055" cy="443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2397644" y="4241881"/>
            <a:ext cx="4412511" cy="324296"/>
          </a:xfrm>
          <a:custGeom>
            <a:avLst/>
            <a:gdLst>
              <a:gd name="connsiteX0" fmla="*/ 0 w 4412511"/>
              <a:gd name="connsiteY0" fmla="*/ 318979 h 324296"/>
              <a:gd name="connsiteX1" fmla="*/ 1547037 w 4412511"/>
              <a:gd name="connsiteY1" fmla="*/ 3 h 324296"/>
              <a:gd name="connsiteX2" fmla="*/ 4412511 w 4412511"/>
              <a:gd name="connsiteY2" fmla="*/ 324296 h 32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12511" h="324296">
                <a:moveTo>
                  <a:pt x="0" y="318979"/>
                </a:moveTo>
                <a:cubicBezTo>
                  <a:pt x="405809" y="159048"/>
                  <a:pt x="811619" y="-883"/>
                  <a:pt x="1547037" y="3"/>
                </a:cubicBezTo>
                <a:cubicBezTo>
                  <a:pt x="2282455" y="889"/>
                  <a:pt x="3347483" y="162592"/>
                  <a:pt x="4412511" y="32429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3354574" y="4842623"/>
            <a:ext cx="4407195" cy="148888"/>
          </a:xfrm>
          <a:custGeom>
            <a:avLst/>
            <a:gdLst>
              <a:gd name="connsiteX0" fmla="*/ 0 w 4407195"/>
              <a:gd name="connsiteY0" fmla="*/ 0 h 148888"/>
              <a:gd name="connsiteX1" fmla="*/ 3327991 w 4407195"/>
              <a:gd name="connsiteY1" fmla="*/ 148856 h 148888"/>
              <a:gd name="connsiteX2" fmla="*/ 4407195 w 4407195"/>
              <a:gd name="connsiteY2" fmla="*/ 10633 h 148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07195" h="148888">
                <a:moveTo>
                  <a:pt x="0" y="0"/>
                </a:moveTo>
                <a:cubicBezTo>
                  <a:pt x="1296729" y="73542"/>
                  <a:pt x="2593459" y="147084"/>
                  <a:pt x="3327991" y="148856"/>
                </a:cubicBezTo>
                <a:cubicBezTo>
                  <a:pt x="4062524" y="150628"/>
                  <a:pt x="4234859" y="80630"/>
                  <a:pt x="4407195" y="10633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2482704" y="5996256"/>
            <a:ext cx="4566684" cy="688448"/>
          </a:xfrm>
          <a:custGeom>
            <a:avLst/>
            <a:gdLst>
              <a:gd name="connsiteX0" fmla="*/ 0 w 4566684"/>
              <a:gd name="connsiteY0" fmla="*/ 0 h 688448"/>
              <a:gd name="connsiteX1" fmla="*/ 2259419 w 4566684"/>
              <a:gd name="connsiteY1" fmla="*/ 669851 h 688448"/>
              <a:gd name="connsiteX2" fmla="*/ 4566684 w 4566684"/>
              <a:gd name="connsiteY2" fmla="*/ 435935 h 68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6684" h="688448">
                <a:moveTo>
                  <a:pt x="0" y="0"/>
                </a:moveTo>
                <a:cubicBezTo>
                  <a:pt x="749152" y="298597"/>
                  <a:pt x="1498305" y="597195"/>
                  <a:pt x="2259419" y="669851"/>
                </a:cubicBezTo>
                <a:cubicBezTo>
                  <a:pt x="3020533" y="742507"/>
                  <a:pt x="3793608" y="589221"/>
                  <a:pt x="4566684" y="435935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>
            <a:off x="2020188" y="5863349"/>
            <a:ext cx="4077586" cy="819093"/>
          </a:xfrm>
          <a:custGeom>
            <a:avLst/>
            <a:gdLst>
              <a:gd name="connsiteX0" fmla="*/ 0 w 4077586"/>
              <a:gd name="connsiteY0" fmla="*/ 0 h 819093"/>
              <a:gd name="connsiteX1" fmla="*/ 2004237 w 4077586"/>
              <a:gd name="connsiteY1" fmla="*/ 813390 h 819093"/>
              <a:gd name="connsiteX2" fmla="*/ 4077586 w 4077586"/>
              <a:gd name="connsiteY2" fmla="*/ 297711 h 81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7586" h="819093">
                <a:moveTo>
                  <a:pt x="0" y="0"/>
                </a:moveTo>
                <a:cubicBezTo>
                  <a:pt x="662319" y="381886"/>
                  <a:pt x="1324639" y="763772"/>
                  <a:pt x="2004237" y="813390"/>
                </a:cubicBezTo>
                <a:cubicBezTo>
                  <a:pt x="2683835" y="863008"/>
                  <a:pt x="3380710" y="580359"/>
                  <a:pt x="4077586" y="29771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797444" y="628173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5178" y="465795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85" name="Down Arrow 84"/>
          <p:cNvSpPr/>
          <p:nvPr/>
        </p:nvSpPr>
        <p:spPr>
          <a:xfrm rot="7607803">
            <a:off x="6102607" y="2120575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Down Arrow 85"/>
          <p:cNvSpPr/>
          <p:nvPr/>
        </p:nvSpPr>
        <p:spPr>
          <a:xfrm rot="7607803">
            <a:off x="1606848" y="2409423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/>
          <p:cNvCxnSpPr/>
          <p:nvPr/>
        </p:nvCxnSpPr>
        <p:spPr>
          <a:xfrm flipV="1">
            <a:off x="1598864" y="1990698"/>
            <a:ext cx="715055" cy="4431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own Arrow 87"/>
          <p:cNvSpPr/>
          <p:nvPr/>
        </p:nvSpPr>
        <p:spPr>
          <a:xfrm rot="7607803">
            <a:off x="2326699" y="1950937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Down Arrow 88"/>
          <p:cNvSpPr/>
          <p:nvPr/>
        </p:nvSpPr>
        <p:spPr>
          <a:xfrm rot="7607803">
            <a:off x="6559850" y="5412082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/>
          <p:nvPr/>
        </p:nvCxnSpPr>
        <p:spPr>
          <a:xfrm flipV="1">
            <a:off x="6551866" y="4993357"/>
            <a:ext cx="715055" cy="4431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Down Arrow 90"/>
          <p:cNvSpPr/>
          <p:nvPr/>
        </p:nvSpPr>
        <p:spPr>
          <a:xfrm rot="7607803">
            <a:off x="7279701" y="4953596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/>
          <p:cNvSpPr/>
          <p:nvPr/>
        </p:nvSpPr>
        <p:spPr>
          <a:xfrm rot="1257395">
            <a:off x="3814346" y="3654776"/>
            <a:ext cx="167729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Down Arrow 92"/>
          <p:cNvSpPr/>
          <p:nvPr/>
        </p:nvSpPr>
        <p:spPr>
          <a:xfrm rot="7607803">
            <a:off x="2183812" y="5433643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Down Arrow 93"/>
          <p:cNvSpPr/>
          <p:nvPr/>
        </p:nvSpPr>
        <p:spPr>
          <a:xfrm rot="7607803">
            <a:off x="2702791" y="4881892"/>
            <a:ext cx="141891" cy="183393"/>
          </a:xfrm>
          <a:prstGeom prst="downArrow">
            <a:avLst>
              <a:gd name="adj1" fmla="val 50000"/>
              <a:gd name="adj2" fmla="val 7773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/>
          <p:cNvCxnSpPr>
            <a:endCxn id="94" idx="2"/>
          </p:cNvCxnSpPr>
          <p:nvPr/>
        </p:nvCxnSpPr>
        <p:spPr>
          <a:xfrm flipV="1">
            <a:off x="2178057" y="4918665"/>
            <a:ext cx="522252" cy="5311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5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</a:t>
            </a:r>
            <a:r>
              <a:rPr lang="en-US"/>
              <a:t>mouse coordinate to a 3D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Normalize window coordinate (</a:t>
            </a:r>
            <a:r>
              <a:rPr lang="en-US" dirty="0" err="1"/>
              <a:t>x</a:t>
            </a:r>
            <a:r>
              <a:rPr lang="en-US" baseline="-25000" dirty="0" err="1"/>
              <a:t>s</a:t>
            </a:r>
            <a:r>
              <a:rPr lang="en-US" dirty="0" err="1"/>
              <a:t>,y</a:t>
            </a:r>
            <a:r>
              <a:rPr lang="en-US" baseline="-25000" dirty="0" err="1"/>
              <a:t>s</a:t>
            </a:r>
            <a:r>
              <a:rPr lang="en-US" dirty="0"/>
              <a:t>) to (-1,-1)-(1,1) with respect to the viewport   =&gt;  (</a:t>
            </a:r>
            <a:r>
              <a:rPr lang="en-US" dirty="0" err="1"/>
              <a:t>x</a:t>
            </a:r>
            <a:r>
              <a:rPr lang="en-US" baseline="-25000" dirty="0" err="1"/>
              <a:t>v</a:t>
            </a:r>
            <a:r>
              <a:rPr lang="en-US" dirty="0" err="1"/>
              <a:t>,y</a:t>
            </a:r>
            <a:r>
              <a:rPr lang="en-US" baseline="-25000" dirty="0" err="1"/>
              <a:t>v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Inverse-transform (x</a:t>
            </a:r>
            <a:r>
              <a:rPr lang="en-US" baseline="-25000" dirty="0"/>
              <a:t>v</a:t>
            </a:r>
            <a:r>
              <a:rPr lang="en-US" dirty="0"/>
              <a:t>,y</a:t>
            </a:r>
            <a:r>
              <a:rPr lang="en-US" baseline="-25000" dirty="0"/>
              <a:t>v</a:t>
            </a:r>
            <a:r>
              <a:rPr lang="en-US" dirty="0"/>
              <a:t>,-1) and (x</a:t>
            </a:r>
            <a:r>
              <a:rPr lang="en-US" baseline="-25000" dirty="0"/>
              <a:t>v</a:t>
            </a:r>
            <a:r>
              <a:rPr lang="en-US" dirty="0"/>
              <a:t>,y</a:t>
            </a:r>
            <a:r>
              <a:rPr lang="en-US" baseline="-25000" dirty="0"/>
              <a:t>v</a:t>
            </a:r>
            <a:r>
              <a:rPr lang="en-US" dirty="0"/>
              <a:t>,1) by the projection matrix =&gt; (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 err="1"/>
              <a:t>,y</a:t>
            </a:r>
            <a:r>
              <a:rPr lang="en-US" baseline="-25000" dirty="0" err="1"/>
              <a:t>n</a:t>
            </a:r>
            <a:r>
              <a:rPr lang="en-US" dirty="0" err="1"/>
              <a:t>,z</a:t>
            </a:r>
            <a:r>
              <a:rPr lang="en-US" baseline="-25000" dirty="0" err="1"/>
              <a:t>n</a:t>
            </a:r>
            <a:r>
              <a:rPr lang="en-US" dirty="0"/>
              <a:t>), (</a:t>
            </a:r>
            <a:r>
              <a:rPr lang="en-US" dirty="0" err="1"/>
              <a:t>x</a:t>
            </a:r>
            <a:r>
              <a:rPr lang="en-US" baseline="-25000" dirty="0" err="1"/>
              <a:t>f</a:t>
            </a:r>
            <a:r>
              <a:rPr lang="en-US" dirty="0" err="1"/>
              <a:t>,y</a:t>
            </a:r>
            <a:r>
              <a:rPr lang="en-US" baseline="-25000" dirty="0" err="1"/>
              <a:t>f</a:t>
            </a:r>
            <a:r>
              <a:rPr lang="en-US" dirty="0" err="1"/>
              <a:t>,z</a:t>
            </a:r>
            <a:r>
              <a:rPr lang="en-US" baseline="-25000" dirty="0" err="1"/>
              <a:t>f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Inverse-transform (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 err="1"/>
              <a:t>,y</a:t>
            </a:r>
            <a:r>
              <a:rPr lang="en-US" baseline="-25000" dirty="0" err="1"/>
              <a:t>n</a:t>
            </a:r>
            <a:r>
              <a:rPr lang="en-US" dirty="0" err="1"/>
              <a:t>,z</a:t>
            </a:r>
            <a:r>
              <a:rPr lang="en-US" baseline="-25000" dirty="0" err="1"/>
              <a:t>n</a:t>
            </a:r>
            <a:r>
              <a:rPr lang="en-US" dirty="0"/>
              <a:t>) and (</a:t>
            </a:r>
            <a:r>
              <a:rPr lang="en-US" dirty="0" err="1"/>
              <a:t>x</a:t>
            </a:r>
            <a:r>
              <a:rPr lang="en-US" baseline="-25000" dirty="0" err="1"/>
              <a:t>f</a:t>
            </a:r>
            <a:r>
              <a:rPr lang="en-US" dirty="0" err="1"/>
              <a:t>,y</a:t>
            </a:r>
            <a:r>
              <a:rPr lang="en-US" baseline="-25000" dirty="0" err="1"/>
              <a:t>f</a:t>
            </a:r>
            <a:r>
              <a:rPr lang="en-US" dirty="0" err="1"/>
              <a:t>,z</a:t>
            </a:r>
            <a:r>
              <a:rPr lang="en-US" baseline="-25000" dirty="0" err="1"/>
              <a:t>f</a:t>
            </a:r>
            <a:r>
              <a:rPr lang="en-US" dirty="0"/>
              <a:t>) by the model-view matrix =&gt; (x</a:t>
            </a:r>
            <a:r>
              <a:rPr lang="en-US" baseline="-25000" dirty="0"/>
              <a:t>1</a:t>
            </a:r>
            <a:r>
              <a:rPr lang="en-US" dirty="0"/>
              <a:t>,y</a:t>
            </a:r>
            <a:r>
              <a:rPr lang="en-US" baseline="-25000" dirty="0"/>
              <a:t>1</a:t>
            </a:r>
            <a:r>
              <a:rPr lang="en-US" dirty="0"/>
              <a:t>,z</a:t>
            </a:r>
            <a:r>
              <a:rPr lang="en-US" baseline="-25000" dirty="0"/>
              <a:t>1</a:t>
            </a:r>
            <a:r>
              <a:rPr lang="en-US" dirty="0"/>
              <a:t>), (x</a:t>
            </a:r>
            <a:r>
              <a:rPr lang="en-US" baseline="-25000" dirty="0"/>
              <a:t>2</a:t>
            </a:r>
            <a:r>
              <a:rPr lang="en-US" dirty="0"/>
              <a:t>,y</a:t>
            </a:r>
            <a:r>
              <a:rPr lang="en-US" baseline="-25000" dirty="0"/>
              <a:t>2</a:t>
            </a:r>
            <a:r>
              <a:rPr lang="en-US" dirty="0"/>
              <a:t>,z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draw it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428797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go back and forth between the window and the 3D coordinate systems.</a:t>
            </a:r>
          </a:p>
          <a:p>
            <a:r>
              <a:rPr lang="en-US" dirty="0"/>
              <a:t>Need to take control of the projection matrix and viewport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337302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glutil.h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814" y="1212939"/>
            <a:ext cx="911018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GLUTIL_IS_INCLUDED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GLUTIL_IS_INCLUDED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ysclass.h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YsVec3 </a:t>
            </a:r>
            <a:r>
              <a:rPr lang="en-US" sz="1100" dirty="0" err="1">
                <a:latin typeface="Consolas" panose="020B0609020204030204" pitchFamily="49" charset="0"/>
              </a:rPr>
              <a:t>WindowToViewPort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winWid,int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winHei,int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x,int</a:t>
            </a:r>
            <a:r>
              <a:rPr lang="en-US" sz="1100" dirty="0">
                <a:latin typeface="Consolas" panose="020B0609020204030204" pitchFamily="49" charset="0"/>
              </a:rPr>
              <a:t> 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YsMatrix4x4 </a:t>
            </a:r>
            <a:r>
              <a:rPr lang="en-US" sz="1100" dirty="0" err="1">
                <a:latin typeface="Consolas" panose="020B0609020204030204" pitchFamily="49" charset="0"/>
              </a:rPr>
              <a:t>MakePerspective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fovy,const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aspect,const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nearz,const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farz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YsMatrix4x4 </a:t>
            </a:r>
            <a:r>
              <a:rPr lang="en-US" sz="1100" dirty="0" err="1">
                <a:latin typeface="Consolas" panose="020B0609020204030204" pitchFamily="49" charset="0"/>
              </a:rPr>
              <a:t>MakeOrthogonal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left,const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right,const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bottom,const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top,const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nearz,const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farz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58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glutil.cpp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56" y="850456"/>
            <a:ext cx="10360529" cy="5747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#include "</a:t>
            </a:r>
            <a:r>
              <a:rPr lang="en-US" sz="1050" dirty="0" err="1">
                <a:latin typeface="Consolas" panose="020B0609020204030204" pitchFamily="49" charset="0"/>
              </a:rPr>
              <a:t>glutil.h</a:t>
            </a:r>
            <a:r>
              <a:rPr lang="en-US" sz="1050" dirty="0">
                <a:latin typeface="Consolas" panose="020B0609020204030204" pitchFamily="49" charset="0"/>
              </a:rPr>
              <a:t>"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YsVec3 </a:t>
            </a:r>
            <a:r>
              <a:rPr lang="en-US" sz="1050" dirty="0" err="1">
                <a:latin typeface="Consolas" panose="020B0609020204030204" pitchFamily="49" charset="0"/>
              </a:rPr>
              <a:t>WindowToViewPort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winWid,int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winHei,int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x,int</a:t>
            </a:r>
            <a:r>
              <a:rPr lang="en-US" sz="1050" dirty="0">
                <a:latin typeface="Consolas" panose="020B0609020204030204" pitchFamily="49" charset="0"/>
              </a:rPr>
              <a:t> y) // Easy enough.  Fill in class. 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YsMatrix4x4 </a:t>
            </a:r>
            <a:r>
              <a:rPr lang="en-US" sz="1050" dirty="0" err="1">
                <a:latin typeface="Consolas" panose="020B0609020204030204" pitchFamily="49" charset="0"/>
              </a:rPr>
              <a:t>MakePerspective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fovy,const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aspect,const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nearz,const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farz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float mat[16];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// Based on the formula listed in www.opengl.org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float f=(float)(1.0/tan(</a:t>
            </a:r>
            <a:r>
              <a:rPr lang="en-US" sz="1050" dirty="0" err="1">
                <a:latin typeface="Consolas" panose="020B0609020204030204" pitchFamily="49" charset="0"/>
              </a:rPr>
              <a:t>fovy</a:t>
            </a:r>
            <a:r>
              <a:rPr lang="en-US" sz="1050" dirty="0">
                <a:latin typeface="Consolas" panose="020B0609020204030204" pitchFamily="49" charset="0"/>
              </a:rPr>
              <a:t>/2.0));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mat[0]=(float)(f/aspect); mat[4]=0;        mat[ 8]=0;                                  mat[12]=0;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mat[1]=0;                 mat[5]=(float)f; mat[ 9]=0;                                  mat[13]=0;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mat[2]=0;                 mat[6]=0;        mat[10]=(float)((</a:t>
            </a:r>
            <a:r>
              <a:rPr lang="en-US" sz="1050" dirty="0" err="1">
                <a:latin typeface="Consolas" panose="020B0609020204030204" pitchFamily="49" charset="0"/>
              </a:rPr>
              <a:t>farz+nearz</a:t>
            </a:r>
            <a:r>
              <a:rPr lang="en-US" sz="1050" dirty="0">
                <a:latin typeface="Consolas" panose="020B0609020204030204" pitchFamily="49" charset="0"/>
              </a:rPr>
              <a:t>)/(</a:t>
            </a:r>
            <a:r>
              <a:rPr lang="en-US" sz="1050" dirty="0" err="1">
                <a:latin typeface="Consolas" panose="020B0609020204030204" pitchFamily="49" charset="0"/>
              </a:rPr>
              <a:t>nearz-farz</a:t>
            </a:r>
            <a:r>
              <a:rPr lang="en-US" sz="1050" dirty="0">
                <a:latin typeface="Consolas" panose="020B0609020204030204" pitchFamily="49" charset="0"/>
              </a:rPr>
              <a:t>)); mat[14]=(float)((2.0*</a:t>
            </a:r>
            <a:r>
              <a:rPr lang="en-US" sz="1050" dirty="0" err="1">
                <a:latin typeface="Consolas" panose="020B0609020204030204" pitchFamily="49" charset="0"/>
              </a:rPr>
              <a:t>farz</a:t>
            </a:r>
            <a:r>
              <a:rPr lang="en-US" sz="1050" dirty="0">
                <a:latin typeface="Consolas" panose="020B0609020204030204" pitchFamily="49" charset="0"/>
              </a:rPr>
              <a:t>*</a:t>
            </a:r>
            <a:r>
              <a:rPr lang="en-US" sz="1050" dirty="0" err="1">
                <a:latin typeface="Consolas" panose="020B0609020204030204" pitchFamily="49" charset="0"/>
              </a:rPr>
              <a:t>nearz</a:t>
            </a:r>
            <a:r>
              <a:rPr lang="en-US" sz="1050" dirty="0">
                <a:latin typeface="Consolas" panose="020B0609020204030204" pitchFamily="49" charset="0"/>
              </a:rPr>
              <a:t>)/(</a:t>
            </a:r>
            <a:r>
              <a:rPr lang="en-US" sz="1050" dirty="0" err="1">
                <a:latin typeface="Consolas" panose="020B0609020204030204" pitchFamily="49" charset="0"/>
              </a:rPr>
              <a:t>nearz-farz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mat[3]=0;                 mat[7]=0;        mat[11]=-1;                                 mat[15]=0;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YsMatrix4x4 </a:t>
            </a:r>
            <a:r>
              <a:rPr lang="en-US" sz="1050" dirty="0" err="1">
                <a:latin typeface="Consolas" panose="020B0609020204030204" pitchFamily="49" charset="0"/>
              </a:rPr>
              <a:t>tfm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tfm.CreateFromOpenGlCompatibleMatrix</a:t>
            </a:r>
            <a:r>
              <a:rPr lang="en-US" sz="1050" dirty="0">
                <a:latin typeface="Consolas" panose="020B0609020204030204" pitchFamily="49" charset="0"/>
              </a:rPr>
              <a:t>(mat);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return </a:t>
            </a:r>
            <a:r>
              <a:rPr lang="en-US" sz="1050" dirty="0" err="1">
                <a:latin typeface="Consolas" panose="020B0609020204030204" pitchFamily="49" charset="0"/>
              </a:rPr>
              <a:t>tfm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YsMatrix4x4 </a:t>
            </a:r>
            <a:r>
              <a:rPr lang="en-US" sz="1050" dirty="0" err="1">
                <a:latin typeface="Consolas" panose="020B0609020204030204" pitchFamily="49" charset="0"/>
              </a:rPr>
              <a:t>MakeOrthogonal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left,const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right,const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bottom,const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top,const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nearz,const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farz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float mat[16];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// Based on the formula listed in www.opengl.org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tx</a:t>
            </a:r>
            <a:r>
              <a:rPr lang="en-US" sz="1050" dirty="0">
                <a:latin typeface="Consolas" panose="020B0609020204030204" pitchFamily="49" charset="0"/>
              </a:rPr>
              <a:t>=-(</a:t>
            </a:r>
            <a:r>
              <a:rPr lang="en-US" sz="1050" dirty="0" err="1">
                <a:latin typeface="Consolas" panose="020B0609020204030204" pitchFamily="49" charset="0"/>
              </a:rPr>
              <a:t>right+left</a:t>
            </a:r>
            <a:r>
              <a:rPr lang="en-US" sz="1050" dirty="0">
                <a:latin typeface="Consolas" panose="020B0609020204030204" pitchFamily="49" charset="0"/>
              </a:rPr>
              <a:t>)/(right-left);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double ty=-(</a:t>
            </a:r>
            <a:r>
              <a:rPr lang="en-US" sz="1050" dirty="0" err="1">
                <a:latin typeface="Consolas" panose="020B0609020204030204" pitchFamily="49" charset="0"/>
              </a:rPr>
              <a:t>top+bottom</a:t>
            </a:r>
            <a:r>
              <a:rPr lang="en-US" sz="1050" dirty="0">
                <a:latin typeface="Consolas" panose="020B0609020204030204" pitchFamily="49" charset="0"/>
              </a:rPr>
              <a:t>)/(top-bottom);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double </a:t>
            </a:r>
            <a:r>
              <a:rPr lang="en-US" sz="1050" dirty="0" err="1">
                <a:latin typeface="Consolas" panose="020B0609020204030204" pitchFamily="49" charset="0"/>
              </a:rPr>
              <a:t>tz</a:t>
            </a:r>
            <a:r>
              <a:rPr lang="en-US" sz="1050" dirty="0">
                <a:latin typeface="Consolas" panose="020B0609020204030204" pitchFamily="49" charset="0"/>
              </a:rPr>
              <a:t>=-(</a:t>
            </a:r>
            <a:r>
              <a:rPr lang="en-US" sz="1050" dirty="0" err="1">
                <a:latin typeface="Consolas" panose="020B0609020204030204" pitchFamily="49" charset="0"/>
              </a:rPr>
              <a:t>farz+nearz</a:t>
            </a:r>
            <a:r>
              <a:rPr lang="en-US" sz="1050" dirty="0">
                <a:latin typeface="Consolas" panose="020B0609020204030204" pitchFamily="49" charset="0"/>
              </a:rPr>
              <a:t>)/(</a:t>
            </a:r>
            <a:r>
              <a:rPr lang="en-US" sz="1050" dirty="0" err="1">
                <a:latin typeface="Consolas" panose="020B0609020204030204" pitchFamily="49" charset="0"/>
              </a:rPr>
              <a:t>farz-nearz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mat[0]=(float)(2.0/(right-left)); mat[4]=0;                         mat[ 8]=0;                          mat[12]=(float)</a:t>
            </a:r>
            <a:r>
              <a:rPr lang="en-US" sz="1050" dirty="0" err="1">
                <a:latin typeface="Consolas" panose="020B0609020204030204" pitchFamily="49" charset="0"/>
              </a:rPr>
              <a:t>tx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mat[1]=0;                         mat[5]=(float)(2.0/(top-bottom)); mat[ 9]=0;                          mat[13]=(float)ty;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mat[2]=0;                         mat[6]=0;                         mat[10]=(float)(-2.0/(</a:t>
            </a:r>
            <a:r>
              <a:rPr lang="en-US" sz="1050" dirty="0" err="1">
                <a:latin typeface="Consolas" panose="020B0609020204030204" pitchFamily="49" charset="0"/>
              </a:rPr>
              <a:t>farz-nearz</a:t>
            </a:r>
            <a:r>
              <a:rPr lang="en-US" sz="1050" dirty="0">
                <a:latin typeface="Consolas" panose="020B0609020204030204" pitchFamily="49" charset="0"/>
              </a:rPr>
              <a:t>)); mat[14]=(float)</a:t>
            </a:r>
            <a:r>
              <a:rPr lang="en-US" sz="1050" dirty="0" err="1">
                <a:latin typeface="Consolas" panose="020B0609020204030204" pitchFamily="49" charset="0"/>
              </a:rPr>
              <a:t>tz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mat[3]=0;                         mat[7]=0;                         mat[11]=0;                          mat[15]=1;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YsMatrix4x4 </a:t>
            </a:r>
            <a:r>
              <a:rPr lang="en-US" sz="1050" dirty="0" err="1">
                <a:latin typeface="Consolas" panose="020B0609020204030204" pitchFamily="49" charset="0"/>
              </a:rPr>
              <a:t>tfm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tfm.CreateFromOpenGlCompatibleMatrix</a:t>
            </a:r>
            <a:r>
              <a:rPr lang="en-US" sz="1050" dirty="0">
                <a:latin typeface="Consolas" panose="020B0609020204030204" pitchFamily="49" charset="0"/>
              </a:rPr>
              <a:t>(mat);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return </a:t>
            </a:r>
            <a:r>
              <a:rPr lang="en-US" sz="1050" dirty="0" err="1">
                <a:latin typeface="Consolas" panose="020B0609020204030204" pitchFamily="49" charset="0"/>
              </a:rPr>
              <a:t>tfm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133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color of the picked polygon.</a:t>
            </a:r>
          </a:p>
          <a:p>
            <a:r>
              <a:rPr lang="en-US" dirty="0"/>
              <a:t>What needs to be done when the user clicks on the left button: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a line from the mouse coordinate.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 the polygon that:</a:t>
            </a:r>
          </a:p>
          <a:p>
            <a:pPr marL="1314450" lvl="2" indent="-457200"/>
            <a:r>
              <a:rPr lang="en-US" dirty="0"/>
              <a:t>intersects with the line, and</a:t>
            </a:r>
          </a:p>
          <a:p>
            <a:pPr marL="1314450" lvl="2" indent="-457200"/>
            <a:r>
              <a:rPr lang="en-US" dirty="0"/>
              <a:t>in front of the camera, and</a:t>
            </a:r>
          </a:p>
          <a:p>
            <a:pPr marL="1314450" lvl="2" indent="-457200"/>
            <a:r>
              <a:rPr lang="en-US" dirty="0"/>
              <a:t>nearest to the view point.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Change the color of the polygon.</a:t>
            </a:r>
          </a:p>
        </p:txBody>
      </p:sp>
    </p:spTree>
    <p:extLst>
      <p:ext uri="{BB962C8B-B14F-4D97-AF65-F5344CB8AC3E}">
        <p14:creationId xmlns:p14="http://schemas.microsoft.com/office/powerpoint/2010/main" val="22286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of a line and a polygon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YsPlane</a:t>
            </a:r>
            <a:r>
              <a:rPr lang="en-US" dirty="0"/>
              <a:t> class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514001"/>
            <a:ext cx="11614077" cy="3647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class </a:t>
            </a:r>
            <a:r>
              <a:rPr lang="en-US" sz="1050" dirty="0" err="1">
                <a:latin typeface="Consolas" panose="020B0609020204030204" pitchFamily="49" charset="0"/>
              </a:rPr>
              <a:t>YsPlane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/*! Constructor that creates a plane from a point on the plane and a normal vector.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The incoming normal vector is normalized within this function.  Therefore, the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vector does not have to be a unit vector.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\</a:t>
            </a:r>
            <a:r>
              <a:rPr lang="en-US" sz="1050" dirty="0" err="1">
                <a:latin typeface="Consolas" panose="020B0609020204030204" pitchFamily="49" charset="0"/>
              </a:rPr>
              <a:t>param</a:t>
            </a:r>
            <a:r>
              <a:rPr lang="en-US" sz="1050" dirty="0">
                <a:latin typeface="Consolas" panose="020B0609020204030204" pitchFamily="49" charset="0"/>
              </a:rPr>
              <a:t> o [In] A point on the plane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\</a:t>
            </a:r>
            <a:r>
              <a:rPr lang="en-US" sz="1050" dirty="0" err="1">
                <a:latin typeface="Consolas" panose="020B0609020204030204" pitchFamily="49" charset="0"/>
              </a:rPr>
              <a:t>param</a:t>
            </a:r>
            <a:r>
              <a:rPr lang="en-US" sz="1050" dirty="0">
                <a:latin typeface="Consolas" panose="020B0609020204030204" pitchFamily="49" charset="0"/>
              </a:rPr>
              <a:t> n [In] A normal vector */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YsPlane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YsVec3 &amp;</a:t>
            </a:r>
            <a:r>
              <a:rPr lang="en-US" sz="1050" dirty="0" err="1">
                <a:latin typeface="Consolas" panose="020B0609020204030204" pitchFamily="49" charset="0"/>
              </a:rPr>
              <a:t>o,const</a:t>
            </a:r>
            <a:r>
              <a:rPr lang="en-US" sz="1050" dirty="0">
                <a:latin typeface="Consolas" panose="020B0609020204030204" pitchFamily="49" charset="0"/>
              </a:rPr>
              <a:t> YsVec3 &amp;n);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/*! If a given finite-length line intersects with the plane, it returns YSOK and the intersecting point is returns to </a:t>
            </a:r>
            <a:r>
              <a:rPr lang="en-US" sz="1050" dirty="0" err="1">
                <a:latin typeface="Consolas" panose="020B0609020204030204" pitchFamily="49" charset="0"/>
              </a:rPr>
              <a:t>crs</a:t>
            </a:r>
            <a:r>
              <a:rPr lang="en-US" sz="1050" dirty="0">
                <a:latin typeface="Consolas" panose="020B0609020204030204" pitchFamily="49" charset="0"/>
              </a:rPr>
              <a:t>.  It returns YSERR otherwise.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\</a:t>
            </a:r>
            <a:r>
              <a:rPr lang="en-US" sz="1050" dirty="0" err="1">
                <a:latin typeface="Consolas" panose="020B0609020204030204" pitchFamily="49" charset="0"/>
              </a:rPr>
              <a:t>param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crs</a:t>
            </a:r>
            <a:r>
              <a:rPr lang="en-US" sz="1050" dirty="0">
                <a:latin typeface="Consolas" panose="020B0609020204030204" pitchFamily="49" charset="0"/>
              </a:rPr>
              <a:t> [Out] Intersecting point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\</a:t>
            </a:r>
            <a:r>
              <a:rPr lang="en-US" sz="1050" dirty="0" err="1">
                <a:latin typeface="Consolas" panose="020B0609020204030204" pitchFamily="49" charset="0"/>
              </a:rPr>
              <a:t>param</a:t>
            </a:r>
            <a:r>
              <a:rPr lang="en-US" sz="1050" dirty="0">
                <a:latin typeface="Consolas" panose="020B0609020204030204" pitchFamily="49" charset="0"/>
              </a:rPr>
              <a:t> p1 [In] An end point of the finite-length line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\</a:t>
            </a:r>
            <a:r>
              <a:rPr lang="en-US" sz="1050" dirty="0" err="1">
                <a:latin typeface="Consolas" panose="020B0609020204030204" pitchFamily="49" charset="0"/>
              </a:rPr>
              <a:t>param</a:t>
            </a:r>
            <a:r>
              <a:rPr lang="en-US" sz="1050" dirty="0">
                <a:latin typeface="Consolas" panose="020B0609020204030204" pitchFamily="49" charset="0"/>
              </a:rPr>
              <a:t> p2 [In] The other end point of the finite-length line */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YSRESULT </a:t>
            </a:r>
            <a:r>
              <a:rPr lang="en-US" sz="1050" dirty="0" err="1">
                <a:latin typeface="Consolas" panose="020B0609020204030204" pitchFamily="49" charset="0"/>
              </a:rPr>
              <a:t>GetPenetration</a:t>
            </a:r>
            <a:r>
              <a:rPr lang="en-US" sz="1050" dirty="0">
                <a:latin typeface="Consolas" panose="020B0609020204030204" pitchFamily="49" charset="0"/>
              </a:rPr>
              <a:t>(YsVec3 &amp;</a:t>
            </a:r>
            <a:r>
              <a:rPr lang="en-US" sz="1050" dirty="0" err="1">
                <a:latin typeface="Consolas" panose="020B0609020204030204" pitchFamily="49" charset="0"/>
              </a:rPr>
              <a:t>crs,const</a:t>
            </a:r>
            <a:r>
              <a:rPr lang="en-US" sz="1050" dirty="0">
                <a:latin typeface="Consolas" panose="020B0609020204030204" pitchFamily="49" charset="0"/>
              </a:rPr>
              <a:t> YsVec3 &amp;p1,const YsVec3 &amp;p2)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/*! Makes a plane that fits to the given set of points 'p'. 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std</a:t>
            </a:r>
            <a:r>
              <a:rPr lang="en-US" sz="1050" dirty="0">
                <a:latin typeface="Consolas" panose="020B0609020204030204" pitchFamily="49" charset="0"/>
              </a:rPr>
              <a:t>::vector &lt;YsVec3&gt; or </a:t>
            </a:r>
            <a:r>
              <a:rPr lang="en-US" sz="1050" dirty="0" err="1">
                <a:latin typeface="Consolas" panose="020B0609020204030204" pitchFamily="49" charset="0"/>
              </a:rPr>
              <a:t>YsArray</a:t>
            </a:r>
            <a:r>
              <a:rPr lang="en-US" sz="1050" dirty="0">
                <a:latin typeface="Consolas" panose="020B0609020204030204" pitchFamily="49" charset="0"/>
              </a:rPr>
              <a:t> &lt;YsVec3,N&gt; can be given as p.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*/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YSRESULT </a:t>
            </a:r>
            <a:r>
              <a:rPr lang="en-US" sz="1050" dirty="0" err="1">
                <a:latin typeface="Consolas" panose="020B0609020204030204" pitchFamily="49" charset="0"/>
              </a:rPr>
              <a:t>MakeBestFitPlane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YsConstArrayMask</a:t>
            </a:r>
            <a:r>
              <a:rPr lang="en-US" sz="1050" dirty="0">
                <a:latin typeface="Consolas" panose="020B0609020204030204" pitchFamily="49" charset="0"/>
              </a:rPr>
              <a:t> &lt;YsVec3&gt; &amp;p)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054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of a line and a polygon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intersecting point is on the boundary or inside of the polygon.  (YsCheckInsidePolygon3)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03138"/>
            <a:ext cx="7186583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/*! Templated version of YsCheckInsidePolygon3.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&lt;YsVec3&gt; or </a:t>
            </a:r>
            <a:r>
              <a:rPr lang="en-US" sz="1100" dirty="0" err="1">
                <a:latin typeface="Consolas" panose="020B0609020204030204" pitchFamily="49" charset="0"/>
              </a:rPr>
              <a:t>YsArray</a:t>
            </a:r>
            <a:r>
              <a:rPr lang="en-US" sz="1100" dirty="0">
                <a:latin typeface="Consolas" panose="020B0609020204030204" pitchFamily="49" charset="0"/>
              </a:rPr>
              <a:t> &lt;YsVec3,N&gt; can be given as </a:t>
            </a:r>
            <a:r>
              <a:rPr lang="en-US" sz="1100" dirty="0" err="1">
                <a:latin typeface="Consolas" panose="020B0609020204030204" pitchFamily="49" charset="0"/>
              </a:rPr>
              <a:t>plg</a:t>
            </a:r>
            <a:r>
              <a:rPr lang="en-US" sz="1100" dirty="0">
                <a:latin typeface="Consolas" panose="020B0609020204030204" pitchFamily="49" charset="0"/>
              </a:rPr>
              <a:t>.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It returns one of: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YSINSIDE        Inside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YSOUTSIDE       Outside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YSBOUNDARY      On the boundary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YSUNKNOWNSIDE   Cannot tell due to an error.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inline YSSIDE YsCheckInsidePolygon3(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ref,const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YsConstArrayMask</a:t>
            </a:r>
            <a:r>
              <a:rPr lang="en-US" sz="1100" dirty="0">
                <a:latin typeface="Consolas" panose="020B0609020204030204" pitchFamily="49" charset="0"/>
              </a:rPr>
              <a:t> &lt;YsVec3&gt; &amp;</a:t>
            </a:r>
            <a:r>
              <a:rPr lang="en-US" sz="1100" dirty="0" err="1">
                <a:latin typeface="Consolas" panose="020B0609020204030204" pitchFamily="49" charset="0"/>
              </a:rPr>
              <a:t>plg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1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Cut out projection and model-view matrix calculation from the Draw function to: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dirty="0" err="1"/>
              <a:t>PickedPlHd</a:t>
            </a:r>
            <a:r>
              <a:rPr lang="en-US" dirty="0"/>
              <a:t> function.</a:t>
            </a:r>
          </a:p>
          <a:p>
            <a:pPr marL="857250" lvl="1" indent="-457200"/>
            <a:r>
              <a:rPr lang="en-US" dirty="0"/>
              <a:t>Takes mouse x y coordinates.</a:t>
            </a:r>
          </a:p>
          <a:p>
            <a:pPr marL="857250" lvl="1" indent="-457200"/>
            <a:r>
              <a:rPr lang="en-US" dirty="0"/>
              <a:t>Calculate a line in the 3D coordinate from the mouse coordinate.</a:t>
            </a:r>
          </a:p>
          <a:p>
            <a:pPr marL="857250" lvl="1" indent="-457200"/>
            <a:r>
              <a:rPr lang="en-US" dirty="0"/>
              <a:t>Calculate intersection of the line with each polygon in the mesh.</a:t>
            </a:r>
          </a:p>
          <a:p>
            <a:pPr marL="857250" lvl="1" indent="-457200"/>
            <a:r>
              <a:rPr lang="en-US" dirty="0"/>
              <a:t>Returns the one that is closest to the camera (or </a:t>
            </a:r>
            <a:r>
              <a:rPr lang="en-US" dirty="0" err="1"/>
              <a:t>NullPolygon</a:t>
            </a:r>
            <a:r>
              <a:rPr lang="en-US" dirty="0"/>
              <a:t>() if no polygon is picked.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30300" y="1835150"/>
            <a:ext cx="495520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YsMatrix4x4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GetProjection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YsMatrix4x4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GetModelView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 a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about picking a point? – Cannot calculate an intersection between a line and a point.</a:t>
            </a:r>
          </a:p>
          <a:p>
            <a:r>
              <a:rPr lang="en-US" dirty="0"/>
              <a:t>3D distance between a line and a point may not translate directly to the pixel distance.</a:t>
            </a:r>
          </a:p>
          <a:p>
            <a:endParaRPr lang="en-US" dirty="0"/>
          </a:p>
          <a:p>
            <a:r>
              <a:rPr lang="en-US" dirty="0"/>
              <a:t>Transform a 3D coordinate into a screen coordinate and compare.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function called </a:t>
            </a:r>
            <a:r>
              <a:rPr lang="en-US" dirty="0" err="1"/>
              <a:t>PickedVtHd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53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move a selected vertex.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user presses the X key, the selected vertex moves +1.0 in the X direction.</a:t>
            </a:r>
          </a:p>
          <a:p>
            <a:r>
              <a:rPr lang="en-US" dirty="0"/>
              <a:t>But, it opens a hole because a vertex is used by only one triangle.</a:t>
            </a:r>
          </a:p>
          <a:p>
            <a:r>
              <a:rPr lang="en-US" dirty="0"/>
              <a:t>The current </a:t>
            </a:r>
            <a:r>
              <a:rPr lang="en-US" dirty="0" err="1"/>
              <a:t>ReadBinaryStl</a:t>
            </a:r>
            <a:r>
              <a:rPr lang="en-US" dirty="0"/>
              <a:t> function does not recognize points located at the same position.</a:t>
            </a:r>
          </a:p>
        </p:txBody>
      </p:sp>
    </p:spTree>
    <p:extLst>
      <p:ext uri="{BB962C8B-B14F-4D97-AF65-F5344CB8AC3E}">
        <p14:creationId xmlns:p14="http://schemas.microsoft.com/office/powerpoint/2010/main" val="686613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stitch polygons together while reading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 method</a:t>
            </a:r>
          </a:p>
          <a:p>
            <a:r>
              <a:rPr lang="en-US" dirty="0"/>
              <a:t>O(N) computation + O(N) storage method.</a:t>
            </a:r>
          </a:p>
        </p:txBody>
      </p:sp>
    </p:spTree>
    <p:extLst>
      <p:ext uri="{BB962C8B-B14F-4D97-AF65-F5344CB8AC3E}">
        <p14:creationId xmlns:p14="http://schemas.microsoft.com/office/powerpoint/2010/main" val="142164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Order of Computation with a 3D Lattice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Accelerates the collision detection.</a:t>
            </a:r>
          </a:p>
          <a:p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)-&gt;O(N) computational time.</a:t>
            </a:r>
          </a:p>
          <a:p>
            <a:r>
              <a:rPr lang="en-US" dirty="0"/>
              <a:t>Use O(N) memory.</a:t>
            </a:r>
          </a:p>
          <a:p>
            <a:r>
              <a:rPr lang="en-US" dirty="0"/>
              <a:t>Most effective when the geometric elements are distributed uniformly.</a:t>
            </a:r>
          </a:p>
        </p:txBody>
      </p:sp>
    </p:spTree>
    <p:extLst>
      <p:ext uri="{BB962C8B-B14F-4D97-AF65-F5344CB8AC3E}">
        <p14:creationId xmlns:p14="http://schemas.microsoft.com/office/powerpoint/2010/main" val="1726259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Oct-tree (or octree)</a:t>
            </a:r>
          </a:p>
          <a:p>
            <a:r>
              <a:rPr lang="en-US" dirty="0"/>
              <a:t>k-D tree</a:t>
            </a:r>
          </a:p>
          <a:p>
            <a:pPr marL="0" indent="0">
              <a:buNone/>
            </a:pPr>
            <a:r>
              <a:rPr lang="en-US" dirty="0"/>
              <a:t>These data structures typically reduces the order of complexity to O(</a:t>
            </a:r>
            <a:r>
              <a:rPr lang="en-US" dirty="0" err="1"/>
              <a:t>logN</a:t>
            </a:r>
            <a:r>
              <a:rPr lang="en-US" dirty="0"/>
              <a:t>) even the point distribution is highly non-uniform.  However, when points move, there is no easy update.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advantage of lattice is its simplicity.  Due to its simplicity, adding/removing of a primitive is very quick.  When a point moves, just remove point, and re-register.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many real situation, simplicity does a better job than a sophistication.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2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67996"/>
          </a:xfrm>
        </p:spPr>
        <p:txBody>
          <a:bodyPr/>
          <a:lstStyle/>
          <a:p>
            <a:r>
              <a:rPr lang="en-US" dirty="0"/>
              <a:t>You need to spend O(N) time to register elements in the lattice.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ight Arrow 145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1219200" y="3276600"/>
            <a:ext cx="457200" cy="4572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2621422" y="2819400"/>
            <a:ext cx="457200" cy="457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2102266" y="4191000"/>
            <a:ext cx="457200" cy="4572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762000" y="4648200"/>
            <a:ext cx="457200" cy="4572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2483266" y="5518803"/>
            <a:ext cx="457200" cy="457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3641933" y="479063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76550" y="2101850"/>
            <a:ext cx="476250" cy="946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3300" y="1803400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a vertex, polygon, or any geometric element.</a:t>
            </a:r>
          </a:p>
        </p:txBody>
      </p:sp>
    </p:spTree>
    <p:extLst>
      <p:ext uri="{BB962C8B-B14F-4D97-AF65-F5344CB8AC3E}">
        <p14:creationId xmlns:p14="http://schemas.microsoft.com/office/powerpoint/2010/main" val="316008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finding a proximity elements, you can substantially reduce the number of elements to check.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00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720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743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004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657600" y="2971800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114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743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004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657600" y="3429712"/>
            <a:ext cx="457200" cy="4572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14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72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43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200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657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148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572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7432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200400" y="43441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657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148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572000" y="43441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7432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200400" y="4801312"/>
            <a:ext cx="457200" cy="4572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657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114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72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486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943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486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5943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486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486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43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486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943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486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943600" y="4800600"/>
            <a:ext cx="4572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743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200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657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114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743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200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657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114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5720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5486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943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486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943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810000" y="3810712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3657600" y="3428288"/>
            <a:ext cx="914400" cy="91511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1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Lattice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 information:</a:t>
            </a:r>
          </a:p>
          <a:p>
            <a:pPr lvl="1"/>
            <a:r>
              <a:rPr lang="en-US" dirty="0"/>
              <a:t>An array of the lattice elements.</a:t>
            </a:r>
          </a:p>
          <a:p>
            <a:pPr lvl="1"/>
            <a:r>
              <a:rPr lang="en-US" dirty="0"/>
              <a:t>Resolution </a:t>
            </a:r>
            <a:r>
              <a:rPr lang="en-US" dirty="0" err="1"/>
              <a:t>nx,ny,nz</a:t>
            </a:r>
            <a:r>
              <a:rPr lang="en-US" dirty="0"/>
              <a:t>.</a:t>
            </a:r>
          </a:p>
          <a:p>
            <a:r>
              <a:rPr lang="en-US" dirty="0"/>
              <a:t>In this example, only cell information is necessary, but a general purpose lattice may need nodal information as well.</a:t>
            </a:r>
          </a:p>
          <a:p>
            <a:r>
              <a:rPr lang="en-US" dirty="0"/>
              <a:t>A </a:t>
            </a:r>
            <a:r>
              <a:rPr lang="en-US" dirty="0" err="1"/>
              <a:t>nx</a:t>
            </a:r>
            <a:r>
              <a:rPr lang="en-US" dirty="0"/>
              <a:t> times </a:t>
            </a:r>
            <a:r>
              <a:rPr lang="en-US" dirty="0" err="1"/>
              <a:t>ny</a:t>
            </a:r>
            <a:r>
              <a:rPr lang="en-US" dirty="0"/>
              <a:t> times </a:t>
            </a:r>
            <a:r>
              <a:rPr lang="en-US" dirty="0" err="1"/>
              <a:t>nz</a:t>
            </a:r>
            <a:r>
              <a:rPr lang="en-US" dirty="0"/>
              <a:t> lattice needs (nx+1)*(ny+1)*(nz+1) nodes.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24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71600" y="4724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4400" y="5181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71600" y="5181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56395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56395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4400" y="6096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71600" y="6096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28800" y="47236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86000" y="47236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28800" y="5180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86000" y="5180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28800" y="5638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286000" y="5638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28800" y="6096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286000" y="6096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895600" y="6248400"/>
            <a:ext cx="2993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4x4 lattice has 5x5 nodes</a:t>
            </a:r>
          </a:p>
        </p:txBody>
      </p:sp>
    </p:spTree>
    <p:extLst>
      <p:ext uri="{BB962C8B-B14F-4D97-AF65-F5344CB8AC3E}">
        <p14:creationId xmlns:p14="http://schemas.microsoft.com/office/powerpoint/2010/main" val="4013176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09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718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814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1910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006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718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14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910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8006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718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5814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910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8006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9718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814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1910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006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362200" y="52772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362200" y="48183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362200" y="4361121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362200" y="3905693"/>
            <a:ext cx="609600" cy="4572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236220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971800" y="36044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581400" y="35973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19100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791740" y="3600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401340" y="36044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819400" y="3597349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81940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3429000" y="3299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038600" y="32925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64820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248940" y="32960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858540" y="3299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276600" y="3292549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327660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886200" y="29983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4495800" y="29912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10540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5706140" y="29948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6315740" y="29983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3733800" y="2991293"/>
            <a:ext cx="3039140" cy="35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5433238" y="40545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5890438" y="37497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319285" y="3467985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5417289" y="45117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5874489" y="4206949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6331689" y="39056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5404885" y="49760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862085" y="46712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6319285" y="4369981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415517" y="54296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5872717" y="5124893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6329917" y="4823637"/>
            <a:ext cx="457200" cy="30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69395" y="2998381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317513" y="3290777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867400" y="3597349"/>
            <a:ext cx="17721" cy="18323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423585" y="579651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nx</a:t>
            </a:r>
            <a:r>
              <a:rPr lang="en-US" dirty="0"/>
              <a:t>=5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00200" y="462870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ny</a:t>
            </a:r>
            <a:r>
              <a:rPr lang="en-US" dirty="0"/>
              <a:t>=4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32074" y="29983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nz</a:t>
            </a:r>
            <a:r>
              <a:rPr lang="en-US" dirty="0"/>
              <a:t>=3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8200" y="5715000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 err="1"/>
              <a:t>,y</a:t>
            </a:r>
            <a:r>
              <a:rPr lang="en-US" baseline="-25000" dirty="0" err="1"/>
              <a:t>min</a:t>
            </a:r>
            <a:r>
              <a:rPr lang="en-US" dirty="0" err="1"/>
              <a:t>,z</a:t>
            </a:r>
            <a:r>
              <a:rPr lang="en-US" baseline="-25000" dirty="0" err="1"/>
              <a:t>min</a:t>
            </a:r>
            <a:r>
              <a:rPr lang="en-US" dirty="0"/>
              <a:t>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60289" y="259080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 err="1"/>
              <a:t>,y</a:t>
            </a:r>
            <a:r>
              <a:rPr lang="en-US" baseline="-25000" dirty="0" err="1"/>
              <a:t>max</a:t>
            </a:r>
            <a:r>
              <a:rPr lang="en-US" dirty="0" err="1"/>
              <a:t>,z</a:t>
            </a:r>
            <a:r>
              <a:rPr lang="en-US" baseline="-25000" dirty="0" err="1"/>
              <a:t>max</a:t>
            </a:r>
            <a:r>
              <a:rPr lang="en-US" dirty="0"/>
              <a:t>)</a:t>
            </a: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6338785" y="4896297"/>
            <a:ext cx="457200" cy="304800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769395" y="4976037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z</a:t>
            </a:r>
            <a:r>
              <a:rPr lang="en-US" baseline="-25000" dirty="0" err="1"/>
              <a:t>max</a:t>
            </a:r>
            <a:r>
              <a:rPr lang="en-US" dirty="0" err="1"/>
              <a:t>-z</a:t>
            </a:r>
            <a:r>
              <a:rPr lang="en-US" baseline="-25000" dirty="0" err="1"/>
              <a:t>min</a:t>
            </a:r>
            <a:r>
              <a:rPr lang="en-US" dirty="0"/>
              <a:t>)/</a:t>
            </a:r>
            <a:r>
              <a:rPr lang="en-US" dirty="0" err="1"/>
              <a:t>nz</a:t>
            </a:r>
            <a:endParaRPr lang="en-US" dirty="0"/>
          </a:p>
        </p:txBody>
      </p:sp>
      <p:cxnSp>
        <p:nvCxnSpPr>
          <p:cNvPr id="143" name="Straight Connector 142"/>
          <p:cNvCxnSpPr/>
          <p:nvPr/>
        </p:nvCxnSpPr>
        <p:spPr>
          <a:xfrm>
            <a:off x="6858000" y="4369981"/>
            <a:ext cx="0" cy="446568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921795" y="4408599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y</a:t>
            </a:r>
            <a:r>
              <a:rPr lang="en-US" baseline="-25000" dirty="0" err="1"/>
              <a:t>max</a:t>
            </a:r>
            <a:r>
              <a:rPr lang="en-US" dirty="0" err="1"/>
              <a:t>-y</a:t>
            </a:r>
            <a:r>
              <a:rPr lang="en-US" baseline="-25000" dirty="0" err="1"/>
              <a:t>min</a:t>
            </a:r>
            <a:r>
              <a:rPr lang="en-US" dirty="0"/>
              <a:t>)/</a:t>
            </a:r>
            <a:r>
              <a:rPr lang="en-US" dirty="0" err="1"/>
              <a:t>ny</a:t>
            </a:r>
            <a:endParaRPr lang="en-US" dirty="0"/>
          </a:p>
        </p:txBody>
      </p:sp>
      <p:cxnSp>
        <p:nvCxnSpPr>
          <p:cNvPr id="146" name="Straight Connector 145"/>
          <p:cNvCxnSpPr/>
          <p:nvPr/>
        </p:nvCxnSpPr>
        <p:spPr>
          <a:xfrm>
            <a:off x="4800600" y="5867400"/>
            <a:ext cx="600740" cy="0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572000" y="5879068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 err="1"/>
              <a:t>-x</a:t>
            </a:r>
            <a:r>
              <a:rPr lang="en-US" baseline="-25000" dirty="0" err="1"/>
              <a:t>min</a:t>
            </a:r>
            <a:r>
              <a:rPr lang="en-US" dirty="0"/>
              <a:t>)/</a:t>
            </a:r>
            <a:r>
              <a:rPr lang="en-US" dirty="0" err="1"/>
              <a:t>nx</a:t>
            </a:r>
            <a:endParaRPr 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762000" y="2057400"/>
            <a:ext cx="755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 </a:t>
            </a:r>
            <a:r>
              <a:rPr lang="en-US" dirty="0" err="1"/>
              <a:t>Coord</a:t>
            </a:r>
            <a:r>
              <a:rPr lang="en-US" dirty="0"/>
              <a:t>: (</a:t>
            </a:r>
            <a:r>
              <a:rPr lang="en-US" dirty="0" err="1"/>
              <a:t>bx,by,bz</a:t>
            </a:r>
            <a:r>
              <a:rPr lang="en-US" dirty="0"/>
              <a:t>) -&gt; Linear Index: </a:t>
            </a:r>
            <a:r>
              <a:rPr lang="en-US" dirty="0" err="1"/>
              <a:t>bz</a:t>
            </a:r>
            <a:r>
              <a:rPr lang="en-US" dirty="0"/>
              <a:t>*(nx+1)*(ny+1)+by*(nx+1)+</a:t>
            </a:r>
            <a:r>
              <a:rPr lang="en-US" dirty="0" err="1"/>
              <a:t>bx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12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it in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0968"/>
            <a:ext cx="7725192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Lattice3d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nx,ny,nz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&lt;T&gt; </a:t>
            </a:r>
            <a:r>
              <a:rPr lang="en-US" sz="1100" dirty="0" err="1">
                <a:latin typeface="Consolas" panose="020B0609020204030204" pitchFamily="49" charset="0"/>
              </a:rPr>
              <a:t>elem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min,max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Create a lattice with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blocks.  To store nodal information, the length of the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storage actually allocated will be (nx+1)*(ny+1)*(nz+1). 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Create(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min,const</a:t>
            </a:r>
            <a:r>
              <a:rPr lang="en-US" sz="1100" dirty="0">
                <a:latin typeface="Consolas" panose="020B0609020204030204" pitchFamily="49" charset="0"/>
              </a:rPr>
              <a:t> YsVec3 &amp;max);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number of blocks in X,Y, and Z direction.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YSSIZE_T 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the dimension of one block.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GetBlockDimension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the minimum (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x,y,z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) of the block at (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bx,by,bz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).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YsVec3 </a:t>
            </a:r>
            <a:r>
              <a:rPr lang="en-US" sz="1100" dirty="0" err="1">
                <a:latin typeface="Consolas" panose="020B0609020204030204" pitchFamily="49" charset="0"/>
              </a:rPr>
              <a:t>GetBlockPosition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iz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the index of the block that encloses the given position.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YsVec3i </a:t>
            </a:r>
            <a:r>
              <a:rPr lang="en-US" sz="1100" dirty="0" err="1">
                <a:latin typeface="Consolas" panose="020B0609020204030204" pitchFamily="49" charset="0"/>
              </a:rPr>
              <a:t>GetBlockIndex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pos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if the block index is within the valid range.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The lattice elements can be nodal value or cell value.  To support the nodal values,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this class allocates (nx+1)*(ny+1)*(nz+1)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elems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.  Therefore, the index is valid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and this function returns true, if: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       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 &amp;&amp; 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idx.z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()&lt;=</a:t>
            </a:r>
            <a:r>
              <a:rPr lang="en-US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nz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IsInRange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/*! Returns a reference to the lattice element at the index.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T &amp;operator[](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T &amp;operator[](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YsVec3i </a:t>
            </a:r>
            <a:r>
              <a:rPr lang="en-US" sz="1100" dirty="0" err="1">
                <a:latin typeface="Consolas" panose="020B0609020204030204" pitchFamily="49" charset="0"/>
              </a:rPr>
              <a:t>idx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182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a </a:t>
            </a:r>
            <a:r>
              <a:rPr lang="en-US" dirty="0" err="1"/>
              <a:t>MeshLattice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stitch, or merge, vertices located at the same position.</a:t>
            </a:r>
          </a:p>
          <a:p>
            <a:r>
              <a:rPr lang="en-US" dirty="0"/>
              <a:t>Let's find such vertices using a lattice.</a:t>
            </a:r>
          </a:p>
        </p:txBody>
      </p:sp>
    </p:spTree>
    <p:extLst>
      <p:ext uri="{BB962C8B-B14F-4D97-AF65-F5344CB8AC3E}">
        <p14:creationId xmlns:p14="http://schemas.microsoft.com/office/powerpoint/2010/main" val="1715028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MeshLattice</a:t>
            </a:r>
            <a:r>
              <a:rPr lang="en-US" dirty="0"/>
              <a:t>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14400"/>
            <a:ext cx="7879080" cy="3985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MESHLATTICE_IS_INCLUDED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MESHLATTICE_IS_INCLUDED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polygonalmesh.h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lattice.h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MeshLatticeElem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vtHd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MeshLattice</a:t>
            </a:r>
            <a:r>
              <a:rPr lang="en-US" sz="1100" dirty="0">
                <a:latin typeface="Consolas" panose="020B0609020204030204" pitchFamily="49" charset="0"/>
              </a:rPr>
              <a:t> : public Lattice3d &lt;</a:t>
            </a:r>
            <a:r>
              <a:rPr lang="en-US" sz="1100" dirty="0" err="1">
                <a:latin typeface="Consolas" panose="020B0609020204030204" pitchFamily="49" charset="0"/>
              </a:rPr>
              <a:t>MeshLatticeElem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SetDomain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mesh,int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PolygonalMesh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FindVertex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YsVec3 &amp;</a:t>
            </a:r>
            <a:r>
              <a:rPr lang="en-US" sz="1100" dirty="0" err="1">
                <a:latin typeface="Consolas" panose="020B0609020204030204" pitchFamily="49" charset="0"/>
              </a:rPr>
              <a:t>min,const</a:t>
            </a:r>
            <a:r>
              <a:rPr lang="en-US" sz="1100" dirty="0">
                <a:latin typeface="Consolas" panose="020B0609020204030204" pitchFamily="49" charset="0"/>
              </a:rPr>
              <a:t> YsVec3 &amp;max)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646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the Lattice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Picking example so that it prints vertices within the tolerance from the picked vertex.</a:t>
            </a:r>
          </a:p>
          <a:p>
            <a:r>
              <a:rPr lang="en-US" dirty="0"/>
              <a:t>In Initialize, after loading a bin </a:t>
            </a:r>
            <a:r>
              <a:rPr lang="en-US" dirty="0" err="1"/>
              <a:t>stl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ltc.SetDomain</a:t>
            </a:r>
            <a:r>
              <a:rPr lang="en-US" sz="1800" dirty="0">
                <a:latin typeface="Consolas" panose="020B0609020204030204" pitchFamily="49" charset="0"/>
              </a:rPr>
              <a:t>(mesh,100,100,100);</a:t>
            </a:r>
          </a:p>
          <a:p>
            <a:r>
              <a:rPr lang="en-US" dirty="0"/>
              <a:t>In Interval, after getting a </a:t>
            </a:r>
            <a:r>
              <a:rPr lang="en-US" dirty="0" err="1"/>
              <a:t>pickedVtHd</a:t>
            </a:r>
            <a:r>
              <a:rPr lang="en-US" dirty="0"/>
              <a:t>,</a:t>
            </a:r>
            <a:br>
              <a:rPr lang="en-US" dirty="0"/>
            </a:b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double </a:t>
            </a:r>
            <a:r>
              <a:rPr lang="en-US" sz="1800" dirty="0" err="1">
                <a:latin typeface="Consolas" panose="020B0609020204030204" pitchFamily="49" charset="0"/>
              </a:rPr>
              <a:t>tol</a:t>
            </a:r>
            <a:r>
              <a:rPr lang="en-US" sz="1800" dirty="0">
                <a:latin typeface="Consolas" panose="020B0609020204030204" pitchFamily="49" charset="0"/>
              </a:rPr>
              <a:t>=0.000001;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YsVec3 </a:t>
            </a:r>
            <a:r>
              <a:rPr lang="en-US" sz="1800" dirty="0" err="1">
                <a:latin typeface="Consolas" panose="020B0609020204030204" pitchFamily="49" charset="0"/>
              </a:rPr>
              <a:t>min,max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min=</a:t>
            </a:r>
            <a:r>
              <a:rPr lang="en-US" sz="1800" dirty="0" err="1">
                <a:latin typeface="Consolas" panose="020B0609020204030204" pitchFamily="49" charset="0"/>
              </a:rPr>
              <a:t>mesh.GetVertexPosition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pickedVtHd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max=min;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min-=YsVec3(</a:t>
            </a:r>
            <a:r>
              <a:rPr lang="en-US" sz="1800" dirty="0" err="1">
                <a:latin typeface="Consolas" panose="020B0609020204030204" pitchFamily="49" charset="0"/>
              </a:rPr>
              <a:t>tol,tol,tol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max+=YsVec3(</a:t>
            </a:r>
            <a:r>
              <a:rPr lang="en-US" sz="1800" dirty="0" err="1">
                <a:latin typeface="Consolas" panose="020B0609020204030204" pitchFamily="49" charset="0"/>
              </a:rPr>
              <a:t>tol,tol,tol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auto found=</a:t>
            </a:r>
            <a:r>
              <a:rPr lang="en-US" sz="1800" dirty="0" err="1">
                <a:latin typeface="Consolas" panose="020B0609020204030204" pitchFamily="49" charset="0"/>
              </a:rPr>
              <a:t>ltc.FindVertex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min,max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("%d vertices found\n",(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  <a:r>
              <a:rPr lang="en-US" sz="1800" dirty="0" err="1">
                <a:latin typeface="Consolas" panose="020B0609020204030204" pitchFamily="49" charset="0"/>
              </a:rPr>
              <a:t>found.size</a:t>
            </a:r>
            <a:r>
              <a:rPr lang="en-US" sz="1800" dirty="0">
                <a:latin typeface="Consolas" panose="020B0609020204030204" pitchFamily="49" charset="0"/>
              </a:rPr>
              <a:t>());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4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</a:t>
            </a:r>
            <a:r>
              <a:rPr lang="en-US" dirty="0" err="1"/>
              <a:t>LoadBinStl</a:t>
            </a:r>
            <a:r>
              <a:rPr lang="en-US" dirty="0"/>
              <a:t> so that it stitches the vertices.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function called </a:t>
            </a:r>
            <a:r>
              <a:rPr lang="en-US" dirty="0" err="1"/>
              <a:t>SetPolygonVertex</a:t>
            </a:r>
            <a:endParaRPr lang="en-US" dirty="0"/>
          </a:p>
          <a:p>
            <a:r>
              <a:rPr lang="en-US" dirty="0"/>
              <a:t>In this function, table </a:t>
            </a:r>
            <a:r>
              <a:rPr lang="en-US" dirty="0" err="1"/>
              <a:t>vtKeyToPlg</a:t>
            </a:r>
            <a:r>
              <a:rPr lang="en-US" dirty="0"/>
              <a:t> must also be updated.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Then, add </a:t>
            </a:r>
            <a:r>
              <a:rPr lang="en-US" dirty="0" err="1"/>
              <a:t>MergeVertex</a:t>
            </a:r>
            <a:r>
              <a:rPr lang="en-US" dirty="0"/>
              <a:t> function and call from the end of </a:t>
            </a:r>
            <a:r>
              <a:rPr lang="en-US" dirty="0" err="1"/>
              <a:t>LoadBinStl</a:t>
            </a:r>
            <a:r>
              <a:rPr lang="en-US" dirty="0"/>
              <a:t>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6950"/>
            <a:ext cx="78309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bool </a:t>
            </a:r>
            <a:r>
              <a:rPr lang="en-US" sz="1200" dirty="0" err="1">
                <a:latin typeface="Consolas" panose="020B0609020204030204" pitchFamily="49" charset="0"/>
              </a:rPr>
              <a:t>SetPolygonVertex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plHd,const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std</a:t>
            </a:r>
            <a:r>
              <a:rPr lang="en-US" sz="1200" dirty="0">
                <a:latin typeface="Consolas" panose="020B0609020204030204" pitchFamily="49" charset="0"/>
              </a:rPr>
              <a:t>::vector &lt;</a:t>
            </a:r>
            <a:r>
              <a:rPr lang="en-US" sz="1200" dirty="0" err="1">
                <a:latin typeface="Consolas" panose="020B0609020204030204" pitchFamily="49" charset="0"/>
              </a:rPr>
              <a:t>VertexHandle</a:t>
            </a:r>
            <a:r>
              <a:rPr lang="en-US" sz="1200" dirty="0">
                <a:latin typeface="Consolas" panose="020B0609020204030204" pitchFamily="49" charset="0"/>
              </a:rPr>
              <a:t>&gt; &amp;</a:t>
            </a:r>
            <a:r>
              <a:rPr lang="en-US" sz="1200" dirty="0" err="1">
                <a:latin typeface="Consolas" panose="020B0609020204030204" pitchFamily="49" charset="0"/>
              </a:rPr>
              <a:t>newPlVtHd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UnregisterPolygon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UnregisterPolygonFromVertex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plHd,VertexHandle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vtHd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RegisterPolygon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PolygonHandle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plHd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2550" y="5054600"/>
            <a:ext cx="5795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latin typeface="Consolas" panose="020B0609020204030204" pitchFamily="49" charset="0"/>
              </a:rPr>
              <a:t>PolygonalMesh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MergeVeretx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double </a:t>
            </a:r>
            <a:r>
              <a:rPr lang="en-US" sz="1600" dirty="0" err="1">
                <a:latin typeface="Consolas" panose="020B0609020204030204" pitchFamily="49" charset="0"/>
              </a:rPr>
              <a:t>tol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66662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DeleteVertex</a:t>
            </a:r>
            <a:r>
              <a:rPr lang="en-US" dirty="0"/>
              <a:t> function and delete all unused vertices.</a:t>
            </a:r>
          </a:p>
        </p:txBody>
      </p:sp>
    </p:spTree>
    <p:extLst>
      <p:ext uri="{BB962C8B-B14F-4D97-AF65-F5344CB8AC3E}">
        <p14:creationId xmlns:p14="http://schemas.microsoft.com/office/powerpoint/2010/main" val="3541410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register polygons in a lattice?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register polygons in a lattice?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the best if you calculate only intersecting blocks.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37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register polygons in a lattice?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Registering polygons with its bounding box can be good enough as long as the polygons are somewhat uniform.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7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59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131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03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27533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1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987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559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131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703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7533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87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559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31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703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27533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87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559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131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703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727533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41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87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559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8131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703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727533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1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987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559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131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703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27533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1847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1933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1847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641933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1847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641933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1847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1933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847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641933" y="43434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1847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641933" y="4800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41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987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3559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8131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703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727533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41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987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559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8131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703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727533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847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641933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1847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641933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029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4864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9436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943600" y="2971800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315200" y="29718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0292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4864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3429712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400800" y="34297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8580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315200" y="34297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0292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54864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9436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400800" y="38869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580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7315200" y="3886912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029200" y="43441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4864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9436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4008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580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315200" y="43441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029200" y="4801312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4864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9436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4008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8580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7315200" y="4801312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77724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229600" y="25138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7772400" y="2971088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8229600" y="2971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7772400" y="34290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772400" y="3886200"/>
            <a:ext cx="457200" cy="4572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772400" y="43434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8229600" y="43434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7724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5029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59436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7315200" y="52578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59436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68580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7315200" y="5715000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77724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8229600" y="52570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724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229600" y="5714288"/>
            <a:ext cx="45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/>
          <p:cNvSpPr/>
          <p:nvPr/>
        </p:nvSpPr>
        <p:spPr>
          <a:xfrm>
            <a:off x="4267200" y="41148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/>
          <p:cNvSpPr/>
          <p:nvPr/>
        </p:nvSpPr>
        <p:spPr>
          <a:xfrm>
            <a:off x="1047750" y="3194050"/>
            <a:ext cx="692150" cy="622300"/>
          </a:xfrm>
          <a:custGeom>
            <a:avLst/>
            <a:gdLst>
              <a:gd name="connsiteX0" fmla="*/ 615950 w 692150"/>
              <a:gd name="connsiteY0" fmla="*/ 0 h 622300"/>
              <a:gd name="connsiteX1" fmla="*/ 0 w 692150"/>
              <a:gd name="connsiteY1" fmla="*/ 622300 h 622300"/>
              <a:gd name="connsiteX2" fmla="*/ 692150 w 692150"/>
              <a:gd name="connsiteY2" fmla="*/ 488950 h 622300"/>
              <a:gd name="connsiteX3" fmla="*/ 615950 w 692150"/>
              <a:gd name="connsiteY3" fmla="*/ 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150" h="622300">
                <a:moveTo>
                  <a:pt x="615950" y="0"/>
                </a:moveTo>
                <a:lnTo>
                  <a:pt x="0" y="622300"/>
                </a:lnTo>
                <a:lnTo>
                  <a:pt x="692150" y="488950"/>
                </a:lnTo>
                <a:lnTo>
                  <a:pt x="61595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0"/>
          <p:cNvSpPr/>
          <p:nvPr/>
        </p:nvSpPr>
        <p:spPr>
          <a:xfrm>
            <a:off x="2406650" y="3155950"/>
            <a:ext cx="1136650" cy="1111250"/>
          </a:xfrm>
          <a:custGeom>
            <a:avLst/>
            <a:gdLst>
              <a:gd name="connsiteX0" fmla="*/ 565150 w 1136650"/>
              <a:gd name="connsiteY0" fmla="*/ 0 h 1111250"/>
              <a:gd name="connsiteX1" fmla="*/ 0 w 1136650"/>
              <a:gd name="connsiteY1" fmla="*/ 1111250 h 1111250"/>
              <a:gd name="connsiteX2" fmla="*/ 1136650 w 1136650"/>
              <a:gd name="connsiteY2" fmla="*/ 1047750 h 1111250"/>
              <a:gd name="connsiteX3" fmla="*/ 565150 w 1136650"/>
              <a:gd name="connsiteY3" fmla="*/ 0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650" h="1111250">
                <a:moveTo>
                  <a:pt x="565150" y="0"/>
                </a:moveTo>
                <a:lnTo>
                  <a:pt x="0" y="1111250"/>
                </a:lnTo>
                <a:lnTo>
                  <a:pt x="1136650" y="1047750"/>
                </a:lnTo>
                <a:lnTo>
                  <a:pt x="565150" y="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/>
          <p:cNvSpPr/>
          <p:nvPr/>
        </p:nvSpPr>
        <p:spPr>
          <a:xfrm>
            <a:off x="1168400" y="4476750"/>
            <a:ext cx="2730500" cy="704850"/>
          </a:xfrm>
          <a:custGeom>
            <a:avLst/>
            <a:gdLst>
              <a:gd name="connsiteX0" fmla="*/ 0 w 2730500"/>
              <a:gd name="connsiteY0" fmla="*/ 0 h 704850"/>
              <a:gd name="connsiteX1" fmla="*/ 2730500 w 2730500"/>
              <a:gd name="connsiteY1" fmla="*/ 571500 h 704850"/>
              <a:gd name="connsiteX2" fmla="*/ 2584450 w 2730500"/>
              <a:gd name="connsiteY2" fmla="*/ 704850 h 704850"/>
              <a:gd name="connsiteX3" fmla="*/ 0 w 273050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704850">
                <a:moveTo>
                  <a:pt x="0" y="0"/>
                </a:moveTo>
                <a:lnTo>
                  <a:pt x="2730500" y="571500"/>
                </a:lnTo>
                <a:lnTo>
                  <a:pt x="258445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25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Connected Vertices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vertex-to-polygon table, we want to find connected vertices.</a:t>
            </a:r>
          </a:p>
          <a:p>
            <a:r>
              <a:rPr lang="en-US" dirty="0"/>
              <a:t>Add a function called:</a:t>
            </a:r>
            <a:br>
              <a:rPr lang="en-US" dirty="0"/>
            </a:br>
            <a:r>
              <a:rPr lang="en-US" sz="1400" dirty="0" err="1">
                <a:latin typeface="Consolas" panose="020B0609020204030204" pitchFamily="49" charset="0"/>
              </a:rPr>
              <a:t>std</a:t>
            </a:r>
            <a:r>
              <a:rPr lang="en-US" sz="1400" dirty="0">
                <a:latin typeface="Consolas" panose="020B0609020204030204" pitchFamily="49" charset="0"/>
              </a:rPr>
              <a:t>::vector &lt;</a:t>
            </a:r>
            <a:r>
              <a:rPr lang="en-US" sz="1400" dirty="0" err="1">
                <a:latin typeface="Consolas" panose="020B0609020204030204" pitchFamily="49" charset="0"/>
              </a:rPr>
              <a:t>VertexHandle</a:t>
            </a: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GetConnectedVertex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VertexHandle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fromVtHd</a:t>
            </a:r>
            <a:r>
              <a:rPr lang="en-US" sz="1400" dirty="0">
                <a:latin typeface="Consolas" panose="020B0609020204030204" pitchFamily="49" charset="0"/>
              </a:rPr>
              <a:t>) </a:t>
            </a:r>
            <a:r>
              <a:rPr lang="en-US" sz="1400" dirty="0" err="1"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636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polygons from an edge.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find polygons from a pair of vertices.</a:t>
            </a:r>
            <a:br>
              <a:rPr lang="en-US" dirty="0"/>
            </a:br>
            <a:r>
              <a:rPr lang="en-US" sz="1400" dirty="0" err="1">
                <a:latin typeface="Consolas" panose="020B0609020204030204" pitchFamily="49" charset="0"/>
              </a:rPr>
              <a:t>std</a:t>
            </a:r>
            <a:r>
              <a:rPr lang="en-US" sz="1400" dirty="0">
                <a:latin typeface="Consolas" panose="020B0609020204030204" pitchFamily="49" charset="0"/>
              </a:rPr>
              <a:t>::vector &lt;</a:t>
            </a:r>
            <a:r>
              <a:rPr lang="en-US" sz="1400" dirty="0" err="1">
                <a:latin typeface="Consolas" panose="020B0609020204030204" pitchFamily="49" charset="0"/>
              </a:rPr>
              <a:t>PolygonalMesh</a:t>
            </a:r>
            <a:r>
              <a:rPr lang="en-US" sz="1400" dirty="0">
                <a:latin typeface="Consolas" panose="020B0609020204030204" pitchFamily="49" charset="0"/>
              </a:rPr>
              <a:t>::</a:t>
            </a:r>
            <a:r>
              <a:rPr lang="en-US" sz="1400" dirty="0" err="1">
                <a:latin typeface="Consolas" panose="020B0609020204030204" pitchFamily="49" charset="0"/>
              </a:rPr>
              <a:t>PolygonHandle</a:t>
            </a:r>
            <a:r>
              <a:rPr lang="en-US" sz="1400" dirty="0">
                <a:latin typeface="Consolas" panose="020B0609020204030204" pitchFamily="49" charset="0"/>
              </a:rPr>
              <a:t>&gt;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PolygonalMesh</a:t>
            </a:r>
            <a:r>
              <a:rPr lang="en-US" sz="1400" dirty="0">
                <a:latin typeface="Consolas" panose="020B0609020204030204" pitchFamily="49" charset="0"/>
              </a:rPr>
              <a:t>::</a:t>
            </a:r>
            <a:r>
              <a:rPr lang="en-US" sz="1400" dirty="0" err="1">
                <a:latin typeface="Consolas" panose="020B0609020204030204" pitchFamily="49" charset="0"/>
              </a:rPr>
              <a:t>FindPolygonFromEdgePiece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	</a:t>
            </a:r>
            <a:r>
              <a:rPr lang="en-US" sz="1400" dirty="0" err="1">
                <a:latin typeface="Consolas" panose="020B0609020204030204" pitchFamily="49" charset="0"/>
              </a:rPr>
              <a:t>VertexHandle</a:t>
            </a:r>
            <a:r>
              <a:rPr lang="en-US" sz="1400" dirty="0">
                <a:latin typeface="Consolas" panose="020B0609020204030204" pitchFamily="49" charset="0"/>
              </a:rPr>
              <a:t> edVtHd0,VertexHandle edVtHd1) </a:t>
            </a:r>
            <a:r>
              <a:rPr lang="en-US" sz="1400" dirty="0" err="1">
                <a:latin typeface="Consolas" panose="020B0609020204030204" pitchFamily="49" charset="0"/>
              </a:rPr>
              <a:t>const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en-US"/>
          </a:p>
          <a:p>
            <a:r>
              <a:rPr lang="en-US" dirty="0"/>
              <a:t>Also want to find a neighboring polygon of a polygon.</a:t>
            </a:r>
            <a:br>
              <a:rPr lang="en-US" dirty="0"/>
            </a:br>
            <a:r>
              <a:rPr lang="en-US" sz="1600" dirty="0" err="1">
                <a:latin typeface="Consolas" panose="020B0609020204030204" pitchFamily="49" charset="0"/>
              </a:rPr>
              <a:t>PolygonHandle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GetNeighborPolygon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PolygonHandle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plHd,int</a:t>
            </a:r>
            <a:r>
              <a:rPr lang="en-US" sz="1600" dirty="0">
                <a:latin typeface="Consolas" panose="020B0609020204030204" pitchFamily="49" charset="0"/>
              </a:rPr>
              <a:t> n)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399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a connectivity graph (Dual)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Connectivity graph of dual: A graph constructed by connecting the centers of the neighboring elements.</a:t>
            </a:r>
          </a:p>
          <a:p>
            <a:r>
              <a:rPr lang="en-US" dirty="0"/>
              <a:t>If the triangulation is a Delaunay triangulation, this is called a </a:t>
            </a:r>
            <a:r>
              <a:rPr lang="en-US" dirty="0" err="1"/>
              <a:t>Voronoi</a:t>
            </a:r>
            <a:r>
              <a:rPr lang="en-US" dirty="0"/>
              <a:t> diagram.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5534247" y="4223784"/>
            <a:ext cx="6858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534247" y="5366784"/>
            <a:ext cx="16764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220047" y="4223784"/>
            <a:ext cx="12192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7210647" y="4680984"/>
            <a:ext cx="2286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296247" y="4071384"/>
            <a:ext cx="12192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6296247" y="3309384"/>
            <a:ext cx="1219200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515447" y="3309384"/>
            <a:ext cx="0" cy="1219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305647" y="4119231"/>
            <a:ext cx="6858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543647" y="3995184"/>
            <a:ext cx="1447800" cy="124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43647" y="3995184"/>
            <a:ext cx="762000" cy="1267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7587217" y="4690731"/>
            <a:ext cx="1223630" cy="752253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7358617" y="5442984"/>
            <a:ext cx="1452230" cy="3907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358617" y="4690731"/>
            <a:ext cx="228600" cy="1143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505894" y="5519184"/>
            <a:ext cx="637953" cy="1219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505894" y="5519184"/>
            <a:ext cx="1676400" cy="4572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143847" y="5976384"/>
            <a:ext cx="1038447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991447" y="2928384"/>
            <a:ext cx="228600" cy="9906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6220047" y="3156984"/>
            <a:ext cx="1219200" cy="7620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91447" y="2928384"/>
            <a:ext cx="1447800" cy="2286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467447" y="2928384"/>
            <a:ext cx="76200" cy="91440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67447" y="2928384"/>
            <a:ext cx="1357423" cy="0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4541875" y="3846328"/>
            <a:ext cx="1447800" cy="124047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824870" y="2928384"/>
            <a:ext cx="164805" cy="1041991"/>
          </a:xfrm>
          <a:prstGeom prst="line">
            <a:avLst/>
          </a:prstGeom>
          <a:ln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5191347" y="3319131"/>
            <a:ext cx="1333500" cy="96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539023" y="3319131"/>
            <a:ext cx="529289" cy="64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189575" y="3423684"/>
            <a:ext cx="76200" cy="1104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265775" y="4528584"/>
            <a:ext cx="1344133" cy="5103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616997" y="3964704"/>
            <a:ext cx="445681" cy="1070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16997" y="5034756"/>
            <a:ext cx="1293627" cy="227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296247" y="5038938"/>
            <a:ext cx="313661" cy="1110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670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from the picking example.</a:t>
            </a:r>
          </a:p>
          <a:p>
            <a:r>
              <a:rPr lang="en-US" dirty="0"/>
              <a:t>D-key : Show dual</a:t>
            </a:r>
          </a:p>
          <a:p>
            <a:r>
              <a:rPr lang="en-US" dirty="0"/>
              <a:t>N-key : Back to the normal view</a:t>
            </a:r>
          </a:p>
        </p:txBody>
      </p:sp>
    </p:spTree>
    <p:extLst>
      <p:ext uri="{BB962C8B-B14F-4D97-AF65-F5344CB8AC3E}">
        <p14:creationId xmlns:p14="http://schemas.microsoft.com/office/powerpoint/2010/main" val="40209387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and breadth-first search in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  <a:p>
            <a:pPr lvl="1"/>
            <a:r>
              <a:rPr lang="en-US" dirty="0"/>
              <a:t>Normal traversal of a binary tree.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Breadth-first search</a:t>
            </a:r>
          </a:p>
          <a:p>
            <a:pPr lvl="1"/>
            <a:r>
              <a:rPr lang="en-US" dirty="0"/>
              <a:t>Visit higher-nodes first.</a:t>
            </a:r>
          </a:p>
          <a:p>
            <a:pPr lvl="1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162800" y="10668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4" idx="3"/>
          </p:cNvCxnSpPr>
          <p:nvPr/>
        </p:nvCxnSpPr>
        <p:spPr>
          <a:xfrm flipH="1">
            <a:off x="6934200" y="1392004"/>
            <a:ext cx="284396" cy="360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695398" y="17145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5"/>
            <a:endCxn id="10" idx="1"/>
          </p:cNvCxnSpPr>
          <p:nvPr/>
        </p:nvCxnSpPr>
        <p:spPr>
          <a:xfrm>
            <a:off x="7488004" y="1392004"/>
            <a:ext cx="269534" cy="41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01742" y="17543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385922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949944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537212" y="260191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167428" y="2609691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7" idx="3"/>
            <a:endCxn id="12" idx="0"/>
          </p:cNvCxnSpPr>
          <p:nvPr/>
        </p:nvCxnSpPr>
        <p:spPr>
          <a:xfrm flipH="1">
            <a:off x="6576422" y="2039704"/>
            <a:ext cx="17477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5"/>
            <a:endCxn id="13" idx="0"/>
          </p:cNvCxnSpPr>
          <p:nvPr/>
        </p:nvCxnSpPr>
        <p:spPr>
          <a:xfrm>
            <a:off x="7020602" y="2039704"/>
            <a:ext cx="11984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3"/>
            <a:endCxn id="14" idx="0"/>
          </p:cNvCxnSpPr>
          <p:nvPr/>
        </p:nvCxnSpPr>
        <p:spPr>
          <a:xfrm flipH="1">
            <a:off x="7727712" y="2079504"/>
            <a:ext cx="29826" cy="52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5"/>
            <a:endCxn id="15" idx="0"/>
          </p:cNvCxnSpPr>
          <p:nvPr/>
        </p:nvCxnSpPr>
        <p:spPr>
          <a:xfrm>
            <a:off x="8026946" y="2079504"/>
            <a:ext cx="330982" cy="53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62800" y="41620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stCxn id="31" idx="3"/>
          </p:cNvCxnSpPr>
          <p:nvPr/>
        </p:nvCxnSpPr>
        <p:spPr>
          <a:xfrm flipH="1">
            <a:off x="6934200" y="4487298"/>
            <a:ext cx="284396" cy="360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695398" y="48097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31" idx="5"/>
            <a:endCxn id="35" idx="1"/>
          </p:cNvCxnSpPr>
          <p:nvPr/>
        </p:nvCxnSpPr>
        <p:spPr>
          <a:xfrm>
            <a:off x="7488004" y="4487298"/>
            <a:ext cx="269534" cy="41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01742" y="484959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85922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949944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37212" y="569720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167428" y="5704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3" idx="3"/>
            <a:endCxn id="36" idx="0"/>
          </p:cNvCxnSpPr>
          <p:nvPr/>
        </p:nvCxnSpPr>
        <p:spPr>
          <a:xfrm flipH="1">
            <a:off x="6576422" y="5134998"/>
            <a:ext cx="17477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3" idx="5"/>
            <a:endCxn id="37" idx="0"/>
          </p:cNvCxnSpPr>
          <p:nvPr/>
        </p:nvCxnSpPr>
        <p:spPr>
          <a:xfrm>
            <a:off x="7020602" y="5134998"/>
            <a:ext cx="119842" cy="569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5" idx="3"/>
            <a:endCxn id="38" idx="0"/>
          </p:cNvCxnSpPr>
          <p:nvPr/>
        </p:nvCxnSpPr>
        <p:spPr>
          <a:xfrm flipH="1">
            <a:off x="7727712" y="5174798"/>
            <a:ext cx="29826" cy="52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5"/>
            <a:endCxn id="39" idx="0"/>
          </p:cNvCxnSpPr>
          <p:nvPr/>
        </p:nvCxnSpPr>
        <p:spPr>
          <a:xfrm>
            <a:off x="8026946" y="5174798"/>
            <a:ext cx="330982" cy="53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6496260" y="1336812"/>
            <a:ext cx="1874656" cy="1581443"/>
          </a:xfrm>
          <a:custGeom>
            <a:avLst/>
            <a:gdLst>
              <a:gd name="connsiteX0" fmla="*/ 0 w 2103120"/>
              <a:gd name="connsiteY0" fmla="*/ 1398075 h 1581443"/>
              <a:gd name="connsiteX1" fmla="*/ 182880 w 2103120"/>
              <a:gd name="connsiteY1" fmla="*/ 907624 h 1581443"/>
              <a:gd name="connsiteX2" fmla="*/ 556953 w 2103120"/>
              <a:gd name="connsiteY2" fmla="*/ 608366 h 1581443"/>
              <a:gd name="connsiteX3" fmla="*/ 773084 w 2103120"/>
              <a:gd name="connsiteY3" fmla="*/ 1306635 h 1581443"/>
              <a:gd name="connsiteX4" fmla="*/ 955964 w 2103120"/>
              <a:gd name="connsiteY4" fmla="*/ 1447952 h 1581443"/>
              <a:gd name="connsiteX5" fmla="*/ 1088968 w 2103120"/>
              <a:gd name="connsiteY5" fmla="*/ 1198570 h 1581443"/>
              <a:gd name="connsiteX6" fmla="*/ 906088 w 2103120"/>
              <a:gd name="connsiteY6" fmla="*/ 400548 h 1581443"/>
              <a:gd name="connsiteX7" fmla="*/ 1047404 w 2103120"/>
              <a:gd name="connsiteY7" fmla="*/ 1537 h 1581443"/>
              <a:gd name="connsiteX8" fmla="*/ 1288473 w 2103120"/>
              <a:gd name="connsiteY8" fmla="*/ 533552 h 1581443"/>
              <a:gd name="connsiteX9" fmla="*/ 1338349 w 2103120"/>
              <a:gd name="connsiteY9" fmla="*/ 1414701 h 1581443"/>
              <a:gd name="connsiteX10" fmla="*/ 1512917 w 2103120"/>
              <a:gd name="connsiteY10" fmla="*/ 1514453 h 1581443"/>
              <a:gd name="connsiteX11" fmla="*/ 1604357 w 2103120"/>
              <a:gd name="connsiteY11" fmla="*/ 658243 h 1581443"/>
              <a:gd name="connsiteX12" fmla="*/ 1920240 w 2103120"/>
              <a:gd name="connsiteY12" fmla="*/ 600053 h 1581443"/>
              <a:gd name="connsiteX13" fmla="*/ 2103120 w 2103120"/>
              <a:gd name="connsiteY13" fmla="*/ 1406388 h 1581443"/>
              <a:gd name="connsiteX0" fmla="*/ 106895 w 1927382"/>
              <a:gd name="connsiteY0" fmla="*/ 1489515 h 1581443"/>
              <a:gd name="connsiteX1" fmla="*/ 7142 w 1927382"/>
              <a:gd name="connsiteY1" fmla="*/ 907624 h 1581443"/>
              <a:gd name="connsiteX2" fmla="*/ 381215 w 1927382"/>
              <a:gd name="connsiteY2" fmla="*/ 608366 h 1581443"/>
              <a:gd name="connsiteX3" fmla="*/ 597346 w 1927382"/>
              <a:gd name="connsiteY3" fmla="*/ 1306635 h 1581443"/>
              <a:gd name="connsiteX4" fmla="*/ 780226 w 1927382"/>
              <a:gd name="connsiteY4" fmla="*/ 1447952 h 1581443"/>
              <a:gd name="connsiteX5" fmla="*/ 913230 w 1927382"/>
              <a:gd name="connsiteY5" fmla="*/ 1198570 h 1581443"/>
              <a:gd name="connsiteX6" fmla="*/ 730350 w 1927382"/>
              <a:gd name="connsiteY6" fmla="*/ 400548 h 1581443"/>
              <a:gd name="connsiteX7" fmla="*/ 871666 w 1927382"/>
              <a:gd name="connsiteY7" fmla="*/ 1537 h 1581443"/>
              <a:gd name="connsiteX8" fmla="*/ 1112735 w 1927382"/>
              <a:gd name="connsiteY8" fmla="*/ 533552 h 1581443"/>
              <a:gd name="connsiteX9" fmla="*/ 1162611 w 1927382"/>
              <a:gd name="connsiteY9" fmla="*/ 1414701 h 1581443"/>
              <a:gd name="connsiteX10" fmla="*/ 1337179 w 1927382"/>
              <a:gd name="connsiteY10" fmla="*/ 1514453 h 1581443"/>
              <a:gd name="connsiteX11" fmla="*/ 1428619 w 1927382"/>
              <a:gd name="connsiteY11" fmla="*/ 658243 h 1581443"/>
              <a:gd name="connsiteX12" fmla="*/ 1744502 w 1927382"/>
              <a:gd name="connsiteY12" fmla="*/ 600053 h 1581443"/>
              <a:gd name="connsiteX13" fmla="*/ 1927382 w 1927382"/>
              <a:gd name="connsiteY13" fmla="*/ 1406388 h 1581443"/>
              <a:gd name="connsiteX0" fmla="*/ 112987 w 1933474"/>
              <a:gd name="connsiteY0" fmla="*/ 1489515 h 1581443"/>
              <a:gd name="connsiteX1" fmla="*/ 13234 w 1933474"/>
              <a:gd name="connsiteY1" fmla="*/ 907624 h 1581443"/>
              <a:gd name="connsiteX2" fmla="*/ 387307 w 1933474"/>
              <a:gd name="connsiteY2" fmla="*/ 608366 h 1581443"/>
              <a:gd name="connsiteX3" fmla="*/ 603438 w 1933474"/>
              <a:gd name="connsiteY3" fmla="*/ 1306635 h 1581443"/>
              <a:gd name="connsiteX4" fmla="*/ 786318 w 1933474"/>
              <a:gd name="connsiteY4" fmla="*/ 1447952 h 1581443"/>
              <a:gd name="connsiteX5" fmla="*/ 919322 w 1933474"/>
              <a:gd name="connsiteY5" fmla="*/ 1198570 h 1581443"/>
              <a:gd name="connsiteX6" fmla="*/ 736442 w 1933474"/>
              <a:gd name="connsiteY6" fmla="*/ 400548 h 1581443"/>
              <a:gd name="connsiteX7" fmla="*/ 877758 w 1933474"/>
              <a:gd name="connsiteY7" fmla="*/ 1537 h 1581443"/>
              <a:gd name="connsiteX8" fmla="*/ 1118827 w 1933474"/>
              <a:gd name="connsiteY8" fmla="*/ 533552 h 1581443"/>
              <a:gd name="connsiteX9" fmla="*/ 1168703 w 1933474"/>
              <a:gd name="connsiteY9" fmla="*/ 1414701 h 1581443"/>
              <a:gd name="connsiteX10" fmla="*/ 1343271 w 1933474"/>
              <a:gd name="connsiteY10" fmla="*/ 1514453 h 1581443"/>
              <a:gd name="connsiteX11" fmla="*/ 1434711 w 1933474"/>
              <a:gd name="connsiteY11" fmla="*/ 658243 h 1581443"/>
              <a:gd name="connsiteX12" fmla="*/ 1750594 w 1933474"/>
              <a:gd name="connsiteY12" fmla="*/ 600053 h 1581443"/>
              <a:gd name="connsiteX13" fmla="*/ 1933474 w 1933474"/>
              <a:gd name="connsiteY13" fmla="*/ 1406388 h 1581443"/>
              <a:gd name="connsiteX0" fmla="*/ 54169 w 1874656"/>
              <a:gd name="connsiteY0" fmla="*/ 1489515 h 1581443"/>
              <a:gd name="connsiteX1" fmla="*/ 29231 w 1874656"/>
              <a:gd name="connsiteY1" fmla="*/ 907624 h 1581443"/>
              <a:gd name="connsiteX2" fmla="*/ 328489 w 1874656"/>
              <a:gd name="connsiteY2" fmla="*/ 608366 h 1581443"/>
              <a:gd name="connsiteX3" fmla="*/ 544620 w 1874656"/>
              <a:gd name="connsiteY3" fmla="*/ 1306635 h 1581443"/>
              <a:gd name="connsiteX4" fmla="*/ 727500 w 1874656"/>
              <a:gd name="connsiteY4" fmla="*/ 1447952 h 1581443"/>
              <a:gd name="connsiteX5" fmla="*/ 860504 w 1874656"/>
              <a:gd name="connsiteY5" fmla="*/ 1198570 h 1581443"/>
              <a:gd name="connsiteX6" fmla="*/ 677624 w 1874656"/>
              <a:gd name="connsiteY6" fmla="*/ 400548 h 1581443"/>
              <a:gd name="connsiteX7" fmla="*/ 818940 w 1874656"/>
              <a:gd name="connsiteY7" fmla="*/ 1537 h 1581443"/>
              <a:gd name="connsiteX8" fmla="*/ 1060009 w 1874656"/>
              <a:gd name="connsiteY8" fmla="*/ 533552 h 1581443"/>
              <a:gd name="connsiteX9" fmla="*/ 1109885 w 1874656"/>
              <a:gd name="connsiteY9" fmla="*/ 1414701 h 1581443"/>
              <a:gd name="connsiteX10" fmla="*/ 1284453 w 1874656"/>
              <a:gd name="connsiteY10" fmla="*/ 1514453 h 1581443"/>
              <a:gd name="connsiteX11" fmla="*/ 1375893 w 1874656"/>
              <a:gd name="connsiteY11" fmla="*/ 658243 h 1581443"/>
              <a:gd name="connsiteX12" fmla="*/ 1691776 w 1874656"/>
              <a:gd name="connsiteY12" fmla="*/ 600053 h 1581443"/>
              <a:gd name="connsiteX13" fmla="*/ 1874656 w 1874656"/>
              <a:gd name="connsiteY13" fmla="*/ 1406388 h 1581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74656" h="1581443">
                <a:moveTo>
                  <a:pt x="54169" y="1489515"/>
                </a:moveTo>
                <a:cubicBezTo>
                  <a:pt x="-8870" y="1260222"/>
                  <a:pt x="-16489" y="1054482"/>
                  <a:pt x="29231" y="907624"/>
                </a:cubicBezTo>
                <a:cubicBezTo>
                  <a:pt x="74951" y="760766"/>
                  <a:pt x="242591" y="541864"/>
                  <a:pt x="328489" y="608366"/>
                </a:cubicBezTo>
                <a:cubicBezTo>
                  <a:pt x="414387" y="674868"/>
                  <a:pt x="478118" y="1166704"/>
                  <a:pt x="544620" y="1306635"/>
                </a:cubicBezTo>
                <a:cubicBezTo>
                  <a:pt x="611122" y="1446566"/>
                  <a:pt x="674853" y="1465963"/>
                  <a:pt x="727500" y="1447952"/>
                </a:cubicBezTo>
                <a:cubicBezTo>
                  <a:pt x="780147" y="1429941"/>
                  <a:pt x="868817" y="1373137"/>
                  <a:pt x="860504" y="1198570"/>
                </a:cubicBezTo>
                <a:cubicBezTo>
                  <a:pt x="852191" y="1024003"/>
                  <a:pt x="684551" y="600053"/>
                  <a:pt x="677624" y="400548"/>
                </a:cubicBezTo>
                <a:cubicBezTo>
                  <a:pt x="670697" y="201043"/>
                  <a:pt x="755209" y="-20630"/>
                  <a:pt x="818940" y="1537"/>
                </a:cubicBezTo>
                <a:cubicBezTo>
                  <a:pt x="882671" y="23704"/>
                  <a:pt x="1011518" y="298025"/>
                  <a:pt x="1060009" y="533552"/>
                </a:cubicBezTo>
                <a:cubicBezTo>
                  <a:pt x="1108500" y="769079"/>
                  <a:pt x="1072478" y="1251218"/>
                  <a:pt x="1109885" y="1414701"/>
                </a:cubicBezTo>
                <a:cubicBezTo>
                  <a:pt x="1147292" y="1578184"/>
                  <a:pt x="1240118" y="1640529"/>
                  <a:pt x="1284453" y="1514453"/>
                </a:cubicBezTo>
                <a:cubicBezTo>
                  <a:pt x="1328788" y="1388377"/>
                  <a:pt x="1308006" y="810643"/>
                  <a:pt x="1375893" y="658243"/>
                </a:cubicBezTo>
                <a:cubicBezTo>
                  <a:pt x="1443780" y="505843"/>
                  <a:pt x="1608649" y="475362"/>
                  <a:pt x="1691776" y="600053"/>
                </a:cubicBezTo>
                <a:cubicBezTo>
                  <a:pt x="1774903" y="724744"/>
                  <a:pt x="1824779" y="1065566"/>
                  <a:pt x="1874656" y="140638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6047309" y="4302828"/>
            <a:ext cx="2415994" cy="1602721"/>
          </a:xfrm>
          <a:custGeom>
            <a:avLst/>
            <a:gdLst>
              <a:gd name="connsiteX0" fmla="*/ 952007 w 2415994"/>
              <a:gd name="connsiteY0" fmla="*/ 11998 h 1594929"/>
              <a:gd name="connsiteX1" fmla="*/ 1708466 w 2415994"/>
              <a:gd name="connsiteY1" fmla="*/ 11998 h 1594929"/>
              <a:gd name="connsiteX2" fmla="*/ 1758342 w 2415994"/>
              <a:gd name="connsiteY2" fmla="*/ 136689 h 1594929"/>
              <a:gd name="connsiteX3" fmla="*/ 519746 w 2415994"/>
              <a:gd name="connsiteY3" fmla="*/ 419322 h 1594929"/>
              <a:gd name="connsiteX4" fmla="*/ 586247 w 2415994"/>
              <a:gd name="connsiteY4" fmla="*/ 685329 h 1594929"/>
              <a:gd name="connsiteX5" fmla="*/ 2223855 w 2415994"/>
              <a:gd name="connsiteY5" fmla="*/ 751831 h 1594929"/>
              <a:gd name="connsiteX6" fmla="*/ 2173978 w 2415994"/>
              <a:gd name="connsiteY6" fmla="*/ 992900 h 1594929"/>
              <a:gd name="connsiteX7" fmla="*/ 345178 w 2415994"/>
              <a:gd name="connsiteY7" fmla="*/ 1117591 h 1594929"/>
              <a:gd name="connsiteX8" fmla="*/ 187236 w 2415994"/>
              <a:gd name="connsiteY8" fmla="*/ 1541540 h 1594929"/>
              <a:gd name="connsiteX9" fmla="*/ 2390109 w 2415994"/>
              <a:gd name="connsiteY9" fmla="*/ 1574791 h 1594929"/>
              <a:gd name="connsiteX0" fmla="*/ 952007 w 2415994"/>
              <a:gd name="connsiteY0" fmla="*/ 19790 h 1602721"/>
              <a:gd name="connsiteX1" fmla="*/ 1708466 w 2415994"/>
              <a:gd name="connsiteY1" fmla="*/ 19790 h 1602721"/>
              <a:gd name="connsiteX2" fmla="*/ 1774968 w 2415994"/>
              <a:gd name="connsiteY2" fmla="*/ 252547 h 1602721"/>
              <a:gd name="connsiteX3" fmla="*/ 519746 w 2415994"/>
              <a:gd name="connsiteY3" fmla="*/ 427114 h 1602721"/>
              <a:gd name="connsiteX4" fmla="*/ 586247 w 2415994"/>
              <a:gd name="connsiteY4" fmla="*/ 693121 h 1602721"/>
              <a:gd name="connsiteX5" fmla="*/ 2223855 w 2415994"/>
              <a:gd name="connsiteY5" fmla="*/ 759623 h 1602721"/>
              <a:gd name="connsiteX6" fmla="*/ 2173978 w 2415994"/>
              <a:gd name="connsiteY6" fmla="*/ 1000692 h 1602721"/>
              <a:gd name="connsiteX7" fmla="*/ 345178 w 2415994"/>
              <a:gd name="connsiteY7" fmla="*/ 1125383 h 1602721"/>
              <a:gd name="connsiteX8" fmla="*/ 187236 w 2415994"/>
              <a:gd name="connsiteY8" fmla="*/ 1549332 h 1602721"/>
              <a:gd name="connsiteX9" fmla="*/ 2390109 w 2415994"/>
              <a:gd name="connsiteY9" fmla="*/ 1582583 h 160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15994" h="1602721">
                <a:moveTo>
                  <a:pt x="952007" y="19790"/>
                </a:moveTo>
                <a:cubicBezTo>
                  <a:pt x="1263042" y="9399"/>
                  <a:pt x="1571306" y="-19003"/>
                  <a:pt x="1708466" y="19790"/>
                </a:cubicBezTo>
                <a:cubicBezTo>
                  <a:pt x="1845626" y="58583"/>
                  <a:pt x="1973088" y="184660"/>
                  <a:pt x="1774968" y="252547"/>
                </a:cubicBezTo>
                <a:cubicBezTo>
                  <a:pt x="1576848" y="320434"/>
                  <a:pt x="717866" y="353685"/>
                  <a:pt x="519746" y="427114"/>
                </a:cubicBezTo>
                <a:cubicBezTo>
                  <a:pt x="321626" y="500543"/>
                  <a:pt x="302229" y="637703"/>
                  <a:pt x="586247" y="693121"/>
                </a:cubicBezTo>
                <a:cubicBezTo>
                  <a:pt x="870265" y="748539"/>
                  <a:pt x="1959233" y="708361"/>
                  <a:pt x="2223855" y="759623"/>
                </a:cubicBezTo>
                <a:cubicBezTo>
                  <a:pt x="2488477" y="810885"/>
                  <a:pt x="2487091" y="939732"/>
                  <a:pt x="2173978" y="1000692"/>
                </a:cubicBezTo>
                <a:cubicBezTo>
                  <a:pt x="1860865" y="1061652"/>
                  <a:pt x="676302" y="1033943"/>
                  <a:pt x="345178" y="1125383"/>
                </a:cubicBezTo>
                <a:cubicBezTo>
                  <a:pt x="14054" y="1216823"/>
                  <a:pt x="-153586" y="1473132"/>
                  <a:pt x="187236" y="1549332"/>
                </a:cubicBezTo>
                <a:cubicBezTo>
                  <a:pt x="528058" y="1625532"/>
                  <a:pt x="1459083" y="1604057"/>
                  <a:pt x="2390109" y="158258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03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Depth-First search: LIFO (Last-In First-Out) buffer</a:t>
            </a:r>
          </a:p>
          <a:p>
            <a:pPr lvl="1"/>
            <a:r>
              <a:rPr lang="en-US" dirty="0"/>
              <a:t>Stack is a LIFO buffer.</a:t>
            </a:r>
          </a:p>
          <a:p>
            <a:pPr lvl="1"/>
            <a:r>
              <a:rPr lang="en-US" dirty="0"/>
              <a:t>That’s why depth-first search can easily be implemented with a recursion.</a:t>
            </a:r>
          </a:p>
          <a:p>
            <a:r>
              <a:rPr lang="en-US" dirty="0"/>
              <a:t>Breadth-First search: FIFO (First-In First-Out) buffer</a:t>
            </a:r>
          </a:p>
          <a:p>
            <a:pPr lvl="1"/>
            <a:r>
              <a:rPr lang="en-US" dirty="0"/>
              <a:t>Queue.  Can be implemented with a linked-list.</a:t>
            </a:r>
          </a:p>
          <a:p>
            <a:pPr lvl="1"/>
            <a:r>
              <a:rPr lang="en-US" dirty="0"/>
              <a:t>Can also be done by a doubling-array.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37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in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N-neighbors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10200" y="44958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19800" y="44958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10200" y="54102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953000" y="45720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953000" y="44958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953000" y="36576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36576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486400" y="3657600"/>
            <a:ext cx="99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019800" y="36576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477000" y="3657600"/>
            <a:ext cx="4572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6019800" y="4495800"/>
            <a:ext cx="9144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6400800" y="45720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477000" y="35814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934200" y="35814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467600" y="3581400"/>
            <a:ext cx="533400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6934200" y="45720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7467600" y="46482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934200" y="45720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6400800" y="54102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6934200" y="54102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400800" y="54864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10200" y="54102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791200" y="54864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791200" y="6324600"/>
            <a:ext cx="11430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4876800" y="5410200"/>
            <a:ext cx="533400" cy="68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876800" y="6096000"/>
            <a:ext cx="91440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6934200" y="63246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467600" y="54102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246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8954" y="397617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91200" y="496466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9900" y="4993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2769" y="375884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1076" y="4659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62354" y="37482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53300" y="47453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1800" y="55499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0" y="559315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H="1">
            <a:off x="4495800" y="4572000"/>
            <a:ext cx="464276" cy="773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495800" y="5342751"/>
            <a:ext cx="910046" cy="6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486400" y="2877602"/>
            <a:ext cx="6096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6091646" y="2877602"/>
            <a:ext cx="3810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6472646" y="2851255"/>
            <a:ext cx="506185" cy="800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972300" y="2838082"/>
            <a:ext cx="490946" cy="7389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8009709" y="4648200"/>
            <a:ext cx="520337" cy="901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7471954" y="5404366"/>
            <a:ext cx="1058092" cy="145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43600" y="3200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66709" y="31434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59582" y="4050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46769" y="400925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492898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81600" y="572666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57109" y="585329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42415" y="58119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33510" y="497341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06" name="Straight Connector 105"/>
          <p:cNvCxnSpPr/>
          <p:nvPr/>
        </p:nvCxnSpPr>
        <p:spPr>
          <a:xfrm flipV="1">
            <a:off x="6096000" y="2855079"/>
            <a:ext cx="871946" cy="2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495800" y="5347951"/>
            <a:ext cx="381000" cy="740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7996645" y="5549940"/>
            <a:ext cx="533401" cy="84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086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in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prevent back fire.</a:t>
            </a:r>
          </a:p>
          <a:p>
            <a:r>
              <a:rPr lang="en-US" dirty="0"/>
              <a:t>Unlike a tree, there is a path to come back to a node that has already visited.</a:t>
            </a:r>
          </a:p>
          <a:p>
            <a:r>
              <a:rPr lang="en-US" dirty="0"/>
              <a:t>Without keeping track of the already-visited nodes, it falls into an infinite loop in the worst case.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5410200" y="44958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019800" y="44958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10200" y="54102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4953000" y="45720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953000" y="44958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953000" y="36576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86400" y="36576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86400" y="3657600"/>
            <a:ext cx="99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019800" y="3657600"/>
            <a:ext cx="4572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77000" y="3657600"/>
            <a:ext cx="4572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6019800" y="4495800"/>
            <a:ext cx="9144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6400800" y="45720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477000" y="3581400"/>
            <a:ext cx="990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934200" y="35814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467600" y="3581400"/>
            <a:ext cx="533400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6934200" y="45720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7467600" y="46482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934200" y="45720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400800" y="54102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934200" y="5410200"/>
            <a:ext cx="533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5486400"/>
            <a:ext cx="53340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410200" y="5410200"/>
            <a:ext cx="3810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791200" y="5486400"/>
            <a:ext cx="609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791200" y="6324600"/>
            <a:ext cx="11430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4876800" y="5410200"/>
            <a:ext cx="533400" cy="68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876800" y="6096000"/>
            <a:ext cx="91440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934200" y="6324600"/>
            <a:ext cx="10668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467600" y="5410200"/>
            <a:ext cx="5334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46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8954" y="397617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496466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9900" y="4993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2769" y="375884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1076" y="4659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2354" y="37482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3300" y="47453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800" y="55499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559315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4495800" y="4572000"/>
            <a:ext cx="464276" cy="773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495800" y="5342751"/>
            <a:ext cx="910046" cy="6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86400" y="2877602"/>
            <a:ext cx="6096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091646" y="2877602"/>
            <a:ext cx="381000" cy="774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6472646" y="2851255"/>
            <a:ext cx="506185" cy="800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972300" y="2838082"/>
            <a:ext cx="490946" cy="7389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009709" y="4648200"/>
            <a:ext cx="520337" cy="901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7471954" y="5404366"/>
            <a:ext cx="1058092" cy="145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0" y="3200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66709" y="31434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9582" y="4050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6769" y="400925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92898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1600" y="572666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7109" y="585329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2415" y="58119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3510" y="497341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6096000" y="2855079"/>
            <a:ext cx="871946" cy="22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495800" y="5347951"/>
            <a:ext cx="381000" cy="7405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7996645" y="5549940"/>
            <a:ext cx="533401" cy="84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5529468" y="4118664"/>
            <a:ext cx="939698" cy="875043"/>
          </a:xfrm>
          <a:custGeom>
            <a:avLst/>
            <a:gdLst>
              <a:gd name="connsiteX0" fmla="*/ 939698 w 939698"/>
              <a:gd name="connsiteY0" fmla="*/ 598615 h 875043"/>
              <a:gd name="connsiteX1" fmla="*/ 862786 w 939698"/>
              <a:gd name="connsiteY1" fmla="*/ 179871 h 875043"/>
              <a:gd name="connsiteX2" fmla="*/ 520954 w 939698"/>
              <a:gd name="connsiteY2" fmla="*/ 409 h 875043"/>
              <a:gd name="connsiteX3" fmla="*/ 42390 w 939698"/>
              <a:gd name="connsiteY3" fmla="*/ 222600 h 875043"/>
              <a:gd name="connsiteX4" fmla="*/ 59482 w 939698"/>
              <a:gd name="connsiteY4" fmla="*/ 666981 h 875043"/>
              <a:gd name="connsiteX5" fmla="*/ 358584 w 939698"/>
              <a:gd name="connsiteY5" fmla="*/ 872080 h 875043"/>
              <a:gd name="connsiteX6" fmla="*/ 768782 w 939698"/>
              <a:gd name="connsiteY6" fmla="*/ 769530 h 8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9698" h="875043">
                <a:moveTo>
                  <a:pt x="939698" y="598615"/>
                </a:moveTo>
                <a:cubicBezTo>
                  <a:pt x="936137" y="439093"/>
                  <a:pt x="932577" y="279572"/>
                  <a:pt x="862786" y="179871"/>
                </a:cubicBezTo>
                <a:cubicBezTo>
                  <a:pt x="792995" y="80170"/>
                  <a:pt x="657687" y="-6713"/>
                  <a:pt x="520954" y="409"/>
                </a:cubicBezTo>
                <a:cubicBezTo>
                  <a:pt x="384221" y="7531"/>
                  <a:pt x="119302" y="111505"/>
                  <a:pt x="42390" y="222600"/>
                </a:cubicBezTo>
                <a:cubicBezTo>
                  <a:pt x="-34522" y="333695"/>
                  <a:pt x="6783" y="558734"/>
                  <a:pt x="59482" y="666981"/>
                </a:cubicBezTo>
                <a:cubicBezTo>
                  <a:pt x="112181" y="775228"/>
                  <a:pt x="240367" y="854989"/>
                  <a:pt x="358584" y="872080"/>
                </a:cubicBezTo>
                <a:cubicBezTo>
                  <a:pt x="476801" y="889171"/>
                  <a:pt x="622791" y="829350"/>
                  <a:pt x="768782" y="76953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/>
          <p:cNvCxnSpPr>
            <a:stCxn id="37" idx="3"/>
          </p:cNvCxnSpPr>
          <p:nvPr/>
        </p:nvCxnSpPr>
        <p:spPr>
          <a:xfrm>
            <a:off x="5950676" y="4844534"/>
            <a:ext cx="140970" cy="270113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5943600" y="4876800"/>
            <a:ext cx="148046" cy="237847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440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in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hash table for preventing infinite recursion.</a:t>
            </a:r>
          </a:p>
          <a:p>
            <a:r>
              <a:rPr lang="en-US" dirty="0"/>
              <a:t>Make a hash table that connects a node (in this case, a polygon) and the depth.</a:t>
            </a:r>
          </a:p>
          <a:p>
            <a:r>
              <a:rPr lang="en-US" dirty="0"/>
              <a:t>When exploring a new node, check if the node is already in the hash table.</a:t>
            </a:r>
          </a:p>
          <a:p>
            <a:pPr lvl="1"/>
            <a:r>
              <a:rPr lang="en-US" dirty="0"/>
              <a:t>If it is included, the node has already been visited and does not have to re-visit.</a:t>
            </a:r>
          </a:p>
          <a:p>
            <a:pPr lvl="1"/>
            <a:r>
              <a:rPr lang="en-US" dirty="0"/>
              <a:t>If it is not, the node should be visited next.</a:t>
            </a:r>
          </a:p>
        </p:txBody>
      </p:sp>
    </p:spTree>
    <p:extLst>
      <p:ext uri="{BB962C8B-B14F-4D97-AF65-F5344CB8AC3E}">
        <p14:creationId xmlns:p14="http://schemas.microsoft.com/office/powerpoint/2010/main" val="1284280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edge-connected vertices within certain radius from a picked vertex.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depth-first or breadth-first search.</a:t>
            </a:r>
          </a:p>
          <a:p>
            <a:r>
              <a:rPr lang="en-US" dirty="0"/>
              <a:t>Needs same mechanism to stop back fire.</a:t>
            </a:r>
          </a:p>
          <a:p>
            <a:endParaRPr lang="en-US" dirty="0"/>
          </a:p>
          <a:p>
            <a:r>
              <a:rPr lang="en-US" dirty="0"/>
              <a:t>Example: Highlighting vertices within 2.0 radius of the clicked vertex.</a:t>
            </a:r>
          </a:p>
        </p:txBody>
      </p:sp>
    </p:spTree>
    <p:extLst>
      <p:ext uri="{BB962C8B-B14F-4D97-AF65-F5344CB8AC3E}">
        <p14:creationId xmlns:p14="http://schemas.microsoft.com/office/powerpoint/2010/main" val="1107147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Highlighting High Dihedral-Angle Edges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Dihedral angle</a:t>
            </a:r>
          </a:p>
          <a:p>
            <a:r>
              <a:rPr lang="en-US" dirty="0"/>
              <a:t>An angle between two neighboring polygons.</a:t>
            </a:r>
          </a:p>
          <a:p>
            <a:r>
              <a:rPr lang="en-US" dirty="0"/>
              <a:t>Give a clue of feature edges.</a:t>
            </a:r>
          </a:p>
          <a:p>
            <a:r>
              <a:rPr lang="en-US" dirty="0"/>
              <a:t>Identifying high dihedral-angle edges is important for feature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4049611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Path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find a path between two picked vertices with the greedy-search.</a:t>
            </a:r>
          </a:p>
          <a:p>
            <a:r>
              <a:rPr lang="en-US" dirty="0"/>
              <a:t>You can use </a:t>
            </a:r>
            <a:r>
              <a:rPr lang="en-US" dirty="0" err="1"/>
              <a:t>YsShellExt</a:t>
            </a:r>
            <a:r>
              <a:rPr lang="en-US" dirty="0"/>
              <a:t>::</a:t>
            </a:r>
            <a:r>
              <a:rPr lang="en-US" dirty="0" err="1"/>
              <a:t>GetConnectedVertex</a:t>
            </a:r>
            <a:r>
              <a:rPr lang="en-US" dirty="0"/>
              <a:t> and step to the one that is closest to the goal.</a:t>
            </a:r>
          </a:p>
        </p:txBody>
      </p:sp>
    </p:spTree>
    <p:extLst>
      <p:ext uri="{BB962C8B-B14F-4D97-AF65-F5344CB8AC3E}">
        <p14:creationId xmlns:p14="http://schemas.microsoft.com/office/powerpoint/2010/main" val="3433497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dirty="0" err="1"/>
              <a:t>YsShellExt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hope you know how you can write a polygonal mesh data structure by now.</a:t>
            </a:r>
          </a:p>
          <a:p>
            <a:r>
              <a:rPr lang="en-US" dirty="0"/>
              <a:t>Let's use </a:t>
            </a:r>
            <a:r>
              <a:rPr lang="en-US" dirty="0" err="1"/>
              <a:t>YsShellExt</a:t>
            </a:r>
            <a:r>
              <a:rPr lang="en-US" dirty="0"/>
              <a:t> class from now on.</a:t>
            </a:r>
          </a:p>
          <a:p>
            <a:r>
              <a:rPr lang="en-US" dirty="0" err="1"/>
              <a:t>YsShellExt</a:t>
            </a:r>
            <a:r>
              <a:rPr lang="en-US" dirty="0"/>
              <a:t> class has all functions (except </a:t>
            </a:r>
            <a:r>
              <a:rPr lang="en-US" dirty="0" err="1"/>
              <a:t>MergeVertex</a:t>
            </a:r>
            <a:r>
              <a:rPr lang="en-US" dirty="0"/>
              <a:t>) that </a:t>
            </a:r>
            <a:r>
              <a:rPr lang="en-US" dirty="0" err="1"/>
              <a:t>PolygonalMesh</a:t>
            </a:r>
            <a:r>
              <a:rPr lang="en-US" dirty="0"/>
              <a:t> class has.</a:t>
            </a:r>
          </a:p>
          <a:p>
            <a:r>
              <a:rPr lang="en-US" dirty="0"/>
              <a:t>Plus constraint-edges, face-groups, and utility libraries.</a:t>
            </a:r>
          </a:p>
          <a:p>
            <a:r>
              <a:rPr lang="en-US" dirty="0"/>
              <a:t>Same function name, same parameter.  You can pretty much replace </a:t>
            </a:r>
            <a:r>
              <a:rPr lang="en-US" dirty="0" err="1"/>
              <a:t>PolygonalMesh</a:t>
            </a:r>
            <a:r>
              <a:rPr lang="en-US" dirty="0"/>
              <a:t> class with </a:t>
            </a:r>
            <a:r>
              <a:rPr lang="en-US" dirty="0" err="1"/>
              <a:t>YsShellExt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437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YsShellExt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geblkernel</a:t>
            </a:r>
            <a:r>
              <a:rPr lang="en-US" dirty="0"/>
              <a:t> in </a:t>
            </a:r>
            <a:r>
              <a:rPr lang="en-US" dirty="0" err="1"/>
              <a:t>target_link_libraries</a:t>
            </a:r>
            <a:r>
              <a:rPr lang="en-US" dirty="0"/>
              <a:t> instead of </a:t>
            </a:r>
            <a:r>
              <a:rPr lang="en-US" dirty="0" err="1"/>
              <a:t>polygonalmesh</a:t>
            </a:r>
            <a:r>
              <a:rPr lang="en-US" dirty="0"/>
              <a:t>.</a:t>
            </a:r>
          </a:p>
          <a:p>
            <a:r>
              <a:rPr lang="en-US" dirty="0"/>
              <a:t>Add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ysshellext.h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dirty="0"/>
              <a:t>instead of </a:t>
            </a:r>
            <a:r>
              <a:rPr lang="en-US" dirty="0" err="1"/>
              <a:t>polygonalmesh.h</a:t>
            </a:r>
            <a:endParaRPr lang="en-US" dirty="0"/>
          </a:p>
          <a:p>
            <a:r>
              <a:rPr lang="en-US" dirty="0"/>
              <a:t>Replace </a:t>
            </a:r>
            <a:r>
              <a:rPr lang="en-US" dirty="0" err="1"/>
              <a:t>PolygonalMesh</a:t>
            </a:r>
            <a:r>
              <a:rPr lang="en-US" dirty="0"/>
              <a:t> with </a:t>
            </a:r>
            <a:r>
              <a:rPr lang="en-US" dirty="0" err="1"/>
              <a:t>YsShellExt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238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 mesh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YsShellExt</a:t>
            </a:r>
            <a:r>
              <a:rPr lang="en-US" dirty="0"/>
              <a:t> class is independent of OpenGL (only depends on C++11 standard)</a:t>
            </a:r>
          </a:p>
          <a:p>
            <a:r>
              <a:rPr lang="en-US" dirty="0"/>
              <a:t>Can be used for building a command-line program.</a:t>
            </a:r>
          </a:p>
          <a:p>
            <a:r>
              <a:rPr lang="en-US" dirty="0"/>
              <a:t>Example</a:t>
            </a:r>
            <a:r>
              <a:rPr lang="en-US"/>
              <a:t>: Identifying a mesh 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22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Re-writing the Picking (and other features) Program with </a:t>
            </a:r>
            <a:r>
              <a:rPr lang="en-US" dirty="0" err="1"/>
              <a:t>YsShellExt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9657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4170</TotalTime>
  <Words>3178</Words>
  <Application>Microsoft Office PowerPoint</Application>
  <PresentationFormat>On-screen Show (4:3)</PresentationFormat>
  <Paragraphs>392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Default Design</vt:lpstr>
      <vt:lpstr>24-783 Lecture 16</vt:lpstr>
      <vt:lpstr>PowerPoint Presentation</vt:lpstr>
      <vt:lpstr>So far we did….</vt:lpstr>
      <vt:lpstr>Picking</vt:lpstr>
      <vt:lpstr>Projection transformation</vt:lpstr>
      <vt:lpstr>Viewport transformation</vt:lpstr>
      <vt:lpstr>Mouse coordinate can be inverse-transformed to a line.</vt:lpstr>
      <vt:lpstr>Transforming a mouse coordinate to a 3D line</vt:lpstr>
      <vt:lpstr>Calculation</vt:lpstr>
      <vt:lpstr>glutil.h</vt:lpstr>
      <vt:lpstr>glutil.cpp</vt:lpstr>
      <vt:lpstr>Picking</vt:lpstr>
      <vt:lpstr>Intersection of a line and a polygon</vt:lpstr>
      <vt:lpstr>Intersection of a line and a polygon</vt:lpstr>
      <vt:lpstr>PowerPoint Presentation</vt:lpstr>
      <vt:lpstr>Picking a point</vt:lpstr>
      <vt:lpstr>PowerPoint Presentation</vt:lpstr>
      <vt:lpstr>Let's move a selected vertex.</vt:lpstr>
      <vt:lpstr>Let's stitch polygons together while reading a file</vt:lpstr>
      <vt:lpstr>Reducing Order of Computation with a 3D Lattice</vt:lpstr>
      <vt:lpstr>Other common data structure</vt:lpstr>
      <vt:lpstr>PowerPoint Presentation</vt:lpstr>
      <vt:lpstr>PowerPoint Presentation</vt:lpstr>
      <vt:lpstr>Lattice class</vt:lpstr>
      <vt:lpstr>PowerPoint Presentation</vt:lpstr>
      <vt:lpstr>Writing it in C++</vt:lpstr>
      <vt:lpstr>Make it a MeshLattice</vt:lpstr>
      <vt:lpstr>Implementing MeshLattice Class</vt:lpstr>
      <vt:lpstr>Verifying the Lattice</vt:lpstr>
      <vt:lpstr>Update LoadBinStl so that it stitches the vertices.</vt:lpstr>
      <vt:lpstr>PowerPoint Presentation</vt:lpstr>
      <vt:lpstr>How can you register polygons in a lattice?</vt:lpstr>
      <vt:lpstr>How can you register polygons in a lattice?</vt:lpstr>
      <vt:lpstr>How can you register polygons in a lattice?</vt:lpstr>
      <vt:lpstr>Finding Connected Vertices</vt:lpstr>
      <vt:lpstr>Finding polygons from an edge.</vt:lpstr>
      <vt:lpstr>Drawing a connectivity graph (Dual)</vt:lpstr>
      <vt:lpstr>PowerPoint Presentation</vt:lpstr>
      <vt:lpstr>Depth-first and breadth-first search in binary tree</vt:lpstr>
      <vt:lpstr>Implementation</vt:lpstr>
      <vt:lpstr>Breadth-First Search in a Graph</vt:lpstr>
      <vt:lpstr>Breadth-First Search in a Graph</vt:lpstr>
      <vt:lpstr>Breadth-First Search in a Graph</vt:lpstr>
      <vt:lpstr>Selecting edge-connected vertices within certain radius from a picked vertex.</vt:lpstr>
      <vt:lpstr>Highlighting High Dihedral-Angle Edges</vt:lpstr>
      <vt:lpstr>Greedy Path Finding</vt:lpstr>
      <vt:lpstr>Introducing YsShellExt class</vt:lpstr>
      <vt:lpstr>Using YsShellExt class</vt:lpstr>
      <vt:lpstr>Identifying a mesh type</vt:lpstr>
      <vt:lpstr>Re-writing the Picking (and other features) Program with YsShellExt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639</cp:revision>
  <dcterms:created xsi:type="dcterms:W3CDTF">2009-08-19T14:18:47Z</dcterms:created>
  <dcterms:modified xsi:type="dcterms:W3CDTF">2019-03-25T18:32:13Z</dcterms:modified>
</cp:coreProperties>
</file>