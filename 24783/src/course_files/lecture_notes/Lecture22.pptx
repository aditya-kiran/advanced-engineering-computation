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5"/>
  </p:notesMasterIdLst>
  <p:sldIdLst>
    <p:sldId id="283" r:id="rId2"/>
    <p:sldId id="721" r:id="rId3"/>
    <p:sldId id="847" r:id="rId4"/>
    <p:sldId id="264" r:id="rId5"/>
    <p:sldId id="807" r:id="rId6"/>
    <p:sldId id="808" r:id="rId7"/>
    <p:sldId id="809" r:id="rId8"/>
    <p:sldId id="810" r:id="rId9"/>
    <p:sldId id="811" r:id="rId10"/>
    <p:sldId id="812" r:id="rId11"/>
    <p:sldId id="813" r:id="rId12"/>
    <p:sldId id="814" r:id="rId13"/>
    <p:sldId id="815" r:id="rId14"/>
    <p:sldId id="816" r:id="rId15"/>
    <p:sldId id="817" r:id="rId16"/>
    <p:sldId id="818" r:id="rId17"/>
    <p:sldId id="819" r:id="rId18"/>
    <p:sldId id="820" r:id="rId19"/>
    <p:sldId id="821" r:id="rId20"/>
    <p:sldId id="822" r:id="rId21"/>
    <p:sldId id="846" r:id="rId22"/>
    <p:sldId id="823" r:id="rId23"/>
    <p:sldId id="824" r:id="rId24"/>
    <p:sldId id="825" r:id="rId25"/>
    <p:sldId id="826" r:id="rId26"/>
    <p:sldId id="827" r:id="rId27"/>
    <p:sldId id="828" r:id="rId28"/>
    <p:sldId id="829" r:id="rId29"/>
    <p:sldId id="830" r:id="rId30"/>
    <p:sldId id="831" r:id="rId31"/>
    <p:sldId id="832" r:id="rId32"/>
    <p:sldId id="833" r:id="rId33"/>
    <p:sldId id="834" r:id="rId34"/>
    <p:sldId id="835" r:id="rId35"/>
    <p:sldId id="836" r:id="rId36"/>
    <p:sldId id="837" r:id="rId37"/>
    <p:sldId id="838" r:id="rId38"/>
    <p:sldId id="839" r:id="rId39"/>
    <p:sldId id="840" r:id="rId40"/>
    <p:sldId id="841" r:id="rId41"/>
    <p:sldId id="842" r:id="rId42"/>
    <p:sldId id="843" r:id="rId43"/>
    <p:sldId id="844" r:id="rId44"/>
    <p:sldId id="845" r:id="rId45"/>
    <p:sldId id="735" r:id="rId46"/>
    <p:sldId id="736" r:id="rId47"/>
    <p:sldId id="737" r:id="rId48"/>
    <p:sldId id="738" r:id="rId49"/>
    <p:sldId id="739" r:id="rId50"/>
    <p:sldId id="740" r:id="rId51"/>
    <p:sldId id="741" r:id="rId52"/>
    <p:sldId id="742" r:id="rId53"/>
    <p:sldId id="743" r:id="rId54"/>
    <p:sldId id="744" r:id="rId55"/>
    <p:sldId id="745" r:id="rId56"/>
    <p:sldId id="746" r:id="rId57"/>
    <p:sldId id="747" r:id="rId58"/>
    <p:sldId id="748" r:id="rId59"/>
    <p:sldId id="749" r:id="rId60"/>
    <p:sldId id="750" r:id="rId61"/>
    <p:sldId id="751" r:id="rId62"/>
    <p:sldId id="752" r:id="rId63"/>
    <p:sldId id="753" r:id="rId64"/>
    <p:sldId id="754" r:id="rId65"/>
    <p:sldId id="755" r:id="rId66"/>
    <p:sldId id="756" r:id="rId67"/>
    <p:sldId id="757" r:id="rId68"/>
    <p:sldId id="758" r:id="rId69"/>
    <p:sldId id="759" r:id="rId70"/>
    <p:sldId id="760" r:id="rId71"/>
    <p:sldId id="761" r:id="rId72"/>
    <p:sldId id="762" r:id="rId73"/>
    <p:sldId id="763" r:id="rId74"/>
    <p:sldId id="764" r:id="rId75"/>
    <p:sldId id="765" r:id="rId76"/>
    <p:sldId id="766" r:id="rId77"/>
    <p:sldId id="767" r:id="rId78"/>
    <p:sldId id="768" r:id="rId79"/>
    <p:sldId id="769" r:id="rId80"/>
    <p:sldId id="770" r:id="rId81"/>
    <p:sldId id="771" r:id="rId82"/>
    <p:sldId id="772" r:id="rId83"/>
    <p:sldId id="773" r:id="rId84"/>
    <p:sldId id="774" r:id="rId85"/>
    <p:sldId id="775" r:id="rId86"/>
    <p:sldId id="776" r:id="rId87"/>
    <p:sldId id="777" r:id="rId88"/>
    <p:sldId id="778" r:id="rId89"/>
    <p:sldId id="779" r:id="rId90"/>
    <p:sldId id="780" r:id="rId91"/>
    <p:sldId id="781" r:id="rId92"/>
    <p:sldId id="782" r:id="rId93"/>
    <p:sldId id="783" r:id="rId94"/>
    <p:sldId id="784" r:id="rId95"/>
    <p:sldId id="788" r:id="rId96"/>
    <p:sldId id="789" r:id="rId97"/>
    <p:sldId id="790" r:id="rId98"/>
    <p:sldId id="791" r:id="rId99"/>
    <p:sldId id="792" r:id="rId100"/>
    <p:sldId id="793" r:id="rId101"/>
    <p:sldId id="794" r:id="rId102"/>
    <p:sldId id="795" r:id="rId103"/>
    <p:sldId id="796" r:id="rId104"/>
    <p:sldId id="797" r:id="rId105"/>
    <p:sldId id="798" r:id="rId106"/>
    <p:sldId id="799" r:id="rId107"/>
    <p:sldId id="800" r:id="rId108"/>
    <p:sldId id="801" r:id="rId109"/>
    <p:sldId id="802" r:id="rId110"/>
    <p:sldId id="803" r:id="rId111"/>
    <p:sldId id="804" r:id="rId112"/>
    <p:sldId id="805" r:id="rId113"/>
    <p:sldId id="806" r:id="rId11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1" autoAdjust="0"/>
    <p:restoredTop sz="94660"/>
  </p:normalViewPr>
  <p:slideViewPr>
    <p:cSldViewPr snapToGrid="0" showGuides="1">
      <p:cViewPr varScale="1">
        <p:scale>
          <a:sx n="94" d="100"/>
          <a:sy n="94" d="100"/>
        </p:scale>
        <p:origin x="1336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viewProps" Target="viewProps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theme" Target="theme/theme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notesMaster" Target="notesMasters/notes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BCB6D5-09E4-4610-88CA-DFB2CE3AAC59}" type="datetimeFigureOut">
              <a:rPr lang="en-US" smtClean="0"/>
              <a:t>4/10/2019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4EA0FF-337F-4458-917A-769BA419EB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2923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CFA322-6F3F-4DC0-87DD-C2243BD40E5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93579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B2500B-4EAB-4352-950A-83638A46CB1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94370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4AD067-94AF-4CC4-A3F4-94BC2293386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17544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066800"/>
            <a:ext cx="4038600" cy="50593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066800"/>
            <a:ext cx="4038600" cy="50593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5F1812-1DE0-4021-BADA-FFAFA5A10F0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13088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83109A-EB99-4320-890D-5E881432282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44151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C6F314-25DC-4377-AD01-A920945A220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09913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10ED3A-E24C-4B6A-90A2-C196FD3C678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33296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6225BB-6760-4477-80E2-E9464DB153A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85166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79013F-5B2C-4E9D-9745-5981D3CFC25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30596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F19005-ABF8-4206-A7D8-6B64D35F117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14997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11E539-E3A0-4ACA-8410-6BBB64C7316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640559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066800"/>
            <a:ext cx="4038600" cy="50593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066800"/>
            <a:ext cx="4038600" cy="50593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2BEA70-0706-42DF-B69B-B92068D80B2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448059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066800"/>
            <a:ext cx="8229600" cy="5059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ea typeface="굴림" charset="-127"/>
              </a:defRPr>
            </a:lvl1pPr>
          </a:lstStyle>
          <a:p>
            <a:pPr>
              <a:defRPr/>
            </a:pPr>
            <a:fld id="{E37565C6-0CEA-42B8-A9C2-60D46C6627E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2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0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0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0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0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68521"/>
            <a:ext cx="7772400" cy="1470025"/>
          </a:xfrm>
        </p:spPr>
        <p:txBody>
          <a:bodyPr/>
          <a:lstStyle/>
          <a:p>
            <a:r>
              <a:rPr lang="en-US" dirty="0"/>
              <a:t>24-783 Lecture 22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3586" y="2958096"/>
            <a:ext cx="4036828" cy="2680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7433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Announcement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Final Goal-Calibration Presentation next Monday.</a:t>
            </a:r>
          </a:p>
          <a:p>
            <a:r>
              <a:rPr lang="en-US" dirty="0"/>
              <a:t>5-minutes presentation.</a:t>
            </a:r>
          </a:p>
        </p:txBody>
      </p:sp>
    </p:spTree>
    <p:extLst>
      <p:ext uri="{BB962C8B-B14F-4D97-AF65-F5344CB8AC3E}">
        <p14:creationId xmlns:p14="http://schemas.microsoft.com/office/powerpoint/2010/main" val="13671508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BDC41-D5C4-4ECF-9367-95818B355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Announcement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B86CDA-5803-432B-9A0F-9D36EE30E6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History of Computing – Presented by CMU Computer Club</a:t>
            </a:r>
          </a:p>
          <a:p>
            <a:r>
              <a:rPr lang="en-US" dirty="0"/>
              <a:t>This Friday 1500-1600</a:t>
            </a:r>
          </a:p>
          <a:p>
            <a:r>
              <a:rPr lang="en-US" dirty="0"/>
              <a:t>Posner Center</a:t>
            </a:r>
          </a:p>
          <a:p>
            <a:r>
              <a:rPr lang="en-US" dirty="0"/>
              <a:t>On Display:</a:t>
            </a:r>
          </a:p>
          <a:p>
            <a:pPr lvl="1"/>
            <a:r>
              <a:rPr lang="en-US" dirty="0" err="1"/>
              <a:t>Vectrex</a:t>
            </a:r>
            <a:endParaRPr lang="en-US" dirty="0"/>
          </a:p>
          <a:p>
            <a:pPr lvl="1"/>
            <a:r>
              <a:rPr lang="en-US" dirty="0"/>
              <a:t>SPARCstation</a:t>
            </a:r>
          </a:p>
          <a:p>
            <a:pPr lvl="1"/>
            <a:r>
              <a:rPr lang="en-US" dirty="0"/>
              <a:t>NeXT</a:t>
            </a:r>
          </a:p>
          <a:p>
            <a:pPr lvl="1"/>
            <a:r>
              <a:rPr lang="en-US" dirty="0"/>
              <a:t>Bendix G-20 emulator</a:t>
            </a:r>
          </a:p>
        </p:txBody>
      </p:sp>
    </p:spTree>
    <p:extLst>
      <p:ext uri="{BB962C8B-B14F-4D97-AF65-F5344CB8AC3E}">
        <p14:creationId xmlns:p14="http://schemas.microsoft.com/office/powerpoint/2010/main" val="8457475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OpenGL </a:t>
            </a:r>
            <a:r>
              <a:rPr lang="en-US" dirty="0" err="1"/>
              <a:t>Shader</a:t>
            </a:r>
            <a:r>
              <a:rPr lang="en-US" dirty="0"/>
              <a:t> Language (GLSL)</a:t>
            </a:r>
          </a:p>
          <a:p>
            <a:r>
              <a:rPr lang="en-US" dirty="0"/>
              <a:t>Uniform Color</a:t>
            </a:r>
          </a:p>
          <a:p>
            <a:r>
              <a:rPr lang="en-US" dirty="0"/>
              <a:t>Generic Attribute</a:t>
            </a:r>
          </a:p>
          <a:p>
            <a:r>
              <a:rPr lang="en-US" dirty="0"/>
              <a:t>Texture (sampler2D)</a:t>
            </a:r>
          </a:p>
          <a:p>
            <a:r>
              <a:rPr lang="en-US" dirty="0"/>
              <a:t>Plain 3D Renderer</a:t>
            </a:r>
          </a:p>
          <a:p>
            <a:r>
              <a:rPr lang="en-US" dirty="0"/>
              <a:t>Rainbow Color based on the vertex position</a:t>
            </a:r>
          </a:p>
          <a:p>
            <a:r>
              <a:rPr lang="en-US" dirty="0"/>
              <a:t>“discard” statement in the fragment </a:t>
            </a:r>
            <a:r>
              <a:rPr lang="en-US" dirty="0" err="1"/>
              <a:t>shader</a:t>
            </a:r>
            <a:endParaRPr lang="en-US" dirty="0"/>
          </a:p>
          <a:p>
            <a:r>
              <a:rPr lang="en-US" dirty="0" err="1"/>
              <a:t>Gouraud</a:t>
            </a:r>
            <a:r>
              <a:rPr lang="en-US" dirty="0"/>
              <a:t> Shading</a:t>
            </a:r>
          </a:p>
          <a:p>
            <a:r>
              <a:rPr lang="en-US" dirty="0" err="1"/>
              <a:t>Phong</a:t>
            </a:r>
            <a:r>
              <a:rPr lang="en-US" dirty="0"/>
              <a:t> Shading</a:t>
            </a:r>
          </a:p>
        </p:txBody>
      </p:sp>
    </p:spTree>
    <p:extLst>
      <p:ext uri="{BB962C8B-B14F-4D97-AF65-F5344CB8AC3E}">
        <p14:creationId xmlns:p14="http://schemas.microsoft.com/office/powerpoint/2010/main" val="17081316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Installing Data Files (Resources) to where the Application Can See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practical application needs some resources.</a:t>
            </a:r>
          </a:p>
          <a:p>
            <a:r>
              <a:rPr lang="en-US" dirty="0"/>
              <a:t>"Resource" can include CPU power, memory, disk space, and also </a:t>
            </a:r>
            <a:r>
              <a:rPr lang="en-US" u="sng" dirty="0"/>
              <a:t>data files</a:t>
            </a:r>
            <a:r>
              <a:rPr lang="en-US" dirty="0"/>
              <a:t>.</a:t>
            </a:r>
          </a:p>
          <a:p>
            <a:r>
              <a:rPr lang="en-US" dirty="0"/>
              <a:t>Some data files must be copied to the location where the application can see.</a:t>
            </a:r>
          </a:p>
        </p:txBody>
      </p:sp>
    </p:spTree>
    <p:extLst>
      <p:ext uri="{BB962C8B-B14F-4D97-AF65-F5344CB8AC3E}">
        <p14:creationId xmlns:p14="http://schemas.microsoft.com/office/powerpoint/2010/main" val="20797881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File Location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macOS</a:t>
            </a:r>
            <a:r>
              <a:rPr lang="en-US" dirty="0"/>
              <a:t>, iOS:  "Contents/Resources" sub-directory in the bundle directory.</a:t>
            </a:r>
          </a:p>
          <a:p>
            <a:r>
              <a:rPr lang="en-US" dirty="0"/>
              <a:t>Universal Windows:  "Assets" sub-directory in the Appx package.</a:t>
            </a:r>
          </a:p>
          <a:p>
            <a:r>
              <a:rPr lang="en-US" dirty="0"/>
              <a:t>Linux:   No specific.  Typically a directory or a sub-directory of the executable.</a:t>
            </a:r>
          </a:p>
          <a:p>
            <a:r>
              <a:rPr lang="en-US" dirty="0"/>
              <a:t>Win32:  No specific.  Typically a directory or a sub-directory of the executable.</a:t>
            </a:r>
          </a:p>
          <a:p>
            <a:endParaRPr lang="en-US" dirty="0"/>
          </a:p>
          <a:p>
            <a:r>
              <a:rPr lang="en-US" dirty="0"/>
              <a:t>Everyone does differently.  One source of the platform-dependency.</a:t>
            </a:r>
          </a:p>
        </p:txBody>
      </p:sp>
    </p:spTree>
    <p:extLst>
      <p:ext uri="{BB962C8B-B14F-4D97-AF65-F5344CB8AC3E}">
        <p14:creationId xmlns:p14="http://schemas.microsoft.com/office/powerpoint/2010/main" val="11651340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 Current Working Directory to the Resources Directory in your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</a:t>
            </a:r>
            <a:r>
              <a:rPr lang="en-US" dirty="0" err="1"/>
              <a:t>MacOS</a:t>
            </a:r>
            <a:r>
              <a:rPr lang="en-US" dirty="0"/>
              <a:t> and iOS (Do it in Objective-C):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In Universal Windows: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In Windows (to the directory .exe resides.):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4250" y="1560299"/>
            <a:ext cx="7632700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NSString</a:t>
            </a:r>
            <a:r>
              <a:rPr lang="en-US" sz="1100" dirty="0">
                <a:latin typeface="Consolas" panose="020B0609020204030204" pitchFamily="49" charset="0"/>
              </a:rPr>
              <a:t> *path;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path=[[</a:t>
            </a:r>
            <a:r>
              <a:rPr lang="en-US" sz="1100" dirty="0" err="1">
                <a:latin typeface="Consolas" panose="020B0609020204030204" pitchFamily="49" charset="0"/>
              </a:rPr>
              <a:t>NSBundle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mainBundle</a:t>
            </a:r>
            <a:r>
              <a:rPr lang="en-US" sz="1100" dirty="0">
                <a:latin typeface="Consolas" panose="020B0609020204030204" pitchFamily="49" charset="0"/>
              </a:rPr>
              <a:t>] </a:t>
            </a:r>
            <a:r>
              <a:rPr lang="en-US" sz="1100" dirty="0" err="1">
                <a:latin typeface="Consolas" panose="020B0609020204030204" pitchFamily="49" charset="0"/>
              </a:rPr>
              <a:t>resourcePath</a:t>
            </a:r>
            <a:r>
              <a:rPr lang="en-US" sz="1100" dirty="0">
                <a:latin typeface="Consolas" panose="020B0609020204030204" pitchFamily="49" charset="0"/>
              </a:rPr>
              <a:t>];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printf</a:t>
            </a:r>
            <a:r>
              <a:rPr lang="en-US" sz="1100" dirty="0">
                <a:latin typeface="Consolas" panose="020B0609020204030204" pitchFamily="49" charset="0"/>
              </a:rPr>
              <a:t>("</a:t>
            </a:r>
            <a:r>
              <a:rPr lang="en-US" sz="1100" dirty="0" err="1">
                <a:latin typeface="Consolas" panose="020B0609020204030204" pitchFamily="49" charset="0"/>
              </a:rPr>
              <a:t>ResourcePath</a:t>
            </a:r>
            <a:r>
              <a:rPr lang="en-US" sz="1100" dirty="0">
                <a:latin typeface="Consolas" panose="020B0609020204030204" pitchFamily="49" charset="0"/>
              </a:rPr>
              <a:t>:%s\n",[path UTF8String]);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[[</a:t>
            </a:r>
            <a:r>
              <a:rPr lang="en-US" sz="1100" dirty="0" err="1">
                <a:latin typeface="Consolas" panose="020B0609020204030204" pitchFamily="49" charset="0"/>
              </a:rPr>
              <a:t>NSFileManager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defaultManager</a:t>
            </a:r>
            <a:r>
              <a:rPr lang="en-US" sz="1100" dirty="0">
                <a:latin typeface="Consolas" panose="020B0609020204030204" pitchFamily="49" charset="0"/>
              </a:rPr>
              <a:t>] </a:t>
            </a:r>
            <a:r>
              <a:rPr lang="en-US" sz="1100" dirty="0" err="1">
                <a:latin typeface="Consolas" panose="020B0609020204030204" pitchFamily="49" charset="0"/>
              </a:rPr>
              <a:t>changeCurrentDirectoryPath:path</a:t>
            </a:r>
            <a:r>
              <a:rPr lang="en-US" sz="1100" dirty="0">
                <a:latin typeface="Consolas" panose="020B0609020204030204" pitchFamily="49" charset="0"/>
              </a:rPr>
              <a:t>];</a:t>
            </a:r>
          </a:p>
          <a:p>
            <a:endParaRPr lang="en-US" sz="1100" dirty="0">
              <a:latin typeface="Consolas" panose="020B06090202040302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84250" y="2787650"/>
            <a:ext cx="4955203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nsolas" panose="020B0609020204030204" pitchFamily="49" charset="0"/>
              </a:rPr>
              <a:t>    auto package=Windows::</a:t>
            </a:r>
            <a:r>
              <a:rPr lang="en-US" sz="1100" dirty="0" err="1">
                <a:latin typeface="Consolas" panose="020B0609020204030204" pitchFamily="49" charset="0"/>
              </a:rPr>
              <a:t>ApplicationModel</a:t>
            </a:r>
            <a:r>
              <a:rPr lang="en-US" sz="1100" dirty="0">
                <a:latin typeface="Consolas" panose="020B0609020204030204" pitchFamily="49" charset="0"/>
              </a:rPr>
              <a:t>::Package::Current;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auto </a:t>
            </a:r>
            <a:r>
              <a:rPr lang="en-US" sz="1100" dirty="0" err="1">
                <a:latin typeface="Consolas" panose="020B0609020204030204" pitchFamily="49" charset="0"/>
              </a:rPr>
              <a:t>instDir</a:t>
            </a:r>
            <a:r>
              <a:rPr lang="en-US" sz="1100" dirty="0">
                <a:latin typeface="Consolas" panose="020B0609020204030204" pitchFamily="49" charset="0"/>
              </a:rPr>
              <a:t>=package-&gt;</a:t>
            </a:r>
            <a:r>
              <a:rPr lang="en-US" sz="1100" dirty="0" err="1">
                <a:latin typeface="Consolas" panose="020B0609020204030204" pitchFamily="49" charset="0"/>
              </a:rPr>
              <a:t>InstalledLocation</a:t>
            </a:r>
            <a:r>
              <a:rPr lang="en-US" sz="1100" dirty="0">
                <a:latin typeface="Consolas" panose="020B0609020204030204" pitchFamily="49" charset="0"/>
              </a:rPr>
              <a:t>-&gt;Path-&gt;Data();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printf</a:t>
            </a:r>
            <a:r>
              <a:rPr lang="en-US" sz="1100" dirty="0">
                <a:latin typeface="Consolas" panose="020B0609020204030204" pitchFamily="49" charset="0"/>
              </a:rPr>
              <a:t>("%s==%ls\</a:t>
            </a:r>
            <a:r>
              <a:rPr lang="en-US" sz="1100" dirty="0" err="1">
                <a:latin typeface="Consolas" panose="020B0609020204030204" pitchFamily="49" charset="0"/>
              </a:rPr>
              <a:t>n",__FUNCTION</a:t>
            </a:r>
            <a:r>
              <a:rPr lang="en-US" sz="1100" dirty="0">
                <a:latin typeface="Consolas" panose="020B0609020204030204" pitchFamily="49" charset="0"/>
              </a:rPr>
              <a:t>__,(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wchar_t</a:t>
            </a:r>
            <a:r>
              <a:rPr lang="en-US" sz="1100" dirty="0">
                <a:latin typeface="Consolas" panose="020B0609020204030204" pitchFamily="49" charset="0"/>
              </a:rPr>
              <a:t> *)</a:t>
            </a:r>
            <a:r>
              <a:rPr lang="en-US" sz="1100" dirty="0" err="1">
                <a:latin typeface="Consolas" panose="020B0609020204030204" pitchFamily="49" charset="0"/>
              </a:rPr>
              <a:t>instDir</a:t>
            </a:r>
            <a:r>
              <a:rPr lang="en-US" sz="1100" dirty="0">
                <a:latin typeface="Consolas" panose="020B0609020204030204" pitchFamily="49" charset="0"/>
              </a:rPr>
              <a:t>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_</a:t>
            </a:r>
            <a:r>
              <a:rPr lang="en-US" sz="1100" dirty="0" err="1">
                <a:latin typeface="Consolas" panose="020B0609020204030204" pitchFamily="49" charset="0"/>
              </a:rPr>
              <a:t>wchdir</a:t>
            </a:r>
            <a:r>
              <a:rPr lang="en-US" sz="1100" dirty="0">
                <a:latin typeface="Consolas" panose="020B0609020204030204" pitchFamily="49" charset="0"/>
              </a:rPr>
              <a:t>(</a:t>
            </a:r>
            <a:r>
              <a:rPr lang="en-US" sz="1100" dirty="0" err="1">
                <a:latin typeface="Consolas" panose="020B0609020204030204" pitchFamily="49" charset="0"/>
              </a:rPr>
              <a:t>instDir</a:t>
            </a:r>
            <a:r>
              <a:rPr lang="en-US" sz="1100" dirty="0">
                <a:latin typeface="Consolas" panose="020B0609020204030204" pitchFamily="49" charset="0"/>
              </a:rPr>
              <a:t>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_</a:t>
            </a:r>
            <a:r>
              <a:rPr lang="en-US" sz="1100" dirty="0" err="1">
                <a:latin typeface="Consolas" panose="020B0609020204030204" pitchFamily="49" charset="0"/>
              </a:rPr>
              <a:t>wchdir</a:t>
            </a:r>
            <a:r>
              <a:rPr lang="en-US" sz="1100" dirty="0">
                <a:latin typeface="Consolas" panose="020B0609020204030204" pitchFamily="49" charset="0"/>
              </a:rPr>
              <a:t>(</a:t>
            </a:r>
            <a:r>
              <a:rPr lang="en-US" sz="1100" dirty="0" err="1">
                <a:latin typeface="Consolas" panose="020B0609020204030204" pitchFamily="49" charset="0"/>
              </a:rPr>
              <a:t>L"Assets</a:t>
            </a:r>
            <a:r>
              <a:rPr lang="en-US" sz="1100" dirty="0">
                <a:latin typeface="Consolas" panose="020B0609020204030204" pitchFamily="49" charset="0"/>
              </a:rPr>
              <a:t>");</a:t>
            </a:r>
          </a:p>
          <a:p>
            <a:endParaRPr lang="en-US" sz="1100" dirty="0">
              <a:latin typeface="Consolas" panose="020B0609020204030204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84250" y="4144377"/>
            <a:ext cx="3339376" cy="22929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nsolas" panose="020B0609020204030204" pitchFamily="49" charset="0"/>
              </a:rPr>
              <a:t>    char </a:t>
            </a:r>
            <a:r>
              <a:rPr lang="en-US" sz="1100" dirty="0" err="1">
                <a:latin typeface="Consolas" panose="020B0609020204030204" pitchFamily="49" charset="0"/>
              </a:rPr>
              <a:t>fn</a:t>
            </a:r>
            <a:r>
              <a:rPr lang="en-US" sz="1100" dirty="0">
                <a:latin typeface="Consolas" panose="020B0609020204030204" pitchFamily="49" charset="0"/>
              </a:rPr>
              <a:t>[MAX_PATH];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GetModuleFileNameA</a:t>
            </a:r>
            <a:r>
              <a:rPr lang="en-US" sz="1100" dirty="0">
                <a:latin typeface="Consolas" panose="020B0609020204030204" pitchFamily="49" charset="0"/>
              </a:rPr>
              <a:t>(</a:t>
            </a:r>
            <a:r>
              <a:rPr lang="en-US" sz="1100" dirty="0" err="1">
                <a:latin typeface="Consolas" panose="020B0609020204030204" pitchFamily="49" charset="0"/>
              </a:rPr>
              <a:t>NULL,fn,MAX_PATH</a:t>
            </a:r>
            <a:r>
              <a:rPr lang="en-US" sz="1100" dirty="0">
                <a:latin typeface="Consolas" panose="020B0609020204030204" pitchFamily="49" charset="0"/>
              </a:rPr>
              <a:t>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int</a:t>
            </a:r>
            <a:r>
              <a:rPr lang="en-US" sz="1100" dirty="0">
                <a:latin typeface="Consolas" panose="020B0609020204030204" pitchFamily="49" charset="0"/>
              </a:rPr>
              <a:t> l=(</a:t>
            </a:r>
            <a:r>
              <a:rPr lang="en-US" sz="1100" dirty="0" err="1">
                <a:latin typeface="Consolas" panose="020B0609020204030204" pitchFamily="49" charset="0"/>
              </a:rPr>
              <a:t>int</a:t>
            </a:r>
            <a:r>
              <a:rPr lang="en-US" sz="1100" dirty="0">
                <a:latin typeface="Consolas" panose="020B0609020204030204" pitchFamily="49" charset="0"/>
              </a:rPr>
              <a:t>)</a:t>
            </a:r>
            <a:r>
              <a:rPr lang="en-US" sz="1100" dirty="0" err="1">
                <a:latin typeface="Consolas" panose="020B0609020204030204" pitchFamily="49" charset="0"/>
              </a:rPr>
              <a:t>strlen</a:t>
            </a:r>
            <a:r>
              <a:rPr lang="en-US" sz="1100" dirty="0">
                <a:latin typeface="Consolas" panose="020B0609020204030204" pitchFamily="49" charset="0"/>
              </a:rPr>
              <a:t>(</a:t>
            </a:r>
            <a:r>
              <a:rPr lang="en-US" sz="1100" dirty="0" err="1">
                <a:latin typeface="Consolas" panose="020B0609020204030204" pitchFamily="49" charset="0"/>
              </a:rPr>
              <a:t>fn</a:t>
            </a:r>
            <a:r>
              <a:rPr lang="en-US" sz="1100" dirty="0">
                <a:latin typeface="Consolas" panose="020B0609020204030204" pitchFamily="49" charset="0"/>
              </a:rPr>
              <a:t>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for(</a:t>
            </a:r>
            <a:r>
              <a:rPr lang="en-US" sz="1100" dirty="0" err="1">
                <a:latin typeface="Consolas" panose="020B0609020204030204" pitchFamily="49" charset="0"/>
              </a:rPr>
              <a:t>int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i</a:t>
            </a:r>
            <a:r>
              <a:rPr lang="en-US" sz="1100" dirty="0">
                <a:latin typeface="Consolas" panose="020B0609020204030204" pitchFamily="49" charset="0"/>
              </a:rPr>
              <a:t>=l-1; </a:t>
            </a:r>
            <a:r>
              <a:rPr lang="en-US" sz="1100" dirty="0" err="1">
                <a:latin typeface="Consolas" panose="020B0609020204030204" pitchFamily="49" charset="0"/>
              </a:rPr>
              <a:t>i</a:t>
            </a:r>
            <a:r>
              <a:rPr lang="en-US" sz="1100" dirty="0">
                <a:latin typeface="Consolas" panose="020B0609020204030204" pitchFamily="49" charset="0"/>
              </a:rPr>
              <a:t>&gt;=0; </a:t>
            </a:r>
            <a:r>
              <a:rPr lang="en-US" sz="1100" dirty="0" err="1">
                <a:latin typeface="Consolas" panose="020B0609020204030204" pitchFamily="49" charset="0"/>
              </a:rPr>
              <a:t>i</a:t>
            </a:r>
            <a:r>
              <a:rPr lang="en-US" sz="1100" dirty="0">
                <a:latin typeface="Consolas" panose="020B0609020204030204" pitchFamily="49" charset="0"/>
              </a:rPr>
              <a:t>--)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if(</a:t>
            </a:r>
            <a:r>
              <a:rPr lang="en-US" sz="1100" dirty="0" err="1">
                <a:latin typeface="Consolas" panose="020B0609020204030204" pitchFamily="49" charset="0"/>
              </a:rPr>
              <a:t>fn</a:t>
            </a:r>
            <a:r>
              <a:rPr lang="en-US" sz="1100" dirty="0">
                <a:latin typeface="Consolas" panose="020B0609020204030204" pitchFamily="49" charset="0"/>
              </a:rPr>
              <a:t>[</a:t>
            </a:r>
            <a:r>
              <a:rPr lang="en-US" sz="1100" dirty="0" err="1">
                <a:latin typeface="Consolas" panose="020B0609020204030204" pitchFamily="49" charset="0"/>
              </a:rPr>
              <a:t>i</a:t>
            </a:r>
            <a:r>
              <a:rPr lang="en-US" sz="1100" dirty="0">
                <a:latin typeface="Consolas" panose="020B0609020204030204" pitchFamily="49" charset="0"/>
              </a:rPr>
              <a:t>]=='\\' || </a:t>
            </a:r>
            <a:r>
              <a:rPr lang="en-US" sz="1100" dirty="0" err="1">
                <a:latin typeface="Consolas" panose="020B0609020204030204" pitchFamily="49" charset="0"/>
              </a:rPr>
              <a:t>fn</a:t>
            </a:r>
            <a:r>
              <a:rPr lang="en-US" sz="1100" dirty="0">
                <a:latin typeface="Consolas" panose="020B0609020204030204" pitchFamily="49" charset="0"/>
              </a:rPr>
              <a:t>[</a:t>
            </a:r>
            <a:r>
              <a:rPr lang="en-US" sz="1100" dirty="0" err="1">
                <a:latin typeface="Consolas" panose="020B0609020204030204" pitchFamily="49" charset="0"/>
              </a:rPr>
              <a:t>i</a:t>
            </a:r>
            <a:r>
              <a:rPr lang="en-US" sz="1100" dirty="0">
                <a:latin typeface="Consolas" panose="020B0609020204030204" pitchFamily="49" charset="0"/>
              </a:rPr>
              <a:t>]=='/')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</a:t>
            </a:r>
            <a:r>
              <a:rPr lang="en-US" sz="1100" dirty="0" err="1">
                <a:latin typeface="Consolas" panose="020B0609020204030204" pitchFamily="49" charset="0"/>
              </a:rPr>
              <a:t>fn</a:t>
            </a:r>
            <a:r>
              <a:rPr lang="en-US" sz="1100" dirty="0">
                <a:latin typeface="Consolas" panose="020B0609020204030204" pitchFamily="49" charset="0"/>
              </a:rPr>
              <a:t>[</a:t>
            </a:r>
            <a:r>
              <a:rPr lang="en-US" sz="1100" dirty="0" err="1">
                <a:latin typeface="Consolas" panose="020B0609020204030204" pitchFamily="49" charset="0"/>
              </a:rPr>
              <a:t>i</a:t>
            </a:r>
            <a:r>
              <a:rPr lang="en-US" sz="1100" dirty="0">
                <a:latin typeface="Consolas" panose="020B0609020204030204" pitchFamily="49" charset="0"/>
              </a:rPr>
              <a:t>]=0;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break;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}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}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_</a:t>
            </a:r>
            <a:r>
              <a:rPr lang="en-US" sz="1100" dirty="0" err="1">
                <a:latin typeface="Consolas" panose="020B0609020204030204" pitchFamily="49" charset="0"/>
              </a:rPr>
              <a:t>chdir</a:t>
            </a:r>
            <a:r>
              <a:rPr lang="en-US" sz="1100" dirty="0">
                <a:latin typeface="Consolas" panose="020B0609020204030204" pitchFamily="49" charset="0"/>
              </a:rPr>
              <a:t>(</a:t>
            </a:r>
            <a:r>
              <a:rPr lang="en-US" sz="1100" dirty="0" err="1">
                <a:latin typeface="Consolas" panose="020B0609020204030204" pitchFamily="49" charset="0"/>
              </a:rPr>
              <a:t>fn</a:t>
            </a:r>
            <a:r>
              <a:rPr lang="en-US" sz="1100" dirty="0">
                <a:latin typeface="Consolas" panose="020B0609020204030204" pitchFamily="49" charset="0"/>
              </a:rPr>
              <a:t>);</a:t>
            </a:r>
          </a:p>
          <a:p>
            <a:endParaRPr lang="en-US" sz="11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05492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 Current Working Directory to the Resources Directory in your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Linux (to the directory that the executable resides):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7044" y="1625600"/>
            <a:ext cx="8109912" cy="38164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nsolas" panose="020B0609020204030204" pitchFamily="49" charset="0"/>
              </a:rPr>
              <a:t>    char </a:t>
            </a:r>
            <a:r>
              <a:rPr lang="en-US" sz="1100" dirty="0" err="1">
                <a:latin typeface="Consolas" panose="020B0609020204030204" pitchFamily="49" charset="0"/>
              </a:rPr>
              <a:t>buf</a:t>
            </a:r>
            <a:r>
              <a:rPr lang="en-US" sz="1100" dirty="0">
                <a:latin typeface="Consolas" panose="020B0609020204030204" pitchFamily="49" charset="0"/>
              </a:rPr>
              <a:t>[4096];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auto </a:t>
            </a:r>
            <a:r>
              <a:rPr lang="en-US" sz="1100" dirty="0" err="1">
                <a:latin typeface="Consolas" panose="020B0609020204030204" pitchFamily="49" charset="0"/>
              </a:rPr>
              <a:t>len</a:t>
            </a:r>
            <a:r>
              <a:rPr lang="en-US" sz="1100" dirty="0">
                <a:latin typeface="Consolas" panose="020B0609020204030204" pitchFamily="49" charset="0"/>
              </a:rPr>
              <a:t>=</a:t>
            </a:r>
            <a:r>
              <a:rPr lang="en-US" sz="1100" dirty="0" err="1">
                <a:latin typeface="Consolas" panose="020B0609020204030204" pitchFamily="49" charset="0"/>
              </a:rPr>
              <a:t>readlink</a:t>
            </a:r>
            <a:r>
              <a:rPr lang="en-US" sz="1100" dirty="0">
                <a:latin typeface="Consolas" panose="020B0609020204030204" pitchFamily="49" charset="0"/>
              </a:rPr>
              <a:t>("/proc/self/exe",buf,4095);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if(</a:t>
            </a:r>
            <a:r>
              <a:rPr lang="en-US" sz="1100" dirty="0" err="1">
                <a:latin typeface="Consolas" panose="020B0609020204030204" pitchFamily="49" charset="0"/>
              </a:rPr>
              <a:t>len</a:t>
            </a:r>
            <a:r>
              <a:rPr lang="en-US" sz="1100" dirty="0">
                <a:latin typeface="Consolas" panose="020B0609020204030204" pitchFamily="49" charset="0"/>
              </a:rPr>
              <a:t>&lt;4095)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</a:t>
            </a:r>
            <a:r>
              <a:rPr lang="en-US" sz="1100" dirty="0" err="1">
                <a:latin typeface="Consolas" panose="020B0609020204030204" pitchFamily="49" charset="0"/>
              </a:rPr>
              <a:t>buf</a:t>
            </a:r>
            <a:r>
              <a:rPr lang="en-US" sz="1100" dirty="0">
                <a:latin typeface="Consolas" panose="020B0609020204030204" pitchFamily="49" charset="0"/>
              </a:rPr>
              <a:t>[</a:t>
            </a:r>
            <a:r>
              <a:rPr lang="en-US" sz="1100" dirty="0" err="1">
                <a:latin typeface="Consolas" panose="020B0609020204030204" pitchFamily="49" charset="0"/>
              </a:rPr>
              <a:t>len</a:t>
            </a:r>
            <a:r>
              <a:rPr lang="en-US" sz="1100" dirty="0">
                <a:latin typeface="Consolas" panose="020B0609020204030204" pitchFamily="49" charset="0"/>
              </a:rPr>
              <a:t>]=0;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for(</a:t>
            </a:r>
            <a:r>
              <a:rPr lang="en-US" sz="1100" dirty="0" err="1">
                <a:latin typeface="Consolas" panose="020B0609020204030204" pitchFamily="49" charset="0"/>
              </a:rPr>
              <a:t>len</a:t>
            </a:r>
            <a:r>
              <a:rPr lang="en-US" sz="1100" dirty="0">
                <a:latin typeface="Consolas" panose="020B0609020204030204" pitchFamily="49" charset="0"/>
              </a:rPr>
              <a:t>=</a:t>
            </a:r>
            <a:r>
              <a:rPr lang="en-US" sz="1100" dirty="0" err="1">
                <a:latin typeface="Consolas" panose="020B0609020204030204" pitchFamily="49" charset="0"/>
              </a:rPr>
              <a:t>strlen</a:t>
            </a:r>
            <a:r>
              <a:rPr lang="en-US" sz="1100" dirty="0">
                <a:latin typeface="Consolas" panose="020B0609020204030204" pitchFamily="49" charset="0"/>
              </a:rPr>
              <a:t>(</a:t>
            </a:r>
            <a:r>
              <a:rPr lang="en-US" sz="1100" dirty="0" err="1">
                <a:latin typeface="Consolas" panose="020B0609020204030204" pitchFamily="49" charset="0"/>
              </a:rPr>
              <a:t>buf</a:t>
            </a:r>
            <a:r>
              <a:rPr lang="en-US" sz="1100" dirty="0">
                <a:latin typeface="Consolas" panose="020B0609020204030204" pitchFamily="49" charset="0"/>
              </a:rPr>
              <a:t>); 0&lt;</a:t>
            </a:r>
            <a:r>
              <a:rPr lang="en-US" sz="1100" dirty="0" err="1">
                <a:latin typeface="Consolas" panose="020B0609020204030204" pitchFamily="49" charset="0"/>
              </a:rPr>
              <a:t>len</a:t>
            </a:r>
            <a:r>
              <a:rPr lang="en-US" sz="1100" dirty="0">
                <a:latin typeface="Consolas" panose="020B0609020204030204" pitchFamily="49" charset="0"/>
              </a:rPr>
              <a:t>; --</a:t>
            </a:r>
            <a:r>
              <a:rPr lang="en-US" sz="1100" dirty="0" err="1">
                <a:latin typeface="Consolas" panose="020B0609020204030204" pitchFamily="49" charset="0"/>
              </a:rPr>
              <a:t>len</a:t>
            </a:r>
            <a:r>
              <a:rPr lang="en-US" sz="1100" dirty="0">
                <a:latin typeface="Consolas" panose="020B0609020204030204" pitchFamily="49" charset="0"/>
              </a:rPr>
              <a:t>) // Probably it is safe to say for(</a:t>
            </a:r>
            <a:r>
              <a:rPr lang="en-US" sz="1100" dirty="0" err="1">
                <a:latin typeface="Consolas" panose="020B0609020204030204" pitchFamily="49" charset="0"/>
              </a:rPr>
              <a:t>len</a:t>
            </a:r>
            <a:r>
              <a:rPr lang="en-US" sz="1100" dirty="0">
                <a:latin typeface="Consolas" panose="020B0609020204030204" pitchFamily="49" charset="0"/>
              </a:rPr>
              <a:t>=</a:t>
            </a:r>
            <a:r>
              <a:rPr lang="en-US" sz="1100" dirty="0" err="1">
                <a:latin typeface="Consolas" panose="020B0609020204030204" pitchFamily="49" charset="0"/>
              </a:rPr>
              <a:t>len</a:t>
            </a:r>
            <a:r>
              <a:rPr lang="en-US" sz="1100" dirty="0">
                <a:latin typeface="Consolas" panose="020B0609020204030204" pitchFamily="49" charset="0"/>
              </a:rPr>
              <a:t>; 0&lt;</a:t>
            </a:r>
            <a:r>
              <a:rPr lang="en-US" sz="1100" dirty="0" err="1">
                <a:latin typeface="Consolas" panose="020B0609020204030204" pitchFamily="49" charset="0"/>
              </a:rPr>
              <a:t>len</a:t>
            </a:r>
            <a:r>
              <a:rPr lang="en-US" sz="1100" dirty="0">
                <a:latin typeface="Consolas" panose="020B0609020204030204" pitchFamily="49" charset="0"/>
              </a:rPr>
              <a:t>; --</a:t>
            </a:r>
            <a:r>
              <a:rPr lang="en-US" sz="1100" dirty="0" err="1">
                <a:latin typeface="Consolas" panose="020B0609020204030204" pitchFamily="49" charset="0"/>
              </a:rPr>
              <a:t>len</a:t>
            </a:r>
            <a:r>
              <a:rPr lang="en-US" sz="1100" dirty="0">
                <a:latin typeface="Consolas" panose="020B0609020204030204" pitchFamily="49" charset="0"/>
              </a:rPr>
              <a:t>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if(</a:t>
            </a:r>
            <a:r>
              <a:rPr lang="en-US" sz="1100" dirty="0" err="1">
                <a:latin typeface="Consolas" panose="020B0609020204030204" pitchFamily="49" charset="0"/>
              </a:rPr>
              <a:t>buf</a:t>
            </a:r>
            <a:r>
              <a:rPr lang="en-US" sz="1100" dirty="0">
                <a:latin typeface="Consolas" panose="020B0609020204030204" pitchFamily="49" charset="0"/>
              </a:rPr>
              <a:t>[</a:t>
            </a:r>
            <a:r>
              <a:rPr lang="en-US" sz="1100" dirty="0" err="1">
                <a:latin typeface="Consolas" panose="020B0609020204030204" pitchFamily="49" charset="0"/>
              </a:rPr>
              <a:t>len</a:t>
            </a:r>
            <a:r>
              <a:rPr lang="en-US" sz="1100" dirty="0">
                <a:latin typeface="Consolas" panose="020B0609020204030204" pitchFamily="49" charset="0"/>
              </a:rPr>
              <a:t>]=='/')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    </a:t>
            </a:r>
            <a:r>
              <a:rPr lang="en-US" sz="1100" dirty="0" err="1">
                <a:latin typeface="Consolas" panose="020B0609020204030204" pitchFamily="49" charset="0"/>
              </a:rPr>
              <a:t>buf</a:t>
            </a:r>
            <a:r>
              <a:rPr lang="en-US" sz="1100" dirty="0">
                <a:latin typeface="Consolas" panose="020B0609020204030204" pitchFamily="49" charset="0"/>
              </a:rPr>
              <a:t>[</a:t>
            </a:r>
            <a:r>
              <a:rPr lang="en-US" sz="1100" dirty="0" err="1">
                <a:latin typeface="Consolas" panose="020B0609020204030204" pitchFamily="49" charset="0"/>
              </a:rPr>
              <a:t>len</a:t>
            </a:r>
            <a:r>
              <a:rPr lang="en-US" sz="1100" dirty="0">
                <a:latin typeface="Consolas" panose="020B0609020204030204" pitchFamily="49" charset="0"/>
              </a:rPr>
              <a:t>]=0;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    break;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}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}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</a:t>
            </a:r>
            <a:r>
              <a:rPr lang="en-US" sz="1100" dirty="0" err="1">
                <a:latin typeface="Consolas" panose="020B0609020204030204" pitchFamily="49" charset="0"/>
              </a:rPr>
              <a:t>chdir</a:t>
            </a:r>
            <a:r>
              <a:rPr lang="en-US" sz="1100" dirty="0">
                <a:latin typeface="Consolas" panose="020B0609020204030204" pitchFamily="49" charset="0"/>
              </a:rPr>
              <a:t>(</a:t>
            </a:r>
            <a:r>
              <a:rPr lang="en-US" sz="1100" dirty="0" err="1">
                <a:latin typeface="Consolas" panose="020B0609020204030204" pitchFamily="49" charset="0"/>
              </a:rPr>
              <a:t>buf</a:t>
            </a:r>
            <a:r>
              <a:rPr lang="en-US" sz="1100" dirty="0">
                <a:latin typeface="Consolas" panose="020B0609020204030204" pitchFamily="49" charset="0"/>
              </a:rPr>
              <a:t>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</a:t>
            </a:r>
            <a:r>
              <a:rPr lang="en-US" sz="1100" dirty="0" err="1">
                <a:latin typeface="Consolas" panose="020B0609020204030204" pitchFamily="49" charset="0"/>
              </a:rPr>
              <a:t>getcwd</a:t>
            </a:r>
            <a:r>
              <a:rPr lang="en-US" sz="1100" dirty="0">
                <a:latin typeface="Consolas" panose="020B0609020204030204" pitchFamily="49" charset="0"/>
              </a:rPr>
              <a:t>(buf,4095);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</a:t>
            </a:r>
            <a:r>
              <a:rPr lang="en-US" sz="1100" dirty="0" err="1">
                <a:latin typeface="Consolas" panose="020B0609020204030204" pitchFamily="49" charset="0"/>
              </a:rPr>
              <a:t>printf</a:t>
            </a:r>
            <a:r>
              <a:rPr lang="en-US" sz="1100" dirty="0">
                <a:latin typeface="Consolas" panose="020B0609020204030204" pitchFamily="49" charset="0"/>
              </a:rPr>
              <a:t>("Changed to %s\n",</a:t>
            </a:r>
            <a:r>
              <a:rPr lang="en-US" sz="1100" dirty="0" err="1">
                <a:latin typeface="Consolas" panose="020B0609020204030204" pitchFamily="49" charset="0"/>
              </a:rPr>
              <a:t>buf</a:t>
            </a:r>
            <a:r>
              <a:rPr lang="en-US" sz="1100" dirty="0">
                <a:latin typeface="Consolas" panose="020B0609020204030204" pitchFamily="49" charset="0"/>
              </a:rPr>
              <a:t>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}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else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</a:t>
            </a:r>
            <a:r>
              <a:rPr lang="en-US" sz="1100" dirty="0" err="1">
                <a:latin typeface="Consolas" panose="020B0609020204030204" pitchFamily="49" charset="0"/>
              </a:rPr>
              <a:t>printf</a:t>
            </a:r>
            <a:r>
              <a:rPr lang="en-US" sz="1100" dirty="0">
                <a:latin typeface="Consolas" panose="020B0609020204030204" pitchFamily="49" charset="0"/>
              </a:rPr>
              <a:t>("Current process file name is too long.\n");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}</a:t>
            </a:r>
          </a:p>
          <a:p>
            <a:endParaRPr lang="en-US" sz="11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3632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</a:t>
            </a:r>
            <a:r>
              <a:rPr lang="en-US" dirty="0" err="1"/>
              <a:t>FsSimpleWindow</a:t>
            </a:r>
            <a:r>
              <a:rPr lang="en-US" dirty="0"/>
              <a:t> / </a:t>
            </a:r>
            <a:r>
              <a:rPr lang="en-US" dirty="0" err="1"/>
              <a:t>FsLazyWindow</a:t>
            </a:r>
            <a:r>
              <a:rPr lang="en-US" dirty="0"/>
              <a:t> frameworks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These lines of code is wrapped in a function: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    void </a:t>
            </a:r>
            <a:r>
              <a:rPr lang="en-US" sz="2000" dirty="0" err="1">
                <a:latin typeface="Consolas" panose="020B0609020204030204" pitchFamily="49" charset="0"/>
              </a:rPr>
              <a:t>FsChangeToProgramDir</a:t>
            </a:r>
            <a:r>
              <a:rPr lang="en-US" sz="2000" dirty="0">
                <a:latin typeface="Consolas" panose="020B0609020204030204" pitchFamily="49" charset="0"/>
              </a:rPr>
              <a:t>(void);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Call this function once in your program before reading your resources.</a:t>
            </a:r>
          </a:p>
          <a:p>
            <a:endParaRPr lang="en-US" dirty="0"/>
          </a:p>
          <a:p>
            <a:r>
              <a:rPr lang="en-US" dirty="0"/>
              <a:t>HOWEVER, If you need to read a data file that is specified as a relative path from the command-line arguments, read the data file specified by the user BEFORE </a:t>
            </a:r>
            <a:r>
              <a:rPr lang="en-US" dirty="0" err="1"/>
              <a:t>FsChangeToProgramDir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988005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question: How to deliver files to that directory?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Manually?  No way.  If you are dealing with only one project, maybe.  Soon it becomes unmanageable.</a:t>
            </a:r>
          </a:p>
          <a:p>
            <a:r>
              <a:rPr lang="en-US" dirty="0"/>
              <a:t>Better use post-build command that can be specified in CMakeLists.txt</a:t>
            </a:r>
          </a:p>
        </p:txBody>
      </p:sp>
    </p:spTree>
    <p:extLst>
      <p:ext uri="{BB962C8B-B14F-4D97-AF65-F5344CB8AC3E}">
        <p14:creationId xmlns:p14="http://schemas.microsoft.com/office/powerpoint/2010/main" val="6575885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CMakeLists.txt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62050"/>
            <a:ext cx="8186857" cy="51706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nsolas" panose="020B0609020204030204" pitchFamily="49" charset="0"/>
              </a:rPr>
              <a:t>set(TARGET_NAME </a:t>
            </a:r>
            <a:r>
              <a:rPr lang="en-US" sz="1100" dirty="0" err="1">
                <a:latin typeface="Consolas" panose="020B0609020204030204" pitchFamily="49" charset="0"/>
              </a:rPr>
              <a:t>pngViewer</a:t>
            </a:r>
            <a:r>
              <a:rPr lang="en-US" sz="1100" dirty="0">
                <a:latin typeface="Consolas" panose="020B0609020204030204" pitchFamily="49" charset="0"/>
              </a:rPr>
              <a:t>)</a:t>
            </a:r>
          </a:p>
          <a:p>
            <a:r>
              <a:rPr lang="en-US" sz="1100" dirty="0" err="1">
                <a:latin typeface="Consolas" panose="020B0609020204030204" pitchFamily="49" charset="0"/>
              </a:rPr>
              <a:t>add_executable</a:t>
            </a:r>
            <a:r>
              <a:rPr lang="en-US" sz="1100" dirty="0">
                <a:latin typeface="Consolas" panose="020B0609020204030204" pitchFamily="49" charset="0"/>
              </a:rPr>
              <a:t>(${TARGET_NAME} MACOSX_BUNDLE main.cpp)</a:t>
            </a:r>
          </a:p>
          <a:p>
            <a:r>
              <a:rPr lang="en-US" sz="1100" dirty="0" err="1">
                <a:latin typeface="Consolas" panose="020B0609020204030204" pitchFamily="49" charset="0"/>
              </a:rPr>
              <a:t>target_link_libraries</a:t>
            </a:r>
            <a:r>
              <a:rPr lang="en-US" sz="1100" dirty="0">
                <a:latin typeface="Consolas" panose="020B0609020204030204" pitchFamily="49" charset="0"/>
              </a:rPr>
              <a:t>(${TARGET_NAME} </a:t>
            </a:r>
            <a:r>
              <a:rPr lang="en-US" sz="1100" dirty="0" err="1">
                <a:latin typeface="Consolas" panose="020B0609020204030204" pitchFamily="49" charset="0"/>
              </a:rPr>
              <a:t>fslazywindow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ysbitmap</a:t>
            </a:r>
            <a:r>
              <a:rPr lang="en-US" sz="1100" dirty="0">
                <a:latin typeface="Consolas" panose="020B0609020204030204" pitchFamily="49" charset="0"/>
              </a:rPr>
              <a:t>)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set(DATA_SOURCE ${CMAKE_CURRENT_SOURCE_DIR}/data)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 err="1">
                <a:latin typeface="Consolas" panose="020B0609020204030204" pitchFamily="49" charset="0"/>
              </a:rPr>
              <a:t>get_property</a:t>
            </a:r>
            <a:r>
              <a:rPr lang="en-US" sz="1100" dirty="0">
                <a:latin typeface="Consolas" panose="020B0609020204030204" pitchFamily="49" charset="0"/>
              </a:rPr>
              <a:t>(IS_MACOSX_BUNDLE TARGET ${TARGET_NAME} PROPERTY MACOSX_BUNDLE)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if(MACOSX AND ${IS_MACOSX_BUNDLE})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set(DATA_DESTINATION "$&lt;TARGET_FILE_DIR:${TARGET_NAME}&gt;/../Resources")</a:t>
            </a:r>
          </a:p>
          <a:p>
            <a:r>
              <a:rPr lang="en-US" sz="1100" dirty="0" err="1">
                <a:latin typeface="Consolas" panose="020B0609020204030204" pitchFamily="49" charset="0"/>
              </a:rPr>
              <a:t>elseif</a:t>
            </a:r>
            <a:r>
              <a:rPr lang="en-US" sz="1100" dirty="0">
                <a:latin typeface="Consolas" panose="020B0609020204030204" pitchFamily="49" charset="0"/>
              </a:rPr>
              <a:t>("${CMAKE_SYSTEM_NAME}" STREQUAL "</a:t>
            </a:r>
            <a:r>
              <a:rPr lang="en-US" sz="1100" dirty="0" err="1">
                <a:latin typeface="Consolas" panose="020B0609020204030204" pitchFamily="49" charset="0"/>
              </a:rPr>
              <a:t>WindowsStore</a:t>
            </a:r>
            <a:r>
              <a:rPr lang="en-US" sz="1100" dirty="0">
                <a:latin typeface="Consolas" panose="020B0609020204030204" pitchFamily="49" charset="0"/>
              </a:rPr>
              <a:t>")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# YS_IS_UNIVERSAL_WINDOWS_APP is needed for </a:t>
            </a:r>
            <a:r>
              <a:rPr lang="en-US" sz="1100" dirty="0" err="1">
                <a:latin typeface="Consolas" panose="020B0609020204030204" pitchFamily="49" charset="0"/>
              </a:rPr>
              <a:t>ysgl</a:t>
            </a:r>
            <a:r>
              <a:rPr lang="en-US" sz="1100" dirty="0">
                <a:latin typeface="Consolas" panose="020B0609020204030204" pitchFamily="49" charset="0"/>
              </a:rPr>
              <a:t> to distinguish Win32 and UWP in VC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add_definitions</a:t>
            </a:r>
            <a:r>
              <a:rPr lang="en-US" sz="1100" dirty="0">
                <a:latin typeface="Consolas" panose="020B0609020204030204" pitchFamily="49" charset="0"/>
              </a:rPr>
              <a:t>(-DYS_IS_UNIVERSAL_WINDOWS_APP)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set(CMAKE_CXX_FLAGS "${CMAKE_CXX_FLAGS} /ZW")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set(CMAKE_C_FLAGS "${CMAKE_C_FLAGS} /ZW")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set(DATA_DESTINATION "$&lt;TARGET_FILE_DIR:${TARGET_NAME}&gt;/Assets")</a:t>
            </a:r>
          </a:p>
          <a:p>
            <a:r>
              <a:rPr lang="en-US" sz="1100" dirty="0" err="1">
                <a:latin typeface="Consolas" panose="020B0609020204030204" pitchFamily="49" charset="0"/>
              </a:rPr>
              <a:t>elseif</a:t>
            </a:r>
            <a:r>
              <a:rPr lang="en-US" sz="1100" dirty="0">
                <a:latin typeface="Consolas" panose="020B0609020204030204" pitchFamily="49" charset="0"/>
              </a:rPr>
              <a:t>(MSVC)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set(DATA_DESTINATION "$&lt;TARGET_FILE_DIR:${TARGET_NAME}&gt;")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else()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set(DATA_DESTINATION "$&lt;TARGET_FILE_DIR:${TARGET_NAME}&gt;")</a:t>
            </a:r>
          </a:p>
          <a:p>
            <a:r>
              <a:rPr lang="en-US" sz="1100" dirty="0" err="1">
                <a:latin typeface="Consolas" panose="020B0609020204030204" pitchFamily="49" charset="0"/>
              </a:rPr>
              <a:t>endif</a:t>
            </a:r>
            <a:r>
              <a:rPr lang="en-US" sz="1100" dirty="0">
                <a:latin typeface="Consolas" panose="020B0609020204030204" pitchFamily="49" charset="0"/>
              </a:rPr>
              <a:t>()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 err="1">
                <a:latin typeface="Consolas" panose="020B0609020204030204" pitchFamily="49" charset="0"/>
              </a:rPr>
              <a:t>foreach</a:t>
            </a:r>
            <a:r>
              <a:rPr lang="en-US" sz="1100" dirty="0">
                <a:latin typeface="Consolas" panose="020B0609020204030204" pitchFamily="49" charset="0"/>
              </a:rPr>
              <a:t>(ONE_DATA_SOURCE ${DATA_SOURCE})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add_custom_command</a:t>
            </a:r>
            <a:r>
              <a:rPr lang="en-US" sz="1100" dirty="0">
                <a:latin typeface="Consolas" panose="020B0609020204030204" pitchFamily="49" charset="0"/>
              </a:rPr>
              <a:t>(TARGET ${TARGET_NAME} POST_BUILD 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COMMAND "${CMAKE_COMMAND}" -E </a:t>
            </a:r>
            <a:r>
              <a:rPr lang="en-US" sz="1100" dirty="0" err="1">
                <a:latin typeface="Consolas" panose="020B0609020204030204" pitchFamily="49" charset="0"/>
              </a:rPr>
              <a:t>make_directory</a:t>
            </a:r>
            <a:r>
              <a:rPr lang="en-US" sz="1100" dirty="0">
                <a:latin typeface="Consolas" panose="020B0609020204030204" pitchFamily="49" charset="0"/>
              </a:rPr>
              <a:t> \"${DATA_DESTINATION}\"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COMMAND "${CMAKE_COMMAND}" -E </a:t>
            </a:r>
            <a:r>
              <a:rPr lang="en-US" sz="1100" dirty="0" err="1">
                <a:latin typeface="Consolas" panose="020B0609020204030204" pitchFamily="49" charset="0"/>
              </a:rPr>
              <a:t>copy_directory</a:t>
            </a:r>
            <a:r>
              <a:rPr lang="en-US" sz="1100" dirty="0">
                <a:latin typeface="Consolas" panose="020B0609020204030204" pitchFamily="49" charset="0"/>
              </a:rPr>
              <a:t> \"${ONE_DATA_SOURCE}\" \"${DATA_DESTINATION}\")</a:t>
            </a:r>
          </a:p>
          <a:p>
            <a:r>
              <a:rPr lang="en-US" sz="1100" dirty="0" err="1">
                <a:latin typeface="Consolas" panose="020B0609020204030204" pitchFamily="49" charset="0"/>
              </a:rPr>
              <a:t>endforeach</a:t>
            </a:r>
            <a:r>
              <a:rPr lang="en-US" sz="1100" dirty="0">
                <a:latin typeface="Consolas" panose="020B0609020204030204" pitchFamily="49" charset="0"/>
              </a:rPr>
              <a:t>(ONE_DATA_SOURCE)</a:t>
            </a:r>
          </a:p>
          <a:p>
            <a:endParaRPr lang="en-US" sz="1100" dirty="0">
              <a:latin typeface="Consolas" panose="020B0609020204030204" pitchFamily="49" charset="0"/>
            </a:endParaRPr>
          </a:p>
        </p:txBody>
      </p:sp>
      <p:sp>
        <p:nvSpPr>
          <p:cNvPr id="6" name="Right Brace 5"/>
          <p:cNvSpPr/>
          <p:nvPr/>
        </p:nvSpPr>
        <p:spPr>
          <a:xfrm>
            <a:off x="7404100" y="2482850"/>
            <a:ext cx="228600" cy="2711450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7670800" y="3327400"/>
            <a:ext cx="13906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Setting up copy destination</a:t>
            </a:r>
          </a:p>
        </p:txBody>
      </p:sp>
      <p:cxnSp>
        <p:nvCxnSpPr>
          <p:cNvPr id="9" name="Straight Arrow Connector 8"/>
          <p:cNvCxnSpPr>
            <a:stCxn id="10" idx="1"/>
          </p:cNvCxnSpPr>
          <p:nvPr/>
        </p:nvCxnSpPr>
        <p:spPr>
          <a:xfrm flipH="1">
            <a:off x="3467100" y="1358960"/>
            <a:ext cx="1758950" cy="71749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226050" y="1097350"/>
            <a:ext cx="3835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${CMAKE_CURRENT_SOURCE_DIR} is the directory where this CMakeLists.txt resides.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 flipH="1">
            <a:off x="2890271" y="5358512"/>
            <a:ext cx="1720095" cy="65222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552819" y="5175117"/>
            <a:ext cx="41520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${CMAKE_COMMAND} is cmake.exe itself.</a:t>
            </a:r>
          </a:p>
        </p:txBody>
      </p:sp>
    </p:spTree>
    <p:extLst>
      <p:ext uri="{BB962C8B-B14F-4D97-AF65-F5344CB8AC3E}">
        <p14:creationId xmlns:p14="http://schemas.microsoft.com/office/powerpoint/2010/main" val="37541056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Part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make later part re-usable, set a variable called TARGET_NAME</a:t>
            </a:r>
          </a:p>
          <a:p>
            <a:r>
              <a:rPr lang="en-US" dirty="0"/>
              <a:t>DATA_SOURCE is a directory that stores all data files.  Files and sub-directories will be copied to the location where the executable can see.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41700"/>
            <a:ext cx="7656263" cy="16466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set(TARGET_NAME </a:t>
            </a:r>
            <a:r>
              <a:rPr lang="en-US" dirty="0" err="1">
                <a:latin typeface="Consolas" panose="020B0609020204030204" pitchFamily="49" charset="0"/>
              </a:rPr>
              <a:t>pngViewer</a:t>
            </a:r>
            <a:r>
              <a:rPr lang="en-US" dirty="0">
                <a:latin typeface="Consolas" panose="020B0609020204030204" pitchFamily="49" charset="0"/>
              </a:rPr>
              <a:t>)</a:t>
            </a:r>
          </a:p>
          <a:p>
            <a:r>
              <a:rPr lang="en-US" dirty="0" err="1">
                <a:latin typeface="Consolas" panose="020B0609020204030204" pitchFamily="49" charset="0"/>
              </a:rPr>
              <a:t>add_executable</a:t>
            </a:r>
            <a:r>
              <a:rPr lang="en-US" dirty="0">
                <a:latin typeface="Consolas" panose="020B0609020204030204" pitchFamily="49" charset="0"/>
              </a:rPr>
              <a:t>(${TARGET_NAME} MACOSX_BUNDLE main.cpp)</a:t>
            </a:r>
          </a:p>
          <a:p>
            <a:r>
              <a:rPr lang="en-US" dirty="0" err="1">
                <a:latin typeface="Consolas" panose="020B0609020204030204" pitchFamily="49" charset="0"/>
              </a:rPr>
              <a:t>target_link_libraries</a:t>
            </a:r>
            <a:r>
              <a:rPr lang="en-US" dirty="0">
                <a:latin typeface="Consolas" panose="020B0609020204030204" pitchFamily="49" charset="0"/>
              </a:rPr>
              <a:t>(${TARGET_NAME} </a:t>
            </a:r>
            <a:r>
              <a:rPr lang="en-US" dirty="0" err="1">
                <a:latin typeface="Consolas" panose="020B0609020204030204" pitchFamily="49" charset="0"/>
              </a:rPr>
              <a:t>fslazywindow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ysbitmap</a:t>
            </a:r>
            <a:r>
              <a:rPr lang="en-US" dirty="0">
                <a:latin typeface="Consolas" panose="020B0609020204030204" pitchFamily="49" charset="0"/>
              </a:rPr>
              <a:t>)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set(DATA_SOURCE ${CMAKE_CURRENT_SOURCE_DIR}/data)</a:t>
            </a:r>
          </a:p>
          <a:p>
            <a:endParaRPr lang="en-US" sz="11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16050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Second Part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Identify data file destination.</a:t>
            </a:r>
          </a:p>
          <a:p>
            <a:r>
              <a:rPr lang="en-US" dirty="0"/>
              <a:t>After this block, the variable DATA_DESTINATION stores where the files must be copied.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308350"/>
            <a:ext cx="7576113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nsolas" panose="020B0609020204030204" pitchFamily="49" charset="0"/>
              </a:rPr>
              <a:t>get_property</a:t>
            </a:r>
            <a:r>
              <a:rPr lang="en-US" sz="1200" dirty="0">
                <a:latin typeface="Consolas" panose="020B0609020204030204" pitchFamily="49" charset="0"/>
              </a:rPr>
              <a:t>(IS_MACOSX_BUNDLE TARGET ${TARGET_NAME} PROPERTY MACOSX_BUNDLE)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if(MACOSX AND ${IS_MACOSX_BUNDLE})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set(DATA_DESTINATION "$&lt;TARGET_FILE_DIR:${TARGET_NAME}&gt;/../Resources")</a:t>
            </a:r>
          </a:p>
          <a:p>
            <a:r>
              <a:rPr lang="en-US" sz="1200" dirty="0" err="1">
                <a:latin typeface="Consolas" panose="020B0609020204030204" pitchFamily="49" charset="0"/>
              </a:rPr>
              <a:t>elseif</a:t>
            </a:r>
            <a:r>
              <a:rPr lang="en-US" sz="1200" dirty="0">
                <a:latin typeface="Consolas" panose="020B0609020204030204" pitchFamily="49" charset="0"/>
              </a:rPr>
              <a:t>("${CMAKE_SYSTEM_NAME}" STREQUAL "</a:t>
            </a:r>
            <a:r>
              <a:rPr lang="en-US" sz="1200" dirty="0" err="1">
                <a:latin typeface="Consolas" panose="020B0609020204030204" pitchFamily="49" charset="0"/>
              </a:rPr>
              <a:t>WindowsStore</a:t>
            </a:r>
            <a:r>
              <a:rPr lang="en-US" sz="1200" dirty="0">
                <a:latin typeface="Consolas" panose="020B0609020204030204" pitchFamily="49" charset="0"/>
              </a:rPr>
              <a:t>")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# YS_IS_UNIVERSAL_WINDOWS_APP is needed for </a:t>
            </a:r>
            <a:r>
              <a:rPr lang="en-US" sz="1200" dirty="0" err="1">
                <a:latin typeface="Consolas" panose="020B0609020204030204" pitchFamily="49" charset="0"/>
              </a:rPr>
              <a:t>ysgl</a:t>
            </a:r>
            <a:r>
              <a:rPr lang="en-US" sz="1200" dirty="0">
                <a:latin typeface="Consolas" panose="020B0609020204030204" pitchFamily="49" charset="0"/>
              </a:rPr>
              <a:t> to distinguish Win32 and UWP in VC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</a:t>
            </a:r>
            <a:r>
              <a:rPr lang="en-US" sz="1200" dirty="0" err="1">
                <a:latin typeface="Consolas" panose="020B0609020204030204" pitchFamily="49" charset="0"/>
              </a:rPr>
              <a:t>add_definitions</a:t>
            </a:r>
            <a:r>
              <a:rPr lang="en-US" sz="1200" dirty="0">
                <a:latin typeface="Consolas" panose="020B0609020204030204" pitchFamily="49" charset="0"/>
              </a:rPr>
              <a:t>(-DYS_IS_UNIVERSAL_WINDOWS_APP)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set(CMAKE_CXX_FLAGS "${CMAKE_CXX_FLAGS} /ZW")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set(CMAKE_C_FLAGS "${CMAKE_C_FLAGS} /ZW")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set(DATA_DESTINATION "$&lt;TARGET_FILE_DIR:${TARGET_NAME}&gt;/Assets")</a:t>
            </a:r>
          </a:p>
          <a:p>
            <a:r>
              <a:rPr lang="en-US" sz="1200" dirty="0" err="1">
                <a:latin typeface="Consolas" panose="020B0609020204030204" pitchFamily="49" charset="0"/>
              </a:rPr>
              <a:t>elseif</a:t>
            </a:r>
            <a:r>
              <a:rPr lang="en-US" sz="1200" dirty="0">
                <a:latin typeface="Consolas" panose="020B0609020204030204" pitchFamily="49" charset="0"/>
              </a:rPr>
              <a:t>(MSVC)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set(DATA_DESTINATION "$&lt;TARGET_FILE_DIR:${TARGET_NAME}&gt;")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else()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set(DATA_DESTINATION "$&lt;TARGET_FILE_DIR:${TARGET_NAME}&gt;")</a:t>
            </a:r>
          </a:p>
          <a:p>
            <a:r>
              <a:rPr lang="en-US" sz="1200" dirty="0" err="1">
                <a:latin typeface="Consolas" panose="020B0609020204030204" pitchFamily="49" charset="0"/>
              </a:rPr>
              <a:t>endif</a:t>
            </a:r>
            <a:r>
              <a:rPr lang="en-US" sz="1200" dirty="0">
                <a:latin typeface="Consolas" panose="020B0609020204030204" pitchFamily="49" charset="0"/>
              </a:rPr>
              <a:t>()</a:t>
            </a:r>
            <a:endParaRPr lang="en-US" sz="1200" dirty="0"/>
          </a:p>
        </p:txBody>
      </p:sp>
      <p:sp>
        <p:nvSpPr>
          <p:cNvPr id="5" name="Rounded Rectangle 4"/>
          <p:cNvSpPr/>
          <p:nvPr/>
        </p:nvSpPr>
        <p:spPr>
          <a:xfrm>
            <a:off x="3048000" y="3308350"/>
            <a:ext cx="1797050" cy="2540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4895850" y="3308350"/>
            <a:ext cx="1898650" cy="288131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3946525" y="2778779"/>
            <a:ext cx="1274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This target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82471" y="2777290"/>
            <a:ext cx="18517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This property of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7636" y="2798861"/>
            <a:ext cx="2659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Is copied to this variable</a:t>
            </a:r>
          </a:p>
        </p:txBody>
      </p:sp>
      <p:cxnSp>
        <p:nvCxnSpPr>
          <p:cNvPr id="11" name="Straight Connector 10"/>
          <p:cNvCxnSpPr>
            <a:endCxn id="6" idx="0"/>
          </p:cNvCxnSpPr>
          <p:nvPr/>
        </p:nvCxnSpPr>
        <p:spPr>
          <a:xfrm flipH="1">
            <a:off x="5845175" y="3168193"/>
            <a:ext cx="650875" cy="14015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stCxn id="7" idx="2"/>
            <a:endCxn id="5" idx="0"/>
          </p:cNvCxnSpPr>
          <p:nvPr/>
        </p:nvCxnSpPr>
        <p:spPr>
          <a:xfrm flipH="1">
            <a:off x="3946525" y="3148111"/>
            <a:ext cx="637354" cy="16023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 13"/>
          <p:cNvSpPr/>
          <p:nvPr/>
        </p:nvSpPr>
        <p:spPr>
          <a:xfrm>
            <a:off x="4660900" y="2590794"/>
            <a:ext cx="1638300" cy="266706"/>
          </a:xfrm>
          <a:custGeom>
            <a:avLst/>
            <a:gdLst>
              <a:gd name="connsiteX0" fmla="*/ 1638300 w 1638300"/>
              <a:gd name="connsiteY0" fmla="*/ 266706 h 266706"/>
              <a:gd name="connsiteX1" fmla="*/ 825500 w 1638300"/>
              <a:gd name="connsiteY1" fmla="*/ 6 h 266706"/>
              <a:gd name="connsiteX2" fmla="*/ 0 w 1638300"/>
              <a:gd name="connsiteY2" fmla="*/ 260356 h 266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38300" h="266706">
                <a:moveTo>
                  <a:pt x="1638300" y="266706"/>
                </a:moveTo>
                <a:cubicBezTo>
                  <a:pt x="1368425" y="133885"/>
                  <a:pt x="1098550" y="1064"/>
                  <a:pt x="825500" y="6"/>
                </a:cubicBezTo>
                <a:cubicBezTo>
                  <a:pt x="552450" y="-1052"/>
                  <a:pt x="276225" y="129652"/>
                  <a:pt x="0" y="260356"/>
                </a:cubicBezTo>
              </a:path>
            </a:pathLst>
          </a:custGeom>
          <a:noFill/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14"/>
          <p:cNvSpPr/>
          <p:nvPr/>
        </p:nvSpPr>
        <p:spPr>
          <a:xfrm>
            <a:off x="2921000" y="2666407"/>
            <a:ext cx="1460500" cy="210143"/>
          </a:xfrm>
          <a:custGeom>
            <a:avLst/>
            <a:gdLst>
              <a:gd name="connsiteX0" fmla="*/ 1460500 w 1460500"/>
              <a:gd name="connsiteY0" fmla="*/ 159343 h 210143"/>
              <a:gd name="connsiteX1" fmla="*/ 622300 w 1460500"/>
              <a:gd name="connsiteY1" fmla="*/ 593 h 210143"/>
              <a:gd name="connsiteX2" fmla="*/ 0 w 1460500"/>
              <a:gd name="connsiteY2" fmla="*/ 210143 h 210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60500" h="210143">
                <a:moveTo>
                  <a:pt x="1460500" y="159343"/>
                </a:moveTo>
                <a:cubicBezTo>
                  <a:pt x="1163108" y="75734"/>
                  <a:pt x="865717" y="-7874"/>
                  <a:pt x="622300" y="593"/>
                </a:cubicBezTo>
                <a:cubicBezTo>
                  <a:pt x="378883" y="9060"/>
                  <a:pt x="189441" y="109601"/>
                  <a:pt x="0" y="210143"/>
                </a:cubicBezTo>
              </a:path>
            </a:pathLst>
          </a:custGeom>
          <a:noFill/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/>
          <p:cNvCxnSpPr>
            <a:stCxn id="9" idx="2"/>
          </p:cNvCxnSpPr>
          <p:nvPr/>
        </p:nvCxnSpPr>
        <p:spPr>
          <a:xfrm flipH="1">
            <a:off x="2292350" y="3168193"/>
            <a:ext cx="205137" cy="22270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603500" y="5511800"/>
            <a:ext cx="2927350" cy="27305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1446267" y="6192498"/>
            <a:ext cx="7220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Generator expression: The value will be substituted by the generator.</a:t>
            </a:r>
          </a:p>
        </p:txBody>
      </p:sp>
      <p:cxnSp>
        <p:nvCxnSpPr>
          <p:cNvPr id="21" name="Straight Connector 20"/>
          <p:cNvCxnSpPr>
            <a:stCxn id="19" idx="0"/>
            <a:endCxn id="18" idx="2"/>
          </p:cNvCxnSpPr>
          <p:nvPr/>
        </p:nvCxnSpPr>
        <p:spPr>
          <a:xfrm flipH="1" flipV="1">
            <a:off x="4067175" y="5784850"/>
            <a:ext cx="989568" cy="40764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93890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Part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each data source (can be multiple) set up post-build commands for copying files.</a:t>
            </a:r>
          </a:p>
          <a:p>
            <a:r>
              <a:rPr lang="en-US" dirty="0"/>
              <a:t>Copy command is different between platforms.</a:t>
            </a:r>
          </a:p>
          <a:p>
            <a:r>
              <a:rPr lang="en-US" dirty="0"/>
              <a:t>Use CMake.exe (${CMAKE_COMMAND}) to avoid platform dependency.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68800"/>
            <a:ext cx="7879080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err="1">
                <a:latin typeface="Consolas" panose="020B0609020204030204" pitchFamily="49" charset="0"/>
              </a:rPr>
              <a:t>foreach</a:t>
            </a:r>
            <a:r>
              <a:rPr lang="en-US" sz="1100" dirty="0">
                <a:latin typeface="Consolas" panose="020B0609020204030204" pitchFamily="49" charset="0"/>
              </a:rPr>
              <a:t>(ONE_DATA_SOURCE ${DATA_SOURCE})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add_custom_command</a:t>
            </a:r>
            <a:r>
              <a:rPr lang="en-US" sz="1100" dirty="0">
                <a:latin typeface="Consolas" panose="020B0609020204030204" pitchFamily="49" charset="0"/>
              </a:rPr>
              <a:t>(TARGET ${TARGET_NAME} POST_BUILD 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COMMAND "${CMAKE_COMMAND}" -E </a:t>
            </a:r>
            <a:r>
              <a:rPr lang="en-US" sz="1100" dirty="0" err="1">
                <a:latin typeface="Consolas" panose="020B0609020204030204" pitchFamily="49" charset="0"/>
              </a:rPr>
              <a:t>make_directory</a:t>
            </a:r>
            <a:r>
              <a:rPr lang="en-US" sz="1100" dirty="0">
                <a:latin typeface="Consolas" panose="020B0609020204030204" pitchFamily="49" charset="0"/>
              </a:rPr>
              <a:t> \"${DATA_DESTINATION}\"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COMMAND "${CMAKE_COMMAND}" -E </a:t>
            </a:r>
            <a:r>
              <a:rPr lang="en-US" sz="1100" dirty="0" err="1">
                <a:latin typeface="Consolas" panose="020B0609020204030204" pitchFamily="49" charset="0"/>
              </a:rPr>
              <a:t>copy_directory</a:t>
            </a:r>
            <a:r>
              <a:rPr lang="en-US" sz="1100" dirty="0">
                <a:latin typeface="Consolas" panose="020B0609020204030204" pitchFamily="49" charset="0"/>
              </a:rPr>
              <a:t> \"${ONE_DATA_SOURCE}\" \"${DATA_DESTINATION}\")</a:t>
            </a:r>
          </a:p>
          <a:p>
            <a:r>
              <a:rPr lang="en-US" sz="1100" dirty="0" err="1">
                <a:latin typeface="Consolas" panose="020B0609020204030204" pitchFamily="49" charset="0"/>
              </a:rPr>
              <a:t>endforeach</a:t>
            </a:r>
            <a:r>
              <a:rPr lang="en-US" sz="1100" dirty="0">
                <a:latin typeface="Consolas" panose="020B0609020204030204" pitchFamily="49" charset="0"/>
              </a:rPr>
              <a:t>(ONE_DATA_SOURCE)</a:t>
            </a:r>
          </a:p>
          <a:p>
            <a:endParaRPr lang="en-US" sz="1100" dirty="0">
              <a:latin typeface="Consolas" panose="020B0609020204030204" pitchFamily="49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2260600" y="4578350"/>
            <a:ext cx="1676400" cy="1905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3136900" y="3596481"/>
            <a:ext cx="1736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For this target,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73273" y="3575764"/>
            <a:ext cx="1197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after build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37000" y="4578350"/>
            <a:ext cx="831850" cy="1905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/>
          <p:cNvCxnSpPr>
            <a:stCxn id="7" idx="2"/>
            <a:endCxn id="6" idx="0"/>
          </p:cNvCxnSpPr>
          <p:nvPr/>
        </p:nvCxnSpPr>
        <p:spPr>
          <a:xfrm flipH="1">
            <a:off x="3098800" y="3965813"/>
            <a:ext cx="906287" cy="61253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stCxn id="8" idx="2"/>
            <a:endCxn id="9" idx="0"/>
          </p:cNvCxnSpPr>
          <p:nvPr/>
        </p:nvCxnSpPr>
        <p:spPr>
          <a:xfrm flipH="1">
            <a:off x="4352925" y="3945096"/>
            <a:ext cx="1119230" cy="63325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12380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 you want to support Universal Windows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Universal Windows App has one extra step called "Deployment" before actually running the app.</a:t>
            </a:r>
          </a:p>
          <a:p>
            <a:r>
              <a:rPr lang="en-US" dirty="0"/>
              <a:t>The data files need to be copied to the deployment location, which is controlled by Visual Studio.</a:t>
            </a:r>
          </a:p>
          <a:p>
            <a:r>
              <a:rPr lang="en-US" dirty="0"/>
              <a:t>CMake added a target property VS_DEPLOYMENT_CONTENT and VS_DEPLOYMENT_LOCATION.</a:t>
            </a:r>
          </a:p>
          <a:p>
            <a:r>
              <a:rPr lang="en-US" dirty="0"/>
              <a:t>Data files need to be added as a source file, and then these properties must be set for the data files.</a:t>
            </a:r>
          </a:p>
        </p:txBody>
      </p:sp>
    </p:spTree>
    <p:extLst>
      <p:ext uri="{BB962C8B-B14F-4D97-AF65-F5344CB8AC3E}">
        <p14:creationId xmlns:p14="http://schemas.microsoft.com/office/powerpoint/2010/main" val="23330777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Part (UWP support)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60450"/>
            <a:ext cx="8186857" cy="51706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nsolas" panose="020B0609020204030204" pitchFamily="49" charset="0"/>
              </a:rPr>
              <a:t>if(NOT "${CMAKE_SYSTEM_NAME}" STREQUAL "</a:t>
            </a:r>
            <a:r>
              <a:rPr lang="en-US" sz="1100" dirty="0" err="1">
                <a:latin typeface="Consolas" panose="020B0609020204030204" pitchFamily="49" charset="0"/>
              </a:rPr>
              <a:t>WindowsStore</a:t>
            </a:r>
            <a:r>
              <a:rPr lang="en-US" sz="1100" dirty="0">
                <a:latin typeface="Consolas" panose="020B0609020204030204" pitchFamily="49" charset="0"/>
              </a:rPr>
              <a:t>")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foreach</a:t>
            </a:r>
            <a:r>
              <a:rPr lang="en-US" sz="1100" dirty="0">
                <a:latin typeface="Consolas" panose="020B0609020204030204" pitchFamily="49" charset="0"/>
              </a:rPr>
              <a:t>(ONE_DATA_SOURCE ${DATA_SOURCE})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</a:t>
            </a:r>
            <a:r>
              <a:rPr lang="en-US" sz="1100" dirty="0" err="1">
                <a:latin typeface="Consolas" panose="020B0609020204030204" pitchFamily="49" charset="0"/>
              </a:rPr>
              <a:t>add_custom_command</a:t>
            </a:r>
            <a:r>
              <a:rPr lang="en-US" sz="1100" dirty="0">
                <a:latin typeface="Consolas" panose="020B0609020204030204" pitchFamily="49" charset="0"/>
              </a:rPr>
              <a:t>(TARGET ${TARGET_NAME} POST_BUILD 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COMMAND "${CMAKE_COMMAND}" -E </a:t>
            </a:r>
            <a:r>
              <a:rPr lang="en-US" sz="1100" dirty="0" err="1">
                <a:latin typeface="Consolas" panose="020B0609020204030204" pitchFamily="49" charset="0"/>
              </a:rPr>
              <a:t>make_directory</a:t>
            </a:r>
            <a:r>
              <a:rPr lang="en-US" sz="1100" dirty="0">
                <a:latin typeface="Consolas" panose="020B0609020204030204" pitchFamily="49" charset="0"/>
              </a:rPr>
              <a:t> \"${DATA_DESTINATION}\"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COMMAND "${CMAKE_COMMAND}" -E </a:t>
            </a:r>
            <a:r>
              <a:rPr lang="en-US" sz="1100" dirty="0" err="1">
                <a:latin typeface="Consolas" panose="020B0609020204030204" pitchFamily="49" charset="0"/>
              </a:rPr>
              <a:t>copy_directory</a:t>
            </a:r>
            <a:r>
              <a:rPr lang="en-US" sz="1100" dirty="0">
                <a:latin typeface="Consolas" panose="020B0609020204030204" pitchFamily="49" charset="0"/>
              </a:rPr>
              <a:t> \"${ONE_DATA_SOURCE}\" \"${DATA_DESTINATION}\")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endforeach</a:t>
            </a:r>
            <a:r>
              <a:rPr lang="en-US" sz="1100" dirty="0">
                <a:latin typeface="Consolas" panose="020B0609020204030204" pitchFamily="49" charset="0"/>
              </a:rPr>
              <a:t>(ONE_DATA_SOURCE)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else()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foreach</a:t>
            </a:r>
            <a:r>
              <a:rPr lang="en-US" sz="1100" dirty="0">
                <a:latin typeface="Consolas" panose="020B0609020204030204" pitchFamily="49" charset="0"/>
              </a:rPr>
              <a:t>(ONE_DATA_SOURCE ${DATA_SOURCE})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file(GLOB_RECURSE DATA_FILES RELATIVE ${ONE_DATA_SOURCE} ${ONE_DATA_SOURCE}/*)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</a:t>
            </a:r>
            <a:r>
              <a:rPr lang="en-US" sz="1100" dirty="0" err="1">
                <a:latin typeface="Consolas" panose="020B0609020204030204" pitchFamily="49" charset="0"/>
              </a:rPr>
              <a:t>foreach</a:t>
            </a:r>
            <a:r>
              <a:rPr lang="en-US" sz="1100" dirty="0">
                <a:latin typeface="Consolas" panose="020B0609020204030204" pitchFamily="49" charset="0"/>
              </a:rPr>
              <a:t>(DATA_FILE ${DATA_FILES})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set(DIR_PART)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set(DATA_SOURCE_FILE ${ONE_DATA_SOURCE}/${DATA_FILE})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</a:t>
            </a:r>
            <a:r>
              <a:rPr lang="en-US" sz="1100" dirty="0" err="1">
                <a:latin typeface="Consolas" panose="020B0609020204030204" pitchFamily="49" charset="0"/>
              </a:rPr>
              <a:t>get_filename_component</a:t>
            </a:r>
            <a:r>
              <a:rPr lang="en-US" sz="1100" dirty="0">
                <a:latin typeface="Consolas" panose="020B0609020204030204" pitchFamily="49" charset="0"/>
              </a:rPr>
              <a:t>(NAME_PART ${DATA_FILE} NAME)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</a:t>
            </a:r>
            <a:r>
              <a:rPr lang="en-US" sz="1100" dirty="0" err="1">
                <a:latin typeface="Consolas" panose="020B0609020204030204" pitchFamily="49" charset="0"/>
              </a:rPr>
              <a:t>get_filename_component</a:t>
            </a:r>
            <a:r>
              <a:rPr lang="en-US" sz="1100" dirty="0">
                <a:latin typeface="Consolas" panose="020B0609020204030204" pitchFamily="49" charset="0"/>
              </a:rPr>
              <a:t>(DIR_PART ${DATA_FILE} DIRECTORY)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string(LENGTH "${DIR_PART}" DIR_PART_LENGTH)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if(${DIR_PART_LENGTH} GREATER 0)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    set(DESTIN_DIR "Assets/${DIR_PART}")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else()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    set(DESTIN_DIR "Assets")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</a:t>
            </a:r>
            <a:r>
              <a:rPr lang="en-US" sz="1100" dirty="0" err="1">
                <a:latin typeface="Consolas" panose="020B0609020204030204" pitchFamily="49" charset="0"/>
              </a:rPr>
              <a:t>endif</a:t>
            </a:r>
            <a:r>
              <a:rPr lang="en-US" sz="1100" dirty="0">
                <a:latin typeface="Consolas" panose="020B0609020204030204" pitchFamily="49" charset="0"/>
              </a:rPr>
              <a:t>()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message(&gt;&gt; ${DATA_SOURCE_FILE})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message(&gt;&gt; ${NAME_PART} @ ${DIR_PART}-&gt;${DESTIN_DIR})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            </a:t>
            </a:r>
            <a:r>
              <a:rPr lang="en-US" sz="1100" dirty="0" err="1">
                <a:latin typeface="Consolas" panose="020B0609020204030204" pitchFamily="49" charset="0"/>
              </a:rPr>
              <a:t>target_sources</a:t>
            </a:r>
            <a:r>
              <a:rPr lang="en-US" sz="1100" dirty="0">
                <a:latin typeface="Consolas" panose="020B0609020204030204" pitchFamily="49" charset="0"/>
              </a:rPr>
              <a:t>(${TARGET_NAME} PUBLIC ${DATA_SOURCE_FILE})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</a:t>
            </a:r>
            <a:r>
              <a:rPr lang="en-US" sz="1100" dirty="0" err="1">
                <a:latin typeface="Consolas" panose="020B0609020204030204" pitchFamily="49" charset="0"/>
              </a:rPr>
              <a:t>set_property</a:t>
            </a:r>
            <a:r>
              <a:rPr lang="en-US" sz="1100" dirty="0">
                <a:latin typeface="Consolas" panose="020B0609020204030204" pitchFamily="49" charset="0"/>
              </a:rPr>
              <a:t>(SOURCE ${DATA_SOURCE_FILE} PROPERTY VS_DEPLOYMENT_CONTENT 1)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</a:t>
            </a:r>
            <a:r>
              <a:rPr lang="en-US" sz="1100" dirty="0" err="1">
                <a:latin typeface="Consolas" panose="020B0609020204030204" pitchFamily="49" charset="0"/>
              </a:rPr>
              <a:t>set_property</a:t>
            </a:r>
            <a:r>
              <a:rPr lang="en-US" sz="1100" dirty="0">
                <a:latin typeface="Consolas" panose="020B0609020204030204" pitchFamily="49" charset="0"/>
              </a:rPr>
              <a:t>(SOURCE ${DATA_SOURCE_FILE} PROPERTY VS_DEPLOYMENT_LOCATION "${DESTIN_DIR}")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</a:t>
            </a:r>
            <a:r>
              <a:rPr lang="en-US" sz="1100" dirty="0" err="1">
                <a:latin typeface="Consolas" panose="020B0609020204030204" pitchFamily="49" charset="0"/>
              </a:rPr>
              <a:t>endforeach</a:t>
            </a:r>
            <a:r>
              <a:rPr lang="en-US" sz="1100" dirty="0">
                <a:latin typeface="Consolas" panose="020B0609020204030204" pitchFamily="49" charset="0"/>
              </a:rPr>
              <a:t>(DATA_FILE)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endforeach</a:t>
            </a:r>
            <a:r>
              <a:rPr lang="en-US" sz="1100" dirty="0">
                <a:latin typeface="Consolas" panose="020B0609020204030204" pitchFamily="49" charset="0"/>
              </a:rPr>
              <a:t>(ONE_DATA_SOURCE)</a:t>
            </a:r>
          </a:p>
          <a:p>
            <a:r>
              <a:rPr lang="en-US" sz="1100" dirty="0" err="1">
                <a:latin typeface="Consolas" panose="020B0609020204030204" pitchFamily="49" charset="0"/>
              </a:rPr>
              <a:t>endif</a:t>
            </a:r>
            <a:r>
              <a:rPr lang="en-US" sz="1100" dirty="0">
                <a:latin typeface="Consolas" panose="020B0609020204030204" pitchFamily="49" charset="0"/>
              </a:rPr>
              <a:t>()</a:t>
            </a:r>
          </a:p>
          <a:p>
            <a:endParaRPr lang="en-US" sz="11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28529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Programmable </a:t>
            </a:r>
            <a:r>
              <a:rPr lang="en-US" dirty="0" err="1"/>
              <a:t>Shader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What’s Programmable </a:t>
            </a:r>
            <a:r>
              <a:rPr lang="en-US" dirty="0" err="1"/>
              <a:t>Shader</a:t>
            </a:r>
            <a:r>
              <a:rPr lang="en-US" dirty="0"/>
              <a:t>?</a:t>
            </a:r>
          </a:p>
          <a:p>
            <a:r>
              <a:rPr lang="en-US" dirty="0"/>
              <a:t>Why Programmable </a:t>
            </a:r>
            <a:r>
              <a:rPr lang="en-US" dirty="0" err="1"/>
              <a:t>Shader</a:t>
            </a:r>
            <a:r>
              <a:rPr lang="en-US" dirty="0"/>
              <a:t>?</a:t>
            </a:r>
          </a:p>
          <a:p>
            <a:r>
              <a:rPr lang="en-US" dirty="0"/>
              <a:t>GLSL programming</a:t>
            </a:r>
          </a:p>
          <a:p>
            <a:r>
              <a:rPr lang="en-US" dirty="0"/>
              <a:t>Pass-Through GLSL Program</a:t>
            </a:r>
          </a:p>
          <a:p>
            <a:r>
              <a:rPr lang="en-US" dirty="0"/>
              <a:t>Screen coordinate as color</a:t>
            </a:r>
          </a:p>
          <a:p>
            <a:r>
              <a:rPr lang="en-US" dirty="0"/>
              <a:t>Color as attribute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36793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Programmable </a:t>
            </a:r>
            <a:r>
              <a:rPr lang="en-US" dirty="0" err="1"/>
              <a:t>Shader</a:t>
            </a:r>
            <a:r>
              <a:rPr lang="en-US"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Opposite of fixed-function pipeline.</a:t>
            </a:r>
          </a:p>
          <a:p>
            <a:r>
              <a:rPr lang="en-US" dirty="0"/>
              <a:t>In fixed-function pipeline, a vertex consists of a fixed set of attributes (position, color, normal, and texture coordinate), and goes through a fixed calculation.</a:t>
            </a:r>
          </a:p>
          <a:p>
            <a:r>
              <a:rPr lang="en-US" dirty="0"/>
              <a:t>In programmable </a:t>
            </a:r>
            <a:r>
              <a:rPr lang="en-US" dirty="0" err="1"/>
              <a:t>shader</a:t>
            </a:r>
            <a:r>
              <a:rPr lang="en-US" dirty="0"/>
              <a:t>, you can define what attributes that a vertex consists of.</a:t>
            </a:r>
          </a:p>
        </p:txBody>
      </p:sp>
    </p:spTree>
    <p:extLst>
      <p:ext uri="{BB962C8B-B14F-4D97-AF65-F5344CB8AC3E}">
        <p14:creationId xmlns:p14="http://schemas.microsoft.com/office/powerpoint/2010/main" val="31553750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Programmable </a:t>
            </a:r>
            <a:r>
              <a:rPr lang="en-US" dirty="0" err="1"/>
              <a:t>Shader</a:t>
            </a:r>
            <a:r>
              <a:rPr lang="en-US"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vertex can be as simple as just one XY coordinate if:</a:t>
            </a:r>
          </a:p>
          <a:p>
            <a:pPr lvl="1"/>
            <a:r>
              <a:rPr lang="en-US" dirty="0"/>
              <a:t>You are drawing 2D elements.</a:t>
            </a:r>
          </a:p>
          <a:p>
            <a:pPr lvl="1"/>
            <a:r>
              <a:rPr lang="en-US" dirty="0"/>
              <a:t>All elements need to be drawn in the same color.</a:t>
            </a:r>
          </a:p>
          <a:p>
            <a:r>
              <a:rPr lang="en-US" dirty="0"/>
              <a:t>Such minimum vertex will substantially reduce CPU-GPU transaction.</a:t>
            </a:r>
          </a:p>
          <a:p>
            <a:r>
              <a:rPr lang="en-US" dirty="0"/>
              <a:t>Or, a vertex can have additional information such as:</a:t>
            </a:r>
          </a:p>
          <a:p>
            <a:pPr lvl="1"/>
            <a:r>
              <a:rPr lang="en-US" dirty="0"/>
              <a:t>Multiple texture coordinates.</a:t>
            </a:r>
          </a:p>
          <a:p>
            <a:pPr lvl="1"/>
            <a:r>
              <a:rPr lang="en-US" dirty="0"/>
              <a:t>Offset in the camera coordinate (Billboard).</a:t>
            </a:r>
          </a:p>
          <a:p>
            <a:pPr lvl="1"/>
            <a:r>
              <a:rPr lang="en-US" dirty="0"/>
              <a:t>Different color for different lighting effect.</a:t>
            </a:r>
          </a:p>
          <a:p>
            <a:r>
              <a:rPr lang="en-US" dirty="0"/>
              <a:t>Those information (what a vertex can carry) is called a </a:t>
            </a:r>
            <a:r>
              <a:rPr lang="en-US" b="1" i="1" dirty="0"/>
              <a:t>vertex attribute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339841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What's Programmable </a:t>
            </a:r>
            <a:r>
              <a:rPr lang="en-US" dirty="0" err="1"/>
              <a:t>Shader</a:t>
            </a:r>
            <a:r>
              <a:rPr lang="en-US"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Most of the modern graphics APIs </a:t>
            </a:r>
            <a:r>
              <a:rPr lang="en-US" u="sng" dirty="0"/>
              <a:t>require</a:t>
            </a:r>
            <a:r>
              <a:rPr lang="en-US" dirty="0"/>
              <a:t> </a:t>
            </a:r>
            <a:r>
              <a:rPr lang="en-US" dirty="0" err="1"/>
              <a:t>shader</a:t>
            </a:r>
            <a:r>
              <a:rPr lang="en-US" dirty="0"/>
              <a:t> programs.</a:t>
            </a:r>
          </a:p>
          <a:p>
            <a:r>
              <a:rPr lang="en-US" dirty="0"/>
              <a:t>Although OpenGL 1.1's rendering model was not the most efficient, it is not supported when you write your program for newer platforms, especially smart phones and tablets.</a:t>
            </a:r>
          </a:p>
          <a:p>
            <a:endParaRPr lang="en-US" dirty="0"/>
          </a:p>
          <a:p>
            <a:r>
              <a:rPr lang="en-US" dirty="0"/>
              <a:t>When you write a program, you want to visualize your idea for your thinking, debugging, and demonstration.</a:t>
            </a:r>
          </a:p>
          <a:p>
            <a:r>
              <a:rPr lang="en-US" dirty="0"/>
              <a:t>You can really enhance your idea by visualizing it.</a:t>
            </a:r>
          </a:p>
          <a:p>
            <a:r>
              <a:rPr lang="en-US" dirty="0"/>
              <a:t>I don't want you to stop when someone else's program does not visualize what you want.</a:t>
            </a:r>
          </a:p>
        </p:txBody>
      </p:sp>
    </p:spTree>
    <p:extLst>
      <p:ext uri="{BB962C8B-B14F-4D97-AF65-F5344CB8AC3E}">
        <p14:creationId xmlns:p14="http://schemas.microsoft.com/office/powerpoint/2010/main" val="41809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Programmable </a:t>
            </a:r>
            <a:r>
              <a:rPr lang="en-US" dirty="0" err="1"/>
              <a:t>Shader</a:t>
            </a:r>
            <a:r>
              <a:rPr lang="en-US"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Modern graphics APIs (OpenGL ES 2.x, Vulcan, Metal, Direct X12) get rid of a fixed-function pipeline.</a:t>
            </a:r>
          </a:p>
          <a:p>
            <a:r>
              <a:rPr lang="en-US" dirty="0"/>
              <a:t>Smart phones and tablets only support OpenGL ES 2.x or higher.</a:t>
            </a:r>
          </a:p>
          <a:p>
            <a:r>
              <a:rPr lang="en-US" dirty="0"/>
              <a:t>Also </a:t>
            </a:r>
            <a:r>
              <a:rPr lang="en-US" dirty="0" err="1"/>
              <a:t>webGL</a:t>
            </a:r>
            <a:r>
              <a:rPr lang="en-US" dirty="0"/>
              <a:t> uses OpenGL ES2.x from </a:t>
            </a:r>
            <a:r>
              <a:rPr lang="en-US" dirty="0" err="1"/>
              <a:t>Javascript</a:t>
            </a:r>
            <a:r>
              <a:rPr lang="en-US" dirty="0"/>
              <a:t>.</a:t>
            </a:r>
          </a:p>
          <a:p>
            <a:r>
              <a:rPr lang="en-US" dirty="0"/>
              <a:t>You cannot avoid a programmable </a:t>
            </a:r>
            <a:r>
              <a:rPr lang="en-US" dirty="0" err="1"/>
              <a:t>shader</a:t>
            </a:r>
            <a:r>
              <a:rPr lang="en-US" dirty="0"/>
              <a:t> if you want to render 3d </a:t>
            </a:r>
            <a:r>
              <a:rPr lang="en-US"/>
              <a:t>graphics in </a:t>
            </a:r>
            <a:r>
              <a:rPr lang="en-US" dirty="0"/>
              <a:t>smart </a:t>
            </a:r>
            <a:r>
              <a:rPr lang="en-US"/>
              <a:t>phones and </a:t>
            </a:r>
            <a:r>
              <a:rPr lang="en-US" dirty="0"/>
              <a:t>web apps.</a:t>
            </a:r>
          </a:p>
        </p:txBody>
      </p:sp>
    </p:spTree>
    <p:extLst>
      <p:ext uri="{BB962C8B-B14F-4D97-AF65-F5344CB8AC3E}">
        <p14:creationId xmlns:p14="http://schemas.microsoft.com/office/powerpoint/2010/main" val="10755415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GLSL – GL </a:t>
            </a:r>
            <a:r>
              <a:rPr lang="en-US" dirty="0" err="1"/>
              <a:t>Shader</a:t>
            </a:r>
            <a:r>
              <a:rPr lang="en-US" dirty="0"/>
              <a:t> Language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programming language for programmable </a:t>
            </a:r>
            <a:r>
              <a:rPr lang="en-US" dirty="0" err="1"/>
              <a:t>shader</a:t>
            </a:r>
            <a:r>
              <a:rPr lang="en-US" dirty="0"/>
              <a:t> in OpenGL.</a:t>
            </a:r>
          </a:p>
          <a:p>
            <a:r>
              <a:rPr lang="en-US" dirty="0"/>
              <a:t>Program-In-Program.</a:t>
            </a:r>
          </a:p>
          <a:p>
            <a:r>
              <a:rPr lang="en-US" dirty="0"/>
              <a:t>Standard for OpenGL, OpenGL ES, and </a:t>
            </a:r>
            <a:r>
              <a:rPr lang="en-US" dirty="0" err="1"/>
              <a:t>WebGL</a:t>
            </a:r>
            <a:r>
              <a:rPr lang="en-US" dirty="0"/>
              <a:t>.</a:t>
            </a:r>
          </a:p>
          <a:p>
            <a:r>
              <a:rPr lang="en-US" dirty="0"/>
              <a:t>You write separate programs in GLSL, and then compile in your program.</a:t>
            </a:r>
          </a:p>
          <a:p>
            <a:r>
              <a:rPr lang="en-US" dirty="0"/>
              <a:t>Good news – GLSL is a C-like language.</a:t>
            </a:r>
          </a:p>
          <a:p>
            <a:r>
              <a:rPr lang="en-US" dirty="0"/>
              <a:t>Bad news – Many C-language features are not available in GLSL.</a:t>
            </a:r>
          </a:p>
        </p:txBody>
      </p:sp>
    </p:spTree>
    <p:extLst>
      <p:ext uri="{BB962C8B-B14F-4D97-AF65-F5344CB8AC3E}">
        <p14:creationId xmlns:p14="http://schemas.microsoft.com/office/powerpoint/2010/main" val="35553868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Vertex </a:t>
            </a:r>
            <a:r>
              <a:rPr lang="en-US" dirty="0" err="1"/>
              <a:t>Shader</a:t>
            </a:r>
            <a:r>
              <a:rPr lang="en-US" dirty="0"/>
              <a:t> and Fragment </a:t>
            </a:r>
            <a:r>
              <a:rPr lang="en-US" dirty="0" err="1"/>
              <a:t>Shader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1352107"/>
          </a:xfrm>
        </p:spPr>
        <p:txBody>
          <a:bodyPr/>
          <a:lstStyle/>
          <a:p>
            <a:r>
              <a:rPr lang="en-US" dirty="0"/>
              <a:t>You need to write two </a:t>
            </a:r>
            <a:r>
              <a:rPr lang="en-US" dirty="0" err="1"/>
              <a:t>shaders</a:t>
            </a:r>
            <a:r>
              <a:rPr lang="en-US" dirty="0"/>
              <a:t> for one program, Vertex </a:t>
            </a:r>
            <a:r>
              <a:rPr lang="en-US" dirty="0" err="1"/>
              <a:t>Shader</a:t>
            </a:r>
            <a:r>
              <a:rPr lang="en-US" dirty="0"/>
              <a:t> and Fragment </a:t>
            </a:r>
            <a:r>
              <a:rPr lang="en-US" dirty="0" err="1"/>
              <a:t>Shader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60496" y="3619396"/>
            <a:ext cx="1390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 vertex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711840" y="3725721"/>
            <a:ext cx="164805" cy="1488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876645" y="3412061"/>
            <a:ext cx="1180213" cy="8825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998918" y="3530146"/>
            <a:ext cx="9356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Vertex </a:t>
            </a:r>
            <a:r>
              <a:rPr lang="en-US" dirty="0" err="1"/>
              <a:t>Shader</a:t>
            </a:r>
            <a:endParaRPr lang="en-US" dirty="0"/>
          </a:p>
        </p:txBody>
      </p:sp>
      <p:sp>
        <p:nvSpPr>
          <p:cNvPr id="8" name="Right Arrow 7"/>
          <p:cNvSpPr/>
          <p:nvPr/>
        </p:nvSpPr>
        <p:spPr>
          <a:xfrm>
            <a:off x="3078122" y="3738125"/>
            <a:ext cx="164805" cy="1488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3242926" y="3402555"/>
            <a:ext cx="15151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Vertex position and </a:t>
            </a:r>
            <a:r>
              <a:rPr lang="en-US" dirty="0" err="1"/>
              <a:t>varyings</a:t>
            </a:r>
            <a:endParaRPr lang="en-US" dirty="0"/>
          </a:p>
        </p:txBody>
      </p:sp>
      <p:sp>
        <p:nvSpPr>
          <p:cNvPr id="11" name="Freeform 10"/>
          <p:cNvSpPr/>
          <p:nvPr/>
        </p:nvSpPr>
        <p:spPr>
          <a:xfrm>
            <a:off x="671920" y="3874577"/>
            <a:ext cx="5145010" cy="2259418"/>
          </a:xfrm>
          <a:custGeom>
            <a:avLst/>
            <a:gdLst>
              <a:gd name="connsiteX0" fmla="*/ 4133996 w 5145010"/>
              <a:gd name="connsiteY0" fmla="*/ 0 h 2259418"/>
              <a:gd name="connsiteX1" fmla="*/ 4894224 w 5145010"/>
              <a:gd name="connsiteY1" fmla="*/ 584790 h 2259418"/>
              <a:gd name="connsiteX2" fmla="*/ 306275 w 5145010"/>
              <a:gd name="connsiteY2" fmla="*/ 1717158 h 2259418"/>
              <a:gd name="connsiteX3" fmla="*/ 800689 w 5145010"/>
              <a:gd name="connsiteY3" fmla="*/ 2259418 h 2259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45010" h="2259418">
                <a:moveTo>
                  <a:pt x="4133996" y="0"/>
                </a:moveTo>
                <a:cubicBezTo>
                  <a:pt x="4833086" y="149298"/>
                  <a:pt x="5532177" y="298597"/>
                  <a:pt x="4894224" y="584790"/>
                </a:cubicBezTo>
                <a:cubicBezTo>
                  <a:pt x="4256271" y="870983"/>
                  <a:pt x="988531" y="1438053"/>
                  <a:pt x="306275" y="1717158"/>
                </a:cubicBezTo>
                <a:cubicBezTo>
                  <a:pt x="-375981" y="1996263"/>
                  <a:pt x="212354" y="2127840"/>
                  <a:pt x="800689" y="2259418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1435388" y="5628304"/>
            <a:ext cx="15629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set of vertex positions and </a:t>
            </a:r>
            <a:r>
              <a:rPr lang="en-US" dirty="0" err="1"/>
              <a:t>varyings</a:t>
            </a:r>
            <a:endParaRPr lang="en-US" dirty="0"/>
          </a:p>
        </p:txBody>
      </p:sp>
      <p:sp>
        <p:nvSpPr>
          <p:cNvPr id="13" name="Right Arrow 12"/>
          <p:cNvSpPr/>
          <p:nvPr/>
        </p:nvSpPr>
        <p:spPr>
          <a:xfrm>
            <a:off x="2934583" y="6059567"/>
            <a:ext cx="164805" cy="1488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3097614" y="5692744"/>
            <a:ext cx="1426540" cy="8825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3219886" y="5927781"/>
            <a:ext cx="1251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Rasterizer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524154" y="6059566"/>
            <a:ext cx="164805" cy="1488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4683639" y="5692744"/>
            <a:ext cx="1426540" cy="8825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4805911" y="5810829"/>
            <a:ext cx="12511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Fragment </a:t>
            </a:r>
            <a:r>
              <a:rPr lang="en-US" dirty="0" err="1"/>
              <a:t>Shader</a:t>
            </a:r>
            <a:endParaRPr lang="en-US" dirty="0"/>
          </a:p>
        </p:txBody>
      </p:sp>
      <p:sp>
        <p:nvSpPr>
          <p:cNvPr id="19" name="Right Arrow 18"/>
          <p:cNvSpPr/>
          <p:nvPr/>
        </p:nvSpPr>
        <p:spPr>
          <a:xfrm>
            <a:off x="6110179" y="6059567"/>
            <a:ext cx="164805" cy="1488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6296242" y="5949328"/>
            <a:ext cx="1249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Pixel color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1771662" y="2845750"/>
            <a:ext cx="0" cy="16920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31492" y="2973936"/>
            <a:ext cx="907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C++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98918" y="2970810"/>
            <a:ext cx="907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GLSL</a:t>
            </a:r>
          </a:p>
        </p:txBody>
      </p:sp>
      <p:cxnSp>
        <p:nvCxnSpPr>
          <p:cNvPr id="26" name="Straight Arrow Connector 25"/>
          <p:cNvCxnSpPr/>
          <p:nvPr/>
        </p:nvCxnSpPr>
        <p:spPr>
          <a:xfrm flipH="1">
            <a:off x="1504060" y="3152967"/>
            <a:ext cx="26760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endCxn id="24" idx="1"/>
          </p:cNvCxnSpPr>
          <p:nvPr/>
        </p:nvCxnSpPr>
        <p:spPr>
          <a:xfrm>
            <a:off x="1771662" y="3155476"/>
            <a:ext cx="22725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31811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Vertex </a:t>
            </a:r>
            <a:r>
              <a:rPr lang="en-US" dirty="0" err="1"/>
              <a:t>Shader</a:t>
            </a:r>
            <a:r>
              <a:rPr lang="en-US" dirty="0"/>
              <a:t> and Fragment </a:t>
            </a:r>
            <a:r>
              <a:rPr lang="en-US" dirty="0" err="1"/>
              <a:t>Shader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1352107"/>
          </a:xfrm>
        </p:spPr>
        <p:txBody>
          <a:bodyPr/>
          <a:lstStyle/>
          <a:p>
            <a:r>
              <a:rPr lang="en-US" dirty="0"/>
              <a:t>The vertex attributes are passed from the C++ program to the vertex </a:t>
            </a:r>
            <a:r>
              <a:rPr lang="en-US" dirty="0" err="1"/>
              <a:t>shader</a:t>
            </a:r>
            <a:r>
              <a:rPr lang="en-US" dirty="0"/>
              <a:t>.</a:t>
            </a:r>
          </a:p>
          <a:p>
            <a:r>
              <a:rPr lang="en-US" dirty="0"/>
              <a:t>Therefore, your vertex </a:t>
            </a:r>
            <a:r>
              <a:rPr lang="en-US" dirty="0" err="1"/>
              <a:t>shader</a:t>
            </a:r>
            <a:r>
              <a:rPr lang="en-US" dirty="0"/>
              <a:t> defines what a vertex looks like.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60496" y="3619396"/>
            <a:ext cx="1390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 vertex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711840" y="3725721"/>
            <a:ext cx="164805" cy="1488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876645" y="3412061"/>
            <a:ext cx="1180213" cy="8825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998918" y="3530146"/>
            <a:ext cx="9356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Vertex </a:t>
            </a:r>
            <a:r>
              <a:rPr lang="en-US" dirty="0" err="1"/>
              <a:t>Shader</a:t>
            </a:r>
            <a:endParaRPr lang="en-US" dirty="0"/>
          </a:p>
        </p:txBody>
      </p:sp>
      <p:sp>
        <p:nvSpPr>
          <p:cNvPr id="8" name="Right Arrow 7"/>
          <p:cNvSpPr/>
          <p:nvPr/>
        </p:nvSpPr>
        <p:spPr>
          <a:xfrm>
            <a:off x="3078122" y="3738125"/>
            <a:ext cx="164805" cy="1488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3242926" y="3402555"/>
            <a:ext cx="15151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Vertex position and </a:t>
            </a:r>
            <a:r>
              <a:rPr lang="en-US" dirty="0" err="1"/>
              <a:t>varyings</a:t>
            </a:r>
            <a:endParaRPr lang="en-US" dirty="0"/>
          </a:p>
        </p:txBody>
      </p:sp>
      <p:sp>
        <p:nvSpPr>
          <p:cNvPr id="11" name="Freeform 10"/>
          <p:cNvSpPr/>
          <p:nvPr/>
        </p:nvSpPr>
        <p:spPr>
          <a:xfrm>
            <a:off x="671920" y="3874577"/>
            <a:ext cx="5145010" cy="2259418"/>
          </a:xfrm>
          <a:custGeom>
            <a:avLst/>
            <a:gdLst>
              <a:gd name="connsiteX0" fmla="*/ 4133996 w 5145010"/>
              <a:gd name="connsiteY0" fmla="*/ 0 h 2259418"/>
              <a:gd name="connsiteX1" fmla="*/ 4894224 w 5145010"/>
              <a:gd name="connsiteY1" fmla="*/ 584790 h 2259418"/>
              <a:gd name="connsiteX2" fmla="*/ 306275 w 5145010"/>
              <a:gd name="connsiteY2" fmla="*/ 1717158 h 2259418"/>
              <a:gd name="connsiteX3" fmla="*/ 800689 w 5145010"/>
              <a:gd name="connsiteY3" fmla="*/ 2259418 h 2259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45010" h="2259418">
                <a:moveTo>
                  <a:pt x="4133996" y="0"/>
                </a:moveTo>
                <a:cubicBezTo>
                  <a:pt x="4833086" y="149298"/>
                  <a:pt x="5532177" y="298597"/>
                  <a:pt x="4894224" y="584790"/>
                </a:cubicBezTo>
                <a:cubicBezTo>
                  <a:pt x="4256271" y="870983"/>
                  <a:pt x="988531" y="1438053"/>
                  <a:pt x="306275" y="1717158"/>
                </a:cubicBezTo>
                <a:cubicBezTo>
                  <a:pt x="-375981" y="1996263"/>
                  <a:pt x="212354" y="2127840"/>
                  <a:pt x="800689" y="2259418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1435388" y="5628304"/>
            <a:ext cx="15629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set of vertex positions and </a:t>
            </a:r>
            <a:r>
              <a:rPr lang="en-US" dirty="0" err="1"/>
              <a:t>varyings</a:t>
            </a:r>
            <a:endParaRPr lang="en-US" dirty="0"/>
          </a:p>
        </p:txBody>
      </p:sp>
      <p:sp>
        <p:nvSpPr>
          <p:cNvPr id="13" name="Right Arrow 12"/>
          <p:cNvSpPr/>
          <p:nvPr/>
        </p:nvSpPr>
        <p:spPr>
          <a:xfrm>
            <a:off x="2934583" y="6059567"/>
            <a:ext cx="164805" cy="1488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3097614" y="5692744"/>
            <a:ext cx="1426540" cy="8825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3219886" y="5927781"/>
            <a:ext cx="1251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Rasterizer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524154" y="6059566"/>
            <a:ext cx="164805" cy="1488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4683639" y="5692744"/>
            <a:ext cx="1426540" cy="8825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4805911" y="5810829"/>
            <a:ext cx="12511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Fragment </a:t>
            </a:r>
            <a:r>
              <a:rPr lang="en-US" dirty="0" err="1"/>
              <a:t>Shader</a:t>
            </a:r>
            <a:endParaRPr lang="en-US" dirty="0"/>
          </a:p>
        </p:txBody>
      </p:sp>
      <p:sp>
        <p:nvSpPr>
          <p:cNvPr id="19" name="Right Arrow 18"/>
          <p:cNvSpPr/>
          <p:nvPr/>
        </p:nvSpPr>
        <p:spPr>
          <a:xfrm>
            <a:off x="6110179" y="6059567"/>
            <a:ext cx="164805" cy="1488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6296242" y="5949328"/>
            <a:ext cx="1249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Pixel color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1771662" y="2845750"/>
            <a:ext cx="0" cy="16920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31492" y="2973936"/>
            <a:ext cx="907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C++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98918" y="2970810"/>
            <a:ext cx="907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GLSL</a:t>
            </a:r>
          </a:p>
        </p:txBody>
      </p:sp>
      <p:cxnSp>
        <p:nvCxnSpPr>
          <p:cNvPr id="26" name="Straight Arrow Connector 25"/>
          <p:cNvCxnSpPr/>
          <p:nvPr/>
        </p:nvCxnSpPr>
        <p:spPr>
          <a:xfrm flipH="1">
            <a:off x="1504060" y="3152967"/>
            <a:ext cx="26760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endCxn id="24" idx="1"/>
          </p:cNvCxnSpPr>
          <p:nvPr/>
        </p:nvCxnSpPr>
        <p:spPr>
          <a:xfrm>
            <a:off x="1771662" y="3155476"/>
            <a:ext cx="22725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13192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Vertex </a:t>
            </a:r>
            <a:r>
              <a:rPr lang="en-US" dirty="0" err="1"/>
              <a:t>Shader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Input:</a:t>
            </a:r>
          </a:p>
          <a:p>
            <a:pPr lvl="1"/>
            <a:r>
              <a:rPr lang="en-US" dirty="0"/>
              <a:t>A set of vertex attributes as input.</a:t>
            </a:r>
          </a:p>
          <a:p>
            <a:r>
              <a:rPr lang="en-US" dirty="0"/>
              <a:t>Output:</a:t>
            </a:r>
          </a:p>
          <a:p>
            <a:pPr lvl="1"/>
            <a:r>
              <a:rPr lang="en-US" dirty="0"/>
              <a:t>A vertex position (</a:t>
            </a:r>
            <a:r>
              <a:rPr lang="en-US" dirty="0" err="1"/>
              <a:t>gl_Position</a:t>
            </a:r>
            <a:r>
              <a:rPr lang="en-US" dirty="0"/>
              <a:t>) and </a:t>
            </a:r>
            <a:r>
              <a:rPr lang="en-US" dirty="0" err="1"/>
              <a:t>varyings</a:t>
            </a:r>
            <a:r>
              <a:rPr lang="en-US" dirty="0"/>
              <a:t>.</a:t>
            </a:r>
          </a:p>
          <a:p>
            <a:r>
              <a:rPr lang="en-US" dirty="0"/>
              <a:t>Varying: A value that is assigned per vertex and interpolated within a primitive by the Rasterizer.</a:t>
            </a:r>
          </a:p>
          <a:p>
            <a:r>
              <a:rPr lang="en-US" dirty="0"/>
              <a:t>Examples of 'varying's:</a:t>
            </a:r>
          </a:p>
          <a:p>
            <a:pPr lvl="1"/>
            <a:r>
              <a:rPr lang="en-US" dirty="0"/>
              <a:t>Color – When a color is assigned per vertex.</a:t>
            </a:r>
          </a:p>
          <a:p>
            <a:pPr lvl="1"/>
            <a:r>
              <a:rPr lang="en-US" dirty="0"/>
              <a:t>Normal – For </a:t>
            </a:r>
            <a:r>
              <a:rPr lang="en-US" dirty="0" err="1"/>
              <a:t>Phong</a:t>
            </a:r>
            <a:r>
              <a:rPr lang="en-US" dirty="0"/>
              <a:t> shading, normal must be interpolated within a primitive.</a:t>
            </a:r>
          </a:p>
          <a:p>
            <a:pPr lvl="1"/>
            <a:r>
              <a:rPr lang="en-US" dirty="0"/>
              <a:t>Texture Coordinate – Texture coordinate typically is independent of the vertex coordinate, and must be interpolated within a primitive.</a:t>
            </a:r>
          </a:p>
        </p:txBody>
      </p:sp>
    </p:spTree>
    <p:extLst>
      <p:ext uri="{BB962C8B-B14F-4D97-AF65-F5344CB8AC3E}">
        <p14:creationId xmlns:p14="http://schemas.microsoft.com/office/powerpoint/2010/main" val="13146323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Fragment </a:t>
            </a:r>
            <a:r>
              <a:rPr lang="en-US" dirty="0" err="1"/>
              <a:t>Shader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Input:</a:t>
            </a:r>
          </a:p>
          <a:p>
            <a:pPr lvl="1"/>
            <a:r>
              <a:rPr lang="en-US" dirty="0"/>
              <a:t>The 'varying's interpolated for the pixel location.</a:t>
            </a:r>
          </a:p>
          <a:p>
            <a:r>
              <a:rPr lang="en-US" dirty="0"/>
              <a:t>Output:</a:t>
            </a:r>
          </a:p>
          <a:p>
            <a:pPr lvl="1"/>
            <a:r>
              <a:rPr lang="en-US" dirty="0"/>
              <a:t>The pixel color (</a:t>
            </a:r>
            <a:r>
              <a:rPr lang="en-US" dirty="0" err="1"/>
              <a:t>gl_FragColor</a:t>
            </a:r>
            <a:r>
              <a:rPr lang="en-US" dirty="0"/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0496" y="3619396"/>
            <a:ext cx="1390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 vertex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711840" y="3725721"/>
            <a:ext cx="164805" cy="1488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876645" y="3412061"/>
            <a:ext cx="1180213" cy="8825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998918" y="3530146"/>
            <a:ext cx="9356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Vertex </a:t>
            </a:r>
            <a:r>
              <a:rPr lang="en-US" dirty="0" err="1"/>
              <a:t>Shader</a:t>
            </a:r>
            <a:endParaRPr lang="en-US" dirty="0"/>
          </a:p>
        </p:txBody>
      </p:sp>
      <p:sp>
        <p:nvSpPr>
          <p:cNvPr id="8" name="Right Arrow 7"/>
          <p:cNvSpPr/>
          <p:nvPr/>
        </p:nvSpPr>
        <p:spPr>
          <a:xfrm>
            <a:off x="3078122" y="3738125"/>
            <a:ext cx="164805" cy="1488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3242926" y="3402555"/>
            <a:ext cx="15151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Vertex position and </a:t>
            </a:r>
            <a:r>
              <a:rPr lang="en-US" dirty="0" err="1"/>
              <a:t>varyings</a:t>
            </a:r>
            <a:endParaRPr lang="en-US" dirty="0"/>
          </a:p>
        </p:txBody>
      </p:sp>
      <p:sp>
        <p:nvSpPr>
          <p:cNvPr id="10" name="Freeform 9"/>
          <p:cNvSpPr/>
          <p:nvPr/>
        </p:nvSpPr>
        <p:spPr>
          <a:xfrm>
            <a:off x="671920" y="3874577"/>
            <a:ext cx="5145010" cy="2259418"/>
          </a:xfrm>
          <a:custGeom>
            <a:avLst/>
            <a:gdLst>
              <a:gd name="connsiteX0" fmla="*/ 4133996 w 5145010"/>
              <a:gd name="connsiteY0" fmla="*/ 0 h 2259418"/>
              <a:gd name="connsiteX1" fmla="*/ 4894224 w 5145010"/>
              <a:gd name="connsiteY1" fmla="*/ 584790 h 2259418"/>
              <a:gd name="connsiteX2" fmla="*/ 306275 w 5145010"/>
              <a:gd name="connsiteY2" fmla="*/ 1717158 h 2259418"/>
              <a:gd name="connsiteX3" fmla="*/ 800689 w 5145010"/>
              <a:gd name="connsiteY3" fmla="*/ 2259418 h 2259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45010" h="2259418">
                <a:moveTo>
                  <a:pt x="4133996" y="0"/>
                </a:moveTo>
                <a:cubicBezTo>
                  <a:pt x="4833086" y="149298"/>
                  <a:pt x="5532177" y="298597"/>
                  <a:pt x="4894224" y="584790"/>
                </a:cubicBezTo>
                <a:cubicBezTo>
                  <a:pt x="4256271" y="870983"/>
                  <a:pt x="988531" y="1438053"/>
                  <a:pt x="306275" y="1717158"/>
                </a:cubicBezTo>
                <a:cubicBezTo>
                  <a:pt x="-375981" y="1996263"/>
                  <a:pt x="212354" y="2127840"/>
                  <a:pt x="800689" y="2259418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435388" y="5628304"/>
            <a:ext cx="15629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set of vertex positions and </a:t>
            </a:r>
            <a:r>
              <a:rPr lang="en-US" dirty="0" err="1"/>
              <a:t>varyings</a:t>
            </a:r>
            <a:endParaRPr lang="en-US" dirty="0"/>
          </a:p>
        </p:txBody>
      </p:sp>
      <p:sp>
        <p:nvSpPr>
          <p:cNvPr id="12" name="Right Arrow 11"/>
          <p:cNvSpPr/>
          <p:nvPr/>
        </p:nvSpPr>
        <p:spPr>
          <a:xfrm>
            <a:off x="2934583" y="6059567"/>
            <a:ext cx="164805" cy="1488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3097614" y="5692744"/>
            <a:ext cx="1426540" cy="8825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3219886" y="5927781"/>
            <a:ext cx="1251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Rasterizer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524154" y="6059566"/>
            <a:ext cx="164805" cy="1488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4683639" y="5692744"/>
            <a:ext cx="1426540" cy="8825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4805911" y="5810829"/>
            <a:ext cx="12511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Fragment </a:t>
            </a:r>
            <a:r>
              <a:rPr lang="en-US" dirty="0" err="1"/>
              <a:t>Shader</a:t>
            </a:r>
            <a:endParaRPr lang="en-US" dirty="0"/>
          </a:p>
        </p:txBody>
      </p:sp>
      <p:sp>
        <p:nvSpPr>
          <p:cNvPr id="18" name="Right Arrow 17"/>
          <p:cNvSpPr/>
          <p:nvPr/>
        </p:nvSpPr>
        <p:spPr>
          <a:xfrm>
            <a:off x="6110179" y="6059567"/>
            <a:ext cx="164805" cy="1488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6296242" y="5949328"/>
            <a:ext cx="1249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Pixel color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1771662" y="2845750"/>
            <a:ext cx="0" cy="16920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31492" y="2973936"/>
            <a:ext cx="907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C++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98918" y="2970810"/>
            <a:ext cx="907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GLSL</a:t>
            </a:r>
          </a:p>
        </p:txBody>
      </p:sp>
      <p:cxnSp>
        <p:nvCxnSpPr>
          <p:cNvPr id="23" name="Straight Arrow Connector 22"/>
          <p:cNvCxnSpPr/>
          <p:nvPr/>
        </p:nvCxnSpPr>
        <p:spPr>
          <a:xfrm flipH="1">
            <a:off x="1504060" y="3152967"/>
            <a:ext cx="26760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endCxn id="22" idx="1"/>
          </p:cNvCxnSpPr>
          <p:nvPr/>
        </p:nvCxnSpPr>
        <p:spPr>
          <a:xfrm>
            <a:off x="1771662" y="3155476"/>
            <a:ext cx="22725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-34018" y="2572804"/>
            <a:ext cx="3491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Whatever values you define.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61539" y="2572804"/>
            <a:ext cx="3465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Screen coordinate system</a:t>
            </a:r>
          </a:p>
        </p:txBody>
      </p:sp>
      <p:cxnSp>
        <p:nvCxnSpPr>
          <p:cNvPr id="36" name="Straight Connector 35"/>
          <p:cNvCxnSpPr/>
          <p:nvPr/>
        </p:nvCxnSpPr>
        <p:spPr>
          <a:xfrm>
            <a:off x="3152777" y="2715986"/>
            <a:ext cx="0" cy="18596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 flipH="1">
            <a:off x="2885175" y="2763472"/>
            <a:ext cx="26760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>
            <a:off x="3152777" y="2757435"/>
            <a:ext cx="22725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0935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Fragment </a:t>
            </a:r>
            <a:r>
              <a:rPr lang="en-US" dirty="0" err="1"/>
              <a:t>Shader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happens between the vertex </a:t>
            </a:r>
            <a:r>
              <a:rPr lang="en-US" dirty="0" err="1"/>
              <a:t>shader</a:t>
            </a:r>
            <a:r>
              <a:rPr lang="en-US" dirty="0"/>
              <a:t> and a fragment </a:t>
            </a:r>
            <a:r>
              <a:rPr lang="en-US" dirty="0" err="1"/>
              <a:t>shader</a:t>
            </a:r>
            <a:r>
              <a:rPr lang="en-US" dirty="0"/>
              <a:t>?  =&gt;  Interpolation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0496" y="3619396"/>
            <a:ext cx="1390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 vertex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711840" y="3725721"/>
            <a:ext cx="164805" cy="1488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876645" y="3412061"/>
            <a:ext cx="1180213" cy="8825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998918" y="3530146"/>
            <a:ext cx="9356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Vertex </a:t>
            </a:r>
            <a:r>
              <a:rPr lang="en-US" dirty="0" err="1"/>
              <a:t>Shader</a:t>
            </a:r>
            <a:endParaRPr lang="en-US" dirty="0"/>
          </a:p>
        </p:txBody>
      </p:sp>
      <p:sp>
        <p:nvSpPr>
          <p:cNvPr id="8" name="Right Arrow 7"/>
          <p:cNvSpPr/>
          <p:nvPr/>
        </p:nvSpPr>
        <p:spPr>
          <a:xfrm>
            <a:off x="3078122" y="3738125"/>
            <a:ext cx="164805" cy="1488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3242926" y="3402555"/>
            <a:ext cx="15151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Vertex position and </a:t>
            </a:r>
            <a:r>
              <a:rPr lang="en-US" dirty="0" err="1"/>
              <a:t>varyings</a:t>
            </a:r>
            <a:endParaRPr lang="en-US" dirty="0"/>
          </a:p>
        </p:txBody>
      </p:sp>
      <p:sp>
        <p:nvSpPr>
          <p:cNvPr id="10" name="Freeform 9"/>
          <p:cNvSpPr/>
          <p:nvPr/>
        </p:nvSpPr>
        <p:spPr>
          <a:xfrm>
            <a:off x="671920" y="3874577"/>
            <a:ext cx="5145010" cy="2259418"/>
          </a:xfrm>
          <a:custGeom>
            <a:avLst/>
            <a:gdLst>
              <a:gd name="connsiteX0" fmla="*/ 4133996 w 5145010"/>
              <a:gd name="connsiteY0" fmla="*/ 0 h 2259418"/>
              <a:gd name="connsiteX1" fmla="*/ 4894224 w 5145010"/>
              <a:gd name="connsiteY1" fmla="*/ 584790 h 2259418"/>
              <a:gd name="connsiteX2" fmla="*/ 306275 w 5145010"/>
              <a:gd name="connsiteY2" fmla="*/ 1717158 h 2259418"/>
              <a:gd name="connsiteX3" fmla="*/ 800689 w 5145010"/>
              <a:gd name="connsiteY3" fmla="*/ 2259418 h 2259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45010" h="2259418">
                <a:moveTo>
                  <a:pt x="4133996" y="0"/>
                </a:moveTo>
                <a:cubicBezTo>
                  <a:pt x="4833086" y="149298"/>
                  <a:pt x="5532177" y="298597"/>
                  <a:pt x="4894224" y="584790"/>
                </a:cubicBezTo>
                <a:cubicBezTo>
                  <a:pt x="4256271" y="870983"/>
                  <a:pt x="988531" y="1438053"/>
                  <a:pt x="306275" y="1717158"/>
                </a:cubicBezTo>
                <a:cubicBezTo>
                  <a:pt x="-375981" y="1996263"/>
                  <a:pt x="212354" y="2127840"/>
                  <a:pt x="800689" y="2259418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435388" y="5628304"/>
            <a:ext cx="15629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set of vertex positions and </a:t>
            </a:r>
            <a:r>
              <a:rPr lang="en-US" dirty="0" err="1"/>
              <a:t>varyings</a:t>
            </a:r>
            <a:endParaRPr lang="en-US" dirty="0"/>
          </a:p>
        </p:txBody>
      </p:sp>
      <p:sp>
        <p:nvSpPr>
          <p:cNvPr id="12" name="Right Arrow 11"/>
          <p:cNvSpPr/>
          <p:nvPr/>
        </p:nvSpPr>
        <p:spPr>
          <a:xfrm>
            <a:off x="2934583" y="6059567"/>
            <a:ext cx="164805" cy="1488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3097614" y="5692744"/>
            <a:ext cx="1426540" cy="8825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3219886" y="5927781"/>
            <a:ext cx="1251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Rasterizer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524154" y="6059566"/>
            <a:ext cx="164805" cy="1488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4683639" y="5692744"/>
            <a:ext cx="1426540" cy="8825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4805911" y="5810829"/>
            <a:ext cx="12511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Fragment </a:t>
            </a:r>
            <a:r>
              <a:rPr lang="en-US" dirty="0" err="1"/>
              <a:t>Shader</a:t>
            </a:r>
            <a:endParaRPr lang="en-US" dirty="0"/>
          </a:p>
        </p:txBody>
      </p:sp>
      <p:sp>
        <p:nvSpPr>
          <p:cNvPr id="18" name="Right Arrow 17"/>
          <p:cNvSpPr/>
          <p:nvPr/>
        </p:nvSpPr>
        <p:spPr>
          <a:xfrm>
            <a:off x="6110179" y="6059567"/>
            <a:ext cx="164805" cy="1488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6296242" y="5949328"/>
            <a:ext cx="2800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Pixel color (</a:t>
            </a:r>
            <a:r>
              <a:rPr lang="en-US" dirty="0" err="1"/>
              <a:t>gl_FragColor</a:t>
            </a:r>
            <a:r>
              <a:rPr lang="en-US" dirty="0"/>
              <a:t>)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1771662" y="2845750"/>
            <a:ext cx="0" cy="16920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31492" y="2973936"/>
            <a:ext cx="907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C++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98918" y="2970810"/>
            <a:ext cx="907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GLSL</a:t>
            </a:r>
          </a:p>
        </p:txBody>
      </p:sp>
      <p:cxnSp>
        <p:nvCxnSpPr>
          <p:cNvPr id="23" name="Straight Arrow Connector 22"/>
          <p:cNvCxnSpPr/>
          <p:nvPr/>
        </p:nvCxnSpPr>
        <p:spPr>
          <a:xfrm flipH="1">
            <a:off x="1504060" y="3152967"/>
            <a:ext cx="26760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endCxn id="22" idx="1"/>
          </p:cNvCxnSpPr>
          <p:nvPr/>
        </p:nvCxnSpPr>
        <p:spPr>
          <a:xfrm>
            <a:off x="1771662" y="3155476"/>
            <a:ext cx="22725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-34018" y="2572804"/>
            <a:ext cx="3491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Whatever values you define.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61539" y="2572804"/>
            <a:ext cx="3465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Screen coordinate system</a:t>
            </a:r>
          </a:p>
        </p:txBody>
      </p:sp>
      <p:cxnSp>
        <p:nvCxnSpPr>
          <p:cNvPr id="36" name="Straight Connector 35"/>
          <p:cNvCxnSpPr/>
          <p:nvPr/>
        </p:nvCxnSpPr>
        <p:spPr>
          <a:xfrm>
            <a:off x="3152777" y="2452643"/>
            <a:ext cx="0" cy="212296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 flipH="1">
            <a:off x="2885175" y="2763472"/>
            <a:ext cx="26760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>
            <a:off x="3152777" y="2757435"/>
            <a:ext cx="22725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18521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Essentially, </a:t>
            </a:r>
            <a:r>
              <a:rPr lang="en-US" dirty="0" err="1"/>
              <a:t>shaders</a:t>
            </a:r>
            <a:r>
              <a:rPr lang="en-US" dirty="0"/>
              <a:t> are call-back functions.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Vertex </a:t>
            </a:r>
            <a:r>
              <a:rPr lang="en-US" dirty="0" err="1"/>
              <a:t>Shader</a:t>
            </a:r>
            <a:r>
              <a:rPr lang="en-US" dirty="0"/>
              <a:t>:        A function called per vertex.</a:t>
            </a:r>
          </a:p>
          <a:p>
            <a:r>
              <a:rPr lang="en-US" dirty="0"/>
              <a:t>Fragment </a:t>
            </a:r>
            <a:r>
              <a:rPr lang="en-US" dirty="0" err="1"/>
              <a:t>Shader</a:t>
            </a:r>
            <a:r>
              <a:rPr lang="en-US" dirty="0"/>
              <a:t>:     A function called per pixel.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When the time comes, hopefully these can just be a C/C++ call-back function.  But, there still is a wall between CPU and GPU.</a:t>
            </a:r>
          </a:p>
        </p:txBody>
      </p:sp>
    </p:spTree>
    <p:extLst>
      <p:ext uri="{BB962C8B-B14F-4D97-AF65-F5344CB8AC3E}">
        <p14:creationId xmlns:p14="http://schemas.microsoft.com/office/powerpoint/2010/main" val="37666547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you need to prepare for GLSL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 text files:</a:t>
            </a:r>
          </a:p>
          <a:p>
            <a:pPr lvl="1"/>
            <a:r>
              <a:rPr lang="en-US" dirty="0"/>
              <a:t>Vertex </a:t>
            </a:r>
            <a:r>
              <a:rPr lang="en-US" dirty="0" err="1"/>
              <a:t>Shader</a:t>
            </a:r>
            <a:endParaRPr lang="en-US" dirty="0"/>
          </a:p>
          <a:p>
            <a:pPr lvl="1"/>
            <a:r>
              <a:rPr lang="en-US" dirty="0"/>
              <a:t>Fragment </a:t>
            </a:r>
            <a:r>
              <a:rPr lang="en-US" dirty="0" err="1"/>
              <a:t>Shader</a:t>
            </a:r>
            <a:endParaRPr lang="en-US" dirty="0"/>
          </a:p>
          <a:p>
            <a:r>
              <a:rPr lang="en-US" dirty="0"/>
              <a:t>In C++ program:</a:t>
            </a:r>
          </a:p>
          <a:p>
            <a:pPr lvl="1"/>
            <a:r>
              <a:rPr lang="en-US" dirty="0"/>
              <a:t>Reserve an identifier for each of:</a:t>
            </a:r>
          </a:p>
          <a:p>
            <a:pPr lvl="2"/>
            <a:r>
              <a:rPr lang="en-US" dirty="0"/>
              <a:t>A vertex </a:t>
            </a:r>
            <a:r>
              <a:rPr lang="en-US" dirty="0" err="1"/>
              <a:t>shader</a:t>
            </a:r>
            <a:endParaRPr lang="en-US" dirty="0"/>
          </a:p>
          <a:p>
            <a:pPr lvl="2"/>
            <a:r>
              <a:rPr lang="en-US" dirty="0"/>
              <a:t>A fragment </a:t>
            </a:r>
            <a:r>
              <a:rPr lang="en-US" dirty="0" err="1"/>
              <a:t>shader</a:t>
            </a:r>
            <a:endParaRPr lang="en-US" dirty="0"/>
          </a:p>
          <a:p>
            <a:pPr lvl="2"/>
            <a:r>
              <a:rPr lang="en-US" dirty="0"/>
              <a:t>A program (combination of vertex and fragment </a:t>
            </a:r>
            <a:r>
              <a:rPr lang="en-US" dirty="0" err="1"/>
              <a:t>shaders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Compile the </a:t>
            </a:r>
            <a:r>
              <a:rPr lang="en-US" dirty="0" err="1"/>
              <a:t>shaders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Link the </a:t>
            </a:r>
            <a:r>
              <a:rPr lang="en-US" dirty="0" err="1"/>
              <a:t>shaders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704182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 use a GLSL program,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Enable the program (</a:t>
            </a:r>
            <a:r>
              <a:rPr lang="en-US" dirty="0" err="1"/>
              <a:t>glUseProgram</a:t>
            </a:r>
            <a:r>
              <a:rPr lang="en-US" dirty="0"/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Enable vertex-attribute arrays.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Set vertex-attribute pointer.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err="1"/>
              <a:t>glDrawArrays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Disable vertex-attribute arrays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0" indent="0">
              <a:buNone/>
            </a:pPr>
            <a:r>
              <a:rPr lang="en-US" dirty="0"/>
              <a:t>Steps 3 and 4 can be repeated to save </a:t>
            </a:r>
            <a:r>
              <a:rPr lang="en-US"/>
              <a:t>OpenGL function calls.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95857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Pass-Through GLSL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2122967"/>
          </a:xfrm>
        </p:spPr>
        <p:txBody>
          <a:bodyPr/>
          <a:lstStyle/>
          <a:p>
            <a:r>
              <a:rPr lang="en-US" dirty="0"/>
              <a:t>The minimum GLSL program.</a:t>
            </a:r>
          </a:p>
          <a:p>
            <a:pPr lvl="1"/>
            <a:r>
              <a:rPr lang="en-US" dirty="0"/>
              <a:t>Passes input vertex coordinate (</a:t>
            </a:r>
            <a:r>
              <a:rPr lang="en-US" dirty="0" err="1"/>
              <a:t>x,y,z</a:t>
            </a:r>
            <a:r>
              <a:rPr lang="en-US" dirty="0"/>
              <a:t>) to the rasterizer with no transformation.</a:t>
            </a:r>
          </a:p>
          <a:p>
            <a:pPr lvl="1"/>
            <a:r>
              <a:rPr lang="en-US" dirty="0"/>
              <a:t>The primitive color is constant (red).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76766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Vertex </a:t>
            </a:r>
            <a:r>
              <a:rPr lang="en-US" dirty="0" err="1"/>
              <a:t>Shader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1"/>
            <a:ext cx="8229600" cy="756684"/>
          </a:xfrm>
        </p:spPr>
        <p:txBody>
          <a:bodyPr/>
          <a:lstStyle/>
          <a:p>
            <a:r>
              <a:rPr lang="en-US" dirty="0"/>
              <a:t>Written in </a:t>
            </a:r>
            <a:r>
              <a:rPr lang="en-US" dirty="0" err="1"/>
              <a:t>vertexShader.glsl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424763" y="2232837"/>
            <a:ext cx="325281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 err="1">
                <a:latin typeface="Lucida Console" panose="020B0609040504020204" pitchFamily="49" charset="0"/>
              </a:rPr>
              <a:t>attribute</a:t>
            </a:r>
            <a:r>
              <a:rPr lang="fr-FR" sz="1200" dirty="0">
                <a:latin typeface="Lucida Console" panose="020B0609040504020204" pitchFamily="49" charset="0"/>
              </a:rPr>
              <a:t> vec3 vertex;</a:t>
            </a:r>
          </a:p>
          <a:p>
            <a:r>
              <a:rPr lang="fr-FR" sz="1200" dirty="0" err="1">
                <a:latin typeface="Lucida Console" panose="020B0609040504020204" pitchFamily="49" charset="0"/>
              </a:rPr>
              <a:t>void</a:t>
            </a:r>
            <a:r>
              <a:rPr lang="fr-FR" sz="1200" dirty="0">
                <a:latin typeface="Lucida Console" panose="020B0609040504020204" pitchFamily="49" charset="0"/>
              </a:rPr>
              <a:t> main()</a:t>
            </a:r>
          </a:p>
          <a:p>
            <a:r>
              <a:rPr lang="fr-FR" sz="1200" dirty="0">
                <a:latin typeface="Lucida Console" panose="020B0609040504020204" pitchFamily="49" charset="0"/>
              </a:rPr>
              <a:t>{</a:t>
            </a:r>
          </a:p>
          <a:p>
            <a:r>
              <a:rPr lang="fr-FR" sz="1200" dirty="0">
                <a:latin typeface="Lucida Console" panose="020B0609040504020204" pitchFamily="49" charset="0"/>
              </a:rPr>
              <a:t>    </a:t>
            </a:r>
            <a:r>
              <a:rPr lang="fr-FR" sz="1200" dirty="0" err="1">
                <a:latin typeface="Lucida Console" panose="020B0609040504020204" pitchFamily="49" charset="0"/>
              </a:rPr>
              <a:t>gl_Position</a:t>
            </a:r>
            <a:r>
              <a:rPr lang="fr-FR" sz="1200" dirty="0">
                <a:latin typeface="Lucida Console" panose="020B0609040504020204" pitchFamily="49" charset="0"/>
              </a:rPr>
              <a:t>=vec4(vertex,1.0);</a:t>
            </a:r>
          </a:p>
          <a:p>
            <a:r>
              <a:rPr lang="fr-FR" sz="1200" dirty="0">
                <a:latin typeface="Lucida Console" panose="020B0609040504020204" pitchFamily="49" charset="0"/>
              </a:rPr>
              <a:t>}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</p:txBody>
      </p:sp>
      <p:cxnSp>
        <p:nvCxnSpPr>
          <p:cNvPr id="6" name="Straight Arrow Connector 5"/>
          <p:cNvCxnSpPr/>
          <p:nvPr/>
        </p:nvCxnSpPr>
        <p:spPr>
          <a:xfrm flipH="1">
            <a:off x="3567223" y="1919177"/>
            <a:ext cx="1228061" cy="4572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795284" y="1440711"/>
            <a:ext cx="43056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This is what this vertex </a:t>
            </a:r>
            <a:r>
              <a:rPr lang="en-US" dirty="0" err="1">
                <a:solidFill>
                  <a:srgbClr val="FF0000"/>
                </a:solidFill>
              </a:rPr>
              <a:t>shader</a:t>
            </a:r>
            <a:r>
              <a:rPr lang="en-US" dirty="0">
                <a:solidFill>
                  <a:srgbClr val="FF0000"/>
                </a:solidFill>
              </a:rPr>
              <a:t> receives from your C++ program.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In this case, it means that one vertex consists of one 3D vector called vertex.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H="1" flipV="1">
            <a:off x="2468880" y="3022899"/>
            <a:ext cx="398033" cy="726141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285166" y="3749040"/>
            <a:ext cx="430568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This is what the next stage receives from this vertex </a:t>
            </a:r>
            <a:r>
              <a:rPr lang="en-US" dirty="0" err="1">
                <a:solidFill>
                  <a:srgbClr val="FF0000"/>
                </a:solidFill>
              </a:rPr>
              <a:t>shader</a:t>
            </a:r>
            <a:r>
              <a:rPr lang="en-US" dirty="0">
                <a:solidFill>
                  <a:srgbClr val="FF0000"/>
                </a:solidFill>
              </a:rPr>
              <a:t>.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It needs to be a 4D vector (homogeneous coordinate).  Therefore, 1.0 is added as the 4th dimension.</a:t>
            </a:r>
          </a:p>
        </p:txBody>
      </p:sp>
    </p:spTree>
    <p:extLst>
      <p:ext uri="{BB962C8B-B14F-4D97-AF65-F5344CB8AC3E}">
        <p14:creationId xmlns:p14="http://schemas.microsoft.com/office/powerpoint/2010/main" val="7797282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 calculation in GLSL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GLSL is optimized for vector and matrix calculations.</a:t>
            </a:r>
          </a:p>
          <a:p>
            <a:r>
              <a:rPr lang="en-US" dirty="0"/>
              <a:t>The following expression:</a:t>
            </a:r>
            <a:br>
              <a:rPr lang="en-US" dirty="0"/>
            </a:br>
            <a:r>
              <a:rPr lang="en-US" dirty="0"/>
              <a:t>    vec4(vertex,1.0) </a:t>
            </a:r>
            <a:br>
              <a:rPr lang="en-US" dirty="0"/>
            </a:br>
            <a:r>
              <a:rPr lang="en-US" dirty="0"/>
              <a:t>means that a 4D vector, first three dimensions taken from a 3D vector called vertex, and the last dimension is 1.0.</a:t>
            </a:r>
          </a:p>
          <a:p>
            <a:r>
              <a:rPr lang="en-US" dirty="0"/>
              <a:t>The 3D vector of the first three component of a 4D vector can be extracted by writing (if vertex is a vec4 variable):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 err="1"/>
              <a:t>vertex.xyz</a:t>
            </a:r>
            <a:endParaRPr lang="en-US" dirty="0"/>
          </a:p>
          <a:p>
            <a:r>
              <a:rPr lang="en-US" dirty="0"/>
              <a:t>Similarly, you can extract components of 3D vector to get a 2D vector by writing: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 err="1"/>
              <a:t>vertex.xy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 err="1"/>
              <a:t>vertex.xz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 err="1"/>
              <a:t>vertex.yz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74738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Also a 3D or 4D vectors can be used as a color, (</a:t>
            </a:r>
            <a:r>
              <a:rPr lang="en-US" dirty="0" err="1"/>
              <a:t>r,g,b</a:t>
            </a:r>
            <a:r>
              <a:rPr lang="en-US" dirty="0"/>
              <a:t>) or (</a:t>
            </a:r>
            <a:r>
              <a:rPr lang="en-US" dirty="0" err="1"/>
              <a:t>r,g,b,a</a:t>
            </a:r>
            <a:r>
              <a:rPr lang="en-US" dirty="0"/>
              <a:t>).</a:t>
            </a:r>
          </a:p>
          <a:p>
            <a:r>
              <a:rPr lang="en-US" dirty="0"/>
              <a:t>The first component </a:t>
            </a:r>
            <a:r>
              <a:rPr lang="en-US" dirty="0" err="1"/>
              <a:t>vertex.x</a:t>
            </a:r>
            <a:r>
              <a:rPr lang="en-US" dirty="0"/>
              <a:t> is same as </a:t>
            </a:r>
            <a:r>
              <a:rPr lang="en-US" dirty="0" err="1"/>
              <a:t>vertex.r</a:t>
            </a:r>
            <a:endParaRPr lang="en-US" dirty="0"/>
          </a:p>
          <a:p>
            <a:r>
              <a:rPr lang="en-US" dirty="0"/>
              <a:t>Also </a:t>
            </a:r>
            <a:r>
              <a:rPr lang="en-US" dirty="0" err="1"/>
              <a:t>vertex.rgb</a:t>
            </a:r>
            <a:r>
              <a:rPr lang="en-US" dirty="0"/>
              <a:t> is same as </a:t>
            </a:r>
            <a:r>
              <a:rPr lang="en-US" dirty="0" err="1"/>
              <a:t>vertex.xyz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10887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Fragment </a:t>
            </a:r>
            <a:r>
              <a:rPr lang="en-US" dirty="0" err="1"/>
              <a:t>Shader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Written in </a:t>
            </a:r>
            <a:r>
              <a:rPr lang="en-US" dirty="0" err="1"/>
              <a:t>fragmentShader.glsl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424763" y="2232837"/>
            <a:ext cx="306686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 err="1">
                <a:latin typeface="Lucida Console" panose="020B0609040504020204" pitchFamily="49" charset="0"/>
              </a:rPr>
              <a:t>void</a:t>
            </a:r>
            <a:r>
              <a:rPr lang="fr-FR" sz="1200" dirty="0">
                <a:latin typeface="Lucida Console" panose="020B0609040504020204" pitchFamily="49" charset="0"/>
              </a:rPr>
              <a:t> main()</a:t>
            </a:r>
          </a:p>
          <a:p>
            <a:r>
              <a:rPr lang="fr-FR" sz="1200" dirty="0">
                <a:latin typeface="Lucida Console" panose="020B0609040504020204" pitchFamily="49" charset="0"/>
              </a:rPr>
              <a:t>{</a:t>
            </a:r>
          </a:p>
          <a:p>
            <a:r>
              <a:rPr lang="fr-FR" sz="1200" dirty="0">
                <a:latin typeface="Lucida Console" panose="020B0609040504020204" pitchFamily="49" charset="0"/>
              </a:rPr>
              <a:t>    </a:t>
            </a:r>
            <a:r>
              <a:rPr lang="fr-FR" sz="1200" dirty="0" err="1">
                <a:latin typeface="Lucida Console" panose="020B0609040504020204" pitchFamily="49" charset="0"/>
              </a:rPr>
              <a:t>gl_FragColor</a:t>
            </a:r>
            <a:r>
              <a:rPr lang="fr-FR" sz="1200" dirty="0">
                <a:latin typeface="Lucida Console" panose="020B0609040504020204" pitchFamily="49" charset="0"/>
              </a:rPr>
              <a:t>=vec4(1,0,0,1);</a:t>
            </a:r>
          </a:p>
          <a:p>
            <a:r>
              <a:rPr lang="fr-FR" sz="1200" dirty="0">
                <a:latin typeface="Lucida Console" panose="020B0609040504020204" pitchFamily="49" charset="0"/>
              </a:rPr>
              <a:t>}</a:t>
            </a:r>
          </a:p>
          <a:p>
            <a:endParaRPr lang="fr-FR" sz="1200" dirty="0">
              <a:latin typeface="Lucida Console" panose="020B0609040504020204" pitchFamily="49" charset="0"/>
            </a:endParaRPr>
          </a:p>
          <a:p>
            <a:endParaRPr lang="en-US" sz="1200" dirty="0">
              <a:latin typeface="Lucida Console" panose="020B0609040504020204" pitchFamily="49" charset="0"/>
            </a:endParaRPr>
          </a:p>
        </p:txBody>
      </p:sp>
      <p:cxnSp>
        <p:nvCxnSpPr>
          <p:cNvPr id="6" name="Straight Arrow Connector 5"/>
          <p:cNvCxnSpPr/>
          <p:nvPr/>
        </p:nvCxnSpPr>
        <p:spPr>
          <a:xfrm flipH="1" flipV="1">
            <a:off x="2466753" y="2833001"/>
            <a:ext cx="281763" cy="96282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413592" y="3854302"/>
            <a:ext cx="4582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This is the color of the pixel written to the frame buffer.  In this case, always red.</a:t>
            </a:r>
          </a:p>
        </p:txBody>
      </p:sp>
    </p:spTree>
    <p:extLst>
      <p:ext uri="{BB962C8B-B14F-4D97-AF65-F5344CB8AC3E}">
        <p14:creationId xmlns:p14="http://schemas.microsoft.com/office/powerpoint/2010/main" val="93463709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 thing to remember when writing a </a:t>
            </a:r>
            <a:r>
              <a:rPr lang="en-US" dirty="0" err="1"/>
              <a:t>shader</a:t>
            </a:r>
            <a:r>
              <a:rPr lang="en-US" dirty="0"/>
              <a:t>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compiler will not re-compile your program when you modify your </a:t>
            </a:r>
            <a:r>
              <a:rPr lang="en-US" dirty="0" err="1"/>
              <a:t>shader</a:t>
            </a:r>
            <a:r>
              <a:rPr lang="en-US" dirty="0"/>
              <a:t> source.</a:t>
            </a:r>
          </a:p>
          <a:p>
            <a:r>
              <a:rPr lang="en-US" dirty="0"/>
              <a:t>When you modify your </a:t>
            </a:r>
            <a:r>
              <a:rPr lang="en-US" dirty="0" err="1"/>
              <a:t>shader</a:t>
            </a:r>
            <a:r>
              <a:rPr lang="en-US" dirty="0"/>
              <a:t> source, you also need to touch your source files so that the compiler builds your program, (and then copies the </a:t>
            </a:r>
            <a:r>
              <a:rPr lang="en-US" dirty="0" err="1"/>
              <a:t>shader</a:t>
            </a:r>
            <a:r>
              <a:rPr lang="en-US" dirty="0"/>
              <a:t> sources to the executable directory.)</a:t>
            </a:r>
          </a:p>
        </p:txBody>
      </p:sp>
    </p:spTree>
    <p:extLst>
      <p:ext uri="{BB962C8B-B14F-4D97-AF65-F5344CB8AC3E}">
        <p14:creationId xmlns:p14="http://schemas.microsoft.com/office/powerpoint/2010/main" val="35807882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can the C++ program access these two files?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These two files needs to be copied to the location that the executable can access.</a:t>
            </a:r>
          </a:p>
          <a:p>
            <a:r>
              <a:rPr lang="en-US" dirty="0"/>
              <a:t>Store these two files under data directory of the source directory, and</a:t>
            </a:r>
          </a:p>
          <a:p>
            <a:r>
              <a:rPr lang="en-US" dirty="0"/>
              <a:t>Use: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And insert the piece of CMake script that we did in the last lecture so that the </a:t>
            </a:r>
            <a:r>
              <a:rPr lang="en-US" dirty="0" err="1"/>
              <a:t>shader</a:t>
            </a:r>
            <a:r>
              <a:rPr lang="en-US" dirty="0"/>
              <a:t> programs are copied to the directory where the program can look at.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0871" y="3167390"/>
            <a:ext cx="79944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Lucida Console" panose="020B0609040504020204" pitchFamily="49" charset="0"/>
              </a:rPr>
              <a:t>set(DATA_FILE_LOCATION ${CMAKE_CURRENT_SOURCE_DIR}/data)</a:t>
            </a:r>
          </a:p>
          <a:p>
            <a:endParaRPr lang="en-US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487845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Going step by step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First check if the two files are accessible.</a:t>
            </a:r>
          </a:p>
          <a:p>
            <a:r>
              <a:rPr lang="en-US" dirty="0"/>
              <a:t>In Initialize function, just open and read the contents of the two </a:t>
            </a:r>
            <a:r>
              <a:rPr lang="en-US" dirty="0" err="1"/>
              <a:t>shader</a:t>
            </a:r>
            <a:r>
              <a:rPr lang="en-US" dirty="0"/>
              <a:t> source files.</a:t>
            </a:r>
          </a:p>
        </p:txBody>
      </p:sp>
    </p:spTree>
    <p:extLst>
      <p:ext uri="{BB962C8B-B14F-4D97-AF65-F5344CB8AC3E}">
        <p14:creationId xmlns:p14="http://schemas.microsoft.com/office/powerpoint/2010/main" val="334953542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in the renderer to </a:t>
            </a:r>
            <a:r>
              <a:rPr lang="en-US" dirty="0" err="1"/>
              <a:t>std</a:t>
            </a:r>
            <a:r>
              <a:rPr lang="en-US" dirty="0"/>
              <a:t>::vector &lt;char&gt;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goal:  Write a class that enables the program in the constructor, and disables it in the destructor.</a:t>
            </a:r>
          </a:p>
          <a:p>
            <a:endParaRPr lang="en-US" dirty="0"/>
          </a:p>
          <a:p>
            <a:r>
              <a:rPr lang="en-US" dirty="0"/>
              <a:t>Add </a:t>
            </a:r>
            <a:r>
              <a:rPr lang="en-US" dirty="0" err="1"/>
              <a:t>renderer.h</a:t>
            </a:r>
            <a:r>
              <a:rPr lang="en-US" dirty="0"/>
              <a:t> and renderer.cpp</a:t>
            </a:r>
          </a:p>
        </p:txBody>
      </p:sp>
    </p:spTree>
    <p:extLst>
      <p:ext uri="{BB962C8B-B14F-4D97-AF65-F5344CB8AC3E}">
        <p14:creationId xmlns:p14="http://schemas.microsoft.com/office/powerpoint/2010/main" val="406756977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32973" y="1762594"/>
            <a:ext cx="3562194" cy="13388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Lucida Console" panose="020B0609040504020204" pitchFamily="49" charset="0"/>
              </a:rPr>
              <a:t>#</a:t>
            </a:r>
            <a:r>
              <a:rPr lang="en-US" sz="900" dirty="0" err="1">
                <a:latin typeface="Lucida Console" panose="020B0609040504020204" pitchFamily="49" charset="0"/>
              </a:rPr>
              <a:t>ifndef</a:t>
            </a:r>
            <a:r>
              <a:rPr lang="en-US" sz="900" dirty="0">
                <a:latin typeface="Lucida Console" panose="020B0609040504020204" pitchFamily="49" charset="0"/>
              </a:rPr>
              <a:t> RENDERER_IS_INCLUDED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#define RENDERER_IS_INCLUDED</a:t>
            </a:r>
          </a:p>
          <a:p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>
                <a:latin typeface="Lucida Console" panose="020B0609040504020204" pitchFamily="49" charset="0"/>
              </a:rPr>
              <a:t>#include &lt;</a:t>
            </a:r>
            <a:r>
              <a:rPr lang="en-US" sz="900" dirty="0" err="1">
                <a:latin typeface="Lucida Console" panose="020B0609040504020204" pitchFamily="49" charset="0"/>
              </a:rPr>
              <a:t>ysgl.h</a:t>
            </a:r>
            <a:r>
              <a:rPr lang="en-US" sz="9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#include &lt;vector&gt;</a:t>
            </a:r>
          </a:p>
          <a:p>
            <a:r>
              <a:rPr lang="en-US" sz="900" dirty="0" err="1">
                <a:latin typeface="Lucida Console" panose="020B0609040504020204" pitchFamily="49" charset="0"/>
              </a:rPr>
              <a:t>std</a:t>
            </a:r>
            <a:r>
              <a:rPr lang="en-US" sz="900" dirty="0">
                <a:latin typeface="Lucida Console" panose="020B0609040504020204" pitchFamily="49" charset="0"/>
              </a:rPr>
              <a:t>::vector &lt;char&gt; </a:t>
            </a:r>
            <a:r>
              <a:rPr lang="en-US" sz="900" dirty="0" err="1">
                <a:latin typeface="Lucida Console" panose="020B0609040504020204" pitchFamily="49" charset="0"/>
              </a:rPr>
              <a:t>ReadTextFile</a:t>
            </a:r>
            <a:r>
              <a:rPr lang="en-US" sz="900" dirty="0">
                <a:latin typeface="Lucida Console" panose="020B0609040504020204" pitchFamily="49" charset="0"/>
              </a:rPr>
              <a:t>(</a:t>
            </a:r>
            <a:r>
              <a:rPr lang="en-US" sz="900" dirty="0" err="1">
                <a:latin typeface="Lucida Console" panose="020B0609040504020204" pitchFamily="49" charset="0"/>
              </a:rPr>
              <a:t>const</a:t>
            </a:r>
            <a:r>
              <a:rPr lang="en-US" sz="900" dirty="0">
                <a:latin typeface="Lucida Console" panose="020B0609040504020204" pitchFamily="49" charset="0"/>
              </a:rPr>
              <a:t> char </a:t>
            </a:r>
            <a:r>
              <a:rPr lang="en-US" sz="900" dirty="0" err="1">
                <a:latin typeface="Lucida Console" panose="020B0609040504020204" pitchFamily="49" charset="0"/>
              </a:rPr>
              <a:t>fn</a:t>
            </a:r>
            <a:r>
              <a:rPr lang="en-US" sz="900" dirty="0">
                <a:latin typeface="Lucida Console" panose="020B0609040504020204" pitchFamily="49" charset="0"/>
              </a:rPr>
              <a:t>[]);</a:t>
            </a:r>
          </a:p>
          <a:p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>
                <a:latin typeface="Lucida Console" panose="020B0609040504020204" pitchFamily="49" charset="0"/>
              </a:rPr>
              <a:t>#</a:t>
            </a:r>
            <a:r>
              <a:rPr lang="en-US" sz="900" dirty="0" err="1">
                <a:latin typeface="Lucida Console" panose="020B0609040504020204" pitchFamily="49" charset="0"/>
              </a:rPr>
              <a:t>endif</a:t>
            </a:r>
            <a:endParaRPr lang="en-US" sz="900" dirty="0">
              <a:latin typeface="Lucida Console" panose="020B0609040504020204" pitchFamily="49" charset="0"/>
            </a:endParaRPr>
          </a:p>
          <a:p>
            <a:endParaRPr lang="en-US" sz="900" dirty="0">
              <a:latin typeface="Lucida Console" panose="020B06090405040202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991043" y="1762594"/>
            <a:ext cx="3877985" cy="36317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Lucida Console" panose="020B0609040504020204" pitchFamily="49" charset="0"/>
              </a:rPr>
              <a:t>#include "</a:t>
            </a:r>
            <a:r>
              <a:rPr lang="en-US" sz="1000" dirty="0" err="1">
                <a:latin typeface="Lucida Console" panose="020B0609040504020204" pitchFamily="49" charset="0"/>
              </a:rPr>
              <a:t>renderer.h</a:t>
            </a:r>
            <a:r>
              <a:rPr lang="en-US" sz="1000" dirty="0">
                <a:latin typeface="Lucida Console" panose="020B0609040504020204" pitchFamily="49" charset="0"/>
              </a:rPr>
              <a:t>"</a:t>
            </a:r>
          </a:p>
          <a:p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err="1">
                <a:latin typeface="Lucida Console" panose="020B0609040504020204" pitchFamily="49" charset="0"/>
              </a:rPr>
              <a:t>std</a:t>
            </a:r>
            <a:r>
              <a:rPr lang="en-US" sz="1000" dirty="0">
                <a:latin typeface="Lucida Console" panose="020B0609040504020204" pitchFamily="49" charset="0"/>
              </a:rPr>
              <a:t>::vector &lt;char&gt; </a:t>
            </a:r>
            <a:r>
              <a:rPr lang="en-US" sz="1000" dirty="0" err="1">
                <a:latin typeface="Lucida Console" panose="020B0609040504020204" pitchFamily="49" charset="0"/>
              </a:rPr>
              <a:t>ReadTextFile</a:t>
            </a:r>
            <a:r>
              <a:rPr lang="en-US" sz="1000" dirty="0">
                <a:latin typeface="Lucida Console" panose="020B0609040504020204" pitchFamily="49" charset="0"/>
              </a:rPr>
              <a:t>(</a:t>
            </a:r>
            <a:r>
              <a:rPr lang="en-US" sz="1000" dirty="0" err="1">
                <a:latin typeface="Lucida Console" panose="020B0609040504020204" pitchFamily="49" charset="0"/>
              </a:rPr>
              <a:t>const</a:t>
            </a:r>
            <a:r>
              <a:rPr lang="en-US" sz="1000" dirty="0">
                <a:latin typeface="Lucida Console" panose="020B0609040504020204" pitchFamily="49" charset="0"/>
              </a:rPr>
              <a:t> char </a:t>
            </a:r>
            <a:r>
              <a:rPr lang="en-US" sz="1000" dirty="0" err="1">
                <a:latin typeface="Lucida Console" panose="020B0609040504020204" pitchFamily="49" charset="0"/>
              </a:rPr>
              <a:t>fn</a:t>
            </a:r>
            <a:r>
              <a:rPr lang="en-US" sz="1000" dirty="0">
                <a:latin typeface="Lucida Console" panose="020B0609040504020204" pitchFamily="49" charset="0"/>
              </a:rPr>
              <a:t>[])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</a:t>
            </a:r>
            <a:r>
              <a:rPr lang="en-US" sz="1000" dirty="0" err="1">
                <a:latin typeface="Lucida Console" panose="020B0609040504020204" pitchFamily="49" charset="0"/>
              </a:rPr>
              <a:t>std</a:t>
            </a:r>
            <a:r>
              <a:rPr lang="en-US" sz="1000" dirty="0">
                <a:latin typeface="Lucida Console" panose="020B0609040504020204" pitchFamily="49" charset="0"/>
              </a:rPr>
              <a:t>::vector &lt;char&gt; </a:t>
            </a:r>
            <a:r>
              <a:rPr lang="en-US" sz="1000" dirty="0" err="1">
                <a:latin typeface="Lucida Console" panose="020B0609040504020204" pitchFamily="49" charset="0"/>
              </a:rPr>
              <a:t>fileContent</a:t>
            </a:r>
            <a:r>
              <a:rPr lang="en-US" sz="10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char </a:t>
            </a:r>
            <a:r>
              <a:rPr lang="en-US" sz="1000" dirty="0" err="1">
                <a:latin typeface="Lucida Console" panose="020B0609040504020204" pitchFamily="49" charset="0"/>
              </a:rPr>
              <a:t>str</a:t>
            </a:r>
            <a:r>
              <a:rPr lang="en-US" sz="1000" dirty="0">
                <a:latin typeface="Lucida Console" panose="020B0609040504020204" pitchFamily="49" charset="0"/>
              </a:rPr>
              <a:t>[256];</a:t>
            </a:r>
          </a:p>
          <a:p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>
                <a:latin typeface="Lucida Console" panose="020B0609040504020204" pitchFamily="49" charset="0"/>
              </a:rPr>
              <a:t>    FILE *</a:t>
            </a:r>
            <a:r>
              <a:rPr lang="en-US" sz="1000" dirty="0" err="1">
                <a:latin typeface="Lucida Console" panose="020B0609040504020204" pitchFamily="49" charset="0"/>
              </a:rPr>
              <a:t>fp</a:t>
            </a:r>
            <a:r>
              <a:rPr lang="en-US" sz="1000" dirty="0">
                <a:latin typeface="Lucida Console" panose="020B0609040504020204" pitchFamily="49" charset="0"/>
              </a:rPr>
              <a:t>=</a:t>
            </a:r>
            <a:r>
              <a:rPr lang="en-US" sz="1000" dirty="0" err="1">
                <a:latin typeface="Lucida Console" panose="020B0609040504020204" pitchFamily="49" charset="0"/>
              </a:rPr>
              <a:t>fopen</a:t>
            </a:r>
            <a:r>
              <a:rPr lang="en-US" sz="1000" dirty="0">
                <a:latin typeface="Lucida Console" panose="020B0609040504020204" pitchFamily="49" charset="0"/>
              </a:rPr>
              <a:t>(</a:t>
            </a:r>
            <a:r>
              <a:rPr lang="en-US" sz="1000" dirty="0" err="1">
                <a:latin typeface="Lucida Console" panose="020B0609040504020204" pitchFamily="49" charset="0"/>
              </a:rPr>
              <a:t>fn</a:t>
            </a:r>
            <a:r>
              <a:rPr lang="en-US" sz="1000" dirty="0">
                <a:latin typeface="Lucida Console" panose="020B0609040504020204" pitchFamily="49" charset="0"/>
              </a:rPr>
              <a:t>,"r");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if(</a:t>
            </a:r>
            <a:r>
              <a:rPr lang="en-US" sz="1000" dirty="0" err="1">
                <a:latin typeface="Lucida Console" panose="020B0609040504020204" pitchFamily="49" charset="0"/>
              </a:rPr>
              <a:t>nullptr</a:t>
            </a:r>
            <a:r>
              <a:rPr lang="en-US" sz="1000" dirty="0">
                <a:latin typeface="Lucida Console" panose="020B0609040504020204" pitchFamily="49" charset="0"/>
              </a:rPr>
              <a:t>!=</a:t>
            </a:r>
            <a:r>
              <a:rPr lang="en-US" sz="1000" dirty="0" err="1">
                <a:latin typeface="Lucida Console" panose="020B0609040504020204" pitchFamily="49" charset="0"/>
              </a:rPr>
              <a:t>fp</a:t>
            </a:r>
            <a:r>
              <a:rPr lang="en-US" sz="1000" dirty="0">
                <a:latin typeface="Lucida Console" panose="020B0609040504020204" pitchFamily="49" charset="0"/>
              </a:rPr>
              <a:t>)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{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    while(</a:t>
            </a:r>
            <a:r>
              <a:rPr lang="en-US" sz="1000" dirty="0" err="1">
                <a:latin typeface="Lucida Console" panose="020B0609040504020204" pitchFamily="49" charset="0"/>
              </a:rPr>
              <a:t>nullptr</a:t>
            </a:r>
            <a:r>
              <a:rPr lang="en-US" sz="1000" dirty="0">
                <a:latin typeface="Lucida Console" panose="020B0609040504020204" pitchFamily="49" charset="0"/>
              </a:rPr>
              <a:t>!=</a:t>
            </a:r>
            <a:r>
              <a:rPr lang="en-US" sz="1000" dirty="0" err="1">
                <a:latin typeface="Lucida Console" panose="020B0609040504020204" pitchFamily="49" charset="0"/>
              </a:rPr>
              <a:t>fgets</a:t>
            </a:r>
            <a:r>
              <a:rPr lang="en-US" sz="1000" dirty="0">
                <a:latin typeface="Lucida Console" panose="020B0609040504020204" pitchFamily="49" charset="0"/>
              </a:rPr>
              <a:t>(str,255,fp))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    {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        for(</a:t>
            </a:r>
            <a:r>
              <a:rPr lang="en-US" sz="1000" dirty="0" err="1">
                <a:latin typeface="Lucida Console" panose="020B0609040504020204" pitchFamily="49" charset="0"/>
              </a:rPr>
              <a:t>int</a:t>
            </a:r>
            <a:r>
              <a:rPr lang="en-US" sz="1000" dirty="0">
                <a:latin typeface="Lucida Console" panose="020B0609040504020204" pitchFamily="49" charset="0"/>
              </a:rPr>
              <a:t> </a:t>
            </a:r>
            <a:r>
              <a:rPr lang="en-US" sz="1000" dirty="0" err="1">
                <a:latin typeface="Lucida Console" panose="020B0609040504020204" pitchFamily="49" charset="0"/>
              </a:rPr>
              <a:t>i</a:t>
            </a:r>
            <a:r>
              <a:rPr lang="en-US" sz="1000" dirty="0">
                <a:latin typeface="Lucida Console" panose="020B0609040504020204" pitchFamily="49" charset="0"/>
              </a:rPr>
              <a:t>=0; </a:t>
            </a:r>
            <a:r>
              <a:rPr lang="en-US" sz="1000" dirty="0" err="1">
                <a:latin typeface="Lucida Console" panose="020B0609040504020204" pitchFamily="49" charset="0"/>
              </a:rPr>
              <a:t>str</a:t>
            </a:r>
            <a:r>
              <a:rPr lang="en-US" sz="1000" dirty="0">
                <a:latin typeface="Lucida Console" panose="020B0609040504020204" pitchFamily="49" charset="0"/>
              </a:rPr>
              <a:t>[</a:t>
            </a:r>
            <a:r>
              <a:rPr lang="en-US" sz="1000" dirty="0" err="1">
                <a:latin typeface="Lucida Console" panose="020B0609040504020204" pitchFamily="49" charset="0"/>
              </a:rPr>
              <a:t>i</a:t>
            </a:r>
            <a:r>
              <a:rPr lang="en-US" sz="1000" dirty="0">
                <a:latin typeface="Lucida Console" panose="020B0609040504020204" pitchFamily="49" charset="0"/>
              </a:rPr>
              <a:t>]!=0; ++</a:t>
            </a:r>
            <a:r>
              <a:rPr lang="en-US" sz="1000" dirty="0" err="1">
                <a:latin typeface="Lucida Console" panose="020B0609040504020204" pitchFamily="49" charset="0"/>
              </a:rPr>
              <a:t>i</a:t>
            </a:r>
            <a:r>
              <a:rPr lang="en-US" sz="1000" dirty="0">
                <a:latin typeface="Lucida Console" panose="020B0609040504020204" pitchFamily="49" charset="0"/>
              </a:rPr>
              <a:t>)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        {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            </a:t>
            </a:r>
            <a:r>
              <a:rPr lang="en-US" sz="1000" dirty="0" err="1">
                <a:latin typeface="Lucida Console" panose="020B0609040504020204" pitchFamily="49" charset="0"/>
              </a:rPr>
              <a:t>fileContent.push_back</a:t>
            </a:r>
            <a:r>
              <a:rPr lang="en-US" sz="1000" dirty="0">
                <a:latin typeface="Lucida Console" panose="020B0609040504020204" pitchFamily="49" charset="0"/>
              </a:rPr>
              <a:t>(</a:t>
            </a:r>
            <a:r>
              <a:rPr lang="en-US" sz="1000" dirty="0" err="1">
                <a:latin typeface="Lucida Console" panose="020B0609040504020204" pitchFamily="49" charset="0"/>
              </a:rPr>
              <a:t>str</a:t>
            </a:r>
            <a:r>
              <a:rPr lang="en-US" sz="1000" dirty="0">
                <a:latin typeface="Lucida Console" panose="020B0609040504020204" pitchFamily="49" charset="0"/>
              </a:rPr>
              <a:t>[</a:t>
            </a:r>
            <a:r>
              <a:rPr lang="en-US" sz="1000" dirty="0" err="1">
                <a:latin typeface="Lucida Console" panose="020B0609040504020204" pitchFamily="49" charset="0"/>
              </a:rPr>
              <a:t>i</a:t>
            </a:r>
            <a:r>
              <a:rPr lang="en-US" sz="1000" dirty="0">
                <a:latin typeface="Lucida Console" panose="020B0609040504020204" pitchFamily="49" charset="0"/>
              </a:rPr>
              <a:t>]);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        }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    }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    </a:t>
            </a:r>
            <a:r>
              <a:rPr lang="en-US" sz="1000" dirty="0" err="1">
                <a:latin typeface="Lucida Console" panose="020B0609040504020204" pitchFamily="49" charset="0"/>
              </a:rPr>
              <a:t>fclose</a:t>
            </a:r>
            <a:r>
              <a:rPr lang="en-US" sz="1000" dirty="0">
                <a:latin typeface="Lucida Console" panose="020B0609040504020204" pitchFamily="49" charset="0"/>
              </a:rPr>
              <a:t>(</a:t>
            </a:r>
            <a:r>
              <a:rPr lang="en-US" sz="1000" dirty="0" err="1">
                <a:latin typeface="Lucida Console" panose="020B0609040504020204" pitchFamily="49" charset="0"/>
              </a:rPr>
              <a:t>fp</a:t>
            </a:r>
            <a:r>
              <a:rPr lang="en-US" sz="10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}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</a:t>
            </a:r>
            <a:r>
              <a:rPr lang="en-US" sz="1000" dirty="0" err="1">
                <a:latin typeface="Lucida Console" panose="020B0609040504020204" pitchFamily="49" charset="0"/>
              </a:rPr>
              <a:t>fileContent.push_back</a:t>
            </a:r>
            <a:r>
              <a:rPr lang="en-US" sz="1000" dirty="0">
                <a:latin typeface="Lucida Console" panose="020B0609040504020204" pitchFamily="49" charset="0"/>
              </a:rPr>
              <a:t>(0);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return </a:t>
            </a:r>
            <a:r>
              <a:rPr lang="en-US" sz="1000" dirty="0" err="1">
                <a:latin typeface="Lucida Console" panose="020B0609040504020204" pitchFamily="49" charset="0"/>
              </a:rPr>
              <a:t>fileContent</a:t>
            </a:r>
            <a:r>
              <a:rPr lang="en-US" sz="10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}</a:t>
            </a:r>
          </a:p>
          <a:p>
            <a:endParaRPr lang="en-US" sz="1000" dirty="0">
              <a:latin typeface="Lucida Console" panose="020B0609040504020204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32973" y="1208596"/>
            <a:ext cx="1236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renderer.h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991043" y="1208596"/>
            <a:ext cx="1479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renderer.cpp</a:t>
            </a:r>
          </a:p>
        </p:txBody>
      </p:sp>
    </p:spTree>
    <p:extLst>
      <p:ext uri="{BB962C8B-B14F-4D97-AF65-F5344CB8AC3E}">
        <p14:creationId xmlns:p14="http://schemas.microsoft.com/office/powerpoint/2010/main" val="12720981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in OpenGL header locations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Problem (major frustration):</a:t>
            </a:r>
          </a:p>
          <a:p>
            <a:pPr lvl="1"/>
            <a:r>
              <a:rPr lang="en-US" dirty="0"/>
              <a:t>Apple put OpenGL headers in a non-standard location.</a:t>
            </a:r>
          </a:p>
          <a:p>
            <a:pPr lvl="1"/>
            <a:r>
              <a:rPr lang="en-US" dirty="0"/>
              <a:t>Windows needs </a:t>
            </a:r>
            <a:r>
              <a:rPr lang="en-US" dirty="0" err="1"/>
              <a:t>windows.h</a:t>
            </a:r>
            <a:r>
              <a:rPr lang="en-US" dirty="0"/>
              <a:t> be included before including OpenGL headers.</a:t>
            </a:r>
          </a:p>
          <a:p>
            <a:pPr lvl="1"/>
            <a:r>
              <a:rPr lang="en-US" dirty="0"/>
              <a:t>Visual C++ does not come with OpenGL 2.x headers.  (For Visual C++, headers are in public/</a:t>
            </a:r>
            <a:r>
              <a:rPr lang="en-US" dirty="0" err="1"/>
              <a:t>src</a:t>
            </a:r>
            <a:r>
              <a:rPr lang="en-US" dirty="0"/>
              <a:t>/imported/include/GL.  Redistribution of the headers are permitted.)</a:t>
            </a:r>
          </a:p>
          <a:p>
            <a:pPr lvl="1"/>
            <a:r>
              <a:rPr lang="en-US" dirty="0"/>
              <a:t>iOS uses OpenGL ES, whose headers are in a different location.</a:t>
            </a:r>
          </a:p>
          <a:p>
            <a:r>
              <a:rPr lang="en-US" dirty="0"/>
              <a:t>You end up needing that many lines.</a:t>
            </a:r>
          </a:p>
        </p:txBody>
      </p:sp>
    </p:spTree>
    <p:extLst>
      <p:ext uri="{BB962C8B-B14F-4D97-AF65-F5344CB8AC3E}">
        <p14:creationId xmlns:p14="http://schemas.microsoft.com/office/powerpoint/2010/main" val="110947115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13429" y="266932"/>
            <a:ext cx="6724918" cy="59400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Lucida Console" panose="020B0609040504020204" pitchFamily="49" charset="0"/>
              </a:rPr>
              <a:t>#</a:t>
            </a:r>
            <a:r>
              <a:rPr lang="en-US" sz="1000" dirty="0" err="1">
                <a:latin typeface="Lucida Console" panose="020B0609040504020204" pitchFamily="49" charset="0"/>
              </a:rPr>
              <a:t>ifndef</a:t>
            </a:r>
            <a:r>
              <a:rPr lang="en-US" sz="1000" dirty="0">
                <a:latin typeface="Lucida Console" panose="020B0609040504020204" pitchFamily="49" charset="0"/>
              </a:rPr>
              <a:t> OPENGL_HEADER_IS_INCLUDED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#define OPENGL_HEADER_IS_INCLUDED</a:t>
            </a:r>
          </a:p>
          <a:p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>
                <a:latin typeface="Lucida Console" panose="020B0609040504020204" pitchFamily="49" charset="0"/>
              </a:rPr>
              <a:t>#</a:t>
            </a:r>
            <a:r>
              <a:rPr lang="en-US" sz="1000" dirty="0" err="1">
                <a:latin typeface="Lucida Console" panose="020B0609040504020204" pitchFamily="49" charset="0"/>
              </a:rPr>
              <a:t>ifdef</a:t>
            </a:r>
            <a:r>
              <a:rPr lang="en-US" sz="1000" dirty="0">
                <a:latin typeface="Lucida Console" panose="020B0609040504020204" pitchFamily="49" charset="0"/>
              </a:rPr>
              <a:t> _WIN32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#</a:t>
            </a:r>
            <a:r>
              <a:rPr lang="en-US" sz="1000" dirty="0" err="1">
                <a:latin typeface="Lucida Console" panose="020B0609040504020204" pitchFamily="49" charset="0"/>
              </a:rPr>
              <a:t>ifndef</a:t>
            </a:r>
            <a:r>
              <a:rPr lang="en-US" sz="1000" dirty="0">
                <a:latin typeface="Lucida Console" panose="020B0609040504020204" pitchFamily="49" charset="0"/>
              </a:rPr>
              <a:t> WIN32_LEAN_AND_MEAN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    // Prevent inclusion of </a:t>
            </a:r>
            <a:r>
              <a:rPr lang="en-US" sz="1000" dirty="0" err="1">
                <a:latin typeface="Lucida Console" panose="020B0609040504020204" pitchFamily="49" charset="0"/>
              </a:rPr>
              <a:t>winsock.h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>
                <a:latin typeface="Lucida Console" panose="020B0609040504020204" pitchFamily="49" charset="0"/>
              </a:rPr>
              <a:t>        #define WIN32_LEAN_AND_MEAN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    #include &lt;</a:t>
            </a:r>
            <a:r>
              <a:rPr lang="en-US" sz="1000" dirty="0" err="1">
                <a:latin typeface="Lucida Console" panose="020B0609040504020204" pitchFamily="49" charset="0"/>
              </a:rPr>
              <a:t>windows.h</a:t>
            </a:r>
            <a:r>
              <a:rPr lang="en-US" sz="10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    #</a:t>
            </a:r>
            <a:r>
              <a:rPr lang="en-US" sz="1000" dirty="0" err="1">
                <a:latin typeface="Lucida Console" panose="020B0609040504020204" pitchFamily="49" charset="0"/>
              </a:rPr>
              <a:t>undef</a:t>
            </a:r>
            <a:r>
              <a:rPr lang="en-US" sz="1000" dirty="0">
                <a:latin typeface="Lucida Console" panose="020B0609040504020204" pitchFamily="49" charset="0"/>
              </a:rPr>
              <a:t> WIN32_LEAN_AND_MEAN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#else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    // Too late.  Just include it.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    #include &lt;</a:t>
            </a:r>
            <a:r>
              <a:rPr lang="en-US" sz="1000" dirty="0" err="1">
                <a:latin typeface="Lucida Console" panose="020B0609040504020204" pitchFamily="49" charset="0"/>
              </a:rPr>
              <a:t>windows.h</a:t>
            </a:r>
            <a:r>
              <a:rPr lang="en-US" sz="10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#</a:t>
            </a:r>
            <a:r>
              <a:rPr lang="en-US" sz="1000" dirty="0" err="1">
                <a:latin typeface="Lucida Console" panose="020B0609040504020204" pitchFamily="49" charset="0"/>
              </a:rPr>
              <a:t>endif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>
                <a:latin typeface="Lucida Console" panose="020B0609040504020204" pitchFamily="49" charset="0"/>
              </a:rPr>
              <a:t>#</a:t>
            </a:r>
            <a:r>
              <a:rPr lang="en-US" sz="1000" dirty="0" err="1">
                <a:latin typeface="Lucida Console" panose="020B0609040504020204" pitchFamily="49" charset="0"/>
              </a:rPr>
              <a:t>endif</a:t>
            </a:r>
            <a:endParaRPr lang="en-US" sz="1000" dirty="0">
              <a:latin typeface="Lucida Console" panose="020B0609040504020204" pitchFamily="49" charset="0"/>
            </a:endParaRPr>
          </a:p>
          <a:p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>
                <a:latin typeface="Lucida Console" panose="020B0609040504020204" pitchFamily="49" charset="0"/>
              </a:rPr>
              <a:t>#</a:t>
            </a:r>
            <a:r>
              <a:rPr lang="en-US" sz="1000" dirty="0" err="1">
                <a:latin typeface="Lucida Console" panose="020B0609040504020204" pitchFamily="49" charset="0"/>
              </a:rPr>
              <a:t>ifndef</a:t>
            </a:r>
            <a:r>
              <a:rPr lang="en-US" sz="1000" dirty="0">
                <a:latin typeface="Lucida Console" panose="020B0609040504020204" pitchFamily="49" charset="0"/>
              </a:rPr>
              <a:t> GL_GLEXT_PROTOTYPES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#define GL_GLEXT_PROTOTYPES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#</a:t>
            </a:r>
            <a:r>
              <a:rPr lang="en-US" sz="1000" dirty="0" err="1">
                <a:latin typeface="Lucida Console" panose="020B0609040504020204" pitchFamily="49" charset="0"/>
              </a:rPr>
              <a:t>endif</a:t>
            </a:r>
            <a:endParaRPr lang="en-US" sz="1000" dirty="0">
              <a:latin typeface="Lucida Console" panose="020B0609040504020204" pitchFamily="49" charset="0"/>
            </a:endParaRPr>
          </a:p>
          <a:p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>
                <a:latin typeface="Lucida Console" panose="020B0609040504020204" pitchFamily="49" charset="0"/>
              </a:rPr>
              <a:t>#</a:t>
            </a:r>
            <a:r>
              <a:rPr lang="en-US" sz="1000" dirty="0" err="1">
                <a:latin typeface="Lucida Console" panose="020B0609040504020204" pitchFamily="49" charset="0"/>
              </a:rPr>
              <a:t>ifndef</a:t>
            </a:r>
            <a:r>
              <a:rPr lang="en-US" sz="1000" dirty="0">
                <a:latin typeface="Lucida Console" panose="020B0609040504020204" pitchFamily="49" charset="0"/>
              </a:rPr>
              <a:t> __APPLE__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#include &lt;GL/</a:t>
            </a:r>
            <a:r>
              <a:rPr lang="en-US" sz="1000" dirty="0" err="1">
                <a:latin typeface="Lucida Console" panose="020B0609040504020204" pitchFamily="49" charset="0"/>
              </a:rPr>
              <a:t>gl.h</a:t>
            </a:r>
            <a:r>
              <a:rPr lang="en-US" sz="10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#include &lt;GL/</a:t>
            </a:r>
            <a:r>
              <a:rPr lang="en-US" sz="1000" dirty="0" err="1">
                <a:latin typeface="Lucida Console" panose="020B0609040504020204" pitchFamily="49" charset="0"/>
              </a:rPr>
              <a:t>glu.h</a:t>
            </a:r>
            <a:r>
              <a:rPr lang="en-US" sz="10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#include &lt;GL/</a:t>
            </a:r>
            <a:r>
              <a:rPr lang="en-US" sz="1000" dirty="0" err="1">
                <a:latin typeface="Lucida Console" panose="020B0609040504020204" pitchFamily="49" charset="0"/>
              </a:rPr>
              <a:t>glext.h</a:t>
            </a:r>
            <a:r>
              <a:rPr lang="en-US" sz="10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#else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#include &lt;</a:t>
            </a:r>
            <a:r>
              <a:rPr lang="en-US" sz="1000" dirty="0" err="1">
                <a:latin typeface="Lucida Console" panose="020B0609040504020204" pitchFamily="49" charset="0"/>
              </a:rPr>
              <a:t>TargetConditionals.h</a:t>
            </a:r>
            <a:r>
              <a:rPr lang="en-US" sz="10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#if TARGET_OS_EMBEDDED!=0 || TARGET_OS_IPHONE!=0 || TARGET_OS_IPHONE_SIMULATOR!=0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    #include &lt;</a:t>
            </a:r>
            <a:r>
              <a:rPr lang="en-US" sz="1000" dirty="0" err="1">
                <a:latin typeface="Lucida Console" panose="020B0609040504020204" pitchFamily="49" charset="0"/>
              </a:rPr>
              <a:t>OpenGLES</a:t>
            </a:r>
            <a:r>
              <a:rPr lang="en-US" sz="1000" dirty="0">
                <a:latin typeface="Lucida Console" panose="020B0609040504020204" pitchFamily="49" charset="0"/>
              </a:rPr>
              <a:t>/ES2/</a:t>
            </a:r>
            <a:r>
              <a:rPr lang="en-US" sz="1000" dirty="0" err="1">
                <a:latin typeface="Lucida Console" panose="020B0609040504020204" pitchFamily="49" charset="0"/>
              </a:rPr>
              <a:t>gl.h</a:t>
            </a:r>
            <a:r>
              <a:rPr lang="en-US" sz="10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    #include &lt;</a:t>
            </a:r>
            <a:r>
              <a:rPr lang="en-US" sz="1000" dirty="0" err="1">
                <a:latin typeface="Lucida Console" panose="020B0609040504020204" pitchFamily="49" charset="0"/>
              </a:rPr>
              <a:t>OpenGLES</a:t>
            </a:r>
            <a:r>
              <a:rPr lang="en-US" sz="1000" dirty="0">
                <a:latin typeface="Lucida Console" panose="020B0609040504020204" pitchFamily="49" charset="0"/>
              </a:rPr>
              <a:t>/ES2/</a:t>
            </a:r>
            <a:r>
              <a:rPr lang="en-US" sz="1000" dirty="0" err="1">
                <a:latin typeface="Lucida Console" panose="020B0609040504020204" pitchFamily="49" charset="0"/>
              </a:rPr>
              <a:t>glext.h</a:t>
            </a:r>
            <a:r>
              <a:rPr lang="en-US" sz="10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    </a:t>
            </a:r>
            <a:r>
              <a:rPr lang="en-US" sz="1000" dirty="0" err="1">
                <a:latin typeface="Lucida Console" panose="020B0609040504020204" pitchFamily="49" charset="0"/>
              </a:rPr>
              <a:t>typedef</a:t>
            </a:r>
            <a:r>
              <a:rPr lang="en-US" sz="1000" dirty="0">
                <a:latin typeface="Lucida Console" panose="020B0609040504020204" pitchFamily="49" charset="0"/>
              </a:rPr>
              <a:t> double </a:t>
            </a:r>
            <a:r>
              <a:rPr lang="en-US" sz="1000" dirty="0" err="1">
                <a:latin typeface="Lucida Console" panose="020B0609040504020204" pitchFamily="49" charset="0"/>
              </a:rPr>
              <a:t>GLdouble</a:t>
            </a:r>
            <a:r>
              <a:rPr lang="en-US" sz="10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#else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    #include &lt;OpenGL/</a:t>
            </a:r>
            <a:r>
              <a:rPr lang="en-US" sz="1000" dirty="0" err="1">
                <a:latin typeface="Lucida Console" panose="020B0609040504020204" pitchFamily="49" charset="0"/>
              </a:rPr>
              <a:t>gl.h</a:t>
            </a:r>
            <a:r>
              <a:rPr lang="en-US" sz="10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    #include &lt;OpenGL/</a:t>
            </a:r>
            <a:r>
              <a:rPr lang="en-US" sz="1000" dirty="0" err="1">
                <a:latin typeface="Lucida Console" panose="020B0609040504020204" pitchFamily="49" charset="0"/>
              </a:rPr>
              <a:t>glu.h</a:t>
            </a:r>
            <a:r>
              <a:rPr lang="en-US" sz="10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    #include &lt;OpenGL/</a:t>
            </a:r>
            <a:r>
              <a:rPr lang="en-US" sz="1000" dirty="0" err="1">
                <a:latin typeface="Lucida Console" panose="020B0609040504020204" pitchFamily="49" charset="0"/>
              </a:rPr>
              <a:t>glext.h</a:t>
            </a:r>
            <a:r>
              <a:rPr lang="en-US" sz="10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#</a:t>
            </a:r>
            <a:r>
              <a:rPr lang="en-US" sz="1000" dirty="0" err="1">
                <a:latin typeface="Lucida Console" panose="020B0609040504020204" pitchFamily="49" charset="0"/>
              </a:rPr>
              <a:t>endif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>
                <a:latin typeface="Lucida Console" panose="020B0609040504020204" pitchFamily="49" charset="0"/>
              </a:rPr>
              <a:t>#</a:t>
            </a:r>
            <a:r>
              <a:rPr lang="en-US" sz="1000" dirty="0" err="1">
                <a:latin typeface="Lucida Console" panose="020B0609040504020204" pitchFamily="49" charset="0"/>
              </a:rPr>
              <a:t>endif</a:t>
            </a:r>
            <a:endParaRPr lang="en-US" sz="1000" dirty="0">
              <a:latin typeface="Lucida Console" panose="020B0609040504020204" pitchFamily="49" charset="0"/>
            </a:endParaRPr>
          </a:p>
          <a:p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>
                <a:latin typeface="Lucida Console" panose="020B0609040504020204" pitchFamily="49" charset="0"/>
              </a:rPr>
              <a:t>#</a:t>
            </a:r>
            <a:r>
              <a:rPr lang="en-US" sz="1000" dirty="0" err="1">
                <a:latin typeface="Lucida Console" panose="020B0609040504020204" pitchFamily="49" charset="0"/>
              </a:rPr>
              <a:t>endif</a:t>
            </a:r>
            <a:endParaRPr lang="en-US" sz="1000" dirty="0">
              <a:latin typeface="Lucida Console" panose="020B0609040504020204" pitchFamily="49" charset="0"/>
            </a:endParaRPr>
          </a:p>
        </p:txBody>
      </p:sp>
      <p:sp>
        <p:nvSpPr>
          <p:cNvPr id="2" name="Right Brace 1"/>
          <p:cNvSpPr/>
          <p:nvPr/>
        </p:nvSpPr>
        <p:spPr>
          <a:xfrm>
            <a:off x="3657600" y="813816"/>
            <a:ext cx="109728" cy="1517904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858769" y="1261872"/>
            <a:ext cx="42611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Visual C++ wants </a:t>
            </a:r>
            <a:r>
              <a:rPr lang="en-US" dirty="0" err="1">
                <a:solidFill>
                  <a:srgbClr val="FF0000"/>
                </a:solidFill>
              </a:rPr>
              <a:t>windows.h</a:t>
            </a:r>
            <a:r>
              <a:rPr lang="en-US" dirty="0">
                <a:solidFill>
                  <a:srgbClr val="FF0000"/>
                </a:solidFill>
              </a:rPr>
              <a:t> be included before OpenGL headers.</a:t>
            </a:r>
          </a:p>
        </p:txBody>
      </p:sp>
      <p:sp>
        <p:nvSpPr>
          <p:cNvPr id="5" name="Right Brace 4"/>
          <p:cNvSpPr/>
          <p:nvPr/>
        </p:nvSpPr>
        <p:spPr>
          <a:xfrm>
            <a:off x="2779776" y="2578608"/>
            <a:ext cx="64008" cy="521208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968753" y="2305734"/>
            <a:ext cx="42611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This macro is needed for Visual C++, or OpenGL 2.x function prototypes are ignored.</a:t>
            </a:r>
          </a:p>
        </p:txBody>
      </p:sp>
      <p:sp>
        <p:nvSpPr>
          <p:cNvPr id="7" name="Right Brace 6"/>
          <p:cNvSpPr/>
          <p:nvPr/>
        </p:nvSpPr>
        <p:spPr>
          <a:xfrm>
            <a:off x="2304288" y="3236976"/>
            <a:ext cx="82296" cy="713232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2386584" y="3229064"/>
            <a:ext cx="42611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This is the standard location.  Everyone should put these three files in here!</a:t>
            </a:r>
          </a:p>
        </p:txBody>
      </p:sp>
      <p:sp>
        <p:nvSpPr>
          <p:cNvPr id="9" name="Right Brace 8"/>
          <p:cNvSpPr/>
          <p:nvPr/>
        </p:nvSpPr>
        <p:spPr>
          <a:xfrm>
            <a:off x="6839712" y="4034304"/>
            <a:ext cx="143771" cy="843943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6992628" y="4248484"/>
            <a:ext cx="1639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OpenGL ES</a:t>
            </a:r>
          </a:p>
        </p:txBody>
      </p:sp>
      <p:sp>
        <p:nvSpPr>
          <p:cNvPr id="11" name="Right Brace 10"/>
          <p:cNvSpPr/>
          <p:nvPr/>
        </p:nvSpPr>
        <p:spPr>
          <a:xfrm>
            <a:off x="2843784" y="4720982"/>
            <a:ext cx="124969" cy="856858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2987040" y="4789640"/>
            <a:ext cx="42611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Apple wanted to put these headers under OpenGL sub-directory, not GL.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" y="6136332"/>
            <a:ext cx="7464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Aaaaagh</a:t>
            </a:r>
            <a:r>
              <a:rPr lang="en-US" dirty="0">
                <a:solidFill>
                  <a:srgbClr val="FF0000"/>
                </a:solidFill>
              </a:rPr>
              <a:t>!  Why everyone makes cross-platform development difficult!!!!!</a:t>
            </a:r>
          </a:p>
        </p:txBody>
      </p:sp>
    </p:spTree>
    <p:extLst>
      <p:ext uri="{BB962C8B-B14F-4D97-AF65-F5344CB8AC3E}">
        <p14:creationId xmlns:p14="http://schemas.microsoft.com/office/powerpoint/2010/main" val="274087905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you are sick and tired of cutting &amp; pasting these lines just to enable OpenGL, it is written in </a:t>
            </a:r>
            <a:r>
              <a:rPr lang="en-US" dirty="0" err="1"/>
              <a:t>ysglheader.h</a:t>
            </a:r>
            <a:r>
              <a:rPr lang="en-US" dirty="0"/>
              <a:t> for you in public repository.</a:t>
            </a:r>
          </a:p>
          <a:p>
            <a:r>
              <a:rPr lang="en-US" dirty="0"/>
              <a:t>If you have public repository added from your top-level CMakeLists.txt</a:t>
            </a:r>
          </a:p>
          <a:p>
            <a:pPr lvl="1"/>
            <a:r>
              <a:rPr lang="en-US" dirty="0"/>
              <a:t>Add in C++ code:</a:t>
            </a:r>
          </a:p>
          <a:p>
            <a:pPr marL="914400" lvl="2" indent="0">
              <a:buNone/>
            </a:pPr>
            <a:r>
              <a:rPr lang="en-US" dirty="0"/>
              <a:t>#include &lt;</a:t>
            </a:r>
            <a:r>
              <a:rPr lang="en-US" dirty="0" err="1"/>
              <a:t>ysgl.h</a:t>
            </a:r>
            <a:r>
              <a:rPr lang="en-US" dirty="0"/>
              <a:t>&gt;   // This also includes </a:t>
            </a:r>
            <a:r>
              <a:rPr lang="en-US" dirty="0" err="1"/>
              <a:t>ysglheader.h</a:t>
            </a:r>
            <a:endParaRPr lang="en-US" dirty="0"/>
          </a:p>
          <a:p>
            <a:pPr lvl="1"/>
            <a:r>
              <a:rPr lang="en-US" dirty="0"/>
              <a:t>Add in CMakeLists.txt</a:t>
            </a:r>
          </a:p>
          <a:p>
            <a:pPr marL="457200" lvl="1" indent="0">
              <a:buNone/>
            </a:pPr>
            <a:r>
              <a:rPr lang="en-US" dirty="0"/>
              <a:t>	</a:t>
            </a:r>
            <a:r>
              <a:rPr lang="en-US" dirty="0" err="1"/>
              <a:t>target_link_libraries</a:t>
            </a:r>
            <a:r>
              <a:rPr lang="en-US" dirty="0"/>
              <a:t>(</a:t>
            </a:r>
            <a:r>
              <a:rPr lang="en-US" i="1" dirty="0" err="1"/>
              <a:t>your_target_name</a:t>
            </a:r>
            <a:r>
              <a:rPr lang="en-US" dirty="0"/>
              <a:t> </a:t>
            </a:r>
            <a:r>
              <a:rPr lang="en-US" dirty="0" err="1"/>
              <a:t>ysgl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8358840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Compiling the </a:t>
            </a:r>
            <a:r>
              <a:rPr lang="en-US" dirty="0" err="1"/>
              <a:t>shaders</a:t>
            </a:r>
            <a:r>
              <a:rPr lang="en-US" dirty="0"/>
              <a:t>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Once you are able to include OpenGL headers and to read </a:t>
            </a:r>
            <a:r>
              <a:rPr lang="en-US" dirty="0" err="1"/>
              <a:t>shader</a:t>
            </a:r>
            <a:r>
              <a:rPr lang="en-US" dirty="0"/>
              <a:t> programs, next step is to compile </a:t>
            </a:r>
            <a:r>
              <a:rPr lang="en-US" dirty="0" err="1"/>
              <a:t>shader</a:t>
            </a:r>
            <a:r>
              <a:rPr lang="en-US" dirty="0"/>
              <a:t> programs.</a:t>
            </a:r>
          </a:p>
          <a:p>
            <a:endParaRPr lang="en-US" dirty="0"/>
          </a:p>
          <a:p>
            <a:r>
              <a:rPr lang="en-US" dirty="0"/>
              <a:t>You need three identifiers:</a:t>
            </a:r>
          </a:p>
          <a:p>
            <a:pPr lvl="1"/>
            <a:r>
              <a:rPr lang="en-US" dirty="0"/>
              <a:t>Program (Vertex </a:t>
            </a:r>
            <a:r>
              <a:rPr lang="en-US" dirty="0" err="1"/>
              <a:t>shader</a:t>
            </a:r>
            <a:r>
              <a:rPr lang="en-US" dirty="0"/>
              <a:t> + Fragment </a:t>
            </a:r>
            <a:r>
              <a:rPr lang="en-US" dirty="0" err="1"/>
              <a:t>shader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Vertex </a:t>
            </a:r>
            <a:r>
              <a:rPr lang="en-US" dirty="0" err="1"/>
              <a:t>shader</a:t>
            </a:r>
            <a:endParaRPr lang="en-US" dirty="0"/>
          </a:p>
          <a:p>
            <a:pPr lvl="1"/>
            <a:r>
              <a:rPr lang="en-US" dirty="0"/>
              <a:t>Fragment </a:t>
            </a:r>
            <a:r>
              <a:rPr lang="en-US" dirty="0" err="1"/>
              <a:t>shader</a:t>
            </a:r>
            <a:endParaRPr lang="en-US" dirty="0"/>
          </a:p>
          <a:p>
            <a:r>
              <a:rPr lang="en-US" dirty="0"/>
              <a:t>Also you need to cache identifiers for:</a:t>
            </a:r>
          </a:p>
          <a:p>
            <a:pPr lvl="1"/>
            <a:r>
              <a:rPr lang="en-US" dirty="0"/>
              <a:t>Vertex Attributes (in this case, the attribute labeled as “vertex”)</a:t>
            </a:r>
          </a:p>
          <a:p>
            <a:pPr lvl="1"/>
            <a:r>
              <a:rPr lang="en-US" dirty="0"/>
              <a:t>Uniforms (in this example, not used yet.)</a:t>
            </a:r>
          </a:p>
        </p:txBody>
      </p:sp>
    </p:spTree>
    <p:extLst>
      <p:ext uri="{BB962C8B-B14F-4D97-AF65-F5344CB8AC3E}">
        <p14:creationId xmlns:p14="http://schemas.microsoft.com/office/powerpoint/2010/main" val="279685949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Pass-Through GLSL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2122967"/>
          </a:xfrm>
        </p:spPr>
        <p:txBody>
          <a:bodyPr/>
          <a:lstStyle/>
          <a:p>
            <a:r>
              <a:rPr lang="en-US" dirty="0"/>
              <a:t>The minimum GLSL program.</a:t>
            </a:r>
          </a:p>
          <a:p>
            <a:pPr lvl="1"/>
            <a:r>
              <a:rPr lang="en-US" dirty="0"/>
              <a:t>Passes input vertex coordinate (</a:t>
            </a:r>
            <a:r>
              <a:rPr lang="en-US" dirty="0" err="1"/>
              <a:t>x,y,z</a:t>
            </a:r>
            <a:r>
              <a:rPr lang="en-US" dirty="0"/>
              <a:t>) to the rasterizer with no transformation.</a:t>
            </a:r>
          </a:p>
          <a:p>
            <a:pPr lvl="1"/>
            <a:r>
              <a:rPr lang="en-US" dirty="0"/>
              <a:t>The primitive color is constant (red).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669913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Vertex </a:t>
            </a:r>
            <a:r>
              <a:rPr lang="en-US" dirty="0" err="1"/>
              <a:t>Shader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1"/>
            <a:ext cx="8229600" cy="756684"/>
          </a:xfrm>
        </p:spPr>
        <p:txBody>
          <a:bodyPr/>
          <a:lstStyle/>
          <a:p>
            <a:r>
              <a:rPr lang="en-US" dirty="0"/>
              <a:t>Written in </a:t>
            </a:r>
            <a:r>
              <a:rPr lang="en-US" dirty="0" err="1"/>
              <a:t>vertexShader.glsl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424763" y="2232837"/>
            <a:ext cx="325281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 err="1">
                <a:latin typeface="Lucida Console" panose="020B0609040504020204" pitchFamily="49" charset="0"/>
              </a:rPr>
              <a:t>attribute</a:t>
            </a:r>
            <a:r>
              <a:rPr lang="fr-FR" sz="1200" dirty="0">
                <a:latin typeface="Lucida Console" panose="020B0609040504020204" pitchFamily="49" charset="0"/>
              </a:rPr>
              <a:t> vec3 vertex;</a:t>
            </a:r>
          </a:p>
          <a:p>
            <a:r>
              <a:rPr lang="fr-FR" sz="1200" dirty="0" err="1">
                <a:latin typeface="Lucida Console" panose="020B0609040504020204" pitchFamily="49" charset="0"/>
              </a:rPr>
              <a:t>void</a:t>
            </a:r>
            <a:r>
              <a:rPr lang="fr-FR" sz="1200" dirty="0">
                <a:latin typeface="Lucida Console" panose="020B0609040504020204" pitchFamily="49" charset="0"/>
              </a:rPr>
              <a:t> main()</a:t>
            </a:r>
          </a:p>
          <a:p>
            <a:r>
              <a:rPr lang="fr-FR" sz="1200" dirty="0">
                <a:latin typeface="Lucida Console" panose="020B0609040504020204" pitchFamily="49" charset="0"/>
              </a:rPr>
              <a:t>{</a:t>
            </a:r>
          </a:p>
          <a:p>
            <a:r>
              <a:rPr lang="fr-FR" sz="1200" dirty="0">
                <a:latin typeface="Lucida Console" panose="020B0609040504020204" pitchFamily="49" charset="0"/>
              </a:rPr>
              <a:t>    </a:t>
            </a:r>
            <a:r>
              <a:rPr lang="fr-FR" sz="1200" dirty="0" err="1">
                <a:latin typeface="Lucida Console" panose="020B0609040504020204" pitchFamily="49" charset="0"/>
              </a:rPr>
              <a:t>gl_Position</a:t>
            </a:r>
            <a:r>
              <a:rPr lang="fr-FR" sz="1200" dirty="0">
                <a:latin typeface="Lucida Console" panose="020B0609040504020204" pitchFamily="49" charset="0"/>
              </a:rPr>
              <a:t>=vec4(vertex,1.0);</a:t>
            </a:r>
          </a:p>
          <a:p>
            <a:r>
              <a:rPr lang="fr-FR" sz="1200" dirty="0">
                <a:latin typeface="Lucida Console" panose="020B0609040504020204" pitchFamily="49" charset="0"/>
              </a:rPr>
              <a:t>}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</p:txBody>
      </p:sp>
      <p:cxnSp>
        <p:nvCxnSpPr>
          <p:cNvPr id="6" name="Straight Arrow Connector 5"/>
          <p:cNvCxnSpPr/>
          <p:nvPr/>
        </p:nvCxnSpPr>
        <p:spPr>
          <a:xfrm flipH="1">
            <a:off x="3567223" y="1919177"/>
            <a:ext cx="1228061" cy="4572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795284" y="1440711"/>
            <a:ext cx="43056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This is what this vertex </a:t>
            </a:r>
            <a:r>
              <a:rPr lang="en-US" dirty="0" err="1">
                <a:solidFill>
                  <a:srgbClr val="FF0000"/>
                </a:solidFill>
              </a:rPr>
              <a:t>shader</a:t>
            </a:r>
            <a:r>
              <a:rPr lang="en-US" dirty="0">
                <a:solidFill>
                  <a:srgbClr val="FF0000"/>
                </a:solidFill>
              </a:rPr>
              <a:t> receives from your C++ program.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In this case, it means that one vertex consists of one 3D vector called vertex.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H="1" flipV="1">
            <a:off x="2468880" y="3022899"/>
            <a:ext cx="398033" cy="726141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285166" y="3749040"/>
            <a:ext cx="430568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This is what the next stage receives from this vertex </a:t>
            </a:r>
            <a:r>
              <a:rPr lang="en-US" dirty="0" err="1">
                <a:solidFill>
                  <a:srgbClr val="FF0000"/>
                </a:solidFill>
              </a:rPr>
              <a:t>shader</a:t>
            </a:r>
            <a:r>
              <a:rPr lang="en-US" dirty="0">
                <a:solidFill>
                  <a:srgbClr val="FF0000"/>
                </a:solidFill>
              </a:rPr>
              <a:t>.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It needs to be a 4D vector (homogeneous coordinate).  Therefore, 1.0 is added as the 4th dimension.</a:t>
            </a:r>
          </a:p>
        </p:txBody>
      </p:sp>
    </p:spTree>
    <p:extLst>
      <p:ext uri="{BB962C8B-B14F-4D97-AF65-F5344CB8AC3E}">
        <p14:creationId xmlns:p14="http://schemas.microsoft.com/office/powerpoint/2010/main" val="83724995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 calculation in GLSL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GLSL is optimized for vector and matrix calculations.</a:t>
            </a:r>
          </a:p>
          <a:p>
            <a:r>
              <a:rPr lang="en-US" dirty="0"/>
              <a:t>The following expression:</a:t>
            </a:r>
            <a:br>
              <a:rPr lang="en-US" dirty="0"/>
            </a:br>
            <a:r>
              <a:rPr lang="en-US" dirty="0"/>
              <a:t>    vec4(vertex,1.0) </a:t>
            </a:r>
            <a:br>
              <a:rPr lang="en-US" dirty="0"/>
            </a:br>
            <a:r>
              <a:rPr lang="en-US" dirty="0"/>
              <a:t>means that a 4D vector, first three dimensions taken from a 3D vector called vertex, and the last dimension is 1.0.</a:t>
            </a:r>
          </a:p>
          <a:p>
            <a:r>
              <a:rPr lang="en-US" dirty="0"/>
              <a:t>The 3D vector of the first three component of a 4D vector can be extracted by writing (if vertex is a vec4 variable):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 err="1"/>
              <a:t>vertex.xyz</a:t>
            </a:r>
            <a:endParaRPr lang="en-US" dirty="0"/>
          </a:p>
          <a:p>
            <a:r>
              <a:rPr lang="en-US" dirty="0"/>
              <a:t>Similarly, you can extract components of 3D vector to get a 2D vector by writing: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 err="1"/>
              <a:t>vertex.xy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 err="1"/>
              <a:t>vertex.xz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 err="1"/>
              <a:t>vertex.yz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509830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Also a 3D or 4D vectors can be used as a color, (</a:t>
            </a:r>
            <a:r>
              <a:rPr lang="en-US" dirty="0" err="1"/>
              <a:t>r,g,b</a:t>
            </a:r>
            <a:r>
              <a:rPr lang="en-US" dirty="0"/>
              <a:t>) or (</a:t>
            </a:r>
            <a:r>
              <a:rPr lang="en-US" dirty="0" err="1"/>
              <a:t>r,g,b,a</a:t>
            </a:r>
            <a:r>
              <a:rPr lang="en-US" dirty="0"/>
              <a:t>).</a:t>
            </a:r>
          </a:p>
          <a:p>
            <a:r>
              <a:rPr lang="en-US" dirty="0"/>
              <a:t>The first component </a:t>
            </a:r>
            <a:r>
              <a:rPr lang="en-US" dirty="0" err="1"/>
              <a:t>vertex.x</a:t>
            </a:r>
            <a:r>
              <a:rPr lang="en-US" dirty="0"/>
              <a:t> is same as </a:t>
            </a:r>
            <a:r>
              <a:rPr lang="en-US" dirty="0" err="1"/>
              <a:t>vertex.r</a:t>
            </a:r>
            <a:endParaRPr lang="en-US" dirty="0"/>
          </a:p>
          <a:p>
            <a:r>
              <a:rPr lang="en-US" dirty="0"/>
              <a:t>Also </a:t>
            </a:r>
            <a:r>
              <a:rPr lang="en-US" dirty="0" err="1"/>
              <a:t>vertex.rgb</a:t>
            </a:r>
            <a:r>
              <a:rPr lang="en-US" dirty="0"/>
              <a:t> is same as </a:t>
            </a:r>
            <a:r>
              <a:rPr lang="en-US" dirty="0" err="1"/>
              <a:t>vertex.xyz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552347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Fragment </a:t>
            </a:r>
            <a:r>
              <a:rPr lang="en-US" dirty="0" err="1"/>
              <a:t>Shader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Written in </a:t>
            </a:r>
            <a:r>
              <a:rPr lang="en-US" dirty="0" err="1"/>
              <a:t>fragmentShader.glsl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424763" y="2232837"/>
            <a:ext cx="306686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 err="1">
                <a:latin typeface="Lucida Console" panose="020B0609040504020204" pitchFamily="49" charset="0"/>
              </a:rPr>
              <a:t>void</a:t>
            </a:r>
            <a:r>
              <a:rPr lang="fr-FR" sz="1200" dirty="0">
                <a:latin typeface="Lucida Console" panose="020B0609040504020204" pitchFamily="49" charset="0"/>
              </a:rPr>
              <a:t> main()</a:t>
            </a:r>
          </a:p>
          <a:p>
            <a:r>
              <a:rPr lang="fr-FR" sz="1200" dirty="0">
                <a:latin typeface="Lucida Console" panose="020B0609040504020204" pitchFamily="49" charset="0"/>
              </a:rPr>
              <a:t>{</a:t>
            </a:r>
          </a:p>
          <a:p>
            <a:r>
              <a:rPr lang="fr-FR" sz="1200" dirty="0">
                <a:latin typeface="Lucida Console" panose="020B0609040504020204" pitchFamily="49" charset="0"/>
              </a:rPr>
              <a:t>    </a:t>
            </a:r>
            <a:r>
              <a:rPr lang="fr-FR" sz="1200" dirty="0" err="1">
                <a:latin typeface="Lucida Console" panose="020B0609040504020204" pitchFamily="49" charset="0"/>
              </a:rPr>
              <a:t>gl_FragColor</a:t>
            </a:r>
            <a:r>
              <a:rPr lang="fr-FR" sz="1200" dirty="0">
                <a:latin typeface="Lucida Console" panose="020B0609040504020204" pitchFamily="49" charset="0"/>
              </a:rPr>
              <a:t>=vec4(1,0,0,1);</a:t>
            </a:r>
          </a:p>
          <a:p>
            <a:r>
              <a:rPr lang="fr-FR" sz="1200" dirty="0">
                <a:latin typeface="Lucida Console" panose="020B0609040504020204" pitchFamily="49" charset="0"/>
              </a:rPr>
              <a:t>}</a:t>
            </a:r>
          </a:p>
          <a:p>
            <a:endParaRPr lang="fr-FR" sz="1200" dirty="0">
              <a:latin typeface="Lucida Console" panose="020B0609040504020204" pitchFamily="49" charset="0"/>
            </a:endParaRPr>
          </a:p>
          <a:p>
            <a:endParaRPr lang="en-US" sz="1200" dirty="0">
              <a:latin typeface="Lucida Console" panose="020B0609040504020204" pitchFamily="49" charset="0"/>
            </a:endParaRPr>
          </a:p>
        </p:txBody>
      </p:sp>
      <p:cxnSp>
        <p:nvCxnSpPr>
          <p:cNvPr id="6" name="Straight Arrow Connector 5"/>
          <p:cNvCxnSpPr/>
          <p:nvPr/>
        </p:nvCxnSpPr>
        <p:spPr>
          <a:xfrm flipH="1" flipV="1">
            <a:off x="2466753" y="2833001"/>
            <a:ext cx="281763" cy="96282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413592" y="3854302"/>
            <a:ext cx="4582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This is the color of the pixel written to the frame buffer.  In this case, always red.</a:t>
            </a:r>
          </a:p>
        </p:txBody>
      </p:sp>
    </p:spTree>
    <p:extLst>
      <p:ext uri="{BB962C8B-B14F-4D97-AF65-F5344CB8AC3E}">
        <p14:creationId xmlns:p14="http://schemas.microsoft.com/office/powerpoint/2010/main" val="69474245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 thing to remember when writing a </a:t>
            </a:r>
            <a:r>
              <a:rPr lang="en-US" dirty="0" err="1"/>
              <a:t>shader</a:t>
            </a:r>
            <a:r>
              <a:rPr lang="en-US" dirty="0"/>
              <a:t>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compiler will not re-compile your program when you modify your </a:t>
            </a:r>
            <a:r>
              <a:rPr lang="en-US" dirty="0" err="1"/>
              <a:t>shader</a:t>
            </a:r>
            <a:r>
              <a:rPr lang="en-US" dirty="0"/>
              <a:t> source.</a:t>
            </a:r>
          </a:p>
          <a:p>
            <a:r>
              <a:rPr lang="en-US" dirty="0"/>
              <a:t>When you modify your </a:t>
            </a:r>
            <a:r>
              <a:rPr lang="en-US" dirty="0" err="1"/>
              <a:t>shader</a:t>
            </a:r>
            <a:r>
              <a:rPr lang="en-US" dirty="0"/>
              <a:t> source, you also need to touch your source files so that the compiler builds your program, (and then copies the </a:t>
            </a:r>
            <a:r>
              <a:rPr lang="en-US" dirty="0" err="1"/>
              <a:t>shader</a:t>
            </a:r>
            <a:r>
              <a:rPr lang="en-US" dirty="0"/>
              <a:t> sources to the executable directory.)</a:t>
            </a:r>
          </a:p>
        </p:txBody>
      </p:sp>
    </p:spTree>
    <p:extLst>
      <p:ext uri="{BB962C8B-B14F-4D97-AF65-F5344CB8AC3E}">
        <p14:creationId xmlns:p14="http://schemas.microsoft.com/office/powerpoint/2010/main" val="179588514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can the C++ program access these two files?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These two files needs to be copied to the location that the executable can access.</a:t>
            </a:r>
          </a:p>
          <a:p>
            <a:r>
              <a:rPr lang="en-US" dirty="0"/>
              <a:t>Store these two files under data directory of the source directory, and</a:t>
            </a:r>
          </a:p>
          <a:p>
            <a:r>
              <a:rPr lang="en-US" dirty="0"/>
              <a:t>Use: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And insert the piece of CMake script that we did in the last lecture so that the </a:t>
            </a:r>
            <a:r>
              <a:rPr lang="en-US" dirty="0" err="1"/>
              <a:t>shader</a:t>
            </a:r>
            <a:r>
              <a:rPr lang="en-US" dirty="0"/>
              <a:t> programs are copied to the directory where the program can look at.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0871" y="3167390"/>
            <a:ext cx="79944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Lucida Console" panose="020B0609040504020204" pitchFamily="49" charset="0"/>
              </a:rPr>
              <a:t>set(DATA_FILE_LOCATION ${CMAKE_CURRENT_SOURCE_DIR}/data)</a:t>
            </a:r>
          </a:p>
          <a:p>
            <a:endParaRPr lang="en-US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372788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Going step by step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First check if the two files are accessible.</a:t>
            </a:r>
          </a:p>
          <a:p>
            <a:r>
              <a:rPr lang="en-US" dirty="0"/>
              <a:t>In Initialize function, just open and read the contents of the two </a:t>
            </a:r>
            <a:r>
              <a:rPr lang="en-US" dirty="0" err="1"/>
              <a:t>shader</a:t>
            </a:r>
            <a:r>
              <a:rPr lang="en-US" dirty="0"/>
              <a:t> source files.</a:t>
            </a:r>
          </a:p>
        </p:txBody>
      </p:sp>
    </p:spTree>
    <p:extLst>
      <p:ext uri="{BB962C8B-B14F-4D97-AF65-F5344CB8AC3E}">
        <p14:creationId xmlns:p14="http://schemas.microsoft.com/office/powerpoint/2010/main" val="260099987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in the renderer to </a:t>
            </a:r>
            <a:r>
              <a:rPr lang="en-US" dirty="0" err="1"/>
              <a:t>std</a:t>
            </a:r>
            <a:r>
              <a:rPr lang="en-US" dirty="0"/>
              <a:t>::vector &lt;char&gt;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goal:  Write a class that enables the program in the constructor, and disables it in the destructor.</a:t>
            </a:r>
          </a:p>
          <a:p>
            <a:endParaRPr lang="en-US" dirty="0"/>
          </a:p>
          <a:p>
            <a:r>
              <a:rPr lang="en-US" dirty="0"/>
              <a:t>Add </a:t>
            </a:r>
            <a:r>
              <a:rPr lang="en-US" dirty="0" err="1"/>
              <a:t>renderer.h</a:t>
            </a:r>
            <a:r>
              <a:rPr lang="en-US" dirty="0"/>
              <a:t> and renderer.cpp</a:t>
            </a:r>
          </a:p>
        </p:txBody>
      </p:sp>
    </p:spTree>
    <p:extLst>
      <p:ext uri="{BB962C8B-B14F-4D97-AF65-F5344CB8AC3E}">
        <p14:creationId xmlns:p14="http://schemas.microsoft.com/office/powerpoint/2010/main" val="224573796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32973" y="1762594"/>
            <a:ext cx="3562194" cy="13388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Lucida Console" panose="020B0609040504020204" pitchFamily="49" charset="0"/>
              </a:rPr>
              <a:t>#</a:t>
            </a:r>
            <a:r>
              <a:rPr lang="en-US" sz="900" dirty="0" err="1">
                <a:latin typeface="Lucida Console" panose="020B0609040504020204" pitchFamily="49" charset="0"/>
              </a:rPr>
              <a:t>ifndef</a:t>
            </a:r>
            <a:r>
              <a:rPr lang="en-US" sz="900" dirty="0">
                <a:latin typeface="Lucida Console" panose="020B0609040504020204" pitchFamily="49" charset="0"/>
              </a:rPr>
              <a:t> RENDERER_IS_INCLUDED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#define RENDERER_IS_INCLUDED</a:t>
            </a:r>
          </a:p>
          <a:p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>
                <a:latin typeface="Lucida Console" panose="020B0609040504020204" pitchFamily="49" charset="0"/>
              </a:rPr>
              <a:t>#include &lt;</a:t>
            </a:r>
            <a:r>
              <a:rPr lang="en-US" sz="900" dirty="0" err="1">
                <a:latin typeface="Lucida Console" panose="020B0609040504020204" pitchFamily="49" charset="0"/>
              </a:rPr>
              <a:t>ysgl.h</a:t>
            </a:r>
            <a:r>
              <a:rPr lang="en-US" sz="9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#include &lt;vector&gt;</a:t>
            </a:r>
          </a:p>
          <a:p>
            <a:r>
              <a:rPr lang="en-US" sz="900" dirty="0" err="1">
                <a:latin typeface="Lucida Console" panose="020B0609040504020204" pitchFamily="49" charset="0"/>
              </a:rPr>
              <a:t>std</a:t>
            </a:r>
            <a:r>
              <a:rPr lang="en-US" sz="900" dirty="0">
                <a:latin typeface="Lucida Console" panose="020B0609040504020204" pitchFamily="49" charset="0"/>
              </a:rPr>
              <a:t>::vector &lt;char&gt; </a:t>
            </a:r>
            <a:r>
              <a:rPr lang="en-US" sz="900" dirty="0" err="1">
                <a:latin typeface="Lucida Console" panose="020B0609040504020204" pitchFamily="49" charset="0"/>
              </a:rPr>
              <a:t>ReadTextFile</a:t>
            </a:r>
            <a:r>
              <a:rPr lang="en-US" sz="900" dirty="0">
                <a:latin typeface="Lucida Console" panose="020B0609040504020204" pitchFamily="49" charset="0"/>
              </a:rPr>
              <a:t>(</a:t>
            </a:r>
            <a:r>
              <a:rPr lang="en-US" sz="900" dirty="0" err="1">
                <a:latin typeface="Lucida Console" panose="020B0609040504020204" pitchFamily="49" charset="0"/>
              </a:rPr>
              <a:t>const</a:t>
            </a:r>
            <a:r>
              <a:rPr lang="en-US" sz="900" dirty="0">
                <a:latin typeface="Lucida Console" panose="020B0609040504020204" pitchFamily="49" charset="0"/>
              </a:rPr>
              <a:t> char </a:t>
            </a:r>
            <a:r>
              <a:rPr lang="en-US" sz="900" dirty="0" err="1">
                <a:latin typeface="Lucida Console" panose="020B0609040504020204" pitchFamily="49" charset="0"/>
              </a:rPr>
              <a:t>fn</a:t>
            </a:r>
            <a:r>
              <a:rPr lang="en-US" sz="900" dirty="0">
                <a:latin typeface="Lucida Console" panose="020B0609040504020204" pitchFamily="49" charset="0"/>
              </a:rPr>
              <a:t>[]);</a:t>
            </a:r>
          </a:p>
          <a:p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>
                <a:latin typeface="Lucida Console" panose="020B0609040504020204" pitchFamily="49" charset="0"/>
              </a:rPr>
              <a:t>#</a:t>
            </a:r>
            <a:r>
              <a:rPr lang="en-US" sz="900" dirty="0" err="1">
                <a:latin typeface="Lucida Console" panose="020B0609040504020204" pitchFamily="49" charset="0"/>
              </a:rPr>
              <a:t>endif</a:t>
            </a:r>
            <a:endParaRPr lang="en-US" sz="900" dirty="0">
              <a:latin typeface="Lucida Console" panose="020B0609040504020204" pitchFamily="49" charset="0"/>
            </a:endParaRPr>
          </a:p>
          <a:p>
            <a:endParaRPr lang="en-US" sz="900" dirty="0">
              <a:latin typeface="Lucida Console" panose="020B06090405040202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991043" y="1762594"/>
            <a:ext cx="3877985" cy="36317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Lucida Console" panose="020B0609040504020204" pitchFamily="49" charset="0"/>
              </a:rPr>
              <a:t>#include "</a:t>
            </a:r>
            <a:r>
              <a:rPr lang="en-US" sz="1000" dirty="0" err="1">
                <a:latin typeface="Lucida Console" panose="020B0609040504020204" pitchFamily="49" charset="0"/>
              </a:rPr>
              <a:t>renderer.h</a:t>
            </a:r>
            <a:r>
              <a:rPr lang="en-US" sz="1000" dirty="0">
                <a:latin typeface="Lucida Console" panose="020B0609040504020204" pitchFamily="49" charset="0"/>
              </a:rPr>
              <a:t>"</a:t>
            </a:r>
          </a:p>
          <a:p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err="1">
                <a:latin typeface="Lucida Console" panose="020B0609040504020204" pitchFamily="49" charset="0"/>
              </a:rPr>
              <a:t>std</a:t>
            </a:r>
            <a:r>
              <a:rPr lang="en-US" sz="1000" dirty="0">
                <a:latin typeface="Lucida Console" panose="020B0609040504020204" pitchFamily="49" charset="0"/>
              </a:rPr>
              <a:t>::vector &lt;char&gt; </a:t>
            </a:r>
            <a:r>
              <a:rPr lang="en-US" sz="1000" dirty="0" err="1">
                <a:latin typeface="Lucida Console" panose="020B0609040504020204" pitchFamily="49" charset="0"/>
              </a:rPr>
              <a:t>ReadTextFile</a:t>
            </a:r>
            <a:r>
              <a:rPr lang="en-US" sz="1000" dirty="0">
                <a:latin typeface="Lucida Console" panose="020B0609040504020204" pitchFamily="49" charset="0"/>
              </a:rPr>
              <a:t>(</a:t>
            </a:r>
            <a:r>
              <a:rPr lang="en-US" sz="1000" dirty="0" err="1">
                <a:latin typeface="Lucida Console" panose="020B0609040504020204" pitchFamily="49" charset="0"/>
              </a:rPr>
              <a:t>const</a:t>
            </a:r>
            <a:r>
              <a:rPr lang="en-US" sz="1000" dirty="0">
                <a:latin typeface="Lucida Console" panose="020B0609040504020204" pitchFamily="49" charset="0"/>
              </a:rPr>
              <a:t> char </a:t>
            </a:r>
            <a:r>
              <a:rPr lang="en-US" sz="1000" dirty="0" err="1">
                <a:latin typeface="Lucida Console" panose="020B0609040504020204" pitchFamily="49" charset="0"/>
              </a:rPr>
              <a:t>fn</a:t>
            </a:r>
            <a:r>
              <a:rPr lang="en-US" sz="1000" dirty="0">
                <a:latin typeface="Lucida Console" panose="020B0609040504020204" pitchFamily="49" charset="0"/>
              </a:rPr>
              <a:t>[])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</a:t>
            </a:r>
            <a:r>
              <a:rPr lang="en-US" sz="1000" dirty="0" err="1">
                <a:latin typeface="Lucida Console" panose="020B0609040504020204" pitchFamily="49" charset="0"/>
              </a:rPr>
              <a:t>std</a:t>
            </a:r>
            <a:r>
              <a:rPr lang="en-US" sz="1000" dirty="0">
                <a:latin typeface="Lucida Console" panose="020B0609040504020204" pitchFamily="49" charset="0"/>
              </a:rPr>
              <a:t>::vector &lt;char&gt; </a:t>
            </a:r>
            <a:r>
              <a:rPr lang="en-US" sz="1000" dirty="0" err="1">
                <a:latin typeface="Lucida Console" panose="020B0609040504020204" pitchFamily="49" charset="0"/>
              </a:rPr>
              <a:t>fileContent</a:t>
            </a:r>
            <a:r>
              <a:rPr lang="en-US" sz="10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char </a:t>
            </a:r>
            <a:r>
              <a:rPr lang="en-US" sz="1000" dirty="0" err="1">
                <a:latin typeface="Lucida Console" panose="020B0609040504020204" pitchFamily="49" charset="0"/>
              </a:rPr>
              <a:t>str</a:t>
            </a:r>
            <a:r>
              <a:rPr lang="en-US" sz="1000" dirty="0">
                <a:latin typeface="Lucida Console" panose="020B0609040504020204" pitchFamily="49" charset="0"/>
              </a:rPr>
              <a:t>[256];</a:t>
            </a:r>
          </a:p>
          <a:p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>
                <a:latin typeface="Lucida Console" panose="020B0609040504020204" pitchFamily="49" charset="0"/>
              </a:rPr>
              <a:t>    FILE *</a:t>
            </a:r>
            <a:r>
              <a:rPr lang="en-US" sz="1000" dirty="0" err="1">
                <a:latin typeface="Lucida Console" panose="020B0609040504020204" pitchFamily="49" charset="0"/>
              </a:rPr>
              <a:t>fp</a:t>
            </a:r>
            <a:r>
              <a:rPr lang="en-US" sz="1000" dirty="0">
                <a:latin typeface="Lucida Console" panose="020B0609040504020204" pitchFamily="49" charset="0"/>
              </a:rPr>
              <a:t>=</a:t>
            </a:r>
            <a:r>
              <a:rPr lang="en-US" sz="1000" dirty="0" err="1">
                <a:latin typeface="Lucida Console" panose="020B0609040504020204" pitchFamily="49" charset="0"/>
              </a:rPr>
              <a:t>fopen</a:t>
            </a:r>
            <a:r>
              <a:rPr lang="en-US" sz="1000" dirty="0">
                <a:latin typeface="Lucida Console" panose="020B0609040504020204" pitchFamily="49" charset="0"/>
              </a:rPr>
              <a:t>(</a:t>
            </a:r>
            <a:r>
              <a:rPr lang="en-US" sz="1000" dirty="0" err="1">
                <a:latin typeface="Lucida Console" panose="020B0609040504020204" pitchFamily="49" charset="0"/>
              </a:rPr>
              <a:t>fn</a:t>
            </a:r>
            <a:r>
              <a:rPr lang="en-US" sz="1000" dirty="0">
                <a:latin typeface="Lucida Console" panose="020B0609040504020204" pitchFamily="49" charset="0"/>
              </a:rPr>
              <a:t>,"r");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if(</a:t>
            </a:r>
            <a:r>
              <a:rPr lang="en-US" sz="1000" dirty="0" err="1">
                <a:latin typeface="Lucida Console" panose="020B0609040504020204" pitchFamily="49" charset="0"/>
              </a:rPr>
              <a:t>nullptr</a:t>
            </a:r>
            <a:r>
              <a:rPr lang="en-US" sz="1000" dirty="0">
                <a:latin typeface="Lucida Console" panose="020B0609040504020204" pitchFamily="49" charset="0"/>
              </a:rPr>
              <a:t>!=</a:t>
            </a:r>
            <a:r>
              <a:rPr lang="en-US" sz="1000" dirty="0" err="1">
                <a:latin typeface="Lucida Console" panose="020B0609040504020204" pitchFamily="49" charset="0"/>
              </a:rPr>
              <a:t>fp</a:t>
            </a:r>
            <a:r>
              <a:rPr lang="en-US" sz="1000" dirty="0">
                <a:latin typeface="Lucida Console" panose="020B0609040504020204" pitchFamily="49" charset="0"/>
              </a:rPr>
              <a:t>)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{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    while(</a:t>
            </a:r>
            <a:r>
              <a:rPr lang="en-US" sz="1000" dirty="0" err="1">
                <a:latin typeface="Lucida Console" panose="020B0609040504020204" pitchFamily="49" charset="0"/>
              </a:rPr>
              <a:t>nullptr</a:t>
            </a:r>
            <a:r>
              <a:rPr lang="en-US" sz="1000" dirty="0">
                <a:latin typeface="Lucida Console" panose="020B0609040504020204" pitchFamily="49" charset="0"/>
              </a:rPr>
              <a:t>!=</a:t>
            </a:r>
            <a:r>
              <a:rPr lang="en-US" sz="1000" dirty="0" err="1">
                <a:latin typeface="Lucida Console" panose="020B0609040504020204" pitchFamily="49" charset="0"/>
              </a:rPr>
              <a:t>fgets</a:t>
            </a:r>
            <a:r>
              <a:rPr lang="en-US" sz="1000" dirty="0">
                <a:latin typeface="Lucida Console" panose="020B0609040504020204" pitchFamily="49" charset="0"/>
              </a:rPr>
              <a:t>(str,255,fp))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    {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        for(</a:t>
            </a:r>
            <a:r>
              <a:rPr lang="en-US" sz="1000" dirty="0" err="1">
                <a:latin typeface="Lucida Console" panose="020B0609040504020204" pitchFamily="49" charset="0"/>
              </a:rPr>
              <a:t>int</a:t>
            </a:r>
            <a:r>
              <a:rPr lang="en-US" sz="1000" dirty="0">
                <a:latin typeface="Lucida Console" panose="020B0609040504020204" pitchFamily="49" charset="0"/>
              </a:rPr>
              <a:t> </a:t>
            </a:r>
            <a:r>
              <a:rPr lang="en-US" sz="1000" dirty="0" err="1">
                <a:latin typeface="Lucida Console" panose="020B0609040504020204" pitchFamily="49" charset="0"/>
              </a:rPr>
              <a:t>i</a:t>
            </a:r>
            <a:r>
              <a:rPr lang="en-US" sz="1000" dirty="0">
                <a:latin typeface="Lucida Console" panose="020B0609040504020204" pitchFamily="49" charset="0"/>
              </a:rPr>
              <a:t>=0; </a:t>
            </a:r>
            <a:r>
              <a:rPr lang="en-US" sz="1000" dirty="0" err="1">
                <a:latin typeface="Lucida Console" panose="020B0609040504020204" pitchFamily="49" charset="0"/>
              </a:rPr>
              <a:t>str</a:t>
            </a:r>
            <a:r>
              <a:rPr lang="en-US" sz="1000" dirty="0">
                <a:latin typeface="Lucida Console" panose="020B0609040504020204" pitchFamily="49" charset="0"/>
              </a:rPr>
              <a:t>[</a:t>
            </a:r>
            <a:r>
              <a:rPr lang="en-US" sz="1000" dirty="0" err="1">
                <a:latin typeface="Lucida Console" panose="020B0609040504020204" pitchFamily="49" charset="0"/>
              </a:rPr>
              <a:t>i</a:t>
            </a:r>
            <a:r>
              <a:rPr lang="en-US" sz="1000" dirty="0">
                <a:latin typeface="Lucida Console" panose="020B0609040504020204" pitchFamily="49" charset="0"/>
              </a:rPr>
              <a:t>]!=0; ++</a:t>
            </a:r>
            <a:r>
              <a:rPr lang="en-US" sz="1000" dirty="0" err="1">
                <a:latin typeface="Lucida Console" panose="020B0609040504020204" pitchFamily="49" charset="0"/>
              </a:rPr>
              <a:t>i</a:t>
            </a:r>
            <a:r>
              <a:rPr lang="en-US" sz="1000" dirty="0">
                <a:latin typeface="Lucida Console" panose="020B0609040504020204" pitchFamily="49" charset="0"/>
              </a:rPr>
              <a:t>)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        {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            </a:t>
            </a:r>
            <a:r>
              <a:rPr lang="en-US" sz="1000" dirty="0" err="1">
                <a:latin typeface="Lucida Console" panose="020B0609040504020204" pitchFamily="49" charset="0"/>
              </a:rPr>
              <a:t>fileContent.push_back</a:t>
            </a:r>
            <a:r>
              <a:rPr lang="en-US" sz="1000" dirty="0">
                <a:latin typeface="Lucida Console" panose="020B0609040504020204" pitchFamily="49" charset="0"/>
              </a:rPr>
              <a:t>(</a:t>
            </a:r>
            <a:r>
              <a:rPr lang="en-US" sz="1000" dirty="0" err="1">
                <a:latin typeface="Lucida Console" panose="020B0609040504020204" pitchFamily="49" charset="0"/>
              </a:rPr>
              <a:t>str</a:t>
            </a:r>
            <a:r>
              <a:rPr lang="en-US" sz="1000" dirty="0">
                <a:latin typeface="Lucida Console" panose="020B0609040504020204" pitchFamily="49" charset="0"/>
              </a:rPr>
              <a:t>[</a:t>
            </a:r>
            <a:r>
              <a:rPr lang="en-US" sz="1000" dirty="0" err="1">
                <a:latin typeface="Lucida Console" panose="020B0609040504020204" pitchFamily="49" charset="0"/>
              </a:rPr>
              <a:t>i</a:t>
            </a:r>
            <a:r>
              <a:rPr lang="en-US" sz="1000" dirty="0">
                <a:latin typeface="Lucida Console" panose="020B0609040504020204" pitchFamily="49" charset="0"/>
              </a:rPr>
              <a:t>]);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        }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    }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    </a:t>
            </a:r>
            <a:r>
              <a:rPr lang="en-US" sz="1000" dirty="0" err="1">
                <a:latin typeface="Lucida Console" panose="020B0609040504020204" pitchFamily="49" charset="0"/>
              </a:rPr>
              <a:t>fclose</a:t>
            </a:r>
            <a:r>
              <a:rPr lang="en-US" sz="1000" dirty="0">
                <a:latin typeface="Lucida Console" panose="020B0609040504020204" pitchFamily="49" charset="0"/>
              </a:rPr>
              <a:t>(</a:t>
            </a:r>
            <a:r>
              <a:rPr lang="en-US" sz="1000" dirty="0" err="1">
                <a:latin typeface="Lucida Console" panose="020B0609040504020204" pitchFamily="49" charset="0"/>
              </a:rPr>
              <a:t>fp</a:t>
            </a:r>
            <a:r>
              <a:rPr lang="en-US" sz="10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}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</a:t>
            </a:r>
            <a:r>
              <a:rPr lang="en-US" sz="1000" dirty="0" err="1">
                <a:latin typeface="Lucida Console" panose="020B0609040504020204" pitchFamily="49" charset="0"/>
              </a:rPr>
              <a:t>fileContent.push_back</a:t>
            </a:r>
            <a:r>
              <a:rPr lang="en-US" sz="1000" dirty="0">
                <a:latin typeface="Lucida Console" panose="020B0609040504020204" pitchFamily="49" charset="0"/>
              </a:rPr>
              <a:t>(0);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return </a:t>
            </a:r>
            <a:r>
              <a:rPr lang="en-US" sz="1000" dirty="0" err="1">
                <a:latin typeface="Lucida Console" panose="020B0609040504020204" pitchFamily="49" charset="0"/>
              </a:rPr>
              <a:t>fileContent</a:t>
            </a:r>
            <a:r>
              <a:rPr lang="en-US" sz="10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}</a:t>
            </a:r>
          </a:p>
          <a:p>
            <a:endParaRPr lang="en-US" sz="1000" dirty="0">
              <a:latin typeface="Lucida Console" panose="020B0609040504020204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32973" y="1208596"/>
            <a:ext cx="1236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renderer.h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991043" y="1208596"/>
            <a:ext cx="1479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renderer.cpp</a:t>
            </a:r>
          </a:p>
        </p:txBody>
      </p:sp>
    </p:spTree>
    <p:extLst>
      <p:ext uri="{BB962C8B-B14F-4D97-AF65-F5344CB8AC3E}">
        <p14:creationId xmlns:p14="http://schemas.microsoft.com/office/powerpoint/2010/main" val="224993164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in OpenGL header locations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Problem (major frustration):</a:t>
            </a:r>
          </a:p>
          <a:p>
            <a:pPr lvl="1"/>
            <a:r>
              <a:rPr lang="en-US" dirty="0"/>
              <a:t>Apple put OpenGL headers in a non-standard location.</a:t>
            </a:r>
          </a:p>
          <a:p>
            <a:pPr lvl="1"/>
            <a:r>
              <a:rPr lang="en-US" dirty="0"/>
              <a:t>Windows needs </a:t>
            </a:r>
            <a:r>
              <a:rPr lang="en-US" dirty="0" err="1"/>
              <a:t>windows.h</a:t>
            </a:r>
            <a:r>
              <a:rPr lang="en-US" dirty="0"/>
              <a:t> be included before including OpenGL headers.</a:t>
            </a:r>
          </a:p>
          <a:p>
            <a:pPr lvl="1"/>
            <a:r>
              <a:rPr lang="en-US" dirty="0"/>
              <a:t>Visual C++ does not come with OpenGL 2.x headers.  (For Visual C++, headers are in public/</a:t>
            </a:r>
            <a:r>
              <a:rPr lang="en-US" dirty="0" err="1"/>
              <a:t>src</a:t>
            </a:r>
            <a:r>
              <a:rPr lang="en-US" dirty="0"/>
              <a:t>/imported/include/GL.  Redistribution of the headers are permitted.)</a:t>
            </a:r>
          </a:p>
          <a:p>
            <a:pPr lvl="1"/>
            <a:r>
              <a:rPr lang="en-US" dirty="0"/>
              <a:t>iOS uses OpenGL ES, whose headers are in a different location.</a:t>
            </a:r>
          </a:p>
          <a:p>
            <a:r>
              <a:rPr lang="en-US" dirty="0"/>
              <a:t>You end up needing that many lines.</a:t>
            </a:r>
          </a:p>
        </p:txBody>
      </p:sp>
    </p:spTree>
    <p:extLst>
      <p:ext uri="{BB962C8B-B14F-4D97-AF65-F5344CB8AC3E}">
        <p14:creationId xmlns:p14="http://schemas.microsoft.com/office/powerpoint/2010/main" val="237157272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13429" y="266932"/>
            <a:ext cx="6724918" cy="59400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Lucida Console" panose="020B0609040504020204" pitchFamily="49" charset="0"/>
              </a:rPr>
              <a:t>#</a:t>
            </a:r>
            <a:r>
              <a:rPr lang="en-US" sz="1000" dirty="0" err="1">
                <a:latin typeface="Lucida Console" panose="020B0609040504020204" pitchFamily="49" charset="0"/>
              </a:rPr>
              <a:t>ifndef</a:t>
            </a:r>
            <a:r>
              <a:rPr lang="en-US" sz="1000" dirty="0">
                <a:latin typeface="Lucida Console" panose="020B0609040504020204" pitchFamily="49" charset="0"/>
              </a:rPr>
              <a:t> OPENGL_HEADER_IS_INCLUDED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#define OPENGL_HEADER_IS_INCLUDED</a:t>
            </a:r>
          </a:p>
          <a:p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>
                <a:latin typeface="Lucida Console" panose="020B0609040504020204" pitchFamily="49" charset="0"/>
              </a:rPr>
              <a:t>#</a:t>
            </a:r>
            <a:r>
              <a:rPr lang="en-US" sz="1000" dirty="0" err="1">
                <a:latin typeface="Lucida Console" panose="020B0609040504020204" pitchFamily="49" charset="0"/>
              </a:rPr>
              <a:t>ifdef</a:t>
            </a:r>
            <a:r>
              <a:rPr lang="en-US" sz="1000" dirty="0">
                <a:latin typeface="Lucida Console" panose="020B0609040504020204" pitchFamily="49" charset="0"/>
              </a:rPr>
              <a:t> _WIN32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#</a:t>
            </a:r>
            <a:r>
              <a:rPr lang="en-US" sz="1000" dirty="0" err="1">
                <a:latin typeface="Lucida Console" panose="020B0609040504020204" pitchFamily="49" charset="0"/>
              </a:rPr>
              <a:t>ifndef</a:t>
            </a:r>
            <a:r>
              <a:rPr lang="en-US" sz="1000" dirty="0">
                <a:latin typeface="Lucida Console" panose="020B0609040504020204" pitchFamily="49" charset="0"/>
              </a:rPr>
              <a:t> WIN32_LEAN_AND_MEAN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    // Prevent inclusion of </a:t>
            </a:r>
            <a:r>
              <a:rPr lang="en-US" sz="1000" dirty="0" err="1">
                <a:latin typeface="Lucida Console" panose="020B0609040504020204" pitchFamily="49" charset="0"/>
              </a:rPr>
              <a:t>winsock.h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>
                <a:latin typeface="Lucida Console" panose="020B0609040504020204" pitchFamily="49" charset="0"/>
              </a:rPr>
              <a:t>        #define WIN32_LEAN_AND_MEAN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    #include &lt;</a:t>
            </a:r>
            <a:r>
              <a:rPr lang="en-US" sz="1000" dirty="0" err="1">
                <a:latin typeface="Lucida Console" panose="020B0609040504020204" pitchFamily="49" charset="0"/>
              </a:rPr>
              <a:t>windows.h</a:t>
            </a:r>
            <a:r>
              <a:rPr lang="en-US" sz="10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    #</a:t>
            </a:r>
            <a:r>
              <a:rPr lang="en-US" sz="1000" dirty="0" err="1">
                <a:latin typeface="Lucida Console" panose="020B0609040504020204" pitchFamily="49" charset="0"/>
              </a:rPr>
              <a:t>undef</a:t>
            </a:r>
            <a:r>
              <a:rPr lang="en-US" sz="1000" dirty="0">
                <a:latin typeface="Lucida Console" panose="020B0609040504020204" pitchFamily="49" charset="0"/>
              </a:rPr>
              <a:t> WIN32_LEAN_AND_MEAN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#else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    // Too late.  Just include it.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    #include &lt;</a:t>
            </a:r>
            <a:r>
              <a:rPr lang="en-US" sz="1000" dirty="0" err="1">
                <a:latin typeface="Lucida Console" panose="020B0609040504020204" pitchFamily="49" charset="0"/>
              </a:rPr>
              <a:t>windows.h</a:t>
            </a:r>
            <a:r>
              <a:rPr lang="en-US" sz="10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#</a:t>
            </a:r>
            <a:r>
              <a:rPr lang="en-US" sz="1000" dirty="0" err="1">
                <a:latin typeface="Lucida Console" panose="020B0609040504020204" pitchFamily="49" charset="0"/>
              </a:rPr>
              <a:t>endif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>
                <a:latin typeface="Lucida Console" panose="020B0609040504020204" pitchFamily="49" charset="0"/>
              </a:rPr>
              <a:t>#</a:t>
            </a:r>
            <a:r>
              <a:rPr lang="en-US" sz="1000" dirty="0" err="1">
                <a:latin typeface="Lucida Console" panose="020B0609040504020204" pitchFamily="49" charset="0"/>
              </a:rPr>
              <a:t>endif</a:t>
            </a:r>
            <a:endParaRPr lang="en-US" sz="1000" dirty="0">
              <a:latin typeface="Lucida Console" panose="020B0609040504020204" pitchFamily="49" charset="0"/>
            </a:endParaRPr>
          </a:p>
          <a:p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>
                <a:latin typeface="Lucida Console" panose="020B0609040504020204" pitchFamily="49" charset="0"/>
              </a:rPr>
              <a:t>#</a:t>
            </a:r>
            <a:r>
              <a:rPr lang="en-US" sz="1000" dirty="0" err="1">
                <a:latin typeface="Lucida Console" panose="020B0609040504020204" pitchFamily="49" charset="0"/>
              </a:rPr>
              <a:t>ifndef</a:t>
            </a:r>
            <a:r>
              <a:rPr lang="en-US" sz="1000" dirty="0">
                <a:latin typeface="Lucida Console" panose="020B0609040504020204" pitchFamily="49" charset="0"/>
              </a:rPr>
              <a:t> GL_GLEXT_PROTOTYPES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#define GL_GLEXT_PROTOTYPES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#</a:t>
            </a:r>
            <a:r>
              <a:rPr lang="en-US" sz="1000" dirty="0" err="1">
                <a:latin typeface="Lucida Console" panose="020B0609040504020204" pitchFamily="49" charset="0"/>
              </a:rPr>
              <a:t>endif</a:t>
            </a:r>
            <a:endParaRPr lang="en-US" sz="1000" dirty="0">
              <a:latin typeface="Lucida Console" panose="020B0609040504020204" pitchFamily="49" charset="0"/>
            </a:endParaRPr>
          </a:p>
          <a:p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>
                <a:latin typeface="Lucida Console" panose="020B0609040504020204" pitchFamily="49" charset="0"/>
              </a:rPr>
              <a:t>#</a:t>
            </a:r>
            <a:r>
              <a:rPr lang="en-US" sz="1000" dirty="0" err="1">
                <a:latin typeface="Lucida Console" panose="020B0609040504020204" pitchFamily="49" charset="0"/>
              </a:rPr>
              <a:t>ifndef</a:t>
            </a:r>
            <a:r>
              <a:rPr lang="en-US" sz="1000" dirty="0">
                <a:latin typeface="Lucida Console" panose="020B0609040504020204" pitchFamily="49" charset="0"/>
              </a:rPr>
              <a:t> __APPLE__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#include &lt;GL/</a:t>
            </a:r>
            <a:r>
              <a:rPr lang="en-US" sz="1000" dirty="0" err="1">
                <a:latin typeface="Lucida Console" panose="020B0609040504020204" pitchFamily="49" charset="0"/>
              </a:rPr>
              <a:t>gl.h</a:t>
            </a:r>
            <a:r>
              <a:rPr lang="en-US" sz="10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#include &lt;GL/</a:t>
            </a:r>
            <a:r>
              <a:rPr lang="en-US" sz="1000" dirty="0" err="1">
                <a:latin typeface="Lucida Console" panose="020B0609040504020204" pitchFamily="49" charset="0"/>
              </a:rPr>
              <a:t>glu.h</a:t>
            </a:r>
            <a:r>
              <a:rPr lang="en-US" sz="10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#include &lt;GL/</a:t>
            </a:r>
            <a:r>
              <a:rPr lang="en-US" sz="1000" dirty="0" err="1">
                <a:latin typeface="Lucida Console" panose="020B0609040504020204" pitchFamily="49" charset="0"/>
              </a:rPr>
              <a:t>glext.h</a:t>
            </a:r>
            <a:r>
              <a:rPr lang="en-US" sz="10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#else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#include &lt;</a:t>
            </a:r>
            <a:r>
              <a:rPr lang="en-US" sz="1000" dirty="0" err="1">
                <a:latin typeface="Lucida Console" panose="020B0609040504020204" pitchFamily="49" charset="0"/>
              </a:rPr>
              <a:t>TargetConditionals.h</a:t>
            </a:r>
            <a:r>
              <a:rPr lang="en-US" sz="10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#if TARGET_OS_EMBEDDED!=0 || TARGET_OS_IPHONE!=0 || TARGET_OS_IPHONE_SIMULATOR!=0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    #include &lt;</a:t>
            </a:r>
            <a:r>
              <a:rPr lang="en-US" sz="1000" dirty="0" err="1">
                <a:latin typeface="Lucida Console" panose="020B0609040504020204" pitchFamily="49" charset="0"/>
              </a:rPr>
              <a:t>OpenGLES</a:t>
            </a:r>
            <a:r>
              <a:rPr lang="en-US" sz="1000" dirty="0">
                <a:latin typeface="Lucida Console" panose="020B0609040504020204" pitchFamily="49" charset="0"/>
              </a:rPr>
              <a:t>/ES2/</a:t>
            </a:r>
            <a:r>
              <a:rPr lang="en-US" sz="1000" dirty="0" err="1">
                <a:latin typeface="Lucida Console" panose="020B0609040504020204" pitchFamily="49" charset="0"/>
              </a:rPr>
              <a:t>gl.h</a:t>
            </a:r>
            <a:r>
              <a:rPr lang="en-US" sz="10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    #include &lt;</a:t>
            </a:r>
            <a:r>
              <a:rPr lang="en-US" sz="1000" dirty="0" err="1">
                <a:latin typeface="Lucida Console" panose="020B0609040504020204" pitchFamily="49" charset="0"/>
              </a:rPr>
              <a:t>OpenGLES</a:t>
            </a:r>
            <a:r>
              <a:rPr lang="en-US" sz="1000" dirty="0">
                <a:latin typeface="Lucida Console" panose="020B0609040504020204" pitchFamily="49" charset="0"/>
              </a:rPr>
              <a:t>/ES2/</a:t>
            </a:r>
            <a:r>
              <a:rPr lang="en-US" sz="1000" dirty="0" err="1">
                <a:latin typeface="Lucida Console" panose="020B0609040504020204" pitchFamily="49" charset="0"/>
              </a:rPr>
              <a:t>glext.h</a:t>
            </a:r>
            <a:r>
              <a:rPr lang="en-US" sz="10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    </a:t>
            </a:r>
            <a:r>
              <a:rPr lang="en-US" sz="1000" dirty="0" err="1">
                <a:latin typeface="Lucida Console" panose="020B0609040504020204" pitchFamily="49" charset="0"/>
              </a:rPr>
              <a:t>typedef</a:t>
            </a:r>
            <a:r>
              <a:rPr lang="en-US" sz="1000" dirty="0">
                <a:latin typeface="Lucida Console" panose="020B0609040504020204" pitchFamily="49" charset="0"/>
              </a:rPr>
              <a:t> double </a:t>
            </a:r>
            <a:r>
              <a:rPr lang="en-US" sz="1000" dirty="0" err="1">
                <a:latin typeface="Lucida Console" panose="020B0609040504020204" pitchFamily="49" charset="0"/>
              </a:rPr>
              <a:t>GLdouble</a:t>
            </a:r>
            <a:r>
              <a:rPr lang="en-US" sz="10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#else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    #include &lt;OpenGL/</a:t>
            </a:r>
            <a:r>
              <a:rPr lang="en-US" sz="1000" dirty="0" err="1">
                <a:latin typeface="Lucida Console" panose="020B0609040504020204" pitchFamily="49" charset="0"/>
              </a:rPr>
              <a:t>gl.h</a:t>
            </a:r>
            <a:r>
              <a:rPr lang="en-US" sz="10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    #include &lt;OpenGL/</a:t>
            </a:r>
            <a:r>
              <a:rPr lang="en-US" sz="1000" dirty="0" err="1">
                <a:latin typeface="Lucida Console" panose="020B0609040504020204" pitchFamily="49" charset="0"/>
              </a:rPr>
              <a:t>glu.h</a:t>
            </a:r>
            <a:r>
              <a:rPr lang="en-US" sz="10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    #include &lt;OpenGL/</a:t>
            </a:r>
            <a:r>
              <a:rPr lang="en-US" sz="1000" dirty="0" err="1">
                <a:latin typeface="Lucida Console" panose="020B0609040504020204" pitchFamily="49" charset="0"/>
              </a:rPr>
              <a:t>glext.h</a:t>
            </a:r>
            <a:r>
              <a:rPr lang="en-US" sz="10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#</a:t>
            </a:r>
            <a:r>
              <a:rPr lang="en-US" sz="1000" dirty="0" err="1">
                <a:latin typeface="Lucida Console" panose="020B0609040504020204" pitchFamily="49" charset="0"/>
              </a:rPr>
              <a:t>endif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>
                <a:latin typeface="Lucida Console" panose="020B0609040504020204" pitchFamily="49" charset="0"/>
              </a:rPr>
              <a:t>#</a:t>
            </a:r>
            <a:r>
              <a:rPr lang="en-US" sz="1000" dirty="0" err="1">
                <a:latin typeface="Lucida Console" panose="020B0609040504020204" pitchFamily="49" charset="0"/>
              </a:rPr>
              <a:t>endif</a:t>
            </a:r>
            <a:endParaRPr lang="en-US" sz="1000" dirty="0">
              <a:latin typeface="Lucida Console" panose="020B0609040504020204" pitchFamily="49" charset="0"/>
            </a:endParaRPr>
          </a:p>
          <a:p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>
                <a:latin typeface="Lucida Console" panose="020B0609040504020204" pitchFamily="49" charset="0"/>
              </a:rPr>
              <a:t>#</a:t>
            </a:r>
            <a:r>
              <a:rPr lang="en-US" sz="1000" dirty="0" err="1">
                <a:latin typeface="Lucida Console" panose="020B0609040504020204" pitchFamily="49" charset="0"/>
              </a:rPr>
              <a:t>endif</a:t>
            </a:r>
            <a:endParaRPr lang="en-US" sz="1000" dirty="0">
              <a:latin typeface="Lucida Console" panose="020B0609040504020204" pitchFamily="49" charset="0"/>
            </a:endParaRPr>
          </a:p>
        </p:txBody>
      </p:sp>
      <p:sp>
        <p:nvSpPr>
          <p:cNvPr id="2" name="Right Brace 1"/>
          <p:cNvSpPr/>
          <p:nvPr/>
        </p:nvSpPr>
        <p:spPr>
          <a:xfrm>
            <a:off x="3657600" y="813816"/>
            <a:ext cx="109728" cy="1517904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858769" y="1261872"/>
            <a:ext cx="42611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Visual C++ wants </a:t>
            </a:r>
            <a:r>
              <a:rPr lang="en-US" dirty="0" err="1">
                <a:solidFill>
                  <a:srgbClr val="FF0000"/>
                </a:solidFill>
              </a:rPr>
              <a:t>windows.h</a:t>
            </a:r>
            <a:r>
              <a:rPr lang="en-US" dirty="0">
                <a:solidFill>
                  <a:srgbClr val="FF0000"/>
                </a:solidFill>
              </a:rPr>
              <a:t> be included before OpenGL headers.</a:t>
            </a:r>
          </a:p>
        </p:txBody>
      </p:sp>
      <p:sp>
        <p:nvSpPr>
          <p:cNvPr id="5" name="Right Brace 4"/>
          <p:cNvSpPr/>
          <p:nvPr/>
        </p:nvSpPr>
        <p:spPr>
          <a:xfrm>
            <a:off x="2779776" y="2578608"/>
            <a:ext cx="64008" cy="521208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968753" y="2305734"/>
            <a:ext cx="42611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This macro is needed for Visual C++, or OpenGL 2.x function prototypes are ignored.</a:t>
            </a:r>
          </a:p>
        </p:txBody>
      </p:sp>
      <p:sp>
        <p:nvSpPr>
          <p:cNvPr id="7" name="Right Brace 6"/>
          <p:cNvSpPr/>
          <p:nvPr/>
        </p:nvSpPr>
        <p:spPr>
          <a:xfrm>
            <a:off x="2304288" y="3236976"/>
            <a:ext cx="82296" cy="713232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2386584" y="3229064"/>
            <a:ext cx="42611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This is the standard location.  Everyone should put these three files in here!</a:t>
            </a:r>
          </a:p>
        </p:txBody>
      </p:sp>
      <p:sp>
        <p:nvSpPr>
          <p:cNvPr id="9" name="Right Brace 8"/>
          <p:cNvSpPr/>
          <p:nvPr/>
        </p:nvSpPr>
        <p:spPr>
          <a:xfrm>
            <a:off x="6839712" y="4034304"/>
            <a:ext cx="143771" cy="843943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6992628" y="4248484"/>
            <a:ext cx="1639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OpenGL ES</a:t>
            </a:r>
          </a:p>
        </p:txBody>
      </p:sp>
      <p:sp>
        <p:nvSpPr>
          <p:cNvPr id="11" name="Right Brace 10"/>
          <p:cNvSpPr/>
          <p:nvPr/>
        </p:nvSpPr>
        <p:spPr>
          <a:xfrm>
            <a:off x="2843784" y="4720982"/>
            <a:ext cx="124969" cy="856858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2987040" y="4789640"/>
            <a:ext cx="42611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Apple wanted to put these headers under OpenGL sub-directory, not GL.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" y="6136332"/>
            <a:ext cx="7464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Aaaaagh</a:t>
            </a:r>
            <a:r>
              <a:rPr lang="en-US" dirty="0">
                <a:solidFill>
                  <a:srgbClr val="FF0000"/>
                </a:solidFill>
              </a:rPr>
              <a:t>!  Why everyone makes cross-platform development difficult!!!!!</a:t>
            </a:r>
          </a:p>
        </p:txBody>
      </p:sp>
    </p:spTree>
    <p:extLst>
      <p:ext uri="{BB962C8B-B14F-4D97-AF65-F5344CB8AC3E}">
        <p14:creationId xmlns:p14="http://schemas.microsoft.com/office/powerpoint/2010/main" val="351930016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you are sick and tired of cutting &amp; pasting these lines just to enable OpenGL, it is written in </a:t>
            </a:r>
            <a:r>
              <a:rPr lang="en-US" dirty="0" err="1"/>
              <a:t>ysglheader.h</a:t>
            </a:r>
            <a:r>
              <a:rPr lang="en-US" dirty="0"/>
              <a:t> for you in public repository.</a:t>
            </a:r>
          </a:p>
          <a:p>
            <a:r>
              <a:rPr lang="en-US" dirty="0"/>
              <a:t>If you have public repository added from your top-level CMakeLists.txt</a:t>
            </a:r>
          </a:p>
          <a:p>
            <a:pPr lvl="1"/>
            <a:r>
              <a:rPr lang="en-US" dirty="0"/>
              <a:t>Add in C++ code:</a:t>
            </a:r>
          </a:p>
          <a:p>
            <a:pPr marL="914400" lvl="2" indent="0">
              <a:buNone/>
            </a:pPr>
            <a:r>
              <a:rPr lang="en-US" dirty="0"/>
              <a:t>#include &lt;</a:t>
            </a:r>
            <a:r>
              <a:rPr lang="en-US" dirty="0" err="1"/>
              <a:t>ysgl.h</a:t>
            </a:r>
            <a:r>
              <a:rPr lang="en-US" dirty="0"/>
              <a:t>&gt;   // This also includes </a:t>
            </a:r>
            <a:r>
              <a:rPr lang="en-US" dirty="0" err="1"/>
              <a:t>ysglheader.h</a:t>
            </a:r>
            <a:endParaRPr lang="en-US" dirty="0"/>
          </a:p>
          <a:p>
            <a:pPr lvl="1"/>
            <a:r>
              <a:rPr lang="en-US" dirty="0"/>
              <a:t>Add in CMakeLists.txt</a:t>
            </a:r>
          </a:p>
          <a:p>
            <a:pPr marL="457200" lvl="1" indent="0">
              <a:buNone/>
            </a:pPr>
            <a:r>
              <a:rPr lang="en-US" dirty="0"/>
              <a:t>	</a:t>
            </a:r>
            <a:r>
              <a:rPr lang="en-US" dirty="0" err="1"/>
              <a:t>target_link_libraries</a:t>
            </a:r>
            <a:r>
              <a:rPr lang="en-US" dirty="0"/>
              <a:t>(</a:t>
            </a:r>
            <a:r>
              <a:rPr lang="en-US" i="1" dirty="0" err="1"/>
              <a:t>your_target_name</a:t>
            </a:r>
            <a:r>
              <a:rPr lang="en-US" dirty="0"/>
              <a:t> </a:t>
            </a:r>
            <a:r>
              <a:rPr lang="en-US" dirty="0" err="1"/>
              <a:t>ysgl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4513656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Compiling the </a:t>
            </a:r>
            <a:r>
              <a:rPr lang="en-US" dirty="0" err="1"/>
              <a:t>shaders</a:t>
            </a:r>
            <a:r>
              <a:rPr lang="en-US" dirty="0"/>
              <a:t>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Once you are able to include OpenGL headers and to read </a:t>
            </a:r>
            <a:r>
              <a:rPr lang="en-US" dirty="0" err="1"/>
              <a:t>shader</a:t>
            </a:r>
            <a:r>
              <a:rPr lang="en-US" dirty="0"/>
              <a:t> programs, next step is to compile </a:t>
            </a:r>
            <a:r>
              <a:rPr lang="en-US" dirty="0" err="1"/>
              <a:t>shader</a:t>
            </a:r>
            <a:r>
              <a:rPr lang="en-US" dirty="0"/>
              <a:t> programs.</a:t>
            </a:r>
          </a:p>
          <a:p>
            <a:endParaRPr lang="en-US" dirty="0"/>
          </a:p>
          <a:p>
            <a:r>
              <a:rPr lang="en-US" dirty="0"/>
              <a:t>You need three identifiers:</a:t>
            </a:r>
          </a:p>
          <a:p>
            <a:pPr lvl="1"/>
            <a:r>
              <a:rPr lang="en-US" dirty="0"/>
              <a:t>Program (Vertex </a:t>
            </a:r>
            <a:r>
              <a:rPr lang="en-US" dirty="0" err="1"/>
              <a:t>shader</a:t>
            </a:r>
            <a:r>
              <a:rPr lang="en-US" dirty="0"/>
              <a:t> + Fragment </a:t>
            </a:r>
            <a:r>
              <a:rPr lang="en-US" dirty="0" err="1"/>
              <a:t>shader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Vertex </a:t>
            </a:r>
            <a:r>
              <a:rPr lang="en-US" dirty="0" err="1"/>
              <a:t>shader</a:t>
            </a:r>
            <a:endParaRPr lang="en-US" dirty="0"/>
          </a:p>
          <a:p>
            <a:pPr lvl="1"/>
            <a:r>
              <a:rPr lang="en-US" dirty="0"/>
              <a:t>Fragment </a:t>
            </a:r>
            <a:r>
              <a:rPr lang="en-US" dirty="0" err="1"/>
              <a:t>shader</a:t>
            </a:r>
            <a:endParaRPr lang="en-US" dirty="0"/>
          </a:p>
          <a:p>
            <a:r>
              <a:rPr lang="en-US" dirty="0"/>
              <a:t>Also you need to cache identifiers for:</a:t>
            </a:r>
          </a:p>
          <a:p>
            <a:pPr lvl="1"/>
            <a:r>
              <a:rPr lang="en-US" dirty="0"/>
              <a:t>Vertex Attributes (in this case, the attribute labeled as “vertex”)</a:t>
            </a:r>
          </a:p>
          <a:p>
            <a:pPr lvl="1"/>
            <a:r>
              <a:rPr lang="en-US" dirty="0"/>
              <a:t>Uniforms (in this example, not used yet.)</a:t>
            </a:r>
          </a:p>
        </p:txBody>
      </p:sp>
    </p:spTree>
    <p:extLst>
      <p:ext uri="{BB962C8B-B14F-4D97-AF65-F5344CB8AC3E}">
        <p14:creationId xmlns:p14="http://schemas.microsoft.com/office/powerpoint/2010/main" val="3540697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PassThroughRenderer</a:t>
            </a:r>
            <a:r>
              <a:rPr lang="en-US" dirty="0"/>
              <a:t> class.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Add in </a:t>
            </a:r>
            <a:r>
              <a:rPr lang="en-US" dirty="0" err="1"/>
              <a:t>renderer.h</a:t>
            </a:r>
            <a:r>
              <a:rPr lang="en-US" dirty="0"/>
              <a:t>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70" y="1644218"/>
            <a:ext cx="8935459" cy="3477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Lucida Console" panose="020B0609040504020204" pitchFamily="49" charset="0"/>
              </a:rPr>
              <a:t>class </a:t>
            </a:r>
            <a:r>
              <a:rPr lang="en-US" sz="1100" dirty="0" err="1">
                <a:latin typeface="Lucida Console" panose="020B0609040504020204" pitchFamily="49" charset="0"/>
              </a:rPr>
              <a:t>RendererBase</a:t>
            </a:r>
            <a:endParaRPr lang="en-US" sz="1100" dirty="0">
              <a:latin typeface="Lucida Console" panose="020B0609040504020204" pitchFamily="49" charset="0"/>
            </a:endParaRPr>
          </a:p>
          <a:p>
            <a:r>
              <a:rPr lang="en-US" sz="11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100" dirty="0">
                <a:latin typeface="Lucida Console" panose="020B0609040504020204" pitchFamily="49" charset="0"/>
              </a:rPr>
              <a:t>public:</a:t>
            </a:r>
          </a:p>
          <a:p>
            <a:r>
              <a:rPr lang="en-US" sz="1100" dirty="0">
                <a:latin typeface="Lucida Console" panose="020B0609040504020204" pitchFamily="49" charset="0"/>
              </a:rPr>
              <a:t>    </a:t>
            </a:r>
            <a:r>
              <a:rPr lang="en-US" sz="1100" dirty="0" err="1">
                <a:latin typeface="Lucida Console" panose="020B0609040504020204" pitchFamily="49" charset="0"/>
              </a:rPr>
              <a:t>GLuint</a:t>
            </a:r>
            <a:r>
              <a:rPr lang="en-US" sz="1100" dirty="0">
                <a:latin typeface="Lucida Console" panose="020B0609040504020204" pitchFamily="49" charset="0"/>
              </a:rPr>
              <a:t> </a:t>
            </a:r>
            <a:r>
              <a:rPr lang="en-US" sz="1100" dirty="0" err="1">
                <a:latin typeface="Lucida Console" panose="020B0609040504020204" pitchFamily="49" charset="0"/>
              </a:rPr>
              <a:t>programIdent</a:t>
            </a:r>
            <a:r>
              <a:rPr lang="en-US" sz="11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100" dirty="0">
                <a:latin typeface="Lucida Console" panose="020B0609040504020204" pitchFamily="49" charset="0"/>
              </a:rPr>
              <a:t>    </a:t>
            </a:r>
            <a:r>
              <a:rPr lang="en-US" sz="1100" dirty="0" err="1">
                <a:latin typeface="Lucida Console" panose="020B0609040504020204" pitchFamily="49" charset="0"/>
              </a:rPr>
              <a:t>GLuint</a:t>
            </a:r>
            <a:r>
              <a:rPr lang="en-US" sz="1100" dirty="0">
                <a:latin typeface="Lucida Console" panose="020B0609040504020204" pitchFamily="49" charset="0"/>
              </a:rPr>
              <a:t> </a:t>
            </a:r>
            <a:r>
              <a:rPr lang="en-US" sz="1100" dirty="0" err="1">
                <a:latin typeface="Lucida Console" panose="020B0609040504020204" pitchFamily="49" charset="0"/>
              </a:rPr>
              <a:t>vertexShaderIdent,fragmentShaderIdent</a:t>
            </a:r>
            <a:r>
              <a:rPr lang="en-US" sz="1100" dirty="0">
                <a:latin typeface="Lucida Console" panose="020B0609040504020204" pitchFamily="49" charset="0"/>
              </a:rPr>
              <a:t>;</a:t>
            </a:r>
          </a:p>
          <a:p>
            <a:endParaRPr lang="en-US" sz="1100" dirty="0">
              <a:latin typeface="Lucida Console" panose="020B0609040504020204" pitchFamily="49" charset="0"/>
            </a:endParaRPr>
          </a:p>
          <a:p>
            <a:r>
              <a:rPr lang="en-US" sz="1100" dirty="0">
                <a:latin typeface="Lucida Console" panose="020B0609040504020204" pitchFamily="49" charset="0"/>
              </a:rPr>
              <a:t>    bool Compile(</a:t>
            </a:r>
            <a:r>
              <a:rPr lang="en-US" sz="1100" dirty="0" err="1">
                <a:latin typeface="Lucida Console" panose="020B0609040504020204" pitchFamily="49" charset="0"/>
              </a:rPr>
              <a:t>const</a:t>
            </a:r>
            <a:r>
              <a:rPr lang="en-US" sz="1100" dirty="0">
                <a:latin typeface="Lucida Console" panose="020B0609040504020204" pitchFamily="49" charset="0"/>
              </a:rPr>
              <a:t> </a:t>
            </a:r>
            <a:r>
              <a:rPr lang="en-US" sz="1100" dirty="0" err="1">
                <a:latin typeface="Lucida Console" panose="020B0609040504020204" pitchFamily="49" charset="0"/>
              </a:rPr>
              <a:t>std</a:t>
            </a:r>
            <a:r>
              <a:rPr lang="en-US" sz="1100" dirty="0">
                <a:latin typeface="Lucida Console" panose="020B0609040504020204" pitchFamily="49" charset="0"/>
              </a:rPr>
              <a:t>::vector &lt;char&gt; &amp;</a:t>
            </a:r>
            <a:r>
              <a:rPr lang="en-US" sz="1100" dirty="0" err="1">
                <a:latin typeface="Lucida Console" panose="020B0609040504020204" pitchFamily="49" charset="0"/>
              </a:rPr>
              <a:t>vtxShaderSource,const</a:t>
            </a:r>
            <a:r>
              <a:rPr lang="en-US" sz="1100" dirty="0">
                <a:latin typeface="Lucida Console" panose="020B0609040504020204" pitchFamily="49" charset="0"/>
              </a:rPr>
              <a:t> </a:t>
            </a:r>
            <a:r>
              <a:rPr lang="en-US" sz="1100" dirty="0" err="1">
                <a:latin typeface="Lucida Console" panose="020B0609040504020204" pitchFamily="49" charset="0"/>
              </a:rPr>
              <a:t>std</a:t>
            </a:r>
            <a:r>
              <a:rPr lang="en-US" sz="1100" dirty="0">
                <a:latin typeface="Lucida Console" panose="020B0609040504020204" pitchFamily="49" charset="0"/>
              </a:rPr>
              <a:t>::vector &lt;char&gt; &amp;</a:t>
            </a:r>
            <a:r>
              <a:rPr lang="en-US" sz="1100" dirty="0" err="1">
                <a:latin typeface="Lucida Console" panose="020B0609040504020204" pitchFamily="49" charset="0"/>
              </a:rPr>
              <a:t>fragShaderSource</a:t>
            </a:r>
            <a:r>
              <a:rPr lang="en-US" sz="11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100" dirty="0">
                <a:latin typeface="Lucida Console" panose="020B0609040504020204" pitchFamily="49" charset="0"/>
              </a:rPr>
              <a:t>protected:</a:t>
            </a:r>
          </a:p>
          <a:p>
            <a:r>
              <a:rPr lang="en-US" sz="1100" dirty="0">
                <a:latin typeface="Lucida Console" panose="020B0609040504020204" pitchFamily="49" charset="0"/>
              </a:rPr>
              <a:t>    bool </a:t>
            </a:r>
            <a:r>
              <a:rPr lang="en-US" sz="1100" dirty="0" err="1">
                <a:latin typeface="Lucida Console" panose="020B0609040504020204" pitchFamily="49" charset="0"/>
              </a:rPr>
              <a:t>CompileShader</a:t>
            </a:r>
            <a:r>
              <a:rPr lang="en-US" sz="1100" dirty="0">
                <a:latin typeface="Lucida Console" panose="020B0609040504020204" pitchFamily="49" charset="0"/>
              </a:rPr>
              <a:t>(</a:t>
            </a:r>
            <a:r>
              <a:rPr lang="en-US" sz="1100" dirty="0" err="1">
                <a:latin typeface="Lucida Console" panose="020B0609040504020204" pitchFamily="49" charset="0"/>
              </a:rPr>
              <a:t>int</a:t>
            </a:r>
            <a:r>
              <a:rPr lang="en-US" sz="1100" dirty="0">
                <a:latin typeface="Lucida Console" panose="020B0609040504020204" pitchFamily="49" charset="0"/>
              </a:rPr>
              <a:t> </a:t>
            </a:r>
            <a:r>
              <a:rPr lang="en-US" sz="1100" dirty="0" err="1">
                <a:latin typeface="Lucida Console" panose="020B0609040504020204" pitchFamily="49" charset="0"/>
              </a:rPr>
              <a:t>shaderIdent</a:t>
            </a:r>
            <a:r>
              <a:rPr lang="en-US" sz="11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100" dirty="0">
                <a:latin typeface="Lucida Console" panose="020B0609040504020204" pitchFamily="49" charset="0"/>
              </a:rPr>
              <a:t>    bool </a:t>
            </a:r>
            <a:r>
              <a:rPr lang="en-US" sz="1100" dirty="0" err="1">
                <a:latin typeface="Lucida Console" panose="020B0609040504020204" pitchFamily="49" charset="0"/>
              </a:rPr>
              <a:t>LinkShader</a:t>
            </a:r>
            <a:r>
              <a:rPr lang="en-US" sz="1100" dirty="0">
                <a:latin typeface="Lucida Console" panose="020B0609040504020204" pitchFamily="49" charset="0"/>
              </a:rPr>
              <a:t>(void);</a:t>
            </a:r>
          </a:p>
          <a:p>
            <a:r>
              <a:rPr lang="en-US" sz="1100" dirty="0">
                <a:latin typeface="Lucida Console" panose="020B0609040504020204" pitchFamily="49" charset="0"/>
              </a:rPr>
              <a:t>    virtual void </a:t>
            </a:r>
            <a:r>
              <a:rPr lang="en-US" sz="1100" dirty="0" err="1">
                <a:latin typeface="Lucida Console" panose="020B0609040504020204" pitchFamily="49" charset="0"/>
              </a:rPr>
              <a:t>CacheAttributeAndUniformIdent</a:t>
            </a:r>
            <a:r>
              <a:rPr lang="en-US" sz="1100" dirty="0">
                <a:latin typeface="Lucida Console" panose="020B0609040504020204" pitchFamily="49" charset="0"/>
              </a:rPr>
              <a:t>(void)=0;</a:t>
            </a:r>
          </a:p>
          <a:p>
            <a:r>
              <a:rPr lang="en-US" sz="1100" dirty="0">
                <a:latin typeface="Lucida Console" panose="020B0609040504020204" pitchFamily="49" charset="0"/>
              </a:rPr>
              <a:t>};</a:t>
            </a:r>
          </a:p>
          <a:p>
            <a:endParaRPr lang="en-US" sz="1100" dirty="0">
              <a:latin typeface="Lucida Console" panose="020B0609040504020204" pitchFamily="49" charset="0"/>
            </a:endParaRPr>
          </a:p>
          <a:p>
            <a:r>
              <a:rPr lang="en-US" sz="1100" dirty="0">
                <a:latin typeface="Lucida Console" panose="020B0609040504020204" pitchFamily="49" charset="0"/>
              </a:rPr>
              <a:t>class </a:t>
            </a:r>
            <a:r>
              <a:rPr lang="en-US" sz="1100" dirty="0" err="1">
                <a:latin typeface="Lucida Console" panose="020B0609040504020204" pitchFamily="49" charset="0"/>
              </a:rPr>
              <a:t>PassThroughRenderer</a:t>
            </a:r>
            <a:r>
              <a:rPr lang="en-US" sz="1100" dirty="0">
                <a:latin typeface="Lucida Console" panose="020B0609040504020204" pitchFamily="49" charset="0"/>
              </a:rPr>
              <a:t> : public </a:t>
            </a:r>
            <a:r>
              <a:rPr lang="en-US" sz="1100" dirty="0" err="1">
                <a:latin typeface="Lucida Console" panose="020B0609040504020204" pitchFamily="49" charset="0"/>
              </a:rPr>
              <a:t>RendererBase</a:t>
            </a:r>
            <a:endParaRPr lang="en-US" sz="1100" dirty="0">
              <a:latin typeface="Lucida Console" panose="020B0609040504020204" pitchFamily="49" charset="0"/>
            </a:endParaRPr>
          </a:p>
          <a:p>
            <a:r>
              <a:rPr lang="en-US" sz="11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100" dirty="0">
                <a:latin typeface="Lucida Console" panose="020B0609040504020204" pitchFamily="49" charset="0"/>
              </a:rPr>
              <a:t>public:</a:t>
            </a:r>
          </a:p>
          <a:p>
            <a:r>
              <a:rPr lang="en-US" sz="1100" dirty="0">
                <a:latin typeface="Lucida Console" panose="020B0609040504020204" pitchFamily="49" charset="0"/>
              </a:rPr>
              <a:t>    </a:t>
            </a:r>
            <a:r>
              <a:rPr lang="en-US" sz="1100" dirty="0" err="1">
                <a:latin typeface="Lucida Console" panose="020B0609040504020204" pitchFamily="49" charset="0"/>
              </a:rPr>
              <a:t>GLuint</a:t>
            </a:r>
            <a:r>
              <a:rPr lang="en-US" sz="1100" dirty="0">
                <a:latin typeface="Lucida Console" panose="020B0609040504020204" pitchFamily="49" charset="0"/>
              </a:rPr>
              <a:t> </a:t>
            </a:r>
            <a:r>
              <a:rPr lang="en-US" sz="1100" dirty="0" err="1">
                <a:latin typeface="Lucida Console" panose="020B0609040504020204" pitchFamily="49" charset="0"/>
              </a:rPr>
              <a:t>attribVertexPos</a:t>
            </a:r>
            <a:r>
              <a:rPr lang="en-US" sz="11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100" dirty="0">
                <a:latin typeface="Lucida Console" panose="020B0609040504020204" pitchFamily="49" charset="0"/>
              </a:rPr>
              <a:t>    virtual void </a:t>
            </a:r>
            <a:r>
              <a:rPr lang="en-US" sz="1100" dirty="0" err="1">
                <a:latin typeface="Lucida Console" panose="020B0609040504020204" pitchFamily="49" charset="0"/>
              </a:rPr>
              <a:t>CacheAttributeAndUniformIdent</a:t>
            </a:r>
            <a:r>
              <a:rPr lang="en-US" sz="1100" dirty="0">
                <a:latin typeface="Lucida Console" panose="020B0609040504020204" pitchFamily="49" charset="0"/>
              </a:rPr>
              <a:t>(void);</a:t>
            </a:r>
          </a:p>
          <a:p>
            <a:r>
              <a:rPr lang="en-US" sz="1100" dirty="0">
                <a:latin typeface="Lucida Console" panose="020B0609040504020204" pitchFamily="49" charset="0"/>
              </a:rPr>
              <a:t>};</a:t>
            </a:r>
          </a:p>
          <a:p>
            <a:endParaRPr lang="en-US" sz="11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134209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Compiling and linking the </a:t>
            </a:r>
            <a:r>
              <a:rPr lang="en-US" dirty="0" err="1"/>
              <a:t>shaders</a:t>
            </a:r>
            <a:r>
              <a:rPr lang="en-US" dirty="0"/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054" y="914400"/>
            <a:ext cx="5961888" cy="56784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Lucida Console" panose="020B0609040504020204" pitchFamily="49" charset="0"/>
              </a:rPr>
              <a:t>bool </a:t>
            </a:r>
            <a:r>
              <a:rPr lang="en-US" sz="1100" dirty="0" err="1">
                <a:latin typeface="Lucida Console" panose="020B0609040504020204" pitchFamily="49" charset="0"/>
              </a:rPr>
              <a:t>RendererBase</a:t>
            </a:r>
            <a:r>
              <a:rPr lang="en-US" sz="1100" dirty="0">
                <a:latin typeface="Lucida Console" panose="020B0609040504020204" pitchFamily="49" charset="0"/>
              </a:rPr>
              <a:t>::Compile(</a:t>
            </a:r>
          </a:p>
          <a:p>
            <a:r>
              <a:rPr lang="en-US" sz="1100" dirty="0">
                <a:latin typeface="Lucida Console" panose="020B0609040504020204" pitchFamily="49" charset="0"/>
              </a:rPr>
              <a:t>    </a:t>
            </a:r>
            <a:r>
              <a:rPr lang="en-US" sz="1100" dirty="0" err="1">
                <a:latin typeface="Lucida Console" panose="020B0609040504020204" pitchFamily="49" charset="0"/>
              </a:rPr>
              <a:t>const</a:t>
            </a:r>
            <a:r>
              <a:rPr lang="en-US" sz="1100" dirty="0">
                <a:latin typeface="Lucida Console" panose="020B0609040504020204" pitchFamily="49" charset="0"/>
              </a:rPr>
              <a:t> </a:t>
            </a:r>
            <a:r>
              <a:rPr lang="en-US" sz="1100" dirty="0" err="1">
                <a:latin typeface="Lucida Console" panose="020B0609040504020204" pitchFamily="49" charset="0"/>
              </a:rPr>
              <a:t>std</a:t>
            </a:r>
            <a:r>
              <a:rPr lang="en-US" sz="1100" dirty="0">
                <a:latin typeface="Lucida Console" panose="020B0609040504020204" pitchFamily="49" charset="0"/>
              </a:rPr>
              <a:t>::vector &lt;char&gt; &amp;</a:t>
            </a:r>
            <a:r>
              <a:rPr lang="en-US" sz="1100" dirty="0" err="1">
                <a:latin typeface="Lucida Console" panose="020B0609040504020204" pitchFamily="49" charset="0"/>
              </a:rPr>
              <a:t>vtxShaderSource</a:t>
            </a:r>
            <a:r>
              <a:rPr lang="en-US" sz="1100" dirty="0">
                <a:latin typeface="Lucida Console" panose="020B0609040504020204" pitchFamily="49" charset="0"/>
              </a:rPr>
              <a:t>,</a:t>
            </a:r>
          </a:p>
          <a:p>
            <a:r>
              <a:rPr lang="en-US" sz="1100" dirty="0">
                <a:latin typeface="Lucida Console" panose="020B0609040504020204" pitchFamily="49" charset="0"/>
              </a:rPr>
              <a:t>    </a:t>
            </a:r>
            <a:r>
              <a:rPr lang="en-US" sz="1100" dirty="0" err="1">
                <a:latin typeface="Lucida Console" panose="020B0609040504020204" pitchFamily="49" charset="0"/>
              </a:rPr>
              <a:t>const</a:t>
            </a:r>
            <a:r>
              <a:rPr lang="en-US" sz="1100" dirty="0">
                <a:latin typeface="Lucida Console" panose="020B0609040504020204" pitchFamily="49" charset="0"/>
              </a:rPr>
              <a:t> </a:t>
            </a:r>
            <a:r>
              <a:rPr lang="en-US" sz="1100" dirty="0" err="1">
                <a:latin typeface="Lucida Console" panose="020B0609040504020204" pitchFamily="49" charset="0"/>
              </a:rPr>
              <a:t>std</a:t>
            </a:r>
            <a:r>
              <a:rPr lang="en-US" sz="1100" dirty="0">
                <a:latin typeface="Lucida Console" panose="020B0609040504020204" pitchFamily="49" charset="0"/>
              </a:rPr>
              <a:t>::vector &lt;char&gt; &amp;</a:t>
            </a:r>
            <a:r>
              <a:rPr lang="en-US" sz="1100" dirty="0" err="1">
                <a:latin typeface="Lucida Console" panose="020B0609040504020204" pitchFamily="49" charset="0"/>
              </a:rPr>
              <a:t>fragShaderSource</a:t>
            </a:r>
            <a:r>
              <a:rPr lang="en-US" sz="1100" dirty="0">
                <a:latin typeface="Lucida Console" panose="020B0609040504020204" pitchFamily="49" charset="0"/>
              </a:rPr>
              <a:t>)</a:t>
            </a:r>
          </a:p>
          <a:p>
            <a:r>
              <a:rPr lang="en-US" sz="11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100" dirty="0">
                <a:latin typeface="Lucida Console" panose="020B0609040504020204" pitchFamily="49" charset="0"/>
              </a:rPr>
              <a:t>    bool res=true;</a:t>
            </a:r>
          </a:p>
          <a:p>
            <a:endParaRPr lang="en-US" sz="1100" dirty="0">
              <a:latin typeface="Lucida Console" panose="020B0609040504020204" pitchFamily="49" charset="0"/>
            </a:endParaRPr>
          </a:p>
          <a:p>
            <a:r>
              <a:rPr lang="en-US" sz="1100" dirty="0">
                <a:latin typeface="Lucida Console" panose="020B0609040504020204" pitchFamily="49" charset="0"/>
              </a:rPr>
              <a:t>    </a:t>
            </a:r>
            <a:r>
              <a:rPr lang="en-US" sz="1100" dirty="0" err="1">
                <a:latin typeface="Lucida Console" panose="020B0609040504020204" pitchFamily="49" charset="0"/>
              </a:rPr>
              <a:t>vertexShaderIdent</a:t>
            </a:r>
            <a:r>
              <a:rPr lang="en-US" sz="1100" dirty="0">
                <a:latin typeface="Lucida Console" panose="020B0609040504020204" pitchFamily="49" charset="0"/>
              </a:rPr>
              <a:t>=</a:t>
            </a:r>
            <a:r>
              <a:rPr lang="en-US" sz="1100" dirty="0" err="1">
                <a:latin typeface="Lucida Console" panose="020B0609040504020204" pitchFamily="49" charset="0"/>
              </a:rPr>
              <a:t>glCreateShader</a:t>
            </a:r>
            <a:r>
              <a:rPr lang="en-US" sz="1100" dirty="0">
                <a:latin typeface="Lucida Console" panose="020B0609040504020204" pitchFamily="49" charset="0"/>
              </a:rPr>
              <a:t>(GL_VERTEX_SHADER);</a:t>
            </a:r>
          </a:p>
          <a:p>
            <a:r>
              <a:rPr lang="en-US" sz="1100" dirty="0">
                <a:latin typeface="Lucida Console" panose="020B0609040504020204" pitchFamily="49" charset="0"/>
              </a:rPr>
              <a:t>    </a:t>
            </a:r>
            <a:r>
              <a:rPr lang="en-US" sz="1100" dirty="0" err="1">
                <a:latin typeface="Lucida Console" panose="020B0609040504020204" pitchFamily="49" charset="0"/>
              </a:rPr>
              <a:t>fragmentShaderIdent</a:t>
            </a:r>
            <a:r>
              <a:rPr lang="en-US" sz="1100" dirty="0">
                <a:latin typeface="Lucida Console" panose="020B0609040504020204" pitchFamily="49" charset="0"/>
              </a:rPr>
              <a:t>=</a:t>
            </a:r>
            <a:r>
              <a:rPr lang="en-US" sz="1100" dirty="0" err="1">
                <a:latin typeface="Lucida Console" panose="020B0609040504020204" pitchFamily="49" charset="0"/>
              </a:rPr>
              <a:t>glCreateShader</a:t>
            </a:r>
            <a:r>
              <a:rPr lang="en-US" sz="1100" dirty="0">
                <a:latin typeface="Lucida Console" panose="020B0609040504020204" pitchFamily="49" charset="0"/>
              </a:rPr>
              <a:t>(GL_FRAGMENT_SHADER);</a:t>
            </a:r>
          </a:p>
          <a:p>
            <a:r>
              <a:rPr lang="en-US" sz="1100" dirty="0">
                <a:latin typeface="Lucida Console" panose="020B0609040504020204" pitchFamily="49" charset="0"/>
              </a:rPr>
              <a:t>    </a:t>
            </a:r>
            <a:r>
              <a:rPr lang="en-US" sz="1100" dirty="0" err="1">
                <a:latin typeface="Lucida Console" panose="020B0609040504020204" pitchFamily="49" charset="0"/>
              </a:rPr>
              <a:t>programIdent</a:t>
            </a:r>
            <a:r>
              <a:rPr lang="en-US" sz="1100" dirty="0">
                <a:latin typeface="Lucida Console" panose="020B0609040504020204" pitchFamily="49" charset="0"/>
              </a:rPr>
              <a:t>=</a:t>
            </a:r>
            <a:r>
              <a:rPr lang="en-US" sz="1100" dirty="0" err="1">
                <a:latin typeface="Lucida Console" panose="020B0609040504020204" pitchFamily="49" charset="0"/>
              </a:rPr>
              <a:t>glCreateProgram</a:t>
            </a:r>
            <a:r>
              <a:rPr lang="en-US" sz="1100" dirty="0">
                <a:latin typeface="Lucida Console" panose="020B0609040504020204" pitchFamily="49" charset="0"/>
              </a:rPr>
              <a:t>();</a:t>
            </a:r>
          </a:p>
          <a:p>
            <a:endParaRPr lang="en-US" sz="1100" dirty="0">
              <a:latin typeface="Lucida Console" panose="020B0609040504020204" pitchFamily="49" charset="0"/>
            </a:endParaRPr>
          </a:p>
          <a:p>
            <a:r>
              <a:rPr lang="en-US" sz="1100" dirty="0">
                <a:latin typeface="Lucida Console" panose="020B0609040504020204" pitchFamily="49" charset="0"/>
              </a:rPr>
              <a:t>    </a:t>
            </a:r>
            <a:r>
              <a:rPr lang="en-US" sz="1100" dirty="0" err="1">
                <a:latin typeface="Lucida Console" panose="020B0609040504020204" pitchFamily="49" charset="0"/>
              </a:rPr>
              <a:t>const</a:t>
            </a:r>
            <a:r>
              <a:rPr lang="en-US" sz="1100" dirty="0">
                <a:latin typeface="Lucida Console" panose="020B0609040504020204" pitchFamily="49" charset="0"/>
              </a:rPr>
              <a:t> char *</a:t>
            </a:r>
            <a:r>
              <a:rPr lang="en-US" sz="1100" dirty="0" err="1">
                <a:latin typeface="Lucida Console" panose="020B0609040504020204" pitchFamily="49" charset="0"/>
              </a:rPr>
              <a:t>vtxShaderSourcePtr</a:t>
            </a:r>
            <a:r>
              <a:rPr lang="en-US" sz="1100" dirty="0">
                <a:latin typeface="Lucida Console" panose="020B0609040504020204" pitchFamily="49" charset="0"/>
              </a:rPr>
              <a:t>=</a:t>
            </a:r>
            <a:r>
              <a:rPr lang="en-US" sz="1100" dirty="0" err="1">
                <a:latin typeface="Lucida Console" panose="020B0609040504020204" pitchFamily="49" charset="0"/>
              </a:rPr>
              <a:t>vtxShaderSource.data</a:t>
            </a:r>
            <a:r>
              <a:rPr lang="en-US" sz="1100" dirty="0">
                <a:latin typeface="Lucida Console" panose="020B0609040504020204" pitchFamily="49" charset="0"/>
              </a:rPr>
              <a:t>();</a:t>
            </a:r>
          </a:p>
          <a:p>
            <a:r>
              <a:rPr lang="en-US" sz="1100" dirty="0">
                <a:latin typeface="Lucida Console" panose="020B0609040504020204" pitchFamily="49" charset="0"/>
              </a:rPr>
              <a:t>    </a:t>
            </a:r>
            <a:r>
              <a:rPr lang="en-US" sz="1100" dirty="0" err="1">
                <a:latin typeface="Lucida Console" panose="020B0609040504020204" pitchFamily="49" charset="0"/>
              </a:rPr>
              <a:t>const</a:t>
            </a:r>
            <a:r>
              <a:rPr lang="en-US" sz="1100" dirty="0">
                <a:latin typeface="Lucida Console" panose="020B0609040504020204" pitchFamily="49" charset="0"/>
              </a:rPr>
              <a:t> char *</a:t>
            </a:r>
            <a:r>
              <a:rPr lang="en-US" sz="1100" dirty="0" err="1">
                <a:latin typeface="Lucida Console" panose="020B0609040504020204" pitchFamily="49" charset="0"/>
              </a:rPr>
              <a:t>fragShaderSourcePtr</a:t>
            </a:r>
            <a:r>
              <a:rPr lang="en-US" sz="1100" dirty="0">
                <a:latin typeface="Lucida Console" panose="020B0609040504020204" pitchFamily="49" charset="0"/>
              </a:rPr>
              <a:t>=</a:t>
            </a:r>
            <a:r>
              <a:rPr lang="en-US" sz="1100" dirty="0" err="1">
                <a:latin typeface="Lucida Console" panose="020B0609040504020204" pitchFamily="49" charset="0"/>
              </a:rPr>
              <a:t>fragShaderSource.data</a:t>
            </a:r>
            <a:r>
              <a:rPr lang="en-US" sz="1100" dirty="0">
                <a:latin typeface="Lucida Console" panose="020B0609040504020204" pitchFamily="49" charset="0"/>
              </a:rPr>
              <a:t>();</a:t>
            </a:r>
          </a:p>
          <a:p>
            <a:r>
              <a:rPr lang="en-US" sz="1100" dirty="0">
                <a:latin typeface="Lucida Console" panose="020B0609040504020204" pitchFamily="49" charset="0"/>
              </a:rPr>
              <a:t>    </a:t>
            </a:r>
            <a:r>
              <a:rPr lang="en-US" sz="1100" dirty="0" err="1">
                <a:latin typeface="Lucida Console" panose="020B0609040504020204" pitchFamily="49" charset="0"/>
              </a:rPr>
              <a:t>glShaderSource</a:t>
            </a:r>
            <a:r>
              <a:rPr lang="en-US" sz="1100" dirty="0">
                <a:latin typeface="Lucida Console" panose="020B0609040504020204" pitchFamily="49" charset="0"/>
              </a:rPr>
              <a:t>(vertexShaderIdent,1,&amp;vtxShaderSourcePtr,NULL);</a:t>
            </a:r>
          </a:p>
          <a:p>
            <a:r>
              <a:rPr lang="en-US" sz="1100" dirty="0">
                <a:latin typeface="Lucida Console" panose="020B0609040504020204" pitchFamily="49" charset="0"/>
              </a:rPr>
              <a:t>    </a:t>
            </a:r>
            <a:r>
              <a:rPr lang="en-US" sz="1100" dirty="0" err="1">
                <a:latin typeface="Lucida Console" panose="020B0609040504020204" pitchFamily="49" charset="0"/>
              </a:rPr>
              <a:t>glShaderSource</a:t>
            </a:r>
            <a:r>
              <a:rPr lang="en-US" sz="1100" dirty="0">
                <a:latin typeface="Lucida Console" panose="020B0609040504020204" pitchFamily="49" charset="0"/>
              </a:rPr>
              <a:t>(fragmentShaderIdent,1,&amp;fragShaderSourcePtr,NULL);</a:t>
            </a:r>
          </a:p>
          <a:p>
            <a:endParaRPr lang="en-US" sz="1100" dirty="0">
              <a:latin typeface="Lucida Console" panose="020B0609040504020204" pitchFamily="49" charset="0"/>
            </a:endParaRPr>
          </a:p>
          <a:p>
            <a:r>
              <a:rPr lang="en-US" sz="1100" dirty="0">
                <a:latin typeface="Lucida Console" panose="020B0609040504020204" pitchFamily="49" charset="0"/>
              </a:rPr>
              <a:t>    if(true!=</a:t>
            </a:r>
            <a:r>
              <a:rPr lang="en-US" sz="1100" dirty="0" err="1">
                <a:latin typeface="Lucida Console" panose="020B0609040504020204" pitchFamily="49" charset="0"/>
              </a:rPr>
              <a:t>CompileShader</a:t>
            </a:r>
            <a:r>
              <a:rPr lang="en-US" sz="1100" dirty="0">
                <a:latin typeface="Lucida Console" panose="020B0609040504020204" pitchFamily="49" charset="0"/>
              </a:rPr>
              <a:t>(</a:t>
            </a:r>
            <a:r>
              <a:rPr lang="en-US" sz="1100" dirty="0" err="1">
                <a:latin typeface="Lucida Console" panose="020B0609040504020204" pitchFamily="49" charset="0"/>
              </a:rPr>
              <a:t>vertexShaderIdent</a:t>
            </a:r>
            <a:r>
              <a:rPr lang="en-US" sz="1100" dirty="0">
                <a:latin typeface="Lucida Console" panose="020B0609040504020204" pitchFamily="49" charset="0"/>
              </a:rPr>
              <a:t>))</a:t>
            </a:r>
          </a:p>
          <a:p>
            <a:r>
              <a:rPr lang="en-US" sz="1100" dirty="0">
                <a:latin typeface="Lucida Console" panose="020B0609040504020204" pitchFamily="49" charset="0"/>
              </a:rPr>
              <a:t>    {</a:t>
            </a:r>
          </a:p>
          <a:p>
            <a:r>
              <a:rPr lang="en-US" sz="1100" dirty="0">
                <a:latin typeface="Lucida Console" panose="020B0609040504020204" pitchFamily="49" charset="0"/>
              </a:rPr>
              <a:t>        res=false;</a:t>
            </a:r>
          </a:p>
          <a:p>
            <a:r>
              <a:rPr lang="en-US" sz="1100" dirty="0">
                <a:latin typeface="Lucida Console" panose="020B0609040504020204" pitchFamily="49" charset="0"/>
              </a:rPr>
              <a:t>    }</a:t>
            </a:r>
          </a:p>
          <a:p>
            <a:r>
              <a:rPr lang="en-US" sz="1100" dirty="0">
                <a:latin typeface="Lucida Console" panose="020B0609040504020204" pitchFamily="49" charset="0"/>
              </a:rPr>
              <a:t>    if(true!=</a:t>
            </a:r>
            <a:r>
              <a:rPr lang="en-US" sz="1100" dirty="0" err="1">
                <a:latin typeface="Lucida Console" panose="020B0609040504020204" pitchFamily="49" charset="0"/>
              </a:rPr>
              <a:t>CompileShader</a:t>
            </a:r>
            <a:r>
              <a:rPr lang="en-US" sz="1100" dirty="0">
                <a:latin typeface="Lucida Console" panose="020B0609040504020204" pitchFamily="49" charset="0"/>
              </a:rPr>
              <a:t>(</a:t>
            </a:r>
            <a:r>
              <a:rPr lang="en-US" sz="1100" dirty="0" err="1">
                <a:latin typeface="Lucida Console" panose="020B0609040504020204" pitchFamily="49" charset="0"/>
              </a:rPr>
              <a:t>fragmentShaderIdent</a:t>
            </a:r>
            <a:r>
              <a:rPr lang="en-US" sz="1100" dirty="0">
                <a:latin typeface="Lucida Console" panose="020B0609040504020204" pitchFamily="49" charset="0"/>
              </a:rPr>
              <a:t>))</a:t>
            </a:r>
          </a:p>
          <a:p>
            <a:r>
              <a:rPr lang="en-US" sz="1100" dirty="0">
                <a:latin typeface="Lucida Console" panose="020B0609040504020204" pitchFamily="49" charset="0"/>
              </a:rPr>
              <a:t>    {</a:t>
            </a:r>
          </a:p>
          <a:p>
            <a:r>
              <a:rPr lang="en-US" sz="1100" dirty="0">
                <a:latin typeface="Lucida Console" panose="020B0609040504020204" pitchFamily="49" charset="0"/>
              </a:rPr>
              <a:t>        res=false;</a:t>
            </a:r>
          </a:p>
          <a:p>
            <a:r>
              <a:rPr lang="en-US" sz="1100" dirty="0">
                <a:latin typeface="Lucida Console" panose="020B0609040504020204" pitchFamily="49" charset="0"/>
              </a:rPr>
              <a:t>    }</a:t>
            </a:r>
          </a:p>
          <a:p>
            <a:r>
              <a:rPr lang="en-US" sz="1100" dirty="0">
                <a:latin typeface="Lucida Console" panose="020B0609040504020204" pitchFamily="49" charset="0"/>
              </a:rPr>
              <a:t>    if(true!=</a:t>
            </a:r>
            <a:r>
              <a:rPr lang="en-US" sz="1100" dirty="0" err="1">
                <a:latin typeface="Lucida Console" panose="020B0609040504020204" pitchFamily="49" charset="0"/>
              </a:rPr>
              <a:t>LinkShader</a:t>
            </a:r>
            <a:r>
              <a:rPr lang="en-US" sz="1100" dirty="0">
                <a:latin typeface="Lucida Console" panose="020B0609040504020204" pitchFamily="49" charset="0"/>
              </a:rPr>
              <a:t>())</a:t>
            </a:r>
          </a:p>
          <a:p>
            <a:r>
              <a:rPr lang="en-US" sz="1100" dirty="0">
                <a:latin typeface="Lucida Console" panose="020B0609040504020204" pitchFamily="49" charset="0"/>
              </a:rPr>
              <a:t>    {</a:t>
            </a:r>
          </a:p>
          <a:p>
            <a:r>
              <a:rPr lang="en-US" sz="1100" dirty="0">
                <a:latin typeface="Lucida Console" panose="020B0609040504020204" pitchFamily="49" charset="0"/>
              </a:rPr>
              <a:t>        res=false;</a:t>
            </a:r>
          </a:p>
          <a:p>
            <a:r>
              <a:rPr lang="en-US" sz="1100" dirty="0">
                <a:latin typeface="Lucida Console" panose="020B0609040504020204" pitchFamily="49" charset="0"/>
              </a:rPr>
              <a:t>    }</a:t>
            </a:r>
          </a:p>
          <a:p>
            <a:endParaRPr lang="en-US" sz="1100" dirty="0">
              <a:latin typeface="Lucida Console" panose="020B0609040504020204" pitchFamily="49" charset="0"/>
            </a:endParaRPr>
          </a:p>
          <a:p>
            <a:r>
              <a:rPr lang="en-US" sz="1100" dirty="0">
                <a:latin typeface="Lucida Console" panose="020B0609040504020204" pitchFamily="49" charset="0"/>
              </a:rPr>
              <a:t>    </a:t>
            </a:r>
            <a:r>
              <a:rPr lang="en-US" sz="1100" dirty="0" err="1">
                <a:latin typeface="Lucida Console" panose="020B0609040504020204" pitchFamily="49" charset="0"/>
              </a:rPr>
              <a:t>CacheAttributeAndUniformIdent</a:t>
            </a:r>
            <a:r>
              <a:rPr lang="en-US" sz="1100" dirty="0">
                <a:latin typeface="Lucida Console" panose="020B0609040504020204" pitchFamily="49" charset="0"/>
              </a:rPr>
              <a:t>();</a:t>
            </a:r>
          </a:p>
          <a:p>
            <a:endParaRPr lang="en-US" sz="1100" dirty="0">
              <a:latin typeface="Lucida Console" panose="020B0609040504020204" pitchFamily="49" charset="0"/>
            </a:endParaRPr>
          </a:p>
          <a:p>
            <a:r>
              <a:rPr lang="en-US" sz="1100" dirty="0">
                <a:latin typeface="Lucida Console" panose="020B0609040504020204" pitchFamily="49" charset="0"/>
              </a:rPr>
              <a:t>    return res;</a:t>
            </a:r>
          </a:p>
          <a:p>
            <a:r>
              <a:rPr lang="en-US" sz="1100" dirty="0">
                <a:latin typeface="Lucida Console" panose="020B0609040504020204" pitchFamily="49" charset="0"/>
              </a:rPr>
              <a:t>}</a:t>
            </a:r>
          </a:p>
          <a:p>
            <a:endParaRPr lang="en-US" sz="1100" dirty="0">
              <a:latin typeface="Lucida Console" panose="020B0609040504020204" pitchFamily="49" charset="0"/>
            </a:endParaRPr>
          </a:p>
        </p:txBody>
      </p:sp>
      <p:sp>
        <p:nvSpPr>
          <p:cNvPr id="3" name="Right Brace 2"/>
          <p:cNvSpPr/>
          <p:nvPr/>
        </p:nvSpPr>
        <p:spPr>
          <a:xfrm>
            <a:off x="5230368" y="1911096"/>
            <a:ext cx="128016" cy="557784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486400" y="1947672"/>
            <a:ext cx="2095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Reserve identifiers</a:t>
            </a:r>
          </a:p>
        </p:txBody>
      </p:sp>
      <p:sp>
        <p:nvSpPr>
          <p:cNvPr id="6" name="Right Brace 5"/>
          <p:cNvSpPr/>
          <p:nvPr/>
        </p:nvSpPr>
        <p:spPr>
          <a:xfrm>
            <a:off x="5934456" y="2606040"/>
            <a:ext cx="243486" cy="758952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177942" y="2703945"/>
            <a:ext cx="29660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Connect </a:t>
            </a:r>
            <a:r>
              <a:rPr lang="en-US" dirty="0" err="1">
                <a:solidFill>
                  <a:srgbClr val="FF0000"/>
                </a:solidFill>
              </a:rPr>
              <a:t>shader</a:t>
            </a:r>
            <a:r>
              <a:rPr lang="en-US" dirty="0">
                <a:solidFill>
                  <a:srgbClr val="FF0000"/>
                </a:solidFill>
              </a:rPr>
              <a:t> identifier and source.</a:t>
            </a:r>
          </a:p>
        </p:txBody>
      </p:sp>
    </p:spTree>
    <p:extLst>
      <p:ext uri="{BB962C8B-B14F-4D97-AF65-F5344CB8AC3E}">
        <p14:creationId xmlns:p14="http://schemas.microsoft.com/office/powerpoint/2010/main" val="409865693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30352" y="740664"/>
            <a:ext cx="7808548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Lucida Console" panose="020B0609040504020204" pitchFamily="49" charset="0"/>
              </a:rPr>
              <a:t>bool </a:t>
            </a:r>
            <a:r>
              <a:rPr lang="en-US" sz="1200" dirty="0" err="1">
                <a:latin typeface="Lucida Console" panose="020B0609040504020204" pitchFamily="49" charset="0"/>
              </a:rPr>
              <a:t>RendererBase</a:t>
            </a:r>
            <a:r>
              <a:rPr lang="en-US" sz="1200" dirty="0">
                <a:latin typeface="Lucida Console" panose="020B0609040504020204" pitchFamily="49" charset="0"/>
              </a:rPr>
              <a:t>::</a:t>
            </a:r>
            <a:r>
              <a:rPr lang="en-US" sz="1200" dirty="0" err="1">
                <a:latin typeface="Lucida Console" panose="020B0609040504020204" pitchFamily="49" charset="0"/>
              </a:rPr>
              <a:t>CompileFile</a:t>
            </a:r>
            <a:r>
              <a:rPr lang="en-US" sz="1200" dirty="0">
                <a:latin typeface="Lucida Console" panose="020B0609040504020204" pitchFamily="49" charset="0"/>
              </a:rPr>
              <a:t>(</a:t>
            </a:r>
            <a:r>
              <a:rPr lang="en-US" sz="1200" dirty="0" err="1">
                <a:latin typeface="Lucida Console" panose="020B0609040504020204" pitchFamily="49" charset="0"/>
              </a:rPr>
              <a:t>const</a:t>
            </a:r>
            <a:r>
              <a:rPr lang="en-US" sz="1200" dirty="0">
                <a:latin typeface="Lucida Console" panose="020B0609040504020204" pitchFamily="49" charset="0"/>
              </a:rPr>
              <a:t> char </a:t>
            </a:r>
            <a:r>
              <a:rPr lang="en-US" sz="1200" dirty="0" err="1">
                <a:latin typeface="Lucida Console" panose="020B0609040504020204" pitchFamily="49" charset="0"/>
              </a:rPr>
              <a:t>vtxShaderFn</a:t>
            </a:r>
            <a:r>
              <a:rPr lang="en-US" sz="1200" dirty="0">
                <a:latin typeface="Lucida Console" panose="020B0609040504020204" pitchFamily="49" charset="0"/>
              </a:rPr>
              <a:t>[],</a:t>
            </a:r>
            <a:r>
              <a:rPr lang="en-US" sz="1200" dirty="0" err="1">
                <a:latin typeface="Lucida Console" panose="020B0609040504020204" pitchFamily="49" charset="0"/>
              </a:rPr>
              <a:t>const</a:t>
            </a:r>
            <a:r>
              <a:rPr lang="en-US" sz="1200" dirty="0">
                <a:latin typeface="Lucida Console" panose="020B0609040504020204" pitchFamily="49" charset="0"/>
              </a:rPr>
              <a:t> char </a:t>
            </a:r>
            <a:r>
              <a:rPr lang="en-US" sz="1200" dirty="0" err="1">
                <a:latin typeface="Lucida Console" panose="020B0609040504020204" pitchFamily="49" charset="0"/>
              </a:rPr>
              <a:t>fragShaderFn</a:t>
            </a:r>
            <a:r>
              <a:rPr lang="en-US" sz="1200" dirty="0">
                <a:latin typeface="Lucida Console" panose="020B0609040504020204" pitchFamily="49" charset="0"/>
              </a:rPr>
              <a:t>[])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auto </a:t>
            </a:r>
            <a:r>
              <a:rPr lang="en-US" sz="1200" dirty="0" err="1">
                <a:latin typeface="Lucida Console" panose="020B0609040504020204" pitchFamily="49" charset="0"/>
              </a:rPr>
              <a:t>vtxShaderSource</a:t>
            </a:r>
            <a:r>
              <a:rPr lang="en-US" sz="1200" dirty="0">
                <a:latin typeface="Lucida Console" panose="020B0609040504020204" pitchFamily="49" charset="0"/>
              </a:rPr>
              <a:t>=</a:t>
            </a:r>
            <a:r>
              <a:rPr lang="en-US" sz="1200" dirty="0" err="1">
                <a:latin typeface="Lucida Console" panose="020B0609040504020204" pitchFamily="49" charset="0"/>
              </a:rPr>
              <a:t>ReadTextFile</a:t>
            </a:r>
            <a:r>
              <a:rPr lang="en-US" sz="1200" dirty="0">
                <a:latin typeface="Lucida Console" panose="020B0609040504020204" pitchFamily="49" charset="0"/>
              </a:rPr>
              <a:t>(</a:t>
            </a:r>
            <a:r>
              <a:rPr lang="en-US" sz="1200" dirty="0" err="1">
                <a:latin typeface="Lucida Console" panose="020B0609040504020204" pitchFamily="49" charset="0"/>
              </a:rPr>
              <a:t>vtxShaderFn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auto </a:t>
            </a:r>
            <a:r>
              <a:rPr lang="en-US" sz="1200" dirty="0" err="1">
                <a:latin typeface="Lucida Console" panose="020B0609040504020204" pitchFamily="49" charset="0"/>
              </a:rPr>
              <a:t>fragShaderSource</a:t>
            </a:r>
            <a:r>
              <a:rPr lang="en-US" sz="1200" dirty="0">
                <a:latin typeface="Lucida Console" panose="020B0609040504020204" pitchFamily="49" charset="0"/>
              </a:rPr>
              <a:t>=</a:t>
            </a:r>
            <a:r>
              <a:rPr lang="en-US" sz="1200" dirty="0" err="1">
                <a:latin typeface="Lucida Console" panose="020B0609040504020204" pitchFamily="49" charset="0"/>
              </a:rPr>
              <a:t>ReadTextFile</a:t>
            </a:r>
            <a:r>
              <a:rPr lang="en-US" sz="1200" dirty="0">
                <a:latin typeface="Lucida Console" panose="020B0609040504020204" pitchFamily="49" charset="0"/>
              </a:rPr>
              <a:t>(</a:t>
            </a:r>
            <a:r>
              <a:rPr lang="en-US" sz="1200" dirty="0" err="1">
                <a:latin typeface="Lucida Console" panose="020B0609040504020204" pitchFamily="49" charset="0"/>
              </a:rPr>
              <a:t>fragShaderFn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printf</a:t>
            </a:r>
            <a:r>
              <a:rPr lang="en-US" sz="1200" dirty="0">
                <a:latin typeface="Lucida Console" panose="020B0609040504020204" pitchFamily="49" charset="0"/>
              </a:rPr>
              <a:t>("Vertex </a:t>
            </a:r>
            <a:r>
              <a:rPr lang="en-US" sz="1200" dirty="0" err="1">
                <a:latin typeface="Lucida Console" panose="020B0609040504020204" pitchFamily="49" charset="0"/>
              </a:rPr>
              <a:t>Shader</a:t>
            </a:r>
            <a:r>
              <a:rPr lang="en-US" sz="1200" dirty="0">
                <a:latin typeface="Lucida Console" panose="020B0609040504020204" pitchFamily="49" charset="0"/>
              </a:rPr>
              <a:t>\n");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printf</a:t>
            </a:r>
            <a:r>
              <a:rPr lang="en-US" sz="1200" dirty="0">
                <a:latin typeface="Lucida Console" panose="020B0609040504020204" pitchFamily="49" charset="0"/>
              </a:rPr>
              <a:t>("%s\n",</a:t>
            </a:r>
            <a:r>
              <a:rPr lang="en-US" sz="1200" dirty="0" err="1">
                <a:latin typeface="Lucida Console" panose="020B0609040504020204" pitchFamily="49" charset="0"/>
              </a:rPr>
              <a:t>vtxShaderSource.data</a:t>
            </a:r>
            <a:r>
              <a:rPr lang="en-US" sz="1200" dirty="0">
                <a:latin typeface="Lucida Console" panose="020B0609040504020204" pitchFamily="49" charset="0"/>
              </a:rPr>
              <a:t>());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printf</a:t>
            </a:r>
            <a:r>
              <a:rPr lang="en-US" sz="1200" dirty="0">
                <a:latin typeface="Lucida Console" panose="020B0609040504020204" pitchFamily="49" charset="0"/>
              </a:rPr>
              <a:t>("Fragment </a:t>
            </a:r>
            <a:r>
              <a:rPr lang="en-US" sz="1200" dirty="0" err="1">
                <a:latin typeface="Lucida Console" panose="020B0609040504020204" pitchFamily="49" charset="0"/>
              </a:rPr>
              <a:t>Shader</a:t>
            </a:r>
            <a:r>
              <a:rPr lang="en-US" sz="1200" dirty="0">
                <a:latin typeface="Lucida Console" panose="020B0609040504020204" pitchFamily="49" charset="0"/>
              </a:rPr>
              <a:t>\n");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printf</a:t>
            </a:r>
            <a:r>
              <a:rPr lang="en-US" sz="1200" dirty="0">
                <a:latin typeface="Lucida Console" panose="020B0609040504020204" pitchFamily="49" charset="0"/>
              </a:rPr>
              <a:t>("%s\n",</a:t>
            </a:r>
            <a:r>
              <a:rPr lang="en-US" sz="1200" dirty="0" err="1">
                <a:latin typeface="Lucida Console" panose="020B0609040504020204" pitchFamily="49" charset="0"/>
              </a:rPr>
              <a:t>fragShaderSource.data</a:t>
            </a:r>
            <a:r>
              <a:rPr lang="en-US" sz="1200" dirty="0">
                <a:latin typeface="Lucida Console" panose="020B0609040504020204" pitchFamily="49" charset="0"/>
              </a:rPr>
              <a:t>());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    return Compile(</a:t>
            </a:r>
            <a:r>
              <a:rPr lang="en-US" sz="1200" dirty="0" err="1">
                <a:latin typeface="Lucida Console" panose="020B0609040504020204" pitchFamily="49" charset="0"/>
              </a:rPr>
              <a:t>vtxShaderSource,fragShaderSource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}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909169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23497" y="684949"/>
            <a:ext cx="7250703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Lucida Console" panose="020B0609040504020204" pitchFamily="49" charset="0"/>
              </a:rPr>
              <a:t>bool </a:t>
            </a:r>
            <a:r>
              <a:rPr lang="en-US" sz="1200" dirty="0" err="1">
                <a:latin typeface="Lucida Console" panose="020B0609040504020204" pitchFamily="49" charset="0"/>
              </a:rPr>
              <a:t>RendererBase</a:t>
            </a:r>
            <a:r>
              <a:rPr lang="en-US" sz="1200" dirty="0">
                <a:latin typeface="Lucida Console" panose="020B0609040504020204" pitchFamily="49" charset="0"/>
              </a:rPr>
              <a:t>::</a:t>
            </a:r>
            <a:r>
              <a:rPr lang="en-US" sz="1200" dirty="0" err="1">
                <a:latin typeface="Lucida Console" panose="020B0609040504020204" pitchFamily="49" charset="0"/>
              </a:rPr>
              <a:t>CompileShader</a:t>
            </a:r>
            <a:r>
              <a:rPr lang="en-US" sz="1200" dirty="0">
                <a:latin typeface="Lucida Console" panose="020B0609040504020204" pitchFamily="49" charset="0"/>
              </a:rPr>
              <a:t>(</a:t>
            </a:r>
            <a:r>
              <a:rPr lang="en-US" sz="1200" dirty="0" err="1">
                <a:latin typeface="Lucida Console" panose="020B0609040504020204" pitchFamily="49" charset="0"/>
              </a:rPr>
              <a:t>int</a:t>
            </a:r>
            <a:r>
              <a:rPr lang="en-US" sz="1200" dirty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shaderIdent</a:t>
            </a:r>
            <a:r>
              <a:rPr lang="en-US" sz="1200" dirty="0">
                <a:latin typeface="Lucida Console" panose="020B0609040504020204" pitchFamily="49" charset="0"/>
              </a:rPr>
              <a:t>)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int</a:t>
            </a:r>
            <a:r>
              <a:rPr lang="en-US" sz="1200" dirty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compileSta</a:t>
            </a:r>
            <a:r>
              <a:rPr lang="en-US" sz="1200" dirty="0">
                <a:latin typeface="Lucida Console" panose="020B0609040504020204" pitchFamily="49" charset="0"/>
              </a:rPr>
              <a:t>=99999,infoLogLength=99999,acquiredErrMsgLen=99999;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int</a:t>
            </a:r>
            <a:r>
              <a:rPr lang="en-US" sz="1200" dirty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linkSta</a:t>
            </a:r>
            <a:r>
              <a:rPr lang="en-US" sz="1200" dirty="0">
                <a:latin typeface="Lucida Console" panose="020B0609040504020204" pitchFamily="49" charset="0"/>
              </a:rPr>
              <a:t>=99999;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const</a:t>
            </a:r>
            <a:r>
              <a:rPr lang="en-US" sz="1200" dirty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int</a:t>
            </a:r>
            <a:r>
              <a:rPr lang="en-US" sz="1200" dirty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errMsgLen</a:t>
            </a:r>
            <a:r>
              <a:rPr lang="en-US" sz="1200" dirty="0">
                <a:latin typeface="Lucida Console" panose="020B0609040504020204" pitchFamily="49" charset="0"/>
              </a:rPr>
              <a:t>=1024;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char </a:t>
            </a:r>
            <a:r>
              <a:rPr lang="en-US" sz="1200" dirty="0" err="1">
                <a:latin typeface="Lucida Console" panose="020B0609040504020204" pitchFamily="49" charset="0"/>
              </a:rPr>
              <a:t>errMsg</a:t>
            </a:r>
            <a:r>
              <a:rPr lang="en-US" sz="1200" dirty="0">
                <a:latin typeface="Lucida Console" panose="020B0609040504020204" pitchFamily="49" charset="0"/>
              </a:rPr>
              <a:t>[1024];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glCompileShader</a:t>
            </a:r>
            <a:r>
              <a:rPr lang="en-US" sz="1200" dirty="0">
                <a:latin typeface="Lucida Console" panose="020B0609040504020204" pitchFamily="49" charset="0"/>
              </a:rPr>
              <a:t>(</a:t>
            </a:r>
            <a:r>
              <a:rPr lang="en-US" sz="1200" dirty="0" err="1">
                <a:latin typeface="Lucida Console" panose="020B0609040504020204" pitchFamily="49" charset="0"/>
              </a:rPr>
              <a:t>shaderIdent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glGetShaderiv</a:t>
            </a:r>
            <a:r>
              <a:rPr lang="en-US" sz="1200" dirty="0">
                <a:latin typeface="Lucida Console" panose="020B0609040504020204" pitchFamily="49" charset="0"/>
              </a:rPr>
              <a:t>(shaderIdent,GL_COMPILE_STATUS,&amp;</a:t>
            </a:r>
            <a:r>
              <a:rPr lang="en-US" sz="1200" dirty="0" err="1">
                <a:latin typeface="Lucida Console" panose="020B0609040504020204" pitchFamily="49" charset="0"/>
              </a:rPr>
              <a:t>compileSta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glGetShaderiv</a:t>
            </a:r>
            <a:r>
              <a:rPr lang="en-US" sz="1200" dirty="0">
                <a:latin typeface="Lucida Console" panose="020B0609040504020204" pitchFamily="49" charset="0"/>
              </a:rPr>
              <a:t>(shaderIdent,GL_INFO_LOG_LENGTH,&amp;</a:t>
            </a:r>
            <a:r>
              <a:rPr lang="en-US" sz="1200" dirty="0" err="1">
                <a:latin typeface="Lucida Console" panose="020B0609040504020204" pitchFamily="49" charset="0"/>
              </a:rPr>
              <a:t>infoLogLength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glGetShaderInfoLog</a:t>
            </a:r>
            <a:r>
              <a:rPr lang="en-US" sz="1200" dirty="0">
                <a:latin typeface="Lucida Console" panose="020B0609040504020204" pitchFamily="49" charset="0"/>
              </a:rPr>
              <a:t>(shaderIdent,errMsgLen-1,&amp;acquiredErrMsgLen,errMsg);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printf</a:t>
            </a:r>
            <a:r>
              <a:rPr lang="en-US" sz="1200" dirty="0">
                <a:latin typeface="Lucida Console" panose="020B0609040504020204" pitchFamily="49" charset="0"/>
              </a:rPr>
              <a:t>("Compile Status %d Info Log Length %d Error Message Length %d\n",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    </a:t>
            </a:r>
            <a:r>
              <a:rPr lang="en-US" sz="1200" dirty="0" err="1">
                <a:latin typeface="Lucida Console" panose="020B0609040504020204" pitchFamily="49" charset="0"/>
              </a:rPr>
              <a:t>compileSta,infoLogLength,acquiredErrMsgLen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    if(GL_TRUE!=</a:t>
            </a:r>
            <a:r>
              <a:rPr lang="en-US" sz="1200" dirty="0" err="1">
                <a:latin typeface="Lucida Console" panose="020B0609040504020204" pitchFamily="49" charset="0"/>
              </a:rPr>
              <a:t>compileSta</a:t>
            </a:r>
            <a:r>
              <a:rPr lang="en-US" sz="1200" dirty="0">
                <a:latin typeface="Lucida Console" panose="020B0609040504020204" pitchFamily="49" charset="0"/>
              </a:rPr>
              <a:t>)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{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    </a:t>
            </a:r>
            <a:r>
              <a:rPr lang="en-US" sz="1200" dirty="0" err="1">
                <a:latin typeface="Lucida Console" panose="020B0609040504020204" pitchFamily="49" charset="0"/>
              </a:rPr>
              <a:t>int</a:t>
            </a:r>
            <a:r>
              <a:rPr lang="en-US" sz="1200" dirty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i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    </a:t>
            </a:r>
            <a:r>
              <a:rPr lang="en-US" sz="1200" dirty="0" err="1">
                <a:latin typeface="Lucida Console" panose="020B0609040504020204" pitchFamily="49" charset="0"/>
              </a:rPr>
              <a:t>printf</a:t>
            </a:r>
            <a:r>
              <a:rPr lang="en-US" sz="1200" dirty="0">
                <a:latin typeface="Lucida Console" panose="020B0609040504020204" pitchFamily="49" charset="0"/>
              </a:rPr>
              <a:t>("Error Message: \</a:t>
            </a:r>
            <a:r>
              <a:rPr lang="en-US" sz="1200" dirty="0" err="1">
                <a:latin typeface="Lucida Console" panose="020B0609040504020204" pitchFamily="49" charset="0"/>
              </a:rPr>
              <a:t>n%s</a:t>
            </a:r>
            <a:r>
              <a:rPr lang="en-US" sz="1200" dirty="0">
                <a:latin typeface="Lucida Console" panose="020B0609040504020204" pitchFamily="49" charset="0"/>
              </a:rPr>
              <a:t>\n",</a:t>
            </a:r>
            <a:r>
              <a:rPr lang="en-US" sz="1200" dirty="0" err="1">
                <a:latin typeface="Lucida Console" panose="020B0609040504020204" pitchFamily="49" charset="0"/>
              </a:rPr>
              <a:t>errMsg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    return false;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}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return true;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}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</p:txBody>
      </p:sp>
      <p:sp>
        <p:nvSpPr>
          <p:cNvPr id="2" name="Right Brace 1"/>
          <p:cNvSpPr/>
          <p:nvPr/>
        </p:nvSpPr>
        <p:spPr>
          <a:xfrm>
            <a:off x="7251192" y="2258568"/>
            <a:ext cx="210312" cy="2157984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7452360" y="3035808"/>
            <a:ext cx="14996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Were there errors?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 flipH="1">
            <a:off x="3392424" y="1655064"/>
            <a:ext cx="1280160" cy="42976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672584" y="1438501"/>
            <a:ext cx="1499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Compile</a:t>
            </a:r>
          </a:p>
        </p:txBody>
      </p:sp>
    </p:spTree>
    <p:extLst>
      <p:ext uri="{BB962C8B-B14F-4D97-AF65-F5344CB8AC3E}">
        <p14:creationId xmlns:p14="http://schemas.microsoft.com/office/powerpoint/2010/main" val="292287848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85857" y="238169"/>
            <a:ext cx="7250703" cy="60016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Lucida Console" panose="020B0609040504020204" pitchFamily="49" charset="0"/>
              </a:rPr>
              <a:t>bool </a:t>
            </a:r>
            <a:r>
              <a:rPr lang="en-US" sz="1200" dirty="0" err="1">
                <a:latin typeface="Lucida Console" panose="020B0609040504020204" pitchFamily="49" charset="0"/>
              </a:rPr>
              <a:t>RendererBase</a:t>
            </a:r>
            <a:r>
              <a:rPr lang="en-US" sz="1200" dirty="0">
                <a:latin typeface="Lucida Console" panose="020B0609040504020204" pitchFamily="49" charset="0"/>
              </a:rPr>
              <a:t>::</a:t>
            </a:r>
            <a:r>
              <a:rPr lang="en-US" sz="1200" dirty="0" err="1">
                <a:latin typeface="Lucida Console" panose="020B0609040504020204" pitchFamily="49" charset="0"/>
              </a:rPr>
              <a:t>LinkShader</a:t>
            </a:r>
            <a:r>
              <a:rPr lang="en-US" sz="1200" dirty="0">
                <a:latin typeface="Lucida Console" panose="020B0609040504020204" pitchFamily="49" charset="0"/>
              </a:rPr>
              <a:t>(void)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int</a:t>
            </a:r>
            <a:r>
              <a:rPr lang="en-US" sz="1200" dirty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compileSta</a:t>
            </a:r>
            <a:r>
              <a:rPr lang="en-US" sz="1200" dirty="0">
                <a:latin typeface="Lucida Console" panose="020B0609040504020204" pitchFamily="49" charset="0"/>
              </a:rPr>
              <a:t>=99999,infoLogLength=99999,acquiredErrMsgLen=99999;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int</a:t>
            </a:r>
            <a:r>
              <a:rPr lang="en-US" sz="1200" dirty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linkSta</a:t>
            </a:r>
            <a:r>
              <a:rPr lang="en-US" sz="1200" dirty="0">
                <a:latin typeface="Lucida Console" panose="020B0609040504020204" pitchFamily="49" charset="0"/>
              </a:rPr>
              <a:t>=99999;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const</a:t>
            </a:r>
            <a:r>
              <a:rPr lang="en-US" sz="1200" dirty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int</a:t>
            </a:r>
            <a:r>
              <a:rPr lang="en-US" sz="1200" dirty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errMsgLen</a:t>
            </a:r>
            <a:r>
              <a:rPr lang="en-US" sz="1200" dirty="0">
                <a:latin typeface="Lucida Console" panose="020B0609040504020204" pitchFamily="49" charset="0"/>
              </a:rPr>
              <a:t>=1024;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char </a:t>
            </a:r>
            <a:r>
              <a:rPr lang="en-US" sz="1200" dirty="0" err="1">
                <a:latin typeface="Lucida Console" panose="020B0609040504020204" pitchFamily="49" charset="0"/>
              </a:rPr>
              <a:t>errMsg</a:t>
            </a:r>
            <a:r>
              <a:rPr lang="en-US" sz="1200" dirty="0">
                <a:latin typeface="Lucida Console" panose="020B0609040504020204" pitchFamily="49" charset="0"/>
              </a:rPr>
              <a:t>[1024];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glAttachShader</a:t>
            </a:r>
            <a:r>
              <a:rPr lang="en-US" sz="1200" dirty="0">
                <a:latin typeface="Lucida Console" panose="020B0609040504020204" pitchFamily="49" charset="0"/>
              </a:rPr>
              <a:t>(</a:t>
            </a:r>
            <a:r>
              <a:rPr lang="en-US" sz="1200" dirty="0" err="1">
                <a:latin typeface="Lucida Console" panose="020B0609040504020204" pitchFamily="49" charset="0"/>
              </a:rPr>
              <a:t>programIdent,vertexShaderIdent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glAttachShader</a:t>
            </a:r>
            <a:r>
              <a:rPr lang="en-US" sz="1200" dirty="0">
                <a:latin typeface="Lucida Console" panose="020B0609040504020204" pitchFamily="49" charset="0"/>
              </a:rPr>
              <a:t>(</a:t>
            </a:r>
            <a:r>
              <a:rPr lang="en-US" sz="1200" dirty="0" err="1">
                <a:latin typeface="Lucida Console" panose="020B0609040504020204" pitchFamily="49" charset="0"/>
              </a:rPr>
              <a:t>programIdent,fragmentShaderIdent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glLinkProgram</a:t>
            </a:r>
            <a:r>
              <a:rPr lang="en-US" sz="1200" dirty="0">
                <a:latin typeface="Lucida Console" panose="020B0609040504020204" pitchFamily="49" charset="0"/>
              </a:rPr>
              <a:t>(</a:t>
            </a:r>
            <a:r>
              <a:rPr lang="en-US" sz="1200" dirty="0" err="1">
                <a:latin typeface="Lucida Console" panose="020B0609040504020204" pitchFamily="49" charset="0"/>
              </a:rPr>
              <a:t>programIdent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glGetProgramiv</a:t>
            </a:r>
            <a:r>
              <a:rPr lang="en-US" sz="1200" dirty="0">
                <a:latin typeface="Lucida Console" panose="020B0609040504020204" pitchFamily="49" charset="0"/>
              </a:rPr>
              <a:t>(programIdent,GL_LINK_STATUS,&amp;</a:t>
            </a:r>
            <a:r>
              <a:rPr lang="en-US" sz="1200" dirty="0" err="1">
                <a:latin typeface="Lucida Console" panose="020B0609040504020204" pitchFamily="49" charset="0"/>
              </a:rPr>
              <a:t>linkSta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glGetProgramiv</a:t>
            </a:r>
            <a:r>
              <a:rPr lang="en-US" sz="1200" dirty="0">
                <a:latin typeface="Lucida Console" panose="020B0609040504020204" pitchFamily="49" charset="0"/>
              </a:rPr>
              <a:t>(programIdent,GL_INFO_LOG_LENGTH,&amp;</a:t>
            </a:r>
            <a:r>
              <a:rPr lang="en-US" sz="1200" dirty="0" err="1">
                <a:latin typeface="Lucida Console" panose="020B0609040504020204" pitchFamily="49" charset="0"/>
              </a:rPr>
              <a:t>infoLogLength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glGetProgramInfoLog</a:t>
            </a:r>
            <a:r>
              <a:rPr lang="en-US" sz="1200" dirty="0">
                <a:latin typeface="Lucida Console" panose="020B0609040504020204" pitchFamily="49" charset="0"/>
              </a:rPr>
              <a:t>(programIdent,errMsgLen-1,&amp;acquiredErrMsgLen,errMsg);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printf</a:t>
            </a:r>
            <a:r>
              <a:rPr lang="en-US" sz="1200" dirty="0">
                <a:latin typeface="Lucida Console" panose="020B0609040504020204" pitchFamily="49" charset="0"/>
              </a:rPr>
              <a:t>("Link Status %d Info Log Length %d Error Message Length %d\n",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    </a:t>
            </a:r>
            <a:r>
              <a:rPr lang="en-US" sz="1200" dirty="0" err="1">
                <a:latin typeface="Lucida Console" panose="020B0609040504020204" pitchFamily="49" charset="0"/>
              </a:rPr>
              <a:t>linkSta,infoLogLength,acquiredErrMsgLen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    if(GL_TRUE!=</a:t>
            </a:r>
            <a:r>
              <a:rPr lang="en-US" sz="1200" dirty="0" err="1">
                <a:latin typeface="Lucida Console" panose="020B0609040504020204" pitchFamily="49" charset="0"/>
              </a:rPr>
              <a:t>linkSta</a:t>
            </a:r>
            <a:r>
              <a:rPr lang="en-US" sz="1200" dirty="0">
                <a:latin typeface="Lucida Console" panose="020B0609040504020204" pitchFamily="49" charset="0"/>
              </a:rPr>
              <a:t>)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{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    </a:t>
            </a:r>
            <a:r>
              <a:rPr lang="en-US" sz="1200" dirty="0" err="1">
                <a:latin typeface="Lucida Console" panose="020B0609040504020204" pitchFamily="49" charset="0"/>
              </a:rPr>
              <a:t>printf</a:t>
            </a:r>
            <a:r>
              <a:rPr lang="en-US" sz="1200" dirty="0">
                <a:latin typeface="Lucida Console" panose="020B0609040504020204" pitchFamily="49" charset="0"/>
              </a:rPr>
              <a:t>("Error Message: \</a:t>
            </a:r>
            <a:r>
              <a:rPr lang="en-US" sz="1200" dirty="0" err="1">
                <a:latin typeface="Lucida Console" panose="020B0609040504020204" pitchFamily="49" charset="0"/>
              </a:rPr>
              <a:t>n%s</a:t>
            </a:r>
            <a:r>
              <a:rPr lang="en-US" sz="1200" dirty="0">
                <a:latin typeface="Lucida Console" panose="020B0609040504020204" pitchFamily="49" charset="0"/>
              </a:rPr>
              <a:t>\n",</a:t>
            </a:r>
            <a:r>
              <a:rPr lang="en-US" sz="1200" dirty="0" err="1">
                <a:latin typeface="Lucida Console" panose="020B0609040504020204" pitchFamily="49" charset="0"/>
              </a:rPr>
              <a:t>errMsg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    return false;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}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return true;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}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////////////////////////////////////////////////////////////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void </a:t>
            </a:r>
            <a:r>
              <a:rPr lang="en-US" sz="1200" dirty="0" err="1">
                <a:latin typeface="Lucida Console" panose="020B0609040504020204" pitchFamily="49" charset="0"/>
              </a:rPr>
              <a:t>PassThroughRenderer</a:t>
            </a:r>
            <a:r>
              <a:rPr lang="en-US" sz="1200" dirty="0">
                <a:latin typeface="Lucida Console" panose="020B0609040504020204" pitchFamily="49" charset="0"/>
              </a:rPr>
              <a:t>::</a:t>
            </a:r>
            <a:r>
              <a:rPr lang="en-US" sz="1200" dirty="0" err="1">
                <a:latin typeface="Lucida Console" panose="020B0609040504020204" pitchFamily="49" charset="0"/>
              </a:rPr>
              <a:t>CacheAttributeAndUniformIdent</a:t>
            </a:r>
            <a:r>
              <a:rPr lang="en-US" sz="1200" dirty="0">
                <a:latin typeface="Lucida Console" panose="020B0609040504020204" pitchFamily="49" charset="0"/>
              </a:rPr>
              <a:t>(void)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attribVertexPos</a:t>
            </a:r>
            <a:r>
              <a:rPr lang="en-US" sz="1200" dirty="0">
                <a:latin typeface="Lucida Console" panose="020B0609040504020204" pitchFamily="49" charset="0"/>
              </a:rPr>
              <a:t>=</a:t>
            </a:r>
            <a:r>
              <a:rPr lang="en-US" sz="1200" dirty="0" err="1">
                <a:latin typeface="Lucida Console" panose="020B0609040504020204" pitchFamily="49" charset="0"/>
              </a:rPr>
              <a:t>glGetAttribLocation</a:t>
            </a:r>
            <a:r>
              <a:rPr lang="en-US" sz="1200" dirty="0">
                <a:latin typeface="Lucida Console" panose="020B0609040504020204" pitchFamily="49" charset="0"/>
              </a:rPr>
              <a:t>(</a:t>
            </a:r>
            <a:r>
              <a:rPr lang="en-US" sz="1200" dirty="0" err="1">
                <a:latin typeface="Lucida Console" panose="020B0609040504020204" pitchFamily="49" charset="0"/>
              </a:rPr>
              <a:t>programIdent</a:t>
            </a:r>
            <a:r>
              <a:rPr lang="en-US" sz="1200" dirty="0">
                <a:latin typeface="Lucida Console" panose="020B0609040504020204" pitchFamily="49" charset="0"/>
              </a:rPr>
              <a:t>,"vertex");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printf</a:t>
            </a:r>
            <a:r>
              <a:rPr lang="en-US" sz="1200" dirty="0">
                <a:latin typeface="Lucida Console" panose="020B0609040504020204" pitchFamily="49" charset="0"/>
              </a:rPr>
              <a:t>("Attribute Vertex Position=%d\n",</a:t>
            </a:r>
            <a:r>
              <a:rPr lang="en-US" sz="1200" dirty="0" err="1">
                <a:latin typeface="Lucida Console" panose="020B0609040504020204" pitchFamily="49" charset="0"/>
              </a:rPr>
              <a:t>attribVertexPos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}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</p:txBody>
      </p:sp>
      <p:sp>
        <p:nvSpPr>
          <p:cNvPr id="2" name="Right Brace 1"/>
          <p:cNvSpPr/>
          <p:nvPr/>
        </p:nvSpPr>
        <p:spPr>
          <a:xfrm>
            <a:off x="5129784" y="1563624"/>
            <a:ext cx="73152" cy="548640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166360" y="1514778"/>
            <a:ext cx="28712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Link=Assemble </a:t>
            </a:r>
            <a:r>
              <a:rPr lang="en-US" dirty="0" err="1">
                <a:solidFill>
                  <a:srgbClr val="FF0000"/>
                </a:solidFill>
              </a:rPr>
              <a:t>shaders</a:t>
            </a:r>
            <a:r>
              <a:rPr lang="en-US" dirty="0">
                <a:solidFill>
                  <a:srgbClr val="FF0000"/>
                </a:solidFill>
              </a:rPr>
              <a:t> into a program.</a:t>
            </a:r>
          </a:p>
        </p:txBody>
      </p:sp>
    </p:spTree>
    <p:extLst>
      <p:ext uri="{BB962C8B-B14F-4D97-AF65-F5344CB8AC3E}">
        <p14:creationId xmlns:p14="http://schemas.microsoft.com/office/powerpoint/2010/main" val="409755930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the </a:t>
            </a:r>
            <a:r>
              <a:rPr lang="en-US" dirty="0" err="1"/>
              <a:t>shader</a:t>
            </a:r>
            <a:r>
              <a:rPr lang="en-US" dirty="0"/>
              <a:t> program.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Shader</a:t>
            </a:r>
            <a:r>
              <a:rPr lang="en-US" dirty="0"/>
              <a:t> program must be compiled once.</a:t>
            </a:r>
          </a:p>
          <a:p>
            <a:r>
              <a:rPr lang="en-US" dirty="0"/>
              <a:t>You can compile same program multiple times, but it just wastes GPU memory.</a:t>
            </a:r>
          </a:p>
          <a:p>
            <a:r>
              <a:rPr lang="en-US" dirty="0"/>
              <a:t>Good timing is immediately after when the OpenGL context is ready.</a:t>
            </a:r>
          </a:p>
          <a:p>
            <a:r>
              <a:rPr lang="en-US" dirty="0"/>
              <a:t>Add header inclusion:</a:t>
            </a:r>
          </a:p>
          <a:p>
            <a:endParaRPr lang="en-US" dirty="0"/>
          </a:p>
          <a:p>
            <a:r>
              <a:rPr lang="en-US" dirty="0"/>
              <a:t>Add a member variable:</a:t>
            </a:r>
          </a:p>
          <a:p>
            <a:endParaRPr lang="en-US" dirty="0"/>
          </a:p>
          <a:p>
            <a:r>
              <a:rPr lang="en-US" dirty="0"/>
              <a:t>In Initialize function: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179576" y="3596481"/>
            <a:ext cx="24400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Lucida Console" panose="020B0609040504020204" pitchFamily="49" charset="0"/>
              </a:rPr>
              <a:t>#include “</a:t>
            </a:r>
            <a:r>
              <a:rPr lang="en-US" sz="1400" dirty="0" err="1">
                <a:latin typeface="Lucida Console" panose="020B0609040504020204" pitchFamily="49" charset="0"/>
              </a:rPr>
              <a:t>renderer.h</a:t>
            </a:r>
            <a:r>
              <a:rPr lang="en-US" sz="1400" dirty="0">
                <a:latin typeface="Lucida Console" panose="020B0609040504020204" pitchFamily="49" charset="0"/>
              </a:rPr>
              <a:t>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9576" y="4452969"/>
            <a:ext cx="36215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latin typeface="Lucida Console" panose="020B0609040504020204" pitchFamily="49" charset="0"/>
              </a:rPr>
              <a:t>PassThroughRenderer</a:t>
            </a:r>
            <a:r>
              <a:rPr lang="en-US" sz="1400" dirty="0">
                <a:latin typeface="Lucida Console" panose="020B0609040504020204" pitchFamily="49" charset="0"/>
              </a:rPr>
              <a:t> </a:t>
            </a:r>
            <a:r>
              <a:rPr lang="en-US" sz="1400" dirty="0" err="1">
                <a:latin typeface="Lucida Console" panose="020B0609040504020204" pitchFamily="49" charset="0"/>
              </a:rPr>
              <a:t>passThrough</a:t>
            </a:r>
            <a:r>
              <a:rPr lang="en-US" sz="1400" dirty="0">
                <a:latin typeface="Lucida Console" panose="020B0609040504020204" pitchFamily="49" charset="0"/>
              </a:rPr>
              <a:t>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5672" y="5364321"/>
            <a:ext cx="759534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latin typeface="Lucida Console" panose="020B0609040504020204" pitchFamily="49" charset="0"/>
              </a:rPr>
              <a:t>FsChangeToProgramDir</a:t>
            </a:r>
            <a:r>
              <a:rPr lang="en-US" sz="1400" dirty="0">
                <a:latin typeface="Lucida Console" panose="020B0609040504020204" pitchFamily="49" charset="0"/>
              </a:rPr>
              <a:t>();</a:t>
            </a:r>
          </a:p>
          <a:p>
            <a:r>
              <a:rPr lang="en-US" sz="1400" dirty="0" err="1">
                <a:latin typeface="Lucida Console" panose="020B0609040504020204" pitchFamily="49" charset="0"/>
              </a:rPr>
              <a:t>passThrough.CompileFile</a:t>
            </a:r>
            <a:r>
              <a:rPr lang="en-US" sz="1400" dirty="0">
                <a:latin typeface="Lucida Console" panose="020B0609040504020204" pitchFamily="49" charset="0"/>
              </a:rPr>
              <a:t>("vertex_shader.</a:t>
            </a:r>
            <a:r>
              <a:rPr lang="en-US" sz="1400" dirty="0" err="1">
                <a:latin typeface="Lucida Console" panose="020B0609040504020204" pitchFamily="49" charset="0"/>
              </a:rPr>
              <a:t>glsl</a:t>
            </a:r>
            <a:r>
              <a:rPr lang="en-US" sz="1400" dirty="0">
                <a:latin typeface="Lucida Console" panose="020B0609040504020204" pitchFamily="49" charset="0"/>
              </a:rPr>
              <a:t>","</a:t>
            </a:r>
            <a:r>
              <a:rPr lang="en-US" sz="1400" dirty="0" err="1">
                <a:latin typeface="Lucida Console" panose="020B0609040504020204" pitchFamily="49" charset="0"/>
              </a:rPr>
              <a:t>fragment_shader.glsl</a:t>
            </a:r>
            <a:r>
              <a:rPr lang="en-US" sz="1400" dirty="0">
                <a:latin typeface="Lucida Console" panose="020B0609040504020204" pitchFamily="49" charset="0"/>
              </a:rPr>
              <a:t>");</a:t>
            </a:r>
          </a:p>
          <a:p>
            <a:endParaRPr lang="en-US" sz="14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956397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5488" y="445009"/>
            <a:ext cx="8229600" cy="1383792"/>
          </a:xfrm>
        </p:spPr>
        <p:txBody>
          <a:bodyPr/>
          <a:lstStyle/>
          <a:p>
            <a:r>
              <a:rPr lang="en-US" dirty="0"/>
              <a:t>In Draw function: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25296"/>
            <a:ext cx="7715574" cy="43396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Lucida Console" panose="020B0609040504020204" pitchFamily="49" charset="0"/>
              </a:rPr>
              <a:t>/* virtual */ void </a:t>
            </a:r>
            <a:r>
              <a:rPr lang="en-US" sz="1200" dirty="0" err="1">
                <a:latin typeface="Lucida Console" panose="020B0609040504020204" pitchFamily="49" charset="0"/>
              </a:rPr>
              <a:t>FsLazyWindowApplication</a:t>
            </a:r>
            <a:r>
              <a:rPr lang="en-US" sz="1200" dirty="0">
                <a:latin typeface="Lucida Console" panose="020B0609040504020204" pitchFamily="49" charset="0"/>
              </a:rPr>
              <a:t>::Draw(void)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glClear</a:t>
            </a:r>
            <a:r>
              <a:rPr lang="en-US" sz="1200" dirty="0">
                <a:latin typeface="Lucida Console" panose="020B0609040504020204" pitchFamily="49" charset="0"/>
              </a:rPr>
              <a:t>(GL_COLOR_BUFFER_BIT|GL_DEPTH_BUFFER_BIT);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glUseProgram</a:t>
            </a:r>
            <a:r>
              <a:rPr lang="en-US" sz="1200" dirty="0">
                <a:latin typeface="Lucida Console" panose="020B0609040504020204" pitchFamily="49" charset="0"/>
              </a:rPr>
              <a:t>(</a:t>
            </a:r>
            <a:r>
              <a:rPr lang="en-US" sz="1200" dirty="0" err="1">
                <a:latin typeface="Lucida Console" panose="020B0609040504020204" pitchFamily="49" charset="0"/>
              </a:rPr>
              <a:t>passThrough.programIdent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const</a:t>
            </a:r>
            <a:r>
              <a:rPr lang="en-US" sz="1200" dirty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GLfloat</a:t>
            </a:r>
            <a:r>
              <a:rPr lang="en-US" sz="1200" dirty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vtx</a:t>
            </a:r>
            <a:r>
              <a:rPr lang="en-US" sz="1200" dirty="0">
                <a:latin typeface="Lucida Console" panose="020B0609040504020204" pitchFamily="49" charset="0"/>
              </a:rPr>
              <a:t>[12]=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{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    -1,-1,0,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     1,-1,0,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     1, 1,0,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    -1, 1,0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};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glEnableVertexAttribArray</a:t>
            </a:r>
            <a:r>
              <a:rPr lang="en-US" sz="1200" dirty="0">
                <a:latin typeface="Lucida Console" panose="020B0609040504020204" pitchFamily="49" charset="0"/>
              </a:rPr>
              <a:t>(</a:t>
            </a:r>
            <a:r>
              <a:rPr lang="en-US" sz="1200" dirty="0" err="1">
                <a:latin typeface="Lucida Console" panose="020B0609040504020204" pitchFamily="49" charset="0"/>
              </a:rPr>
              <a:t>passThrough.attribVertexPos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glVertexAttribPointer</a:t>
            </a:r>
            <a:r>
              <a:rPr lang="en-US" sz="1200" dirty="0">
                <a:latin typeface="Lucida Console" panose="020B0609040504020204" pitchFamily="49" charset="0"/>
              </a:rPr>
              <a:t>(passThrough.attribVertexPos,3,GL_FLOAT,GL_FALSE,0,vtx);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glDrawArrays</a:t>
            </a:r>
            <a:r>
              <a:rPr lang="en-US" sz="1200" dirty="0">
                <a:latin typeface="Lucida Console" panose="020B0609040504020204" pitchFamily="49" charset="0"/>
              </a:rPr>
              <a:t>(GL_TRIANGLE_FAN,0,4);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glDisableVertexAttribArray</a:t>
            </a:r>
            <a:r>
              <a:rPr lang="en-US" sz="1200" dirty="0">
                <a:latin typeface="Lucida Console" panose="020B0609040504020204" pitchFamily="49" charset="0"/>
              </a:rPr>
              <a:t>(</a:t>
            </a:r>
            <a:r>
              <a:rPr lang="en-US" sz="1200" dirty="0" err="1">
                <a:latin typeface="Lucida Console" panose="020B0609040504020204" pitchFamily="49" charset="0"/>
              </a:rPr>
              <a:t>passThrough.attribVertexPos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FsSwapBuffers</a:t>
            </a:r>
            <a:r>
              <a:rPr lang="en-US" sz="1200" dirty="0">
                <a:latin typeface="Lucida Console" panose="020B0609040504020204" pitchFamily="49" charset="0"/>
              </a:rPr>
              <a:t>();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needRedraw</a:t>
            </a:r>
            <a:r>
              <a:rPr lang="en-US" sz="1200" dirty="0">
                <a:latin typeface="Lucida Console" panose="020B0609040504020204" pitchFamily="49" charset="0"/>
              </a:rPr>
              <a:t>=false;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}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</p:txBody>
      </p:sp>
      <p:sp>
        <p:nvSpPr>
          <p:cNvPr id="2" name="Right Brace 1"/>
          <p:cNvSpPr/>
          <p:nvPr/>
        </p:nvSpPr>
        <p:spPr>
          <a:xfrm>
            <a:off x="2267712" y="2514600"/>
            <a:ext cx="91440" cy="813816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560320" y="2560320"/>
            <a:ext cx="65196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These values are passed to the attribute called vertex in the vertex </a:t>
            </a:r>
            <a:r>
              <a:rPr lang="en-US" dirty="0" err="1">
                <a:solidFill>
                  <a:srgbClr val="FF0000"/>
                </a:solidFill>
              </a:rPr>
              <a:t>shader</a:t>
            </a:r>
            <a:r>
              <a:rPr lang="en-US" dirty="0">
                <a:solidFill>
                  <a:srgbClr val="FF0000"/>
                </a:solidFill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18148147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Varying the color based on the screen coordinate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 previous example, no information is passed from the vertex </a:t>
            </a:r>
            <a:r>
              <a:rPr lang="en-US" dirty="0" err="1"/>
              <a:t>shader</a:t>
            </a:r>
            <a:r>
              <a:rPr lang="en-US" dirty="0"/>
              <a:t> to the fragment </a:t>
            </a:r>
            <a:r>
              <a:rPr lang="en-US" dirty="0" err="1"/>
              <a:t>shader</a:t>
            </a:r>
            <a:r>
              <a:rPr lang="en-US" dirty="0"/>
              <a:t>.</a:t>
            </a:r>
          </a:p>
          <a:p>
            <a:r>
              <a:rPr lang="en-US" dirty="0"/>
              <a:t>Let’s pass the projected vertex position to the fragment </a:t>
            </a:r>
            <a:r>
              <a:rPr lang="en-US" dirty="0" err="1"/>
              <a:t>shader</a:t>
            </a:r>
            <a:r>
              <a:rPr lang="en-US" dirty="0"/>
              <a:t>, and assign color based on the position.</a:t>
            </a:r>
          </a:p>
          <a:p>
            <a:endParaRPr lang="en-US" dirty="0"/>
          </a:p>
          <a:p>
            <a:r>
              <a:rPr lang="en-US" dirty="0"/>
              <a:t>(Fragment, or pixel, coordinate is available in </a:t>
            </a:r>
            <a:r>
              <a:rPr lang="en-US" dirty="0" err="1"/>
              <a:t>gl_FragCoord</a:t>
            </a:r>
            <a:r>
              <a:rPr lang="en-US" dirty="0"/>
              <a:t> in the fragment </a:t>
            </a:r>
            <a:r>
              <a:rPr lang="en-US" dirty="0" err="1"/>
              <a:t>shader</a:t>
            </a:r>
            <a:r>
              <a:rPr lang="en-US" dirty="0"/>
              <a:t> in newer version of GLSL, but may not supported in some devices.)</a:t>
            </a:r>
          </a:p>
        </p:txBody>
      </p:sp>
    </p:spTree>
    <p:extLst>
      <p:ext uri="{BB962C8B-B14F-4D97-AF65-F5344CB8AC3E}">
        <p14:creationId xmlns:p14="http://schemas.microsoft.com/office/powerpoint/2010/main" val="301553970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Copy </a:t>
            </a:r>
            <a:r>
              <a:rPr lang="en-US" dirty="0" err="1"/>
              <a:t>vertx_shader.glsl</a:t>
            </a:r>
            <a:r>
              <a:rPr lang="en-US" dirty="0"/>
              <a:t> and </a:t>
            </a:r>
            <a:r>
              <a:rPr lang="en-US" dirty="0" err="1"/>
              <a:t>fragment_shader.glsl</a:t>
            </a:r>
            <a:r>
              <a:rPr lang="en-US" dirty="0"/>
              <a:t> to:</a:t>
            </a:r>
          </a:p>
          <a:p>
            <a:pPr lvl="1"/>
            <a:r>
              <a:rPr lang="en-US" dirty="0" err="1"/>
              <a:t>color_by_coord_vertex_shader.glsl</a:t>
            </a:r>
            <a:r>
              <a:rPr lang="en-US" dirty="0"/>
              <a:t>, and</a:t>
            </a:r>
          </a:p>
          <a:p>
            <a:pPr lvl="1"/>
            <a:r>
              <a:rPr lang="en-US" dirty="0" err="1"/>
              <a:t>color_by_coord_fragment_shader.glsl</a:t>
            </a:r>
            <a:endParaRPr lang="en-US" dirty="0"/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64438" y="2450592"/>
            <a:ext cx="4265911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Lucida Console" panose="020B0609040504020204" pitchFamily="49" charset="0"/>
              </a:rPr>
              <a:t>attribute vec3 vertex;</a:t>
            </a:r>
          </a:p>
          <a:p>
            <a:r>
              <a:rPr lang="en-US" sz="1400" dirty="0">
                <a:latin typeface="Lucida Console" panose="020B0609040504020204" pitchFamily="49" charset="0"/>
              </a:rPr>
              <a:t>varying vec4 </a:t>
            </a:r>
            <a:r>
              <a:rPr lang="en-US" sz="1400" dirty="0" err="1">
                <a:latin typeface="Lucida Console" panose="020B0609040504020204" pitchFamily="49" charset="0"/>
              </a:rPr>
              <a:t>projected_vertex</a:t>
            </a:r>
            <a:r>
              <a:rPr lang="en-US" sz="14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400" dirty="0">
                <a:latin typeface="Lucida Console" panose="020B0609040504020204" pitchFamily="49" charset="0"/>
              </a:rPr>
              <a:t>void main()</a:t>
            </a:r>
          </a:p>
          <a:p>
            <a:r>
              <a:rPr lang="en-US" sz="14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400" dirty="0">
                <a:latin typeface="Lucida Console" panose="020B0609040504020204" pitchFamily="49" charset="0"/>
              </a:rPr>
              <a:t>    </a:t>
            </a:r>
            <a:r>
              <a:rPr lang="en-US" sz="1400" dirty="0" err="1">
                <a:latin typeface="Lucida Console" panose="020B0609040504020204" pitchFamily="49" charset="0"/>
              </a:rPr>
              <a:t>projected_vertex</a:t>
            </a:r>
            <a:r>
              <a:rPr lang="en-US" sz="1400" dirty="0">
                <a:latin typeface="Lucida Console" panose="020B0609040504020204" pitchFamily="49" charset="0"/>
              </a:rPr>
              <a:t>=vec4(vertex,1.0);</a:t>
            </a:r>
          </a:p>
          <a:p>
            <a:r>
              <a:rPr lang="en-US" sz="1400" dirty="0">
                <a:latin typeface="Lucida Console" panose="020B0609040504020204" pitchFamily="49" charset="0"/>
              </a:rPr>
              <a:t>    </a:t>
            </a:r>
            <a:r>
              <a:rPr lang="en-US" sz="1400" dirty="0" err="1">
                <a:latin typeface="Lucida Console" panose="020B0609040504020204" pitchFamily="49" charset="0"/>
              </a:rPr>
              <a:t>gl_Position</a:t>
            </a:r>
            <a:r>
              <a:rPr lang="en-US" sz="1400" dirty="0">
                <a:latin typeface="Lucida Console" panose="020B0609040504020204" pitchFamily="49" charset="0"/>
              </a:rPr>
              <a:t>=vec4(vertex,1.0);</a:t>
            </a:r>
          </a:p>
          <a:p>
            <a:r>
              <a:rPr lang="en-US" sz="1400" dirty="0">
                <a:latin typeface="Lucida Console" panose="020B0609040504020204" pitchFamily="49" charset="0"/>
              </a:rPr>
              <a:t>}</a:t>
            </a:r>
          </a:p>
          <a:p>
            <a:endParaRPr lang="en-US" sz="1400" dirty="0">
              <a:latin typeface="Lucida Console" panose="020B06090405040202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4438" y="4742325"/>
            <a:ext cx="4480714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Lucida Console" panose="020B0609040504020204" pitchFamily="49" charset="0"/>
              </a:rPr>
              <a:t>varying vec4 </a:t>
            </a:r>
            <a:r>
              <a:rPr lang="en-US" sz="1400" dirty="0" err="1">
                <a:latin typeface="Lucida Console" panose="020B0609040504020204" pitchFamily="49" charset="0"/>
              </a:rPr>
              <a:t>projected_vertex</a:t>
            </a:r>
            <a:r>
              <a:rPr lang="en-US" sz="14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400" dirty="0">
                <a:latin typeface="Lucida Console" panose="020B0609040504020204" pitchFamily="49" charset="0"/>
              </a:rPr>
              <a:t>void main()</a:t>
            </a:r>
          </a:p>
          <a:p>
            <a:r>
              <a:rPr lang="en-US" sz="14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400" dirty="0">
                <a:latin typeface="Lucida Console" panose="020B0609040504020204" pitchFamily="49" charset="0"/>
              </a:rPr>
              <a:t>    </a:t>
            </a:r>
            <a:r>
              <a:rPr lang="en-US" sz="1400" dirty="0" err="1">
                <a:latin typeface="Lucida Console" panose="020B0609040504020204" pitchFamily="49" charset="0"/>
              </a:rPr>
              <a:t>gl_FragColor</a:t>
            </a:r>
            <a:r>
              <a:rPr lang="en-US" sz="1400" dirty="0">
                <a:latin typeface="Lucida Console" panose="020B0609040504020204" pitchFamily="49" charset="0"/>
              </a:rPr>
              <a:t>=</a:t>
            </a:r>
            <a:r>
              <a:rPr lang="en-US" sz="1400" dirty="0" err="1">
                <a:latin typeface="Lucida Console" panose="020B0609040504020204" pitchFamily="49" charset="0"/>
              </a:rPr>
              <a:t>projected_vertex</a:t>
            </a:r>
            <a:r>
              <a:rPr lang="en-US" sz="14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400" dirty="0">
                <a:latin typeface="Lucida Console" panose="020B0609040504020204" pitchFamily="49" charset="0"/>
              </a:rPr>
              <a:t>    </a:t>
            </a:r>
            <a:r>
              <a:rPr lang="en-US" sz="1400" dirty="0" err="1">
                <a:latin typeface="Lucida Console" panose="020B0609040504020204" pitchFamily="49" charset="0"/>
              </a:rPr>
              <a:t>gl_FragColor</a:t>
            </a:r>
            <a:r>
              <a:rPr lang="en-US" sz="1400" dirty="0">
                <a:latin typeface="Lucida Console" panose="020B0609040504020204" pitchFamily="49" charset="0"/>
              </a:rPr>
              <a:t>+=vec4(1.0,1.0,1.0,0.0);</a:t>
            </a:r>
          </a:p>
          <a:p>
            <a:r>
              <a:rPr lang="en-US" sz="1400" dirty="0">
                <a:latin typeface="Lucida Console" panose="020B0609040504020204" pitchFamily="49" charset="0"/>
              </a:rPr>
              <a:t>    </a:t>
            </a:r>
            <a:r>
              <a:rPr lang="en-US" sz="1400" dirty="0" err="1">
                <a:latin typeface="Lucida Console" panose="020B0609040504020204" pitchFamily="49" charset="0"/>
              </a:rPr>
              <a:t>gl_FragColor</a:t>
            </a:r>
            <a:r>
              <a:rPr lang="en-US" sz="1400" dirty="0">
                <a:latin typeface="Lucida Console" panose="020B0609040504020204" pitchFamily="49" charset="0"/>
              </a:rPr>
              <a:t>/=vec4(2.0,2.0,2.0,1.0);</a:t>
            </a:r>
          </a:p>
          <a:p>
            <a:r>
              <a:rPr lang="en-US" sz="1400" dirty="0">
                <a:latin typeface="Lucida Console" panose="020B0609040504020204" pitchFamily="49" charset="0"/>
              </a:rPr>
              <a:t>    </a:t>
            </a:r>
            <a:r>
              <a:rPr lang="en-US" sz="1400" dirty="0" err="1">
                <a:latin typeface="Lucida Console" panose="020B0609040504020204" pitchFamily="49" charset="0"/>
              </a:rPr>
              <a:t>gl_FragColor.w</a:t>
            </a:r>
            <a:r>
              <a:rPr lang="en-US" sz="1400" dirty="0">
                <a:latin typeface="Lucida Console" panose="020B0609040504020204" pitchFamily="49" charset="0"/>
              </a:rPr>
              <a:t>=1.0;</a:t>
            </a:r>
          </a:p>
          <a:p>
            <a:r>
              <a:rPr lang="en-US" sz="1400" dirty="0">
                <a:latin typeface="Lucida Console" panose="020B0609040504020204" pitchFamily="49" charset="0"/>
              </a:rPr>
              <a:t>}</a:t>
            </a:r>
          </a:p>
        </p:txBody>
      </p:sp>
      <p:cxnSp>
        <p:nvCxnSpPr>
          <p:cNvPr id="7" name="Straight Arrow Connector 6"/>
          <p:cNvCxnSpPr>
            <a:endCxn id="4" idx="3"/>
          </p:cNvCxnSpPr>
          <p:nvPr/>
        </p:nvCxnSpPr>
        <p:spPr>
          <a:xfrm flipH="1">
            <a:off x="4430349" y="3118104"/>
            <a:ext cx="516555" cy="24042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H="1" flipV="1">
            <a:off x="3474720" y="2862072"/>
            <a:ext cx="1426464" cy="6400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093208" y="2752344"/>
            <a:ext cx="37811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Vertex </a:t>
            </a:r>
            <a:r>
              <a:rPr lang="en-US" dirty="0" err="1">
                <a:solidFill>
                  <a:srgbClr val="FF0000"/>
                </a:solidFill>
              </a:rPr>
              <a:t>Shader</a:t>
            </a:r>
            <a:r>
              <a:rPr lang="en-US" dirty="0">
                <a:solidFill>
                  <a:srgbClr val="FF0000"/>
                </a:solidFill>
              </a:rPr>
              <a:t>.  Output </a:t>
            </a:r>
            <a:r>
              <a:rPr lang="en-US" dirty="0" err="1">
                <a:solidFill>
                  <a:srgbClr val="FF0000"/>
                </a:solidFill>
              </a:rPr>
              <a:t>gl_Position</a:t>
            </a:r>
            <a:r>
              <a:rPr lang="en-US" dirty="0">
                <a:solidFill>
                  <a:srgbClr val="FF0000"/>
                </a:solidFill>
              </a:rPr>
              <a:t> and </a:t>
            </a:r>
            <a:r>
              <a:rPr lang="en-US" dirty="0" err="1">
                <a:solidFill>
                  <a:srgbClr val="FF0000"/>
                </a:solidFill>
              </a:rPr>
              <a:t>projected_vertex</a:t>
            </a:r>
            <a:r>
              <a:rPr lang="en-US" dirty="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93208" y="5003935"/>
            <a:ext cx="37811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Fragment </a:t>
            </a:r>
            <a:r>
              <a:rPr lang="en-US" dirty="0" err="1">
                <a:solidFill>
                  <a:srgbClr val="FF0000"/>
                </a:solidFill>
              </a:rPr>
              <a:t>Shader</a:t>
            </a:r>
            <a:r>
              <a:rPr lang="en-US" dirty="0">
                <a:solidFill>
                  <a:srgbClr val="FF0000"/>
                </a:solidFill>
              </a:rPr>
              <a:t>.  Calculate pixel color based on </a:t>
            </a:r>
            <a:r>
              <a:rPr lang="en-US" dirty="0" err="1">
                <a:solidFill>
                  <a:srgbClr val="FF0000"/>
                </a:solidFill>
              </a:rPr>
              <a:t>te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projected_vertex</a:t>
            </a:r>
            <a:r>
              <a:rPr lang="en-US" dirty="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12" name="Right Brace 11"/>
          <p:cNvSpPr/>
          <p:nvPr/>
        </p:nvSpPr>
        <p:spPr>
          <a:xfrm>
            <a:off x="4572000" y="5385816"/>
            <a:ext cx="45719" cy="892747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/>
          <p:cNvCxnSpPr>
            <a:stCxn id="11" idx="1"/>
          </p:cNvCxnSpPr>
          <p:nvPr/>
        </p:nvCxnSpPr>
        <p:spPr>
          <a:xfrm flipH="1">
            <a:off x="4645152" y="5327101"/>
            <a:ext cx="448056" cy="56871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454472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this case, since the input to the vertex </a:t>
            </a:r>
            <a:r>
              <a:rPr lang="en-US" dirty="0" err="1"/>
              <a:t>shader</a:t>
            </a:r>
            <a:r>
              <a:rPr lang="en-US" dirty="0"/>
              <a:t> is same as the pass-through renderer, only modification needed in the main.cpp is: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17904" y="3596481"/>
            <a:ext cx="549220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latin typeface="Lucida Console" panose="020B0609040504020204" pitchFamily="49" charset="0"/>
              </a:rPr>
              <a:t>passThrough.CompileFile</a:t>
            </a:r>
            <a:r>
              <a:rPr lang="en-US" sz="1600" dirty="0">
                <a:latin typeface="Lucida Console" panose="020B0609040504020204" pitchFamily="49" charset="0"/>
              </a:rPr>
              <a:t>(</a:t>
            </a:r>
          </a:p>
          <a:p>
            <a:r>
              <a:rPr lang="en-US" sz="1600" dirty="0">
                <a:latin typeface="Lucida Console" panose="020B0609040504020204" pitchFamily="49" charset="0"/>
              </a:rPr>
              <a:t>    "</a:t>
            </a:r>
            <a:r>
              <a:rPr lang="en-US" sz="1600" dirty="0" err="1">
                <a:latin typeface="Lucida Console" panose="020B0609040504020204" pitchFamily="49" charset="0"/>
              </a:rPr>
              <a:t>color_by_coord_vertex_shader.glsl</a:t>
            </a:r>
            <a:r>
              <a:rPr lang="en-US" sz="1600" dirty="0">
                <a:latin typeface="Lucida Console" panose="020B0609040504020204" pitchFamily="49" charset="0"/>
              </a:rPr>
              <a:t>",</a:t>
            </a:r>
          </a:p>
          <a:p>
            <a:r>
              <a:rPr lang="en-US" sz="1600" dirty="0">
                <a:latin typeface="Lucida Console" panose="020B0609040504020204" pitchFamily="49" charset="0"/>
              </a:rPr>
              <a:t>    "color_by_coord_fragment_shader.glsl");</a:t>
            </a:r>
          </a:p>
          <a:p>
            <a:endParaRPr lang="en-US" sz="1600" dirty="0">
              <a:latin typeface="Lucida Console" panose="020B06090405040202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92608" y="2403378"/>
            <a:ext cx="87014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latin typeface="Lucida Console" panose="020B0609040504020204" pitchFamily="49" charset="0"/>
              </a:rPr>
              <a:t>passThrough.CompileFile</a:t>
            </a:r>
            <a:r>
              <a:rPr lang="en-US" sz="1600" dirty="0">
                <a:latin typeface="Lucida Console" panose="020B0609040504020204" pitchFamily="49" charset="0"/>
              </a:rPr>
              <a:t>("vertex_shader.</a:t>
            </a:r>
            <a:r>
              <a:rPr lang="en-US" sz="1600" dirty="0" err="1">
                <a:latin typeface="Lucida Console" panose="020B0609040504020204" pitchFamily="49" charset="0"/>
              </a:rPr>
              <a:t>glsl</a:t>
            </a:r>
            <a:r>
              <a:rPr lang="en-US" sz="1600" dirty="0">
                <a:latin typeface="Lucida Console" panose="020B0609040504020204" pitchFamily="49" charset="0"/>
              </a:rPr>
              <a:t>","</a:t>
            </a:r>
            <a:r>
              <a:rPr lang="en-US" sz="1600" dirty="0" err="1">
                <a:latin typeface="Lucida Console" panose="020B0609040504020204" pitchFamily="49" charset="0"/>
              </a:rPr>
              <a:t>fragment_shader.glsl</a:t>
            </a:r>
            <a:r>
              <a:rPr lang="en-US" sz="1600" dirty="0">
                <a:latin typeface="Lucida Console" panose="020B0609040504020204" pitchFamily="49" charset="0"/>
              </a:rPr>
              <a:t>");</a:t>
            </a:r>
          </a:p>
          <a:p>
            <a:endParaRPr lang="en-US" sz="1600" dirty="0">
              <a:latin typeface="Lucida Console" panose="020B0609040504020204" pitchFamily="49" charset="0"/>
            </a:endParaRPr>
          </a:p>
        </p:txBody>
      </p:sp>
      <p:sp>
        <p:nvSpPr>
          <p:cNvPr id="6" name="Down Arrow 5"/>
          <p:cNvSpPr/>
          <p:nvPr/>
        </p:nvSpPr>
        <p:spPr>
          <a:xfrm>
            <a:off x="3785616" y="3145536"/>
            <a:ext cx="478392" cy="29854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31631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Color as Vertex Attribute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 previous example, a vertex had only one attribute, which is an xyz coordinate.</a:t>
            </a:r>
          </a:p>
          <a:p>
            <a:r>
              <a:rPr lang="en-US" dirty="0"/>
              <a:t>In this example, a vertex has two attributes, an xyz coordinate and a </a:t>
            </a:r>
            <a:r>
              <a:rPr lang="en-US" dirty="0" err="1"/>
              <a:t>rgba</a:t>
            </a:r>
            <a:r>
              <a:rPr lang="en-US" dirty="0"/>
              <a:t> color.</a:t>
            </a:r>
          </a:p>
        </p:txBody>
      </p:sp>
    </p:spTree>
    <p:extLst>
      <p:ext uri="{BB962C8B-B14F-4D97-AF65-F5344CB8AC3E}">
        <p14:creationId xmlns:p14="http://schemas.microsoft.com/office/powerpoint/2010/main" val="90520313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Color as Vertex Attribute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 data directory, </a:t>
            </a:r>
            <a:r>
              <a:rPr lang="en-US" dirty="0" err="1"/>
              <a:t>svn</a:t>
            </a:r>
            <a:r>
              <a:rPr lang="en-US" dirty="0"/>
              <a:t>-copy </a:t>
            </a:r>
            <a:r>
              <a:rPr lang="en-US" dirty="0" err="1"/>
              <a:t>fragment_shader.glsl</a:t>
            </a:r>
            <a:r>
              <a:rPr lang="en-US" dirty="0"/>
              <a:t> and </a:t>
            </a:r>
            <a:r>
              <a:rPr lang="en-US" dirty="0" err="1"/>
              <a:t>vertex_shader.glsl</a:t>
            </a:r>
            <a:r>
              <a:rPr lang="en-US" dirty="0"/>
              <a:t> to:</a:t>
            </a:r>
          </a:p>
          <a:p>
            <a:pPr lvl="1"/>
            <a:r>
              <a:rPr lang="en-US" dirty="0" err="1"/>
              <a:t>color_as_attribute_vertex_shader.glsl</a:t>
            </a:r>
            <a:r>
              <a:rPr lang="en-US" dirty="0"/>
              <a:t>, and</a:t>
            </a:r>
          </a:p>
          <a:p>
            <a:pPr lvl="1"/>
            <a:r>
              <a:rPr lang="en-US" dirty="0" err="1"/>
              <a:t>color_as_attribute_fragment_shader.glsl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291317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38912" y="868680"/>
            <a:ext cx="3252814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Lucida Console" panose="020B0609040504020204" pitchFamily="49" charset="0"/>
              </a:rPr>
              <a:t>attribute vec3 vertex;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attribute vec4 color;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varying vec4 </a:t>
            </a:r>
            <a:r>
              <a:rPr lang="en-US" sz="1200" dirty="0" err="1">
                <a:latin typeface="Lucida Console" panose="020B0609040504020204" pitchFamily="49" charset="0"/>
              </a:rPr>
              <a:t>colorOut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void main()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colorOut</a:t>
            </a:r>
            <a:r>
              <a:rPr lang="en-US" sz="1200" dirty="0">
                <a:latin typeface="Lucida Console" panose="020B0609040504020204" pitchFamily="49" charset="0"/>
              </a:rPr>
              <a:t>=color;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gl_Position</a:t>
            </a:r>
            <a:r>
              <a:rPr lang="en-US" sz="1200" dirty="0">
                <a:latin typeface="Lucida Console" panose="020B0609040504020204" pitchFamily="49" charset="0"/>
              </a:rPr>
              <a:t>=vec4(vertex,1.0);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}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38912" y="3813048"/>
            <a:ext cx="260199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Lucida Console" panose="020B0609040504020204" pitchFamily="49" charset="0"/>
              </a:rPr>
              <a:t>varying vec4 </a:t>
            </a:r>
            <a:r>
              <a:rPr lang="en-US" sz="1200" dirty="0" err="1">
                <a:latin typeface="Lucida Console" panose="020B0609040504020204" pitchFamily="49" charset="0"/>
              </a:rPr>
              <a:t>colorOut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void main()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gl_FragColor</a:t>
            </a:r>
            <a:r>
              <a:rPr lang="en-US" sz="1200" dirty="0">
                <a:latin typeface="Lucida Console" panose="020B0609040504020204" pitchFamily="49" charset="0"/>
              </a:rPr>
              <a:t>=</a:t>
            </a:r>
            <a:r>
              <a:rPr lang="en-US" sz="1200" dirty="0" err="1">
                <a:latin typeface="Lucida Console" panose="020B0609040504020204" pitchFamily="49" charset="0"/>
              </a:rPr>
              <a:t>colorOut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}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38912" y="429768"/>
            <a:ext cx="1608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Vertex </a:t>
            </a:r>
            <a:r>
              <a:rPr lang="en-US" dirty="0" err="1"/>
              <a:t>shader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38912" y="3352800"/>
            <a:ext cx="1941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Fragment </a:t>
            </a:r>
            <a:r>
              <a:rPr lang="en-US" dirty="0" err="1"/>
              <a:t>shader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310128" y="4306824"/>
            <a:ext cx="42245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Just passing </a:t>
            </a:r>
            <a:r>
              <a:rPr lang="en-US" dirty="0" err="1">
                <a:solidFill>
                  <a:srgbClr val="FF0000"/>
                </a:solidFill>
              </a:rPr>
              <a:t>colorOut</a:t>
            </a:r>
            <a:r>
              <a:rPr lang="en-US" dirty="0">
                <a:solidFill>
                  <a:srgbClr val="FF0000"/>
                </a:solidFill>
              </a:rPr>
              <a:t> from the vertex </a:t>
            </a:r>
            <a:r>
              <a:rPr lang="en-US" dirty="0" err="1">
                <a:solidFill>
                  <a:srgbClr val="FF0000"/>
                </a:solidFill>
              </a:rPr>
              <a:t>shader</a:t>
            </a:r>
            <a:r>
              <a:rPr lang="en-US" dirty="0">
                <a:solidFill>
                  <a:srgbClr val="FF0000"/>
                </a:solidFill>
              </a:rPr>
              <a:t> to the pixel color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10128" y="1021080"/>
            <a:ext cx="42245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Just passing attribute color to the </a:t>
            </a:r>
            <a:r>
              <a:rPr lang="en-US" dirty="0" err="1">
                <a:solidFill>
                  <a:srgbClr val="FF0000"/>
                </a:solidFill>
              </a:rPr>
              <a:t>colorOut</a:t>
            </a:r>
            <a:r>
              <a:rPr lang="en-US" dirty="0">
                <a:solidFill>
                  <a:srgbClr val="FF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5947794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</a:t>
            </a:r>
            <a:r>
              <a:rPr lang="en-US" dirty="0" err="1"/>
              <a:t>renderer.h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In renderer.cpp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545336"/>
            <a:ext cx="5876930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Lucida Console" panose="020B0609040504020204" pitchFamily="49" charset="0"/>
              </a:rPr>
              <a:t>class </a:t>
            </a:r>
            <a:r>
              <a:rPr lang="en-US" sz="1400" dirty="0" err="1">
                <a:latin typeface="Lucida Console" panose="020B0609040504020204" pitchFamily="49" charset="0"/>
              </a:rPr>
              <a:t>ColorAsAttributeRenderer</a:t>
            </a:r>
            <a:r>
              <a:rPr lang="en-US" sz="1400" dirty="0">
                <a:latin typeface="Lucida Console" panose="020B0609040504020204" pitchFamily="49" charset="0"/>
              </a:rPr>
              <a:t> : public </a:t>
            </a:r>
            <a:r>
              <a:rPr lang="en-US" sz="1400" dirty="0" err="1">
                <a:latin typeface="Lucida Console" panose="020B0609040504020204" pitchFamily="49" charset="0"/>
              </a:rPr>
              <a:t>RendererBase</a:t>
            </a:r>
            <a:endParaRPr lang="en-US" sz="1400" dirty="0">
              <a:latin typeface="Lucida Console" panose="020B0609040504020204" pitchFamily="49" charset="0"/>
            </a:endParaRPr>
          </a:p>
          <a:p>
            <a:r>
              <a:rPr lang="en-US" sz="14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400" dirty="0">
                <a:latin typeface="Lucida Console" panose="020B0609040504020204" pitchFamily="49" charset="0"/>
              </a:rPr>
              <a:t>public:</a:t>
            </a:r>
          </a:p>
          <a:p>
            <a:r>
              <a:rPr lang="en-US" sz="1400" dirty="0">
                <a:latin typeface="Lucida Console" panose="020B0609040504020204" pitchFamily="49" charset="0"/>
              </a:rPr>
              <a:t>    </a:t>
            </a:r>
            <a:r>
              <a:rPr lang="en-US" sz="1400" dirty="0" err="1">
                <a:latin typeface="Lucida Console" panose="020B0609040504020204" pitchFamily="49" charset="0"/>
              </a:rPr>
              <a:t>GLuint</a:t>
            </a:r>
            <a:r>
              <a:rPr lang="en-US" sz="1400" dirty="0">
                <a:latin typeface="Lucida Console" panose="020B0609040504020204" pitchFamily="49" charset="0"/>
              </a:rPr>
              <a:t> </a:t>
            </a:r>
            <a:r>
              <a:rPr lang="en-US" sz="1400" dirty="0" err="1">
                <a:latin typeface="Lucida Console" panose="020B0609040504020204" pitchFamily="49" charset="0"/>
              </a:rPr>
              <a:t>attribVertexPos</a:t>
            </a:r>
            <a:r>
              <a:rPr lang="en-US" sz="14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400" dirty="0">
                <a:latin typeface="Lucida Console" panose="020B0609040504020204" pitchFamily="49" charset="0"/>
              </a:rPr>
              <a:t>    </a:t>
            </a:r>
            <a:r>
              <a:rPr lang="en-US" sz="1400" dirty="0" err="1">
                <a:latin typeface="Lucida Console" panose="020B0609040504020204" pitchFamily="49" charset="0"/>
              </a:rPr>
              <a:t>GLuint</a:t>
            </a:r>
            <a:r>
              <a:rPr lang="en-US" sz="1400" dirty="0">
                <a:latin typeface="Lucida Console" panose="020B0609040504020204" pitchFamily="49" charset="0"/>
              </a:rPr>
              <a:t> </a:t>
            </a:r>
            <a:r>
              <a:rPr lang="en-US" sz="1400" dirty="0" err="1">
                <a:latin typeface="Lucida Console" panose="020B0609040504020204" pitchFamily="49" charset="0"/>
              </a:rPr>
              <a:t>attribColorPos</a:t>
            </a:r>
            <a:r>
              <a:rPr lang="en-US" sz="14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400" dirty="0">
                <a:latin typeface="Lucida Console" panose="020B0609040504020204" pitchFamily="49" charset="0"/>
              </a:rPr>
              <a:t>    virtual void </a:t>
            </a:r>
            <a:r>
              <a:rPr lang="en-US" sz="1400" dirty="0" err="1">
                <a:latin typeface="Lucida Console" panose="020B0609040504020204" pitchFamily="49" charset="0"/>
              </a:rPr>
              <a:t>CacheAttributeAndUniformIdent</a:t>
            </a:r>
            <a:r>
              <a:rPr lang="en-US" sz="1400" dirty="0">
                <a:latin typeface="Lucida Console" panose="020B0609040504020204" pitchFamily="49" charset="0"/>
              </a:rPr>
              <a:t>(void);</a:t>
            </a:r>
          </a:p>
          <a:p>
            <a:r>
              <a:rPr lang="en-US" sz="1400" dirty="0">
                <a:latin typeface="Lucida Console" panose="020B0609040504020204" pitchFamily="49" charset="0"/>
              </a:rPr>
              <a:t>};</a:t>
            </a:r>
          </a:p>
          <a:p>
            <a:endParaRPr lang="en-US" sz="1400" dirty="0">
              <a:latin typeface="Lucida Console" panose="020B06090405040202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6112" y="3736848"/>
            <a:ext cx="7444667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Lucida Console" panose="020B0609040504020204" pitchFamily="49" charset="0"/>
              </a:rPr>
              <a:t>void </a:t>
            </a:r>
            <a:r>
              <a:rPr lang="en-US" sz="1400" dirty="0" err="1">
                <a:latin typeface="Lucida Console" panose="020B0609040504020204" pitchFamily="49" charset="0"/>
              </a:rPr>
              <a:t>ColorAsAttributeRenderer</a:t>
            </a:r>
            <a:r>
              <a:rPr lang="en-US" sz="1400" dirty="0">
                <a:latin typeface="Lucida Console" panose="020B0609040504020204" pitchFamily="49" charset="0"/>
              </a:rPr>
              <a:t>::</a:t>
            </a:r>
            <a:r>
              <a:rPr lang="en-US" sz="1400" dirty="0" err="1">
                <a:latin typeface="Lucida Console" panose="020B0609040504020204" pitchFamily="49" charset="0"/>
              </a:rPr>
              <a:t>CacheAttributeAndUniformIdent</a:t>
            </a:r>
            <a:r>
              <a:rPr lang="en-US" sz="1400" dirty="0">
                <a:latin typeface="Lucida Console" panose="020B0609040504020204" pitchFamily="49" charset="0"/>
              </a:rPr>
              <a:t>(void)</a:t>
            </a:r>
          </a:p>
          <a:p>
            <a:r>
              <a:rPr lang="en-US" sz="14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400" dirty="0">
                <a:latin typeface="Lucida Console" panose="020B0609040504020204" pitchFamily="49" charset="0"/>
              </a:rPr>
              <a:t>    </a:t>
            </a:r>
            <a:r>
              <a:rPr lang="en-US" sz="1400" dirty="0" err="1">
                <a:latin typeface="Lucida Console" panose="020B0609040504020204" pitchFamily="49" charset="0"/>
              </a:rPr>
              <a:t>attribVertexPos</a:t>
            </a:r>
            <a:r>
              <a:rPr lang="en-US" sz="1400" dirty="0">
                <a:latin typeface="Lucida Console" panose="020B0609040504020204" pitchFamily="49" charset="0"/>
              </a:rPr>
              <a:t>=</a:t>
            </a:r>
            <a:r>
              <a:rPr lang="en-US" sz="1400" dirty="0" err="1">
                <a:latin typeface="Lucida Console" panose="020B0609040504020204" pitchFamily="49" charset="0"/>
              </a:rPr>
              <a:t>glGetAttribLocation</a:t>
            </a:r>
            <a:r>
              <a:rPr lang="en-US" sz="1400" dirty="0">
                <a:latin typeface="Lucida Console" panose="020B0609040504020204" pitchFamily="49" charset="0"/>
              </a:rPr>
              <a:t>(</a:t>
            </a:r>
            <a:r>
              <a:rPr lang="en-US" sz="1400" dirty="0" err="1">
                <a:latin typeface="Lucida Console" panose="020B0609040504020204" pitchFamily="49" charset="0"/>
              </a:rPr>
              <a:t>programIdent</a:t>
            </a:r>
            <a:r>
              <a:rPr lang="en-US" sz="1400" dirty="0">
                <a:latin typeface="Lucida Console" panose="020B0609040504020204" pitchFamily="49" charset="0"/>
              </a:rPr>
              <a:t>,"vertex");</a:t>
            </a:r>
          </a:p>
          <a:p>
            <a:r>
              <a:rPr lang="en-US" sz="1400" dirty="0">
                <a:latin typeface="Lucida Console" panose="020B0609040504020204" pitchFamily="49" charset="0"/>
              </a:rPr>
              <a:t>    </a:t>
            </a:r>
            <a:r>
              <a:rPr lang="en-US" sz="1400" dirty="0" err="1">
                <a:latin typeface="Lucida Console" panose="020B0609040504020204" pitchFamily="49" charset="0"/>
              </a:rPr>
              <a:t>printf</a:t>
            </a:r>
            <a:r>
              <a:rPr lang="en-US" sz="1400" dirty="0">
                <a:latin typeface="Lucida Console" panose="020B0609040504020204" pitchFamily="49" charset="0"/>
              </a:rPr>
              <a:t>("Attribute Vertex Position=%d\n",</a:t>
            </a:r>
            <a:r>
              <a:rPr lang="en-US" sz="1400" dirty="0" err="1">
                <a:latin typeface="Lucida Console" panose="020B0609040504020204" pitchFamily="49" charset="0"/>
              </a:rPr>
              <a:t>attribVertexPos</a:t>
            </a:r>
            <a:r>
              <a:rPr lang="en-US" sz="14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400" dirty="0">
                <a:latin typeface="Lucida Console" panose="020B0609040504020204" pitchFamily="49" charset="0"/>
              </a:rPr>
              <a:t>    </a:t>
            </a:r>
            <a:r>
              <a:rPr lang="en-US" sz="1400" dirty="0" err="1">
                <a:latin typeface="Lucida Console" panose="020B0609040504020204" pitchFamily="49" charset="0"/>
              </a:rPr>
              <a:t>attribColorPos</a:t>
            </a:r>
            <a:r>
              <a:rPr lang="en-US" sz="1400" dirty="0">
                <a:latin typeface="Lucida Console" panose="020B0609040504020204" pitchFamily="49" charset="0"/>
              </a:rPr>
              <a:t>=</a:t>
            </a:r>
            <a:r>
              <a:rPr lang="en-US" sz="1400" dirty="0" err="1">
                <a:latin typeface="Lucida Console" panose="020B0609040504020204" pitchFamily="49" charset="0"/>
              </a:rPr>
              <a:t>glGetAttribLocation</a:t>
            </a:r>
            <a:r>
              <a:rPr lang="en-US" sz="1400" dirty="0">
                <a:latin typeface="Lucida Console" panose="020B0609040504020204" pitchFamily="49" charset="0"/>
              </a:rPr>
              <a:t>(</a:t>
            </a:r>
            <a:r>
              <a:rPr lang="en-US" sz="1400" dirty="0" err="1">
                <a:latin typeface="Lucida Console" panose="020B0609040504020204" pitchFamily="49" charset="0"/>
              </a:rPr>
              <a:t>programIdent</a:t>
            </a:r>
            <a:r>
              <a:rPr lang="en-US" sz="1400" dirty="0">
                <a:latin typeface="Lucida Console" panose="020B0609040504020204" pitchFamily="49" charset="0"/>
              </a:rPr>
              <a:t>,"color");</a:t>
            </a:r>
          </a:p>
          <a:p>
            <a:r>
              <a:rPr lang="en-US" sz="1400" dirty="0">
                <a:latin typeface="Lucida Console" panose="020B0609040504020204" pitchFamily="49" charset="0"/>
              </a:rPr>
              <a:t>    </a:t>
            </a:r>
            <a:r>
              <a:rPr lang="en-US" sz="1400" dirty="0" err="1">
                <a:latin typeface="Lucida Console" panose="020B0609040504020204" pitchFamily="49" charset="0"/>
              </a:rPr>
              <a:t>printf</a:t>
            </a:r>
            <a:r>
              <a:rPr lang="en-US" sz="1400" dirty="0">
                <a:latin typeface="Lucida Console" panose="020B0609040504020204" pitchFamily="49" charset="0"/>
              </a:rPr>
              <a:t>("Attribute Color Position=%d\n",</a:t>
            </a:r>
            <a:r>
              <a:rPr lang="en-US" sz="1400" dirty="0" err="1">
                <a:latin typeface="Lucida Console" panose="020B0609040504020204" pitchFamily="49" charset="0"/>
              </a:rPr>
              <a:t>attribColorPos</a:t>
            </a:r>
            <a:r>
              <a:rPr lang="en-US" sz="14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400" dirty="0">
                <a:latin typeface="Lucida Console" panose="020B0609040504020204" pitchFamily="49" charset="0"/>
              </a:rPr>
              <a:t>}</a:t>
            </a:r>
          </a:p>
          <a:p>
            <a:endParaRPr lang="en-US" sz="14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980871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36645"/>
            <a:ext cx="8229600" cy="5059363"/>
          </a:xfrm>
        </p:spPr>
        <p:txBody>
          <a:bodyPr/>
          <a:lstStyle/>
          <a:p>
            <a:r>
              <a:rPr lang="en-US" dirty="0"/>
              <a:t>Add a member variable:</a:t>
            </a:r>
          </a:p>
          <a:p>
            <a:pPr lvl="4"/>
            <a:endParaRPr lang="en-US" dirty="0"/>
          </a:p>
          <a:p>
            <a:r>
              <a:rPr lang="en-US" dirty="0"/>
              <a:t>In Initialize</a:t>
            </a:r>
          </a:p>
          <a:p>
            <a:pPr lvl="2"/>
            <a:endParaRPr lang="en-US" dirty="0"/>
          </a:p>
          <a:p>
            <a:pPr lvl="3"/>
            <a:endParaRPr lang="en-US" dirty="0"/>
          </a:p>
          <a:p>
            <a:r>
              <a:rPr lang="en-US" dirty="0"/>
              <a:t>In Draw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" y="765367"/>
            <a:ext cx="43733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latin typeface="Lucida Console" panose="020B0609040504020204" pitchFamily="49" charset="0"/>
              </a:rPr>
              <a:t>ColorAsAttributeRenderer</a:t>
            </a:r>
            <a:r>
              <a:rPr lang="en-US" sz="1400" dirty="0">
                <a:latin typeface="Lucida Console" panose="020B0609040504020204" pitchFamily="49" charset="0"/>
              </a:rPr>
              <a:t> </a:t>
            </a:r>
            <a:r>
              <a:rPr lang="en-US" sz="1400" dirty="0" err="1">
                <a:latin typeface="Lucida Console" panose="020B0609040504020204" pitchFamily="49" charset="0"/>
              </a:rPr>
              <a:t>colorAsAttrib</a:t>
            </a:r>
            <a:r>
              <a:rPr lang="en-US" sz="1400" dirty="0">
                <a:latin typeface="Lucida Console" panose="020B0609040504020204" pitchFamily="49" charset="0"/>
              </a:rPr>
              <a:t>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4" y="1443205"/>
            <a:ext cx="523252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latin typeface="Lucida Console" panose="020B0609040504020204" pitchFamily="49" charset="0"/>
              </a:rPr>
              <a:t>colorAsAttrib.CompileFile</a:t>
            </a:r>
            <a:r>
              <a:rPr lang="en-US" sz="1400" dirty="0">
                <a:latin typeface="Lucida Console" panose="020B0609040504020204" pitchFamily="49" charset="0"/>
              </a:rPr>
              <a:t>(</a:t>
            </a:r>
          </a:p>
          <a:p>
            <a:r>
              <a:rPr lang="en-US" sz="1400" dirty="0">
                <a:latin typeface="Lucida Console" panose="020B0609040504020204" pitchFamily="49" charset="0"/>
              </a:rPr>
              <a:t>    "</a:t>
            </a:r>
            <a:r>
              <a:rPr lang="en-US" sz="1400" dirty="0" err="1">
                <a:latin typeface="Lucida Console" panose="020B0609040504020204" pitchFamily="49" charset="0"/>
              </a:rPr>
              <a:t>color_as_attribute_vertex_shader.glsl</a:t>
            </a:r>
            <a:r>
              <a:rPr lang="en-US" sz="1400" dirty="0">
                <a:latin typeface="Lucida Console" panose="020B0609040504020204" pitchFamily="49" charset="0"/>
              </a:rPr>
              <a:t>",</a:t>
            </a:r>
          </a:p>
          <a:p>
            <a:r>
              <a:rPr lang="en-US" sz="1400" dirty="0">
                <a:latin typeface="Lucida Console" panose="020B0609040504020204" pitchFamily="49" charset="0"/>
              </a:rPr>
              <a:t>    "</a:t>
            </a:r>
            <a:r>
              <a:rPr lang="en-US" sz="1400" dirty="0" err="1">
                <a:latin typeface="Lucida Console" panose="020B0609040504020204" pitchFamily="49" charset="0"/>
              </a:rPr>
              <a:t>color_as_attribute_fragment_shader.glsl</a:t>
            </a:r>
            <a:r>
              <a:rPr lang="en-US" sz="1400" dirty="0">
                <a:latin typeface="Lucida Console" panose="020B0609040504020204" pitchFamily="49" charset="0"/>
              </a:rPr>
              <a:t>");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5562" y="2565779"/>
            <a:ext cx="7901522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glUseProgram</a:t>
            </a:r>
            <a:r>
              <a:rPr lang="en-US" sz="1200" dirty="0">
                <a:latin typeface="Lucida Console" panose="020B0609040504020204" pitchFamily="49" charset="0"/>
              </a:rPr>
              <a:t>(</a:t>
            </a:r>
            <a:r>
              <a:rPr lang="en-US" sz="1200" dirty="0" err="1">
                <a:latin typeface="Lucida Console" panose="020B0609040504020204" pitchFamily="49" charset="0"/>
              </a:rPr>
              <a:t>colorAsAttrib.programIdent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const</a:t>
            </a:r>
            <a:r>
              <a:rPr lang="en-US" sz="1200" dirty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GLfloat</a:t>
            </a:r>
            <a:r>
              <a:rPr lang="en-US" sz="1200" dirty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vtx</a:t>
            </a:r>
            <a:r>
              <a:rPr lang="en-US" sz="1200" dirty="0">
                <a:latin typeface="Lucida Console" panose="020B0609040504020204" pitchFamily="49" charset="0"/>
              </a:rPr>
              <a:t>[12]=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{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    -1,-1,0,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     1,-1,0,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     1, 1,0,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    -1, 1,0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};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const</a:t>
            </a:r>
            <a:r>
              <a:rPr lang="en-US" sz="1200" dirty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GLfloat</a:t>
            </a:r>
            <a:r>
              <a:rPr lang="en-US" sz="1200" dirty="0">
                <a:latin typeface="Lucida Console" panose="020B0609040504020204" pitchFamily="49" charset="0"/>
              </a:rPr>
              <a:t> col[16]=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{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    1,0,0,1,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    0,1,0,1,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    0,0,1,1,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    1,0,1,1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};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glEnableVertexAttribArray</a:t>
            </a:r>
            <a:r>
              <a:rPr lang="en-US" sz="1200" dirty="0">
                <a:latin typeface="Lucida Console" panose="020B0609040504020204" pitchFamily="49" charset="0"/>
              </a:rPr>
              <a:t>(</a:t>
            </a:r>
            <a:r>
              <a:rPr lang="en-US" sz="1200" dirty="0" err="1">
                <a:latin typeface="Lucida Console" panose="020B0609040504020204" pitchFamily="49" charset="0"/>
              </a:rPr>
              <a:t>colorAsAttrib.attribVertexPos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glVertexAttribPointer</a:t>
            </a:r>
            <a:r>
              <a:rPr lang="en-US" sz="1200" dirty="0">
                <a:latin typeface="Lucida Console" panose="020B0609040504020204" pitchFamily="49" charset="0"/>
              </a:rPr>
              <a:t>(colorAsAttrib.attribVertexPos,3,GL_FLOAT,GL_FALSE,0,vtx);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glEnableVertexAttribArray</a:t>
            </a:r>
            <a:r>
              <a:rPr lang="en-US" sz="1200" dirty="0">
                <a:latin typeface="Lucida Console" panose="020B0609040504020204" pitchFamily="49" charset="0"/>
              </a:rPr>
              <a:t>(</a:t>
            </a:r>
            <a:r>
              <a:rPr lang="en-US" sz="1200" dirty="0" err="1">
                <a:latin typeface="Lucida Console" panose="020B0609040504020204" pitchFamily="49" charset="0"/>
              </a:rPr>
              <a:t>colorAsAttrib.attribColorPos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glVertexAttribPointer</a:t>
            </a:r>
            <a:r>
              <a:rPr lang="en-US" sz="1200" dirty="0">
                <a:latin typeface="Lucida Console" panose="020B0609040504020204" pitchFamily="49" charset="0"/>
              </a:rPr>
              <a:t>(colorAsAttrib.attribColorPos,4,GL_FLOAT,GL_FALSE,0,col);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glDrawArrays</a:t>
            </a:r>
            <a:r>
              <a:rPr lang="en-US" sz="1200" dirty="0">
                <a:latin typeface="Lucida Console" panose="020B0609040504020204" pitchFamily="49" charset="0"/>
              </a:rPr>
              <a:t>(GL_TRIANGLE_FAN,0,4);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glDisableVertexAttribArray</a:t>
            </a:r>
            <a:r>
              <a:rPr lang="en-US" sz="1200" dirty="0">
                <a:latin typeface="Lucida Console" panose="020B0609040504020204" pitchFamily="49" charset="0"/>
              </a:rPr>
              <a:t>(</a:t>
            </a:r>
            <a:r>
              <a:rPr lang="en-US" sz="1200" dirty="0" err="1">
                <a:latin typeface="Lucida Console" panose="020B0609040504020204" pitchFamily="49" charset="0"/>
              </a:rPr>
              <a:t>colorAsAttrib.attribVertexPos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glDisableVertexAttribArray</a:t>
            </a:r>
            <a:r>
              <a:rPr lang="en-US" sz="1200" dirty="0">
                <a:latin typeface="Lucida Console" panose="020B0609040504020204" pitchFamily="49" charset="0"/>
              </a:rPr>
              <a:t>(</a:t>
            </a:r>
            <a:r>
              <a:rPr lang="en-US" sz="1200" dirty="0" err="1">
                <a:latin typeface="Lucida Console" panose="020B0609040504020204" pitchFamily="49" charset="0"/>
              </a:rPr>
              <a:t>colorAsAttrib.attribColorPos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63178881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Uniform color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all primitives must be drawn in the same color, the color can be made a </a:t>
            </a:r>
            <a:r>
              <a:rPr lang="en-US" i="1" dirty="0"/>
              <a:t>uniform</a:t>
            </a:r>
            <a:r>
              <a:rPr lang="en-US" dirty="0"/>
              <a:t>.</a:t>
            </a:r>
          </a:p>
          <a:p>
            <a:r>
              <a:rPr lang="en-US" dirty="0"/>
              <a:t>A renderer should cache an identifier of a uniform so that the C++ program can send an information to the GLSL program.</a:t>
            </a:r>
          </a:p>
        </p:txBody>
      </p:sp>
    </p:spTree>
    <p:extLst>
      <p:ext uri="{BB962C8B-B14F-4D97-AF65-F5344CB8AC3E}">
        <p14:creationId xmlns:p14="http://schemas.microsoft.com/office/powerpoint/2010/main" val="50068340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82634"/>
            <a:ext cx="8229600" cy="5843530"/>
          </a:xfrm>
        </p:spPr>
        <p:txBody>
          <a:bodyPr/>
          <a:lstStyle/>
          <a:p>
            <a:r>
              <a:rPr lang="en-US" dirty="0"/>
              <a:t>In </a:t>
            </a:r>
            <a:r>
              <a:rPr lang="en-US" dirty="0" err="1"/>
              <a:t>renderer.h</a:t>
            </a:r>
            <a:r>
              <a:rPr lang="en-US" dirty="0"/>
              <a:t>, add: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In renderer.cpp, add: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svn</a:t>
            </a:r>
            <a:r>
              <a:rPr lang="en-US" dirty="0"/>
              <a:t>-copy:</a:t>
            </a:r>
          </a:p>
          <a:p>
            <a:pPr lvl="1"/>
            <a:r>
              <a:rPr lang="en-US" dirty="0" err="1"/>
              <a:t>vertex_shader.glsl</a:t>
            </a:r>
            <a:r>
              <a:rPr lang="en-US" dirty="0"/>
              <a:t> to </a:t>
            </a:r>
            <a:r>
              <a:rPr lang="en-US" dirty="0" err="1"/>
              <a:t>uniform_color_vertex_shader.glsl</a:t>
            </a:r>
            <a:endParaRPr lang="en-US" dirty="0"/>
          </a:p>
          <a:p>
            <a:pPr lvl="1"/>
            <a:r>
              <a:rPr lang="en-US" dirty="0" err="1"/>
              <a:t>fragment_shader.glsl</a:t>
            </a:r>
            <a:r>
              <a:rPr lang="en-US" dirty="0"/>
              <a:t> to </a:t>
            </a:r>
            <a:r>
              <a:rPr lang="en-US" dirty="0" err="1"/>
              <a:t>uniform_color_fragment_shader.glsl</a:t>
            </a:r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147157" y="781396"/>
            <a:ext cx="511229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Lucida Console" panose="020B0609040504020204" pitchFamily="49" charset="0"/>
              </a:rPr>
              <a:t>class </a:t>
            </a:r>
            <a:r>
              <a:rPr lang="en-US" sz="1200" dirty="0" err="1">
                <a:latin typeface="Lucida Console" panose="020B0609040504020204" pitchFamily="49" charset="0"/>
              </a:rPr>
              <a:t>UniformColorRenderer</a:t>
            </a:r>
            <a:r>
              <a:rPr lang="en-US" sz="1200" dirty="0">
                <a:latin typeface="Lucida Console" panose="020B0609040504020204" pitchFamily="49" charset="0"/>
              </a:rPr>
              <a:t> : public </a:t>
            </a:r>
            <a:r>
              <a:rPr lang="en-US" sz="1200" dirty="0" err="1">
                <a:latin typeface="Lucida Console" panose="020B0609040504020204" pitchFamily="49" charset="0"/>
              </a:rPr>
              <a:t>RendererBase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public: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GLuint</a:t>
            </a:r>
            <a:r>
              <a:rPr lang="en-US" sz="1200" dirty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attribVertexPos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GLuint</a:t>
            </a:r>
            <a:r>
              <a:rPr lang="en-US" sz="1200" dirty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uniformColorPos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virtual void </a:t>
            </a:r>
            <a:r>
              <a:rPr lang="en-US" sz="1200" dirty="0" err="1">
                <a:latin typeface="Lucida Console" panose="020B0609040504020204" pitchFamily="49" charset="0"/>
              </a:rPr>
              <a:t>CacheAttributeAndUniformIdent</a:t>
            </a:r>
            <a:r>
              <a:rPr lang="en-US" sz="1200" dirty="0">
                <a:latin typeface="Lucida Console" panose="020B0609040504020204" pitchFamily="49" charset="0"/>
              </a:rPr>
              <a:t>(void);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};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7157" y="2459549"/>
            <a:ext cx="6042039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Lucida Console" panose="020B0609040504020204" pitchFamily="49" charset="0"/>
              </a:rPr>
              <a:t>void </a:t>
            </a:r>
            <a:r>
              <a:rPr lang="en-US" sz="1200" dirty="0" err="1">
                <a:latin typeface="Lucida Console" panose="020B0609040504020204" pitchFamily="49" charset="0"/>
              </a:rPr>
              <a:t>UniformColorRenderer</a:t>
            </a:r>
            <a:r>
              <a:rPr lang="en-US" sz="1200" dirty="0">
                <a:latin typeface="Lucida Console" panose="020B0609040504020204" pitchFamily="49" charset="0"/>
              </a:rPr>
              <a:t>::</a:t>
            </a:r>
            <a:r>
              <a:rPr lang="en-US" sz="1200" dirty="0" err="1">
                <a:latin typeface="Lucida Console" panose="020B0609040504020204" pitchFamily="49" charset="0"/>
              </a:rPr>
              <a:t>CacheAttributeAndUniformIdent</a:t>
            </a:r>
            <a:r>
              <a:rPr lang="en-US" sz="1200" dirty="0">
                <a:latin typeface="Lucida Console" panose="020B0609040504020204" pitchFamily="49" charset="0"/>
              </a:rPr>
              <a:t>(void)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attribVertexPos</a:t>
            </a:r>
            <a:r>
              <a:rPr lang="en-US" sz="1200" dirty="0">
                <a:latin typeface="Lucida Console" panose="020B0609040504020204" pitchFamily="49" charset="0"/>
              </a:rPr>
              <a:t>=</a:t>
            </a:r>
            <a:r>
              <a:rPr lang="en-US" sz="1200" dirty="0" err="1">
                <a:latin typeface="Lucida Console" panose="020B0609040504020204" pitchFamily="49" charset="0"/>
              </a:rPr>
              <a:t>glGetAttribLocation</a:t>
            </a:r>
            <a:r>
              <a:rPr lang="en-US" sz="1200" dirty="0">
                <a:latin typeface="Lucida Console" panose="020B0609040504020204" pitchFamily="49" charset="0"/>
              </a:rPr>
              <a:t>(</a:t>
            </a:r>
            <a:r>
              <a:rPr lang="en-US" sz="1200" dirty="0" err="1">
                <a:latin typeface="Lucida Console" panose="020B0609040504020204" pitchFamily="49" charset="0"/>
              </a:rPr>
              <a:t>programIdent</a:t>
            </a:r>
            <a:r>
              <a:rPr lang="en-US" sz="1200" dirty="0">
                <a:latin typeface="Lucida Console" panose="020B0609040504020204" pitchFamily="49" charset="0"/>
              </a:rPr>
              <a:t>,"vertex");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printf</a:t>
            </a:r>
            <a:r>
              <a:rPr lang="en-US" sz="1200" dirty="0">
                <a:latin typeface="Lucida Console" panose="020B0609040504020204" pitchFamily="49" charset="0"/>
              </a:rPr>
              <a:t>("Attribute Vertex Position=%d\n",</a:t>
            </a:r>
            <a:r>
              <a:rPr lang="en-US" sz="1200" dirty="0" err="1">
                <a:latin typeface="Lucida Console" panose="020B0609040504020204" pitchFamily="49" charset="0"/>
              </a:rPr>
              <a:t>attribVertexPos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uniformColorPos</a:t>
            </a:r>
            <a:r>
              <a:rPr lang="en-US" sz="1200" dirty="0">
                <a:latin typeface="Lucida Console" panose="020B0609040504020204" pitchFamily="49" charset="0"/>
              </a:rPr>
              <a:t>=</a:t>
            </a:r>
            <a:r>
              <a:rPr lang="en-US" sz="1200" dirty="0" err="1">
                <a:latin typeface="Lucida Console" panose="020B0609040504020204" pitchFamily="49" charset="0"/>
              </a:rPr>
              <a:t>glGetUniformLocation</a:t>
            </a:r>
            <a:r>
              <a:rPr lang="en-US" sz="1200" dirty="0">
                <a:latin typeface="Lucida Console" panose="020B0609040504020204" pitchFamily="49" charset="0"/>
              </a:rPr>
              <a:t>(</a:t>
            </a:r>
            <a:r>
              <a:rPr lang="en-US" sz="1200" dirty="0" err="1">
                <a:latin typeface="Lucida Console" panose="020B0609040504020204" pitchFamily="49" charset="0"/>
              </a:rPr>
              <a:t>programIdent</a:t>
            </a:r>
            <a:r>
              <a:rPr lang="en-US" sz="1200" dirty="0">
                <a:latin typeface="Lucida Console" panose="020B0609040504020204" pitchFamily="49" charset="0"/>
              </a:rPr>
              <a:t>,"color");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printf</a:t>
            </a:r>
            <a:r>
              <a:rPr lang="en-US" sz="1200" dirty="0">
                <a:latin typeface="Lucida Console" panose="020B0609040504020204" pitchFamily="49" charset="0"/>
              </a:rPr>
              <a:t>("Uniform Color Position=%d\n",</a:t>
            </a:r>
            <a:r>
              <a:rPr lang="en-US" sz="1200" dirty="0" err="1">
                <a:latin typeface="Lucida Console" panose="020B0609040504020204" pitchFamily="49" charset="0"/>
              </a:rPr>
              <a:t>uniformColorPos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4200056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82138"/>
            <a:ext cx="8229600" cy="5644025"/>
          </a:xfrm>
        </p:spPr>
        <p:txBody>
          <a:bodyPr/>
          <a:lstStyle/>
          <a:p>
            <a:r>
              <a:rPr lang="en-US" dirty="0"/>
              <a:t>No change in the vertex </a:t>
            </a:r>
            <a:r>
              <a:rPr lang="en-US" dirty="0" err="1"/>
              <a:t>shader</a:t>
            </a:r>
            <a:r>
              <a:rPr lang="en-US" dirty="0"/>
              <a:t>.</a:t>
            </a:r>
          </a:p>
          <a:p>
            <a:r>
              <a:rPr lang="en-US" dirty="0"/>
              <a:t>The fragment </a:t>
            </a:r>
            <a:r>
              <a:rPr lang="en-US" dirty="0" err="1"/>
              <a:t>shader</a:t>
            </a:r>
            <a:r>
              <a:rPr lang="en-US" dirty="0"/>
              <a:t> should copy uniform color to the final output color.  Therefore it needs to be: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Add a member variable:</a:t>
            </a:r>
          </a:p>
          <a:p>
            <a:endParaRPr lang="en-US" dirty="0"/>
          </a:p>
          <a:p>
            <a:r>
              <a:rPr lang="en-US" dirty="0"/>
              <a:t>In Initialize(),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147157" y="1795549"/>
            <a:ext cx="232307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Lucida Console" panose="020B0609040504020204" pitchFamily="49" charset="0"/>
              </a:rPr>
              <a:t>uniform vec4 color;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void main()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gl_FragColor</a:t>
            </a:r>
            <a:r>
              <a:rPr lang="en-US" sz="1200" dirty="0">
                <a:latin typeface="Lucida Console" panose="020B0609040504020204" pitchFamily="49" charset="0"/>
              </a:rPr>
              <a:t>=color;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}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7157" y="3512127"/>
            <a:ext cx="33457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Lucida Console" panose="020B0609040504020204" pitchFamily="49" charset="0"/>
              </a:rPr>
              <a:t>UniformColorRenderer</a:t>
            </a:r>
            <a:r>
              <a:rPr lang="en-US" sz="1200" dirty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uniformColor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157" y="4379422"/>
            <a:ext cx="44614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uniformColor.CompileFile</a:t>
            </a:r>
            <a:r>
              <a:rPr lang="en-US" sz="1200" dirty="0">
                <a:latin typeface="Lucida Console" panose="020B0609040504020204" pitchFamily="49" charset="0"/>
              </a:rPr>
              <a:t>(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    "</a:t>
            </a:r>
            <a:r>
              <a:rPr lang="en-US" sz="1200" dirty="0" err="1">
                <a:latin typeface="Lucida Console" panose="020B0609040504020204" pitchFamily="49" charset="0"/>
              </a:rPr>
              <a:t>uniform_color_vertex_shader.glsl</a:t>
            </a:r>
            <a:r>
              <a:rPr lang="en-US" sz="1200" dirty="0">
                <a:latin typeface="Lucida Console" panose="020B0609040504020204" pitchFamily="49" charset="0"/>
              </a:rPr>
              <a:t>",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    "</a:t>
            </a:r>
            <a:r>
              <a:rPr lang="en-US" sz="1200" dirty="0" err="1">
                <a:latin typeface="Lucida Console" panose="020B0609040504020204" pitchFamily="49" charset="0"/>
              </a:rPr>
              <a:t>uniform_color_fragment_shader.glsl</a:t>
            </a:r>
            <a:r>
              <a:rPr lang="en-US" sz="1200" dirty="0">
                <a:latin typeface="Lucida Console" panose="020B0609040504020204" pitchFamily="49" charset="0"/>
              </a:rPr>
              <a:t>");</a:t>
            </a:r>
          </a:p>
        </p:txBody>
      </p:sp>
    </p:spTree>
    <p:extLst>
      <p:ext uri="{BB962C8B-B14F-4D97-AF65-F5344CB8AC3E}">
        <p14:creationId xmlns:p14="http://schemas.microsoft.com/office/powerpoint/2010/main" val="316294201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56954"/>
            <a:ext cx="8229600" cy="906086"/>
          </a:xfrm>
        </p:spPr>
        <p:txBody>
          <a:bodyPr/>
          <a:lstStyle/>
          <a:p>
            <a:r>
              <a:rPr lang="en-US" dirty="0"/>
              <a:t>In Draw(),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4647" y="1088967"/>
            <a:ext cx="7808548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Lucida Console" panose="020B0609040504020204" pitchFamily="49" charset="0"/>
              </a:rPr>
              <a:t>void </a:t>
            </a:r>
            <a:r>
              <a:rPr lang="en-US" sz="1200" dirty="0" err="1">
                <a:latin typeface="Lucida Console" panose="020B0609040504020204" pitchFamily="49" charset="0"/>
              </a:rPr>
              <a:t>FsLazyWindowApplication</a:t>
            </a:r>
            <a:r>
              <a:rPr lang="en-US" sz="1200" dirty="0">
                <a:latin typeface="Lucida Console" panose="020B0609040504020204" pitchFamily="49" charset="0"/>
              </a:rPr>
              <a:t>::Draw(void)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glClear</a:t>
            </a:r>
            <a:r>
              <a:rPr lang="en-US" sz="1200" dirty="0">
                <a:latin typeface="Lucida Console" panose="020B0609040504020204" pitchFamily="49" charset="0"/>
              </a:rPr>
              <a:t>(GL_COLOR_BUFFER_BIT|GL_DEPTH_BUFFER_BIT);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glUseProgram</a:t>
            </a:r>
            <a:r>
              <a:rPr lang="en-US" sz="1200" dirty="0">
                <a:latin typeface="Lucida Console" panose="020B0609040504020204" pitchFamily="49" charset="0"/>
              </a:rPr>
              <a:t>(</a:t>
            </a:r>
            <a:r>
              <a:rPr lang="en-US" sz="1200" dirty="0" err="1">
                <a:latin typeface="Lucida Console" panose="020B0609040504020204" pitchFamily="49" charset="0"/>
              </a:rPr>
              <a:t>uniformColor.programIdent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const</a:t>
            </a:r>
            <a:r>
              <a:rPr lang="en-US" sz="1200" dirty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GLfloat</a:t>
            </a:r>
            <a:r>
              <a:rPr lang="en-US" sz="1200" dirty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vtx</a:t>
            </a:r>
            <a:r>
              <a:rPr lang="en-US" sz="1200" dirty="0">
                <a:latin typeface="Lucida Console" panose="020B0609040504020204" pitchFamily="49" charset="0"/>
              </a:rPr>
              <a:t>[12]=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{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    -1,-1,0,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     1,-1,0,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     1, 1,0,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    -1, 1,0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};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const</a:t>
            </a:r>
            <a:r>
              <a:rPr lang="en-US" sz="1200" dirty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GLfloat</a:t>
            </a:r>
            <a:r>
              <a:rPr lang="en-US" sz="1200" dirty="0">
                <a:latin typeface="Lucida Console" panose="020B0609040504020204" pitchFamily="49" charset="0"/>
              </a:rPr>
              <a:t> col[4]={0,1,0,1};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glUniform4fv(uniformColor.uniformColorPos,1,col);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glEnableVertexAttribArray</a:t>
            </a:r>
            <a:r>
              <a:rPr lang="en-US" sz="1200" dirty="0">
                <a:latin typeface="Lucida Console" panose="020B0609040504020204" pitchFamily="49" charset="0"/>
              </a:rPr>
              <a:t>(</a:t>
            </a:r>
            <a:r>
              <a:rPr lang="en-US" sz="1200" dirty="0" err="1">
                <a:latin typeface="Lucida Console" panose="020B0609040504020204" pitchFamily="49" charset="0"/>
              </a:rPr>
              <a:t>uniformColor.attribVertexPos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glVertexAttribPointer</a:t>
            </a:r>
            <a:r>
              <a:rPr lang="en-US" sz="1200" dirty="0">
                <a:latin typeface="Lucida Console" panose="020B0609040504020204" pitchFamily="49" charset="0"/>
              </a:rPr>
              <a:t>(uniformColor.attribVertexPos,3,GL_FLOAT,GL_FALSE,0,vtx);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glDrawArrays</a:t>
            </a:r>
            <a:r>
              <a:rPr lang="en-US" sz="1200" dirty="0">
                <a:latin typeface="Lucida Console" panose="020B0609040504020204" pitchFamily="49" charset="0"/>
              </a:rPr>
              <a:t>(GL_TRIANGLE_FAN,0,4);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glDisableVertexAttribArray</a:t>
            </a:r>
            <a:r>
              <a:rPr lang="en-US" sz="1200" dirty="0">
                <a:latin typeface="Lucida Console" panose="020B0609040504020204" pitchFamily="49" charset="0"/>
              </a:rPr>
              <a:t>(</a:t>
            </a:r>
            <a:r>
              <a:rPr lang="en-US" sz="1200" dirty="0" err="1">
                <a:latin typeface="Lucida Console" panose="020B0609040504020204" pitchFamily="49" charset="0"/>
              </a:rPr>
              <a:t>uniformColor.attribVertexPos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FsSwapBuffers</a:t>
            </a:r>
            <a:r>
              <a:rPr lang="en-US" sz="1200" dirty="0">
                <a:latin typeface="Lucida Console" panose="020B0609040504020204" pitchFamily="49" charset="0"/>
              </a:rPr>
              <a:t>();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needRedraw</a:t>
            </a:r>
            <a:r>
              <a:rPr lang="en-US" sz="1200" dirty="0">
                <a:latin typeface="Lucida Console" panose="020B0609040504020204" pitchFamily="49" charset="0"/>
              </a:rPr>
              <a:t>=false;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}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94417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Wait, do we need to create separate </a:t>
            </a:r>
            <a:r>
              <a:rPr lang="en-US" dirty="0" err="1"/>
              <a:t>shader</a:t>
            </a:r>
            <a:r>
              <a:rPr lang="en-US" dirty="0"/>
              <a:t> programs for uniform color and variable color?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will be a problem if we need to write separate </a:t>
            </a:r>
            <a:r>
              <a:rPr lang="en-US" dirty="0" err="1"/>
              <a:t>shaders</a:t>
            </a:r>
            <a:r>
              <a:rPr lang="en-US" dirty="0"/>
              <a:t> for:</a:t>
            </a:r>
          </a:p>
          <a:p>
            <a:pPr lvl="1"/>
            <a:r>
              <a:rPr lang="en-US" dirty="0"/>
              <a:t>Color as uniform vs. color as attribute.</a:t>
            </a:r>
          </a:p>
          <a:p>
            <a:pPr lvl="1"/>
            <a:r>
              <a:rPr lang="en-US" dirty="0"/>
              <a:t>Using texture vs. no texture.</a:t>
            </a:r>
          </a:p>
          <a:p>
            <a:pPr lvl="1"/>
            <a:r>
              <a:rPr lang="en-US" dirty="0"/>
              <a:t>Position offset as uniform vs. position offset as attribute.</a:t>
            </a:r>
          </a:p>
          <a:p>
            <a:pPr lvl="1"/>
            <a:r>
              <a:rPr lang="en-US" dirty="0"/>
              <a:t>!@#$ as uniform vs. !@#$ as attribute.</a:t>
            </a:r>
          </a:p>
          <a:p>
            <a:r>
              <a:rPr lang="en-US" dirty="0"/>
              <a:t>For the exactly same rendering program, if you can think of N possible attribute, that can also be a uniform, the combination will be 2</a:t>
            </a:r>
            <a:r>
              <a:rPr lang="en-US" baseline="30000" dirty="0"/>
              <a:t>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8728261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Generic Attribute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Solution: Generic Attribute.</a:t>
            </a:r>
          </a:p>
          <a:p>
            <a:r>
              <a:rPr lang="en-US" dirty="0"/>
              <a:t>Just like </a:t>
            </a:r>
            <a:r>
              <a:rPr lang="en-US" dirty="0" err="1"/>
              <a:t>glUniform</a:t>
            </a:r>
            <a:r>
              <a:rPr lang="en-US" dirty="0"/>
              <a:t>??, you can use </a:t>
            </a:r>
            <a:r>
              <a:rPr lang="en-US" dirty="0" err="1"/>
              <a:t>glVertexAttrib</a:t>
            </a:r>
            <a:r>
              <a:rPr lang="en-US" dirty="0"/>
              <a:t>??.</a:t>
            </a:r>
          </a:p>
          <a:p>
            <a:r>
              <a:rPr lang="en-US" dirty="0"/>
              <a:t>The attribute value specified by </a:t>
            </a:r>
            <a:r>
              <a:rPr lang="en-US" dirty="0" err="1"/>
              <a:t>glVertexAttribute</a:t>
            </a:r>
            <a:r>
              <a:rPr lang="en-US" dirty="0"/>
              <a:t>?? will be applied to all vertices.</a:t>
            </a:r>
          </a:p>
          <a:p>
            <a:r>
              <a:rPr lang="en-US" dirty="0"/>
              <a:t>Strange limitation (known bug): In many (even popular) GPUs, vertex attribute 0 cannot be generic.</a:t>
            </a:r>
          </a:p>
          <a:p>
            <a:r>
              <a:rPr lang="en-US" dirty="0"/>
              <a:t>Use </a:t>
            </a:r>
            <a:r>
              <a:rPr lang="en-US" dirty="0" err="1"/>
              <a:t>glBindAttribLocation</a:t>
            </a:r>
            <a:r>
              <a:rPr lang="en-US" dirty="0"/>
              <a:t> to force an attribute to have a non-zero identifier.</a:t>
            </a:r>
          </a:p>
          <a:p>
            <a:pPr lvl="1"/>
            <a:r>
              <a:rPr lang="en-US" dirty="0"/>
              <a:t>For example, if "vertex" is never be a generic attribute, force it to have 0, then the rest will use whatever available: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 err="1">
                <a:latin typeface="Consolas" panose="020B0609020204030204" pitchFamily="49" charset="0"/>
              </a:rPr>
              <a:t>glBindAttribLocation</a:t>
            </a:r>
            <a:r>
              <a:rPr lang="en-US" dirty="0">
                <a:latin typeface="Consolas" panose="020B0609020204030204" pitchFamily="49" charset="0"/>
              </a:rPr>
              <a:t>(programId,0,"vertex");</a:t>
            </a:r>
          </a:p>
          <a:p>
            <a:r>
              <a:rPr lang="en-US" dirty="0"/>
              <a:t>Needs to be done after compiling, before attaching (apparently).</a:t>
            </a:r>
          </a:p>
        </p:txBody>
      </p:sp>
    </p:spTree>
    <p:extLst>
      <p:ext uri="{BB962C8B-B14F-4D97-AF65-F5344CB8AC3E}">
        <p14:creationId xmlns:p14="http://schemas.microsoft.com/office/powerpoint/2010/main" val="102893358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Where </a:t>
            </a:r>
            <a:r>
              <a:rPr lang="en-US" dirty="0"/>
              <a:t>is this zero </a:t>
            </a:r>
            <a:r>
              <a:rPr lang="en-US"/>
              <a:t>identifier bug coming from?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Once you could use </a:t>
            </a:r>
            <a:r>
              <a:rPr lang="en-US" dirty="0" err="1"/>
              <a:t>glVertex</a:t>
            </a:r>
            <a:r>
              <a:rPr lang="en-US" dirty="0"/>
              <a:t>??, </a:t>
            </a:r>
            <a:r>
              <a:rPr lang="en-US" dirty="0" err="1"/>
              <a:t>glColor</a:t>
            </a:r>
            <a:r>
              <a:rPr lang="en-US" dirty="0"/>
              <a:t>??, </a:t>
            </a:r>
            <a:r>
              <a:rPr lang="en-US" dirty="0" err="1"/>
              <a:t>glNormal</a:t>
            </a:r>
            <a:r>
              <a:rPr lang="en-US" dirty="0"/>
              <a:t>??, with a GLSL program.</a:t>
            </a:r>
          </a:p>
          <a:p>
            <a:r>
              <a:rPr lang="en-US" dirty="0" err="1"/>
              <a:t>glVertex</a:t>
            </a:r>
            <a:r>
              <a:rPr lang="en-US" dirty="0"/>
              <a:t>?? was passing a position to the GLSL program as a variable called </a:t>
            </a:r>
            <a:r>
              <a:rPr lang="en-US" dirty="0" err="1"/>
              <a:t>gl_Vertex</a:t>
            </a:r>
            <a:r>
              <a:rPr lang="en-US" dirty="0"/>
              <a:t>.</a:t>
            </a:r>
          </a:p>
          <a:p>
            <a:r>
              <a:rPr lang="en-US" dirty="0" err="1"/>
              <a:t>gl_Vertex</a:t>
            </a:r>
            <a:r>
              <a:rPr lang="en-US" dirty="0"/>
              <a:t> was always bound to an attribute-identifier of 0.</a:t>
            </a:r>
          </a:p>
          <a:p>
            <a:r>
              <a:rPr lang="en-US" dirty="0" err="1"/>
              <a:t>gl_Vertex</a:t>
            </a:r>
            <a:r>
              <a:rPr lang="en-US" dirty="0"/>
              <a:t> cannot be generic, while </a:t>
            </a:r>
            <a:r>
              <a:rPr lang="en-US" dirty="0" err="1"/>
              <a:t>gl_Normal</a:t>
            </a:r>
            <a:r>
              <a:rPr lang="en-US" dirty="0"/>
              <a:t>, </a:t>
            </a:r>
            <a:r>
              <a:rPr lang="en-US" dirty="0" err="1"/>
              <a:t>gl_Color</a:t>
            </a:r>
            <a:r>
              <a:rPr lang="en-US" dirty="0"/>
              <a:t>, </a:t>
            </a:r>
            <a:r>
              <a:rPr lang="en-US" dirty="0" err="1"/>
              <a:t>gl_TeCoord</a:t>
            </a:r>
            <a:r>
              <a:rPr lang="en-US" dirty="0"/>
              <a:t> could be generic.</a:t>
            </a:r>
          </a:p>
          <a:p>
            <a:r>
              <a:rPr lang="en-US" dirty="0"/>
              <a:t>Some GPUs are still inheriting this limitation as a known bug.</a:t>
            </a:r>
          </a:p>
        </p:txBody>
      </p:sp>
    </p:spTree>
    <p:extLst>
      <p:ext uri="{BB962C8B-B14F-4D97-AF65-F5344CB8AC3E}">
        <p14:creationId xmlns:p14="http://schemas.microsoft.com/office/powerpoint/2010/main" val="320948667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texture.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bitmap texture is called as sampler2D.</a:t>
            </a:r>
          </a:p>
          <a:p>
            <a:r>
              <a:rPr lang="en-US" dirty="0"/>
              <a:t>A sampler2D must be given as a uniform.</a:t>
            </a:r>
          </a:p>
          <a:p>
            <a:r>
              <a:rPr lang="en-US" dirty="0"/>
              <a:t>You can sample a color within a </a:t>
            </a:r>
            <a:r>
              <a:rPr lang="en-US" dirty="0" err="1"/>
              <a:t>shader</a:t>
            </a:r>
            <a:r>
              <a:rPr lang="en-US" dirty="0"/>
              <a:t> program by using a function called </a:t>
            </a:r>
            <a:r>
              <a:rPr lang="en-US" i="1" dirty="0"/>
              <a:t>texture</a:t>
            </a:r>
            <a:r>
              <a:rPr lang="en-US" dirty="0"/>
              <a:t>.</a:t>
            </a:r>
          </a:p>
          <a:p>
            <a:r>
              <a:rPr lang="en-US" dirty="0"/>
              <a:t>If you want to give a texture coordinate per vertex (just like glTexCoord2), a texture coordinate must be given as an attribute.</a:t>
            </a:r>
          </a:p>
        </p:txBody>
      </p:sp>
    </p:spTree>
    <p:extLst>
      <p:ext uri="{BB962C8B-B14F-4D97-AF65-F5344CB8AC3E}">
        <p14:creationId xmlns:p14="http://schemas.microsoft.com/office/powerpoint/2010/main" val="1318945932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checker.cpp and </a:t>
            </a:r>
            <a:r>
              <a:rPr lang="en-US" dirty="0" err="1"/>
              <a:t>checker.h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99258" y="806335"/>
            <a:ext cx="8180445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checker.h</a:t>
            </a:r>
            <a:endParaRPr lang="en-US" dirty="0"/>
          </a:p>
          <a:p>
            <a:r>
              <a:rPr lang="en-US" sz="1200" dirty="0">
                <a:latin typeface="Lucida Console" panose="020B0609040504020204" pitchFamily="49" charset="0"/>
              </a:rPr>
              <a:t>#</a:t>
            </a:r>
            <a:r>
              <a:rPr lang="en-US" sz="1200" dirty="0" err="1">
                <a:latin typeface="Lucida Console" panose="020B0609040504020204" pitchFamily="49" charset="0"/>
              </a:rPr>
              <a:t>ifndef</a:t>
            </a:r>
            <a:r>
              <a:rPr lang="en-US" sz="1200" dirty="0">
                <a:latin typeface="Lucida Console" panose="020B0609040504020204" pitchFamily="49" charset="0"/>
              </a:rPr>
              <a:t> CHECKER_IS_INCLUDED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#define CHECKER_IS_INCLUDED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// Note: OpenGL ES only takes 2^n times 2^n texture.</a:t>
            </a:r>
          </a:p>
          <a:p>
            <a:r>
              <a:rPr lang="en-US" sz="1200" dirty="0" err="1">
                <a:latin typeface="Lucida Console" panose="020B0609040504020204" pitchFamily="49" charset="0"/>
              </a:rPr>
              <a:t>const</a:t>
            </a:r>
            <a:r>
              <a:rPr lang="en-US" sz="1200" dirty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int</a:t>
            </a:r>
            <a:r>
              <a:rPr lang="en-US" sz="1200" dirty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checker_pattern_wid</a:t>
            </a:r>
            <a:r>
              <a:rPr lang="en-US" sz="1200" dirty="0">
                <a:latin typeface="Lucida Console" panose="020B0609040504020204" pitchFamily="49" charset="0"/>
              </a:rPr>
              <a:t>=8;</a:t>
            </a:r>
          </a:p>
          <a:p>
            <a:r>
              <a:rPr lang="en-US" sz="1200" dirty="0" err="1">
                <a:latin typeface="Lucida Console" panose="020B0609040504020204" pitchFamily="49" charset="0"/>
              </a:rPr>
              <a:t>const</a:t>
            </a:r>
            <a:r>
              <a:rPr lang="en-US" sz="1200" dirty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int</a:t>
            </a:r>
            <a:r>
              <a:rPr lang="en-US" sz="1200" dirty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checker_pattern_hei</a:t>
            </a:r>
            <a:r>
              <a:rPr lang="en-US" sz="1200" dirty="0">
                <a:latin typeface="Lucida Console" panose="020B0609040504020204" pitchFamily="49" charset="0"/>
              </a:rPr>
              <a:t>=8;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extern </a:t>
            </a:r>
            <a:r>
              <a:rPr lang="en-US" sz="1200" dirty="0" err="1">
                <a:latin typeface="Lucida Console" panose="020B0609040504020204" pitchFamily="49" charset="0"/>
              </a:rPr>
              <a:t>const</a:t>
            </a:r>
            <a:r>
              <a:rPr lang="en-US" sz="1200" dirty="0">
                <a:latin typeface="Lucida Console" panose="020B0609040504020204" pitchFamily="49" charset="0"/>
              </a:rPr>
              <a:t> unsigned char </a:t>
            </a:r>
            <a:r>
              <a:rPr lang="en-US" sz="1200" dirty="0" err="1">
                <a:latin typeface="Lucida Console" panose="020B0609040504020204" pitchFamily="49" charset="0"/>
              </a:rPr>
              <a:t>checker_pattern</a:t>
            </a:r>
            <a:r>
              <a:rPr lang="en-US" sz="1200" dirty="0">
                <a:latin typeface="Lucida Console" panose="020B0609040504020204" pitchFamily="49" charset="0"/>
              </a:rPr>
              <a:t>[</a:t>
            </a:r>
            <a:r>
              <a:rPr lang="en-US" sz="1200" dirty="0" err="1">
                <a:latin typeface="Lucida Console" panose="020B0609040504020204" pitchFamily="49" charset="0"/>
              </a:rPr>
              <a:t>checker_pattern_wid</a:t>
            </a:r>
            <a:r>
              <a:rPr lang="en-US" sz="1200" dirty="0">
                <a:latin typeface="Lucida Console" panose="020B0609040504020204" pitchFamily="49" charset="0"/>
              </a:rPr>
              <a:t>*</a:t>
            </a:r>
            <a:r>
              <a:rPr lang="en-US" sz="1200" dirty="0" err="1">
                <a:latin typeface="Lucida Console" panose="020B0609040504020204" pitchFamily="49" charset="0"/>
              </a:rPr>
              <a:t>checker_pattern_hei</a:t>
            </a:r>
            <a:r>
              <a:rPr lang="en-US" sz="1200" dirty="0">
                <a:latin typeface="Lucida Console" panose="020B0609040504020204" pitchFamily="49" charset="0"/>
              </a:rPr>
              <a:t>*4];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#</a:t>
            </a:r>
            <a:r>
              <a:rPr lang="en-US" sz="1200" dirty="0" err="1">
                <a:latin typeface="Lucida Console" panose="020B0609040504020204" pitchFamily="49" charset="0"/>
              </a:rPr>
              <a:t>endif</a:t>
            </a:r>
            <a:endParaRPr lang="en-US" sz="1200" dirty="0">
              <a:latin typeface="Lucida Console" panose="020B0609040504020204" pitchFamily="49" charset="0"/>
            </a:endParaRPr>
          </a:p>
          <a:p>
            <a:endParaRPr lang="en-US" sz="1200" dirty="0">
              <a:latin typeface="Lucida Console" panose="020B06090405040202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99258" y="3241964"/>
            <a:ext cx="8032968" cy="19236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checker.cpp</a:t>
            </a:r>
          </a:p>
          <a:p>
            <a:r>
              <a:rPr lang="en-US" sz="700" dirty="0">
                <a:latin typeface="Lucida Console" panose="020B0609040504020204" pitchFamily="49" charset="0"/>
              </a:rPr>
              <a:t>#include "</a:t>
            </a:r>
            <a:r>
              <a:rPr lang="en-US" sz="700" dirty="0" err="1">
                <a:latin typeface="Lucida Console" panose="020B0609040504020204" pitchFamily="49" charset="0"/>
              </a:rPr>
              <a:t>checker.h</a:t>
            </a:r>
            <a:r>
              <a:rPr lang="en-US" sz="700" dirty="0">
                <a:latin typeface="Lucida Console" panose="020B0609040504020204" pitchFamily="49" charset="0"/>
              </a:rPr>
              <a:t>"</a:t>
            </a:r>
          </a:p>
          <a:p>
            <a:endParaRPr lang="en-US" sz="700" dirty="0">
              <a:latin typeface="Lucida Console" panose="020B0609040504020204" pitchFamily="49" charset="0"/>
            </a:endParaRPr>
          </a:p>
          <a:p>
            <a:r>
              <a:rPr lang="en-US" sz="700" dirty="0" err="1">
                <a:latin typeface="Lucida Console" panose="020B0609040504020204" pitchFamily="49" charset="0"/>
              </a:rPr>
              <a:t>const</a:t>
            </a:r>
            <a:r>
              <a:rPr lang="en-US" sz="700" dirty="0">
                <a:latin typeface="Lucida Console" panose="020B0609040504020204" pitchFamily="49" charset="0"/>
              </a:rPr>
              <a:t> unsigned char </a:t>
            </a:r>
            <a:r>
              <a:rPr lang="en-US" sz="700" dirty="0" err="1">
                <a:latin typeface="Lucida Console" panose="020B0609040504020204" pitchFamily="49" charset="0"/>
              </a:rPr>
              <a:t>checker_pattern</a:t>
            </a:r>
            <a:r>
              <a:rPr lang="en-US" sz="700" dirty="0">
                <a:latin typeface="Lucida Console" panose="020B0609040504020204" pitchFamily="49" charset="0"/>
              </a:rPr>
              <a:t>[</a:t>
            </a:r>
            <a:r>
              <a:rPr lang="en-US" sz="700" dirty="0" err="1">
                <a:latin typeface="Lucida Console" panose="020B0609040504020204" pitchFamily="49" charset="0"/>
              </a:rPr>
              <a:t>checker_pattern_wid</a:t>
            </a:r>
            <a:r>
              <a:rPr lang="en-US" sz="700" dirty="0">
                <a:latin typeface="Lucida Console" panose="020B0609040504020204" pitchFamily="49" charset="0"/>
              </a:rPr>
              <a:t>*</a:t>
            </a:r>
            <a:r>
              <a:rPr lang="en-US" sz="700" dirty="0" err="1">
                <a:latin typeface="Lucida Console" panose="020B0609040504020204" pitchFamily="49" charset="0"/>
              </a:rPr>
              <a:t>checker_pattern_hei</a:t>
            </a:r>
            <a:r>
              <a:rPr lang="en-US" sz="700" dirty="0">
                <a:latin typeface="Lucida Console" panose="020B0609040504020204" pitchFamily="49" charset="0"/>
              </a:rPr>
              <a:t>*4]=</a:t>
            </a:r>
          </a:p>
          <a:p>
            <a:r>
              <a:rPr lang="en-US" sz="7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700" dirty="0">
                <a:latin typeface="Lucida Console" panose="020B0609040504020204" pitchFamily="49" charset="0"/>
              </a:rPr>
              <a:t>255,  0,  0,255,    0,255,  0,255,    0,  0,255,255,  255,255,  0,255,  255,255,255,255,    0,  0,  0,255,  255,255,255,255,    0,  0,  0,255,  </a:t>
            </a:r>
          </a:p>
          <a:p>
            <a:r>
              <a:rPr lang="en-US" sz="700" dirty="0">
                <a:latin typeface="Lucida Console" panose="020B0609040504020204" pitchFamily="49" charset="0"/>
              </a:rPr>
              <a:t>255,255,  0,255,  255,  0,  0,255,    0,255,  0,255,    0,  0,255,255,    0,  0,  0,255,  255,255,255,255,    0,  0,  0,255,  255,255,255,255,  </a:t>
            </a:r>
          </a:p>
          <a:p>
            <a:r>
              <a:rPr lang="en-US" sz="700" dirty="0">
                <a:latin typeface="Lucida Console" panose="020B0609040504020204" pitchFamily="49" charset="0"/>
              </a:rPr>
              <a:t>  0,  0,255,255,  255,255,  0,255,  255,  0,  0,255,    0,255,  0,255,  255,255,255,255,    0,  0,  0,255,  255,255,255,255,    0,  0,  0,255,  </a:t>
            </a:r>
          </a:p>
          <a:p>
            <a:r>
              <a:rPr lang="en-US" sz="700" dirty="0">
                <a:latin typeface="Lucida Console" panose="020B0609040504020204" pitchFamily="49" charset="0"/>
              </a:rPr>
              <a:t>  0,255,  0,255,    0,  0,255,255,  255,255,  0,255,  255,  0,  0,255,    0,  0,  0,255,  255,255,255,255,    0,  0,  0,255,  255,255,255,255,  </a:t>
            </a:r>
          </a:p>
          <a:p>
            <a:r>
              <a:rPr lang="en-US" sz="700" dirty="0">
                <a:latin typeface="Lucida Console" panose="020B0609040504020204" pitchFamily="49" charset="0"/>
              </a:rPr>
              <a:t>255,255,255,255,    0,  0,  0,255,  255,255,255,255,    0,  0,  0,255,  255,  0,  0,255,    0,255,  0,255,    0,  0,255,255,  255,255,  0,255,  </a:t>
            </a:r>
          </a:p>
          <a:p>
            <a:r>
              <a:rPr lang="en-US" sz="700" dirty="0">
                <a:latin typeface="Lucida Console" panose="020B0609040504020204" pitchFamily="49" charset="0"/>
              </a:rPr>
              <a:t>  0,  0,  0,255,  255,255,255,255,    0,  0,  0,255,  255,255,255,255,  255,255,  0,255,  255,  0,  0,255,    0,255,  0,255,    0,  0,255,255,  </a:t>
            </a:r>
          </a:p>
          <a:p>
            <a:r>
              <a:rPr lang="en-US" sz="700" dirty="0">
                <a:latin typeface="Lucida Console" panose="020B0609040504020204" pitchFamily="49" charset="0"/>
              </a:rPr>
              <a:t>255,255,255,255,    0,  0,  0,255,  255,255,255,255,    0,  0,  0,255,    0,  0,255,255,  255,255,  0,255,  255,  0,  0,255,    0,255,  0,255,  </a:t>
            </a:r>
          </a:p>
          <a:p>
            <a:r>
              <a:rPr lang="en-US" sz="700" dirty="0">
                <a:latin typeface="Lucida Console" panose="020B0609040504020204" pitchFamily="49" charset="0"/>
              </a:rPr>
              <a:t>  0,  0,  0,255,  255,255,255,255,    0,  0,  0,255,  255,255,255,255,    0,255,  0,255,    0,  0,255,255,  255,255,  0,255,  255,  0,  0,255,  </a:t>
            </a:r>
          </a:p>
          <a:p>
            <a:r>
              <a:rPr lang="en-US" sz="700" dirty="0">
                <a:latin typeface="Lucida Console" panose="020B0609040504020204" pitchFamily="49" charset="0"/>
              </a:rPr>
              <a:t>};</a:t>
            </a:r>
          </a:p>
          <a:p>
            <a:endParaRPr lang="en-US" sz="10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614395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32510"/>
            <a:ext cx="8229600" cy="5793654"/>
          </a:xfrm>
        </p:spPr>
        <p:txBody>
          <a:bodyPr/>
          <a:lstStyle/>
          <a:p>
            <a:r>
              <a:rPr lang="en-US" dirty="0"/>
              <a:t>Add a member variable:</a:t>
            </a:r>
          </a:p>
          <a:p>
            <a:endParaRPr lang="en-US" dirty="0"/>
          </a:p>
          <a:p>
            <a:r>
              <a:rPr lang="en-US" dirty="0"/>
              <a:t>In Initialize(), make a texture as: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005840" y="864523"/>
            <a:ext cx="16722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Lucida Console" panose="020B0609040504020204" pitchFamily="49" charset="0"/>
              </a:rPr>
              <a:t>GLuint</a:t>
            </a:r>
            <a:r>
              <a:rPr lang="en-US" sz="1200" dirty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texIdent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73535"/>
            <a:ext cx="6506909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Lucida Console" panose="020B0609040504020204" pitchFamily="49" charset="0"/>
              </a:rPr>
              <a:t>glGenTextures</a:t>
            </a:r>
            <a:r>
              <a:rPr lang="en-US" sz="1200" dirty="0">
                <a:latin typeface="Lucida Console" panose="020B0609040504020204" pitchFamily="49" charset="0"/>
              </a:rPr>
              <a:t>(1,&amp;texIdent);</a:t>
            </a:r>
          </a:p>
          <a:p>
            <a:r>
              <a:rPr lang="en-US" sz="1200" dirty="0" err="1">
                <a:latin typeface="Lucida Console" panose="020B0609040504020204" pitchFamily="49" charset="0"/>
              </a:rPr>
              <a:t>glActiveTexture</a:t>
            </a:r>
            <a:r>
              <a:rPr lang="en-US" sz="1200" dirty="0">
                <a:latin typeface="Lucida Console" panose="020B0609040504020204" pitchFamily="49" charset="0"/>
              </a:rPr>
              <a:t>(GL_TEXTURE0);</a:t>
            </a:r>
          </a:p>
          <a:p>
            <a:r>
              <a:rPr lang="en-US" sz="1200" dirty="0" err="1">
                <a:latin typeface="Lucida Console" panose="020B0609040504020204" pitchFamily="49" charset="0"/>
              </a:rPr>
              <a:t>glBindTexture</a:t>
            </a:r>
            <a:r>
              <a:rPr lang="en-US" sz="1200" dirty="0">
                <a:latin typeface="Lucida Console" panose="020B0609040504020204" pitchFamily="49" charset="0"/>
              </a:rPr>
              <a:t>(GL_TEXTURE_2D,texIdent);</a:t>
            </a:r>
          </a:p>
          <a:p>
            <a:r>
              <a:rPr lang="en-US" sz="1200" dirty="0" err="1">
                <a:latin typeface="Lucida Console" panose="020B0609040504020204" pitchFamily="49" charset="0"/>
              </a:rPr>
              <a:t>glTexParameteri</a:t>
            </a:r>
            <a:r>
              <a:rPr lang="en-US" sz="1200" dirty="0">
                <a:latin typeface="Lucida Console" panose="020B0609040504020204" pitchFamily="49" charset="0"/>
              </a:rPr>
              <a:t>(GL_TEXTURE_2D,GL_TEXTURE_WRAP_S,GL_CLAMP);</a:t>
            </a:r>
          </a:p>
          <a:p>
            <a:r>
              <a:rPr lang="en-US" sz="1200" dirty="0" err="1">
                <a:latin typeface="Lucida Console" panose="020B0609040504020204" pitchFamily="49" charset="0"/>
              </a:rPr>
              <a:t>glTexParameteri</a:t>
            </a:r>
            <a:r>
              <a:rPr lang="en-US" sz="1200" dirty="0">
                <a:latin typeface="Lucida Console" panose="020B0609040504020204" pitchFamily="49" charset="0"/>
              </a:rPr>
              <a:t>(GL_TEXTURE_2D,GL_TEXTURE_WRAP_T,GL_CLAMP);</a:t>
            </a:r>
          </a:p>
          <a:p>
            <a:r>
              <a:rPr lang="en-US" sz="1200" dirty="0" err="1">
                <a:latin typeface="Lucida Console" panose="020B0609040504020204" pitchFamily="49" charset="0"/>
              </a:rPr>
              <a:t>glTexParameteri</a:t>
            </a:r>
            <a:r>
              <a:rPr lang="en-US" sz="1200" dirty="0">
                <a:latin typeface="Lucida Console" panose="020B0609040504020204" pitchFamily="49" charset="0"/>
              </a:rPr>
              <a:t>(GL_TEXTURE_2D,GL_TEXTURE_MIN_FILTER,GL_NEAREST);</a:t>
            </a:r>
          </a:p>
          <a:p>
            <a:r>
              <a:rPr lang="en-US" sz="1200" dirty="0" err="1">
                <a:latin typeface="Lucida Console" panose="020B0609040504020204" pitchFamily="49" charset="0"/>
              </a:rPr>
              <a:t>glTexParameteri</a:t>
            </a:r>
            <a:r>
              <a:rPr lang="en-US" sz="1200" dirty="0">
                <a:latin typeface="Lucida Console" panose="020B0609040504020204" pitchFamily="49" charset="0"/>
              </a:rPr>
              <a:t>(GL_TEXTURE_2D,GL_TEXTURE_MAG_FILTER,GL_NEAREST);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glTexImage2D(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GL_TEXTURE_2D,0,GL_RGBA,checker_pattern_wid,checker_pattern_hei,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              0,GL_RGBA,GL_UNSIGNED_BYTE,checker_pattern);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049165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07324"/>
            <a:ext cx="8229600" cy="5718839"/>
          </a:xfrm>
        </p:spPr>
        <p:txBody>
          <a:bodyPr/>
          <a:lstStyle/>
          <a:p>
            <a:r>
              <a:rPr lang="en-US" dirty="0"/>
              <a:t>Add sampler2d_vertex_shader.glsl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Add sampler2d_fragment_shader.glsl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9214" y="897775"/>
            <a:ext cx="3252814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attribute vec2 </a:t>
            </a:r>
            <a:r>
              <a:rPr lang="en-US" sz="12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texCoord</a:t>
            </a:r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attribute vec3 vertex;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varying vec2 </a:t>
            </a:r>
            <a:r>
              <a:rPr lang="en-US" sz="12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texCoordOut</a:t>
            </a:r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void main()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gl_Position</a:t>
            </a:r>
            <a:r>
              <a:rPr lang="en-US" sz="1200" dirty="0">
                <a:latin typeface="Lucida Console" panose="020B0609040504020204" pitchFamily="49" charset="0"/>
              </a:rPr>
              <a:t>=vec4(vertex,1.0);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texCoordOut</a:t>
            </a:r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=</a:t>
            </a:r>
            <a:r>
              <a:rPr lang="en-US" sz="12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texCoord</a:t>
            </a:r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}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89214" y="3618808"/>
            <a:ext cx="4740400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uniform sampler2D </a:t>
            </a:r>
            <a:r>
              <a:rPr lang="en-US" sz="12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texIdent</a:t>
            </a:r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varying vec2 </a:t>
            </a:r>
            <a:r>
              <a:rPr lang="en-US" sz="1200" dirty="0" err="1">
                <a:latin typeface="Lucida Console" panose="020B0609040504020204" pitchFamily="49" charset="0"/>
              </a:rPr>
              <a:t>texCoordOut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void main()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gl_FragColor</a:t>
            </a:r>
            <a:r>
              <a:rPr lang="en-US" sz="1200" dirty="0">
                <a:latin typeface="Lucida Console" panose="020B0609040504020204" pitchFamily="49" charset="0"/>
              </a:rPr>
              <a:t>=</a:t>
            </a:r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texture2D(</a:t>
            </a:r>
            <a:r>
              <a:rPr lang="en-US" sz="12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texIdent,texCoordOut</a:t>
            </a:r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}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endParaRPr lang="en-US" sz="1200" dirty="0">
              <a:latin typeface="Lucida Console" panose="020B0609040504020204" pitchFamily="49" charset="0"/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 flipH="1" flipV="1">
            <a:off x="3358342" y="1047404"/>
            <a:ext cx="1512916" cy="831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H="1">
            <a:off x="3374967" y="1180407"/>
            <a:ext cx="1504604" cy="43226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879571" y="881149"/>
            <a:ext cx="36409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Just pass incoming </a:t>
            </a:r>
            <a:r>
              <a:rPr lang="en-US" dirty="0" err="1">
                <a:solidFill>
                  <a:srgbClr val="FF0000"/>
                </a:solidFill>
              </a:rPr>
              <a:t>texCoord</a:t>
            </a:r>
            <a:r>
              <a:rPr lang="en-US" dirty="0">
                <a:solidFill>
                  <a:srgbClr val="FF0000"/>
                </a:solidFill>
              </a:rPr>
              <a:t> to </a:t>
            </a:r>
            <a:r>
              <a:rPr lang="en-US" dirty="0" err="1">
                <a:solidFill>
                  <a:srgbClr val="FF0000"/>
                </a:solidFill>
              </a:rPr>
              <a:t>texCoordOut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11" name="Straight Arrow Connector 10"/>
          <p:cNvCxnSpPr/>
          <p:nvPr/>
        </p:nvCxnSpPr>
        <p:spPr>
          <a:xfrm flipH="1" flipV="1">
            <a:off x="3726873" y="3785063"/>
            <a:ext cx="1512916" cy="831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H="1" flipV="1">
            <a:off x="4140200" y="4862514"/>
            <a:ext cx="822498" cy="42438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248102" y="3618808"/>
            <a:ext cx="3640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 texture identifier.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79571" y="5145349"/>
            <a:ext cx="36409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This is how a texture can be sampled.</a:t>
            </a:r>
          </a:p>
        </p:txBody>
      </p:sp>
    </p:spTree>
    <p:extLst>
      <p:ext uri="{BB962C8B-B14F-4D97-AF65-F5344CB8AC3E}">
        <p14:creationId xmlns:p14="http://schemas.microsoft.com/office/powerpoint/2010/main" val="368583105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 about texture2D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function texture2D is deprecated at GLSL 1.3, and has been replaced with texture.</a:t>
            </a:r>
          </a:p>
          <a:p>
            <a:r>
              <a:rPr lang="en-US" dirty="0"/>
              <a:t>Older GPUs don’t understand newer version GLSL.</a:t>
            </a:r>
          </a:p>
          <a:p>
            <a:r>
              <a:rPr lang="en-US" dirty="0"/>
              <a:t>Obviously, GLSL is not as well designed as C/C++.  Rather, I say it is a very poorly designed programming language.</a:t>
            </a:r>
          </a:p>
          <a:p>
            <a:r>
              <a:rPr lang="en-US" dirty="0"/>
              <a:t>Their excuse is that graphics technology is growing </a:t>
            </a:r>
            <a:r>
              <a:rPr lang="en-US"/>
              <a:t>rapidly.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708831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 about texture2D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 far, I haven’t seen any GPUs that does not recognize texture2D.</a:t>
            </a:r>
          </a:p>
          <a:p>
            <a:r>
              <a:rPr lang="en-US" dirty="0"/>
              <a:t>If a GPU does not recognize it, you will need to put:</a:t>
            </a:r>
            <a:br>
              <a:rPr lang="en-US" dirty="0"/>
            </a:br>
            <a:r>
              <a:rPr lang="en-US" dirty="0"/>
              <a:t> 	#version 120</a:t>
            </a:r>
            <a:br>
              <a:rPr lang="en-US" dirty="0"/>
            </a:br>
            <a:r>
              <a:rPr lang="en-US" dirty="0"/>
              <a:t>and keep using texture2D, or change textu2D to texture.</a:t>
            </a:r>
          </a:p>
          <a:p>
            <a:r>
              <a:rPr lang="en-US" dirty="0"/>
              <a:t>At this point, GLSL for OpenGL ES also only recognizes texture2D (tested on my Mac mini, first-generation iPad mini, and iPhone 5S).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4864474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74320"/>
            <a:ext cx="8229600" cy="5851843"/>
          </a:xfrm>
        </p:spPr>
        <p:txBody>
          <a:bodyPr/>
          <a:lstStyle/>
          <a:p>
            <a:r>
              <a:rPr lang="en-US" dirty="0"/>
              <a:t>In </a:t>
            </a:r>
            <a:r>
              <a:rPr lang="en-US" dirty="0" err="1"/>
              <a:t>renderer.h</a:t>
            </a:r>
            <a:r>
              <a:rPr lang="en-US" dirty="0"/>
              <a:t>, add: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In renderer.cpp, add: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Add a member variable: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9214" y="748146"/>
            <a:ext cx="5112297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Lucida Console" panose="020B0609040504020204" pitchFamily="49" charset="0"/>
              </a:rPr>
              <a:t>class Sampler2dRenderer : public </a:t>
            </a:r>
            <a:r>
              <a:rPr lang="en-US" sz="1200" dirty="0" err="1">
                <a:latin typeface="Lucida Console" panose="020B0609040504020204" pitchFamily="49" charset="0"/>
              </a:rPr>
              <a:t>RendererBase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public: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GLuint</a:t>
            </a:r>
            <a:r>
              <a:rPr lang="en-US" sz="1200" dirty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attribVertexPos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GLuint</a:t>
            </a:r>
            <a:r>
              <a:rPr lang="en-US" sz="1200" dirty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attribTexCoordPos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GLuint</a:t>
            </a:r>
            <a:r>
              <a:rPr lang="en-US" sz="1200" dirty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uniformTexIdentPos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virtual void </a:t>
            </a:r>
            <a:r>
              <a:rPr lang="en-US" sz="1200" dirty="0" err="1">
                <a:latin typeface="Lucida Console" panose="020B0609040504020204" pitchFamily="49" charset="0"/>
              </a:rPr>
              <a:t>CacheAttributeAndUniformIdent</a:t>
            </a:r>
            <a:r>
              <a:rPr lang="en-US" sz="1200" dirty="0">
                <a:latin typeface="Lucida Console" panose="020B0609040504020204" pitchFamily="49" charset="0"/>
              </a:rPr>
              <a:t>(void);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};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89214" y="3042458"/>
            <a:ext cx="6686446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Lucida Console" panose="020B0609040504020204" pitchFamily="49" charset="0"/>
              </a:rPr>
              <a:t>void Sampler2dRenderer::</a:t>
            </a:r>
            <a:r>
              <a:rPr lang="en-US" sz="1200" dirty="0" err="1">
                <a:latin typeface="Lucida Console" panose="020B0609040504020204" pitchFamily="49" charset="0"/>
              </a:rPr>
              <a:t>CacheAttributeAndUniformIdent</a:t>
            </a:r>
            <a:r>
              <a:rPr lang="en-US" sz="1200" dirty="0">
                <a:latin typeface="Lucida Console" panose="020B0609040504020204" pitchFamily="49" charset="0"/>
              </a:rPr>
              <a:t>(void)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attribVertexPos</a:t>
            </a:r>
            <a:r>
              <a:rPr lang="en-US" sz="1200" dirty="0">
                <a:latin typeface="Lucida Console" panose="020B0609040504020204" pitchFamily="49" charset="0"/>
              </a:rPr>
              <a:t>=</a:t>
            </a:r>
            <a:r>
              <a:rPr lang="en-US" sz="1200" dirty="0" err="1">
                <a:latin typeface="Lucida Console" panose="020B0609040504020204" pitchFamily="49" charset="0"/>
              </a:rPr>
              <a:t>glGetAttribLocation</a:t>
            </a:r>
            <a:r>
              <a:rPr lang="en-US" sz="1200" dirty="0">
                <a:latin typeface="Lucida Console" panose="020B0609040504020204" pitchFamily="49" charset="0"/>
              </a:rPr>
              <a:t>(</a:t>
            </a:r>
            <a:r>
              <a:rPr lang="en-US" sz="1200" dirty="0" err="1">
                <a:latin typeface="Lucida Console" panose="020B0609040504020204" pitchFamily="49" charset="0"/>
              </a:rPr>
              <a:t>programIdent</a:t>
            </a:r>
            <a:r>
              <a:rPr lang="en-US" sz="1200" dirty="0">
                <a:latin typeface="Lucida Console" panose="020B0609040504020204" pitchFamily="49" charset="0"/>
              </a:rPr>
              <a:t>,"vertex");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printf</a:t>
            </a:r>
            <a:r>
              <a:rPr lang="en-US" sz="1200" dirty="0">
                <a:latin typeface="Lucida Console" panose="020B0609040504020204" pitchFamily="49" charset="0"/>
              </a:rPr>
              <a:t>("Attribute Vertex Position=%d\n",</a:t>
            </a:r>
            <a:r>
              <a:rPr lang="en-US" sz="1200" dirty="0" err="1">
                <a:latin typeface="Lucida Console" panose="020B0609040504020204" pitchFamily="49" charset="0"/>
              </a:rPr>
              <a:t>attribVertexPos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attribTexCoordPos</a:t>
            </a:r>
            <a:r>
              <a:rPr lang="en-US" sz="1200" dirty="0">
                <a:latin typeface="Lucida Console" panose="020B0609040504020204" pitchFamily="49" charset="0"/>
              </a:rPr>
              <a:t>=</a:t>
            </a:r>
            <a:r>
              <a:rPr lang="en-US" sz="1200" dirty="0" err="1">
                <a:latin typeface="Lucida Console" panose="020B0609040504020204" pitchFamily="49" charset="0"/>
              </a:rPr>
              <a:t>glGetAttribLocation</a:t>
            </a:r>
            <a:r>
              <a:rPr lang="en-US" sz="1200" dirty="0">
                <a:latin typeface="Lucida Console" panose="020B0609040504020204" pitchFamily="49" charset="0"/>
              </a:rPr>
              <a:t>(</a:t>
            </a:r>
            <a:r>
              <a:rPr lang="en-US" sz="1200" dirty="0" err="1">
                <a:latin typeface="Lucida Console" panose="020B0609040504020204" pitchFamily="49" charset="0"/>
              </a:rPr>
              <a:t>programIdent</a:t>
            </a:r>
            <a:r>
              <a:rPr lang="en-US" sz="1200" dirty="0">
                <a:latin typeface="Lucida Console" panose="020B0609040504020204" pitchFamily="49" charset="0"/>
              </a:rPr>
              <a:t>,"</a:t>
            </a:r>
            <a:r>
              <a:rPr lang="en-US" sz="1200" dirty="0" err="1">
                <a:latin typeface="Lucida Console" panose="020B0609040504020204" pitchFamily="49" charset="0"/>
              </a:rPr>
              <a:t>texCoord</a:t>
            </a:r>
            <a:r>
              <a:rPr lang="en-US" sz="1200" dirty="0">
                <a:latin typeface="Lucida Console" panose="020B0609040504020204" pitchFamily="49" charset="0"/>
              </a:rPr>
              <a:t>");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printf</a:t>
            </a:r>
            <a:r>
              <a:rPr lang="en-US" sz="1200" dirty="0">
                <a:latin typeface="Lucida Console" panose="020B0609040504020204" pitchFamily="49" charset="0"/>
              </a:rPr>
              <a:t>("Attribute </a:t>
            </a:r>
            <a:r>
              <a:rPr lang="en-US" sz="1200" dirty="0" err="1">
                <a:latin typeface="Lucida Console" panose="020B0609040504020204" pitchFamily="49" charset="0"/>
              </a:rPr>
              <a:t>TexCoord</a:t>
            </a:r>
            <a:r>
              <a:rPr lang="en-US" sz="1200" dirty="0">
                <a:latin typeface="Lucida Console" panose="020B0609040504020204" pitchFamily="49" charset="0"/>
              </a:rPr>
              <a:t> Position=%d\n",</a:t>
            </a:r>
            <a:r>
              <a:rPr lang="en-US" sz="1200" dirty="0" err="1">
                <a:latin typeface="Lucida Console" panose="020B0609040504020204" pitchFamily="49" charset="0"/>
              </a:rPr>
              <a:t>attribTexCoordPos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uniformTexIdentPos</a:t>
            </a:r>
            <a:r>
              <a:rPr lang="en-US" sz="1200" dirty="0">
                <a:latin typeface="Lucida Console" panose="020B0609040504020204" pitchFamily="49" charset="0"/>
              </a:rPr>
              <a:t>=</a:t>
            </a:r>
            <a:r>
              <a:rPr lang="en-US" sz="1200" dirty="0" err="1">
                <a:latin typeface="Lucida Console" panose="020B0609040504020204" pitchFamily="49" charset="0"/>
              </a:rPr>
              <a:t>glGetUniformLocation</a:t>
            </a:r>
            <a:r>
              <a:rPr lang="en-US" sz="1200" dirty="0">
                <a:latin typeface="Lucida Console" panose="020B0609040504020204" pitchFamily="49" charset="0"/>
              </a:rPr>
              <a:t>(</a:t>
            </a:r>
            <a:r>
              <a:rPr lang="en-US" sz="1200" dirty="0" err="1">
                <a:latin typeface="Lucida Console" panose="020B0609040504020204" pitchFamily="49" charset="0"/>
              </a:rPr>
              <a:t>programIdent</a:t>
            </a:r>
            <a:r>
              <a:rPr lang="en-US" sz="1200" dirty="0">
                <a:latin typeface="Lucida Console" panose="020B0609040504020204" pitchFamily="49" charset="0"/>
              </a:rPr>
              <a:t>,"</a:t>
            </a:r>
            <a:r>
              <a:rPr lang="en-US" sz="1200" dirty="0" err="1">
                <a:latin typeface="Lucida Console" panose="020B0609040504020204" pitchFamily="49" charset="0"/>
              </a:rPr>
              <a:t>texIdent</a:t>
            </a:r>
            <a:r>
              <a:rPr lang="en-US" sz="1200" dirty="0">
                <a:latin typeface="Lucida Console" panose="020B0609040504020204" pitchFamily="49" charset="0"/>
              </a:rPr>
              <a:t>");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printf</a:t>
            </a:r>
            <a:r>
              <a:rPr lang="en-US" sz="1200" dirty="0">
                <a:latin typeface="Lucida Console" panose="020B0609040504020204" pitchFamily="49" charset="0"/>
              </a:rPr>
              <a:t>("Uniform </a:t>
            </a:r>
            <a:r>
              <a:rPr lang="en-US" sz="1200" dirty="0" err="1">
                <a:latin typeface="Lucida Console" panose="020B0609040504020204" pitchFamily="49" charset="0"/>
              </a:rPr>
              <a:t>TexIdent</a:t>
            </a:r>
            <a:r>
              <a:rPr lang="en-US" sz="1200" dirty="0">
                <a:latin typeface="Lucida Console" panose="020B0609040504020204" pitchFamily="49" charset="0"/>
              </a:rPr>
              <a:t> Position=%d\n",</a:t>
            </a:r>
            <a:r>
              <a:rPr lang="en-US" sz="1200" dirty="0" err="1">
                <a:latin typeface="Lucida Console" panose="020B0609040504020204" pitchFamily="49" charset="0"/>
              </a:rPr>
              <a:t>uniformTexIdentPos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}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47403" y="5602778"/>
            <a:ext cx="27879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Lucida Console" panose="020B0609040504020204" pitchFamily="49" charset="0"/>
              </a:rPr>
              <a:t>Sampler2dRenderer sampler2d;</a:t>
            </a:r>
          </a:p>
        </p:txBody>
      </p:sp>
    </p:spTree>
    <p:extLst>
      <p:ext uri="{BB962C8B-B14F-4D97-AF65-F5344CB8AC3E}">
        <p14:creationId xmlns:p14="http://schemas.microsoft.com/office/powerpoint/2010/main" val="862320134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48394"/>
            <a:ext cx="8229600" cy="5477770"/>
          </a:xfrm>
        </p:spPr>
        <p:txBody>
          <a:bodyPr/>
          <a:lstStyle/>
          <a:p>
            <a:r>
              <a:rPr lang="en-US" dirty="0"/>
              <a:t>In Initialize(),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47898" y="1172095"/>
            <a:ext cx="408958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Lucida Console" panose="020B0609040504020204" pitchFamily="49" charset="0"/>
              </a:rPr>
              <a:t>    sampler2d.CompileFile(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    "sampler2d_vertex_shader.glsl",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    "sampler2d_fragment_shader.glsl");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7915362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447" y="257696"/>
            <a:ext cx="8229600" cy="681642"/>
          </a:xfrm>
        </p:spPr>
        <p:txBody>
          <a:bodyPr/>
          <a:lstStyle/>
          <a:p>
            <a:r>
              <a:rPr lang="en-US" dirty="0"/>
              <a:t>In Draw(),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5389" y="797746"/>
            <a:ext cx="7491153" cy="60170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Lucida Console" panose="020B0609040504020204" pitchFamily="49" charset="0"/>
              </a:rPr>
              <a:t>void </a:t>
            </a:r>
            <a:r>
              <a:rPr lang="en-US" sz="1100" dirty="0" err="1">
                <a:latin typeface="Lucida Console" panose="020B0609040504020204" pitchFamily="49" charset="0"/>
              </a:rPr>
              <a:t>FsLazyWindowApplication</a:t>
            </a:r>
            <a:r>
              <a:rPr lang="en-US" sz="1100" dirty="0">
                <a:latin typeface="Lucida Console" panose="020B0609040504020204" pitchFamily="49" charset="0"/>
              </a:rPr>
              <a:t>::Draw(void)</a:t>
            </a:r>
          </a:p>
          <a:p>
            <a:r>
              <a:rPr lang="en-US" sz="11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100" dirty="0">
                <a:latin typeface="Lucida Console" panose="020B0609040504020204" pitchFamily="49" charset="0"/>
              </a:rPr>
              <a:t>    </a:t>
            </a:r>
            <a:r>
              <a:rPr lang="en-US" sz="1100" dirty="0" err="1">
                <a:latin typeface="Lucida Console" panose="020B0609040504020204" pitchFamily="49" charset="0"/>
              </a:rPr>
              <a:t>glClear</a:t>
            </a:r>
            <a:r>
              <a:rPr lang="en-US" sz="1100" dirty="0">
                <a:latin typeface="Lucida Console" panose="020B0609040504020204" pitchFamily="49" charset="0"/>
              </a:rPr>
              <a:t>(GL_COLOR_BUFFER_BIT|GL_DEPTH_BUFFER_BIT);</a:t>
            </a:r>
          </a:p>
          <a:p>
            <a:endParaRPr lang="en-US" sz="1100" dirty="0">
              <a:latin typeface="Lucida Console" panose="020B0609040504020204" pitchFamily="49" charset="0"/>
            </a:endParaRPr>
          </a:p>
          <a:p>
            <a:r>
              <a:rPr lang="en-US" sz="1100" dirty="0">
                <a:latin typeface="Lucida Console" panose="020B0609040504020204" pitchFamily="49" charset="0"/>
              </a:rPr>
              <a:t>    </a:t>
            </a:r>
            <a:r>
              <a:rPr lang="en-US" sz="1100" dirty="0" err="1">
                <a:latin typeface="Lucida Console" panose="020B0609040504020204" pitchFamily="49" charset="0"/>
              </a:rPr>
              <a:t>glUseProgram</a:t>
            </a:r>
            <a:r>
              <a:rPr lang="en-US" sz="1100" dirty="0">
                <a:latin typeface="Lucida Console" panose="020B0609040504020204" pitchFamily="49" charset="0"/>
              </a:rPr>
              <a:t>(sampler2d.programIdent);</a:t>
            </a:r>
          </a:p>
          <a:p>
            <a:r>
              <a:rPr lang="en-US" sz="1100" dirty="0">
                <a:latin typeface="Lucida Console" panose="020B0609040504020204" pitchFamily="49" charset="0"/>
              </a:rPr>
              <a:t>    </a:t>
            </a:r>
            <a:r>
              <a:rPr lang="en-US" sz="1100" dirty="0" err="1">
                <a:latin typeface="Lucida Console" panose="020B0609040504020204" pitchFamily="49" charset="0"/>
              </a:rPr>
              <a:t>const</a:t>
            </a:r>
            <a:r>
              <a:rPr lang="en-US" sz="1100" dirty="0">
                <a:latin typeface="Lucida Console" panose="020B0609040504020204" pitchFamily="49" charset="0"/>
              </a:rPr>
              <a:t> </a:t>
            </a:r>
            <a:r>
              <a:rPr lang="en-US" sz="1100" dirty="0" err="1">
                <a:latin typeface="Lucida Console" panose="020B0609040504020204" pitchFamily="49" charset="0"/>
              </a:rPr>
              <a:t>GLfloat</a:t>
            </a:r>
            <a:r>
              <a:rPr lang="en-US" sz="1100" dirty="0">
                <a:latin typeface="Lucida Console" panose="020B0609040504020204" pitchFamily="49" charset="0"/>
              </a:rPr>
              <a:t> </a:t>
            </a:r>
            <a:r>
              <a:rPr lang="en-US" sz="1100" dirty="0" err="1">
                <a:latin typeface="Lucida Console" panose="020B0609040504020204" pitchFamily="49" charset="0"/>
              </a:rPr>
              <a:t>vtx</a:t>
            </a:r>
            <a:r>
              <a:rPr lang="en-US" sz="1100" dirty="0">
                <a:latin typeface="Lucida Console" panose="020B0609040504020204" pitchFamily="49" charset="0"/>
              </a:rPr>
              <a:t>[12]=</a:t>
            </a:r>
          </a:p>
          <a:p>
            <a:r>
              <a:rPr lang="en-US" sz="1100" dirty="0">
                <a:latin typeface="Lucida Console" panose="020B0609040504020204" pitchFamily="49" charset="0"/>
              </a:rPr>
              <a:t>    {</a:t>
            </a:r>
          </a:p>
          <a:p>
            <a:r>
              <a:rPr lang="en-US" sz="1100" dirty="0">
                <a:latin typeface="Lucida Console" panose="020B0609040504020204" pitchFamily="49" charset="0"/>
              </a:rPr>
              <a:t>        -1,-1,0,</a:t>
            </a:r>
          </a:p>
          <a:p>
            <a:r>
              <a:rPr lang="en-US" sz="1100" dirty="0">
                <a:latin typeface="Lucida Console" panose="020B0609040504020204" pitchFamily="49" charset="0"/>
              </a:rPr>
              <a:t>         1,-1,0,</a:t>
            </a:r>
          </a:p>
          <a:p>
            <a:r>
              <a:rPr lang="en-US" sz="1100" dirty="0">
                <a:latin typeface="Lucida Console" panose="020B0609040504020204" pitchFamily="49" charset="0"/>
              </a:rPr>
              <a:t>         1, 1,0,</a:t>
            </a:r>
          </a:p>
          <a:p>
            <a:r>
              <a:rPr lang="en-US" sz="1100" dirty="0">
                <a:latin typeface="Lucida Console" panose="020B0609040504020204" pitchFamily="49" charset="0"/>
              </a:rPr>
              <a:t>        -1, 1,0</a:t>
            </a:r>
          </a:p>
          <a:p>
            <a:r>
              <a:rPr lang="en-US" sz="1100" dirty="0">
                <a:latin typeface="Lucida Console" panose="020B0609040504020204" pitchFamily="49" charset="0"/>
              </a:rPr>
              <a:t>    };</a:t>
            </a:r>
          </a:p>
          <a:p>
            <a:r>
              <a:rPr lang="en-US" sz="1100" dirty="0">
                <a:latin typeface="Lucida Console" panose="020B0609040504020204" pitchFamily="49" charset="0"/>
              </a:rPr>
              <a:t>    </a:t>
            </a:r>
            <a:r>
              <a:rPr lang="en-US" sz="1100" dirty="0" err="1">
                <a:latin typeface="Lucida Console" panose="020B0609040504020204" pitchFamily="49" charset="0"/>
              </a:rPr>
              <a:t>const</a:t>
            </a:r>
            <a:r>
              <a:rPr lang="en-US" sz="1100" dirty="0">
                <a:latin typeface="Lucida Console" panose="020B0609040504020204" pitchFamily="49" charset="0"/>
              </a:rPr>
              <a:t> </a:t>
            </a:r>
            <a:r>
              <a:rPr lang="en-US" sz="1100" dirty="0" err="1">
                <a:latin typeface="Lucida Console" panose="020B0609040504020204" pitchFamily="49" charset="0"/>
              </a:rPr>
              <a:t>GLfloat</a:t>
            </a:r>
            <a:r>
              <a:rPr lang="en-US" sz="1100" dirty="0">
                <a:latin typeface="Lucida Console" panose="020B0609040504020204" pitchFamily="49" charset="0"/>
              </a:rPr>
              <a:t> </a:t>
            </a:r>
            <a:r>
              <a:rPr lang="en-US" sz="1100" dirty="0" err="1">
                <a:latin typeface="Lucida Console" panose="020B0609040504020204" pitchFamily="49" charset="0"/>
              </a:rPr>
              <a:t>texCoord</a:t>
            </a:r>
            <a:r>
              <a:rPr lang="en-US" sz="1100" dirty="0">
                <a:latin typeface="Lucida Console" panose="020B0609040504020204" pitchFamily="49" charset="0"/>
              </a:rPr>
              <a:t>[8]=</a:t>
            </a:r>
          </a:p>
          <a:p>
            <a:r>
              <a:rPr lang="en-US" sz="1100" dirty="0">
                <a:latin typeface="Lucida Console" panose="020B0609040504020204" pitchFamily="49" charset="0"/>
              </a:rPr>
              <a:t>    {</a:t>
            </a:r>
          </a:p>
          <a:p>
            <a:r>
              <a:rPr lang="en-US" sz="1100" dirty="0">
                <a:latin typeface="Lucida Console" panose="020B0609040504020204" pitchFamily="49" charset="0"/>
              </a:rPr>
              <a:t>        0,0, 0,1, 1,1, 1,0</a:t>
            </a:r>
          </a:p>
          <a:p>
            <a:r>
              <a:rPr lang="en-US" sz="1100" dirty="0">
                <a:latin typeface="Lucida Console" panose="020B0609040504020204" pitchFamily="49" charset="0"/>
              </a:rPr>
              <a:t>    };</a:t>
            </a:r>
          </a:p>
          <a:p>
            <a:endParaRPr lang="en-US" sz="1100" dirty="0">
              <a:latin typeface="Lucida Console" panose="020B0609040504020204" pitchFamily="49" charset="0"/>
            </a:endParaRPr>
          </a:p>
          <a:p>
            <a:r>
              <a:rPr lang="en-US" sz="1100" dirty="0">
                <a:latin typeface="Lucida Console" panose="020B0609040504020204" pitchFamily="49" charset="0"/>
              </a:rPr>
              <a:t>    </a:t>
            </a:r>
            <a:r>
              <a:rPr lang="en-US" sz="1100" dirty="0" err="1">
                <a:latin typeface="Lucida Console" panose="020B0609040504020204" pitchFamily="49" charset="0"/>
              </a:rPr>
              <a:t>glActiveTexture</a:t>
            </a:r>
            <a:r>
              <a:rPr lang="en-US" sz="1100" dirty="0">
                <a:latin typeface="Lucida Console" panose="020B0609040504020204" pitchFamily="49" charset="0"/>
              </a:rPr>
              <a:t>(GL_TEXTURE0);</a:t>
            </a:r>
          </a:p>
          <a:p>
            <a:r>
              <a:rPr lang="en-US" sz="1100" dirty="0">
                <a:latin typeface="Lucida Console" panose="020B0609040504020204" pitchFamily="49" charset="0"/>
              </a:rPr>
              <a:t>    </a:t>
            </a:r>
            <a:r>
              <a:rPr lang="en-US" sz="1100" dirty="0" err="1">
                <a:latin typeface="Lucida Console" panose="020B0609040504020204" pitchFamily="49" charset="0"/>
              </a:rPr>
              <a:t>glBindTexture</a:t>
            </a:r>
            <a:r>
              <a:rPr lang="en-US" sz="1100" dirty="0">
                <a:latin typeface="Lucida Console" panose="020B0609040504020204" pitchFamily="49" charset="0"/>
              </a:rPr>
              <a:t>(GL_TEXTURE_2D,texIdent);</a:t>
            </a:r>
          </a:p>
          <a:p>
            <a:endParaRPr lang="en-US" sz="1100" dirty="0">
              <a:latin typeface="Lucida Console" panose="020B0609040504020204" pitchFamily="49" charset="0"/>
            </a:endParaRPr>
          </a:p>
          <a:p>
            <a:r>
              <a:rPr lang="en-US" sz="1100" dirty="0">
                <a:latin typeface="Lucida Console" panose="020B0609040504020204" pitchFamily="49" charset="0"/>
              </a:rPr>
              <a:t>    // GL_TEXTURE0 -&gt; 0.  Don't use GL_TEXTURE0! (Frequent confusion).</a:t>
            </a:r>
          </a:p>
          <a:p>
            <a:r>
              <a:rPr lang="en-US" sz="1100" dirty="0">
                <a:latin typeface="Lucida Console" panose="020B0609040504020204" pitchFamily="49" charset="0"/>
              </a:rPr>
              <a:t>    glUniform1i(sampler2d.uniformTexIdentPos,0); </a:t>
            </a:r>
          </a:p>
          <a:p>
            <a:r>
              <a:rPr lang="en-US" sz="1100" dirty="0">
                <a:latin typeface="Lucida Console" panose="020B0609040504020204" pitchFamily="49" charset="0"/>
              </a:rPr>
              <a:t>    </a:t>
            </a:r>
            <a:r>
              <a:rPr lang="en-US" sz="1100" dirty="0" err="1">
                <a:latin typeface="Lucida Console" panose="020B0609040504020204" pitchFamily="49" charset="0"/>
              </a:rPr>
              <a:t>glEnableVertexAttribArray</a:t>
            </a:r>
            <a:r>
              <a:rPr lang="en-US" sz="1100" dirty="0">
                <a:latin typeface="Lucida Console" panose="020B0609040504020204" pitchFamily="49" charset="0"/>
              </a:rPr>
              <a:t>(sampler2d.attribVertexPos);</a:t>
            </a:r>
          </a:p>
          <a:p>
            <a:r>
              <a:rPr lang="en-US" sz="1100" dirty="0">
                <a:latin typeface="Lucida Console" panose="020B0609040504020204" pitchFamily="49" charset="0"/>
              </a:rPr>
              <a:t>    </a:t>
            </a:r>
            <a:r>
              <a:rPr lang="en-US" sz="1100" dirty="0" err="1">
                <a:latin typeface="Lucida Console" panose="020B0609040504020204" pitchFamily="49" charset="0"/>
              </a:rPr>
              <a:t>glVertexAttribPointer</a:t>
            </a:r>
            <a:r>
              <a:rPr lang="en-US" sz="1100" dirty="0">
                <a:latin typeface="Lucida Console" panose="020B0609040504020204" pitchFamily="49" charset="0"/>
              </a:rPr>
              <a:t>(sampler2d.attribVertexPos,3,GL_FLOAT,GL_FALSE,0,vtx);</a:t>
            </a:r>
          </a:p>
          <a:p>
            <a:r>
              <a:rPr lang="en-US" sz="1100" dirty="0">
                <a:latin typeface="Lucida Console" panose="020B0609040504020204" pitchFamily="49" charset="0"/>
              </a:rPr>
              <a:t>    </a:t>
            </a:r>
            <a:r>
              <a:rPr lang="en-US" sz="1100" dirty="0" err="1">
                <a:latin typeface="Lucida Console" panose="020B0609040504020204" pitchFamily="49" charset="0"/>
              </a:rPr>
              <a:t>glEnableVertexAttribArray</a:t>
            </a:r>
            <a:r>
              <a:rPr lang="en-US" sz="1100" dirty="0">
                <a:latin typeface="Lucida Console" panose="020B0609040504020204" pitchFamily="49" charset="0"/>
              </a:rPr>
              <a:t>(sampler2d.attribTexCoordPos);</a:t>
            </a:r>
          </a:p>
          <a:p>
            <a:r>
              <a:rPr lang="en-US" sz="1100" dirty="0">
                <a:latin typeface="Lucida Console" panose="020B0609040504020204" pitchFamily="49" charset="0"/>
              </a:rPr>
              <a:t>    </a:t>
            </a:r>
            <a:r>
              <a:rPr lang="en-US" sz="1100" dirty="0" err="1">
                <a:latin typeface="Lucida Console" panose="020B0609040504020204" pitchFamily="49" charset="0"/>
              </a:rPr>
              <a:t>glVertexAttribPointer</a:t>
            </a:r>
            <a:r>
              <a:rPr lang="en-US" sz="1100" dirty="0">
                <a:latin typeface="Lucida Console" panose="020B0609040504020204" pitchFamily="49" charset="0"/>
              </a:rPr>
              <a:t>(sampler2d.attribTexCoordPos,2,GL_FLOAT,GL_FALSE,0,texCoord);</a:t>
            </a:r>
          </a:p>
          <a:p>
            <a:r>
              <a:rPr lang="en-US" sz="1100" dirty="0">
                <a:latin typeface="Lucida Console" panose="020B0609040504020204" pitchFamily="49" charset="0"/>
              </a:rPr>
              <a:t>    </a:t>
            </a:r>
            <a:r>
              <a:rPr lang="en-US" sz="1100" dirty="0" err="1">
                <a:latin typeface="Lucida Console" panose="020B0609040504020204" pitchFamily="49" charset="0"/>
              </a:rPr>
              <a:t>glDrawArrays</a:t>
            </a:r>
            <a:r>
              <a:rPr lang="en-US" sz="1100" dirty="0">
                <a:latin typeface="Lucida Console" panose="020B0609040504020204" pitchFamily="49" charset="0"/>
              </a:rPr>
              <a:t>(GL_TRIANGLE_FAN,0,4);</a:t>
            </a:r>
          </a:p>
          <a:p>
            <a:r>
              <a:rPr lang="en-US" sz="1100" dirty="0">
                <a:latin typeface="Lucida Console" panose="020B0609040504020204" pitchFamily="49" charset="0"/>
              </a:rPr>
              <a:t>    </a:t>
            </a:r>
            <a:r>
              <a:rPr lang="en-US" sz="1100" dirty="0" err="1">
                <a:latin typeface="Lucida Console" panose="020B0609040504020204" pitchFamily="49" charset="0"/>
              </a:rPr>
              <a:t>glDisableVertexAttribArray</a:t>
            </a:r>
            <a:r>
              <a:rPr lang="en-US" sz="1100" dirty="0">
                <a:latin typeface="Lucida Console" panose="020B0609040504020204" pitchFamily="49" charset="0"/>
              </a:rPr>
              <a:t>(sampler2d.attribVertexPos);</a:t>
            </a:r>
          </a:p>
          <a:p>
            <a:r>
              <a:rPr lang="en-US" sz="1100" dirty="0">
                <a:latin typeface="Lucida Console" panose="020B0609040504020204" pitchFamily="49" charset="0"/>
              </a:rPr>
              <a:t>    </a:t>
            </a:r>
            <a:r>
              <a:rPr lang="en-US" sz="1100" dirty="0" err="1">
                <a:latin typeface="Lucida Console" panose="020B0609040504020204" pitchFamily="49" charset="0"/>
              </a:rPr>
              <a:t>glDisableVertexAttribArray</a:t>
            </a:r>
            <a:r>
              <a:rPr lang="en-US" sz="1100" dirty="0">
                <a:latin typeface="Lucida Console" panose="020B0609040504020204" pitchFamily="49" charset="0"/>
              </a:rPr>
              <a:t>(sampler2d.attribTexCoordPos);</a:t>
            </a:r>
          </a:p>
          <a:p>
            <a:endParaRPr lang="en-US" sz="1100" dirty="0">
              <a:latin typeface="Lucida Console" panose="020B0609040504020204" pitchFamily="49" charset="0"/>
            </a:endParaRPr>
          </a:p>
          <a:p>
            <a:r>
              <a:rPr lang="en-US" sz="1100" dirty="0">
                <a:latin typeface="Lucida Console" panose="020B0609040504020204" pitchFamily="49" charset="0"/>
              </a:rPr>
              <a:t>    </a:t>
            </a:r>
            <a:r>
              <a:rPr lang="en-US" sz="1100" dirty="0" err="1">
                <a:latin typeface="Lucida Console" panose="020B0609040504020204" pitchFamily="49" charset="0"/>
              </a:rPr>
              <a:t>FsSwapBuffers</a:t>
            </a:r>
            <a:r>
              <a:rPr lang="en-US" sz="1100" dirty="0">
                <a:latin typeface="Lucida Console" panose="020B0609040504020204" pitchFamily="49" charset="0"/>
              </a:rPr>
              <a:t>();</a:t>
            </a:r>
          </a:p>
          <a:p>
            <a:endParaRPr lang="en-US" sz="1100" dirty="0">
              <a:latin typeface="Lucida Console" panose="020B0609040504020204" pitchFamily="49" charset="0"/>
            </a:endParaRPr>
          </a:p>
          <a:p>
            <a:r>
              <a:rPr lang="en-US" sz="1100" dirty="0">
                <a:latin typeface="Lucida Console" panose="020B0609040504020204" pitchFamily="49" charset="0"/>
              </a:rPr>
              <a:t>    </a:t>
            </a:r>
            <a:r>
              <a:rPr lang="en-US" sz="1100" dirty="0" err="1">
                <a:latin typeface="Lucida Console" panose="020B0609040504020204" pitchFamily="49" charset="0"/>
              </a:rPr>
              <a:t>needRedraw</a:t>
            </a:r>
            <a:r>
              <a:rPr lang="en-US" sz="1100" dirty="0">
                <a:latin typeface="Lucida Console" panose="020B0609040504020204" pitchFamily="49" charset="0"/>
              </a:rPr>
              <a:t>=false;</a:t>
            </a:r>
          </a:p>
          <a:p>
            <a:r>
              <a:rPr lang="en-US" sz="1100" dirty="0">
                <a:latin typeface="Lucida Console" panose="020B0609040504020204" pitchFamily="49" charset="0"/>
              </a:rPr>
              <a:t>}</a:t>
            </a:r>
          </a:p>
          <a:p>
            <a:endParaRPr lang="en-US" sz="1100" dirty="0">
              <a:latin typeface="Lucida Console" panose="020B0609040504020204" pitchFamily="49" charset="0"/>
            </a:endParaRPr>
          </a:p>
        </p:txBody>
      </p:sp>
      <p:sp>
        <p:nvSpPr>
          <p:cNvPr id="6" name="Right Brace 5"/>
          <p:cNvSpPr/>
          <p:nvPr/>
        </p:nvSpPr>
        <p:spPr>
          <a:xfrm>
            <a:off x="4081549" y="3640975"/>
            <a:ext cx="179416" cy="415636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/>
          <p:cNvCxnSpPr/>
          <p:nvPr/>
        </p:nvCxnSpPr>
        <p:spPr>
          <a:xfrm flipH="1">
            <a:off x="4260965" y="1332200"/>
            <a:ext cx="865562" cy="254153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126527" y="309684"/>
            <a:ext cx="38737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Setting up texture number 0.</a:t>
            </a:r>
          </a:p>
          <a:p>
            <a:r>
              <a:rPr lang="en-US" dirty="0">
                <a:solidFill>
                  <a:srgbClr val="FF0000"/>
                </a:solidFill>
              </a:rPr>
              <a:t>In this case, making texture number 0 as a 2D texture, which is identified by </a:t>
            </a:r>
            <a:r>
              <a:rPr lang="en-US" dirty="0" err="1">
                <a:solidFill>
                  <a:srgbClr val="FF0000"/>
                </a:solidFill>
              </a:rPr>
              <a:t>texIdent</a:t>
            </a:r>
            <a:r>
              <a:rPr lang="en-US" dirty="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06242" y="1735900"/>
            <a:ext cx="339401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Give 0 to use GL_TEXTURE0.  What’s confusing is GL_TEXTURE0 is not actually numeric value of 0 in OpenGL ES.  To make it work both in ES and full-spec OpenGL, use 0.</a:t>
            </a:r>
          </a:p>
        </p:txBody>
      </p:sp>
      <p:sp>
        <p:nvSpPr>
          <p:cNvPr id="13" name="Freeform 12"/>
          <p:cNvSpPr/>
          <p:nvPr/>
        </p:nvSpPr>
        <p:spPr>
          <a:xfrm>
            <a:off x="4638502" y="2360815"/>
            <a:ext cx="2205702" cy="2125873"/>
          </a:xfrm>
          <a:custGeom>
            <a:avLst/>
            <a:gdLst>
              <a:gd name="connsiteX0" fmla="*/ 947651 w 2205702"/>
              <a:gd name="connsiteY0" fmla="*/ 0 h 2125873"/>
              <a:gd name="connsiteX1" fmla="*/ 473825 w 2205702"/>
              <a:gd name="connsiteY1" fmla="*/ 382385 h 2125873"/>
              <a:gd name="connsiteX2" fmla="*/ 2202873 w 2205702"/>
              <a:gd name="connsiteY2" fmla="*/ 1895301 h 2125873"/>
              <a:gd name="connsiteX3" fmla="*/ 0 w 2205702"/>
              <a:gd name="connsiteY3" fmla="*/ 2094807 h 21258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5702" h="2125873">
                <a:moveTo>
                  <a:pt x="947651" y="0"/>
                </a:moveTo>
                <a:cubicBezTo>
                  <a:pt x="606136" y="33251"/>
                  <a:pt x="264621" y="66502"/>
                  <a:pt x="473825" y="382385"/>
                </a:cubicBezTo>
                <a:cubicBezTo>
                  <a:pt x="683029" y="698268"/>
                  <a:pt x="2281844" y="1609897"/>
                  <a:pt x="2202873" y="1895301"/>
                </a:cubicBezTo>
                <a:cubicBezTo>
                  <a:pt x="2123902" y="2180705"/>
                  <a:pt x="1061951" y="2137756"/>
                  <a:pt x="0" y="2094807"/>
                </a:cubicBezTo>
              </a:path>
            </a:pathLst>
          </a:custGeom>
          <a:noFill/>
          <a:ln w="31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822902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Plain 3D renderer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Vertex attributes</a:t>
            </a:r>
          </a:p>
          <a:p>
            <a:pPr lvl="1"/>
            <a:r>
              <a:rPr lang="en-US" dirty="0"/>
              <a:t>Position (vec3)</a:t>
            </a:r>
          </a:p>
          <a:p>
            <a:pPr lvl="1"/>
            <a:r>
              <a:rPr lang="en-US" dirty="0"/>
              <a:t>Color (vec4)</a:t>
            </a:r>
          </a:p>
          <a:p>
            <a:r>
              <a:rPr lang="en-US" dirty="0"/>
              <a:t>Uniforms</a:t>
            </a:r>
          </a:p>
          <a:p>
            <a:pPr lvl="1"/>
            <a:r>
              <a:rPr lang="en-US" dirty="0"/>
              <a:t>Projection matrix (mat4)</a:t>
            </a:r>
          </a:p>
          <a:p>
            <a:pPr lvl="1"/>
            <a:r>
              <a:rPr lang="en-US" dirty="0" err="1"/>
              <a:t>ModelView</a:t>
            </a:r>
            <a:r>
              <a:rPr lang="en-US" dirty="0"/>
              <a:t> matrix (mat4)</a:t>
            </a:r>
          </a:p>
          <a:p>
            <a:r>
              <a:rPr lang="en-US" dirty="0"/>
              <a:t>Varying</a:t>
            </a:r>
          </a:p>
          <a:p>
            <a:pPr lvl="1"/>
            <a:r>
              <a:rPr lang="en-US" dirty="0"/>
              <a:t>Color (Just pass color attribute to color varying in the vertex </a:t>
            </a:r>
            <a:r>
              <a:rPr lang="en-US" dirty="0" err="1"/>
              <a:t>shader</a:t>
            </a:r>
            <a:r>
              <a:rPr lang="en-US" dirty="0"/>
              <a:t>, and use it as is in the fragment </a:t>
            </a:r>
            <a:r>
              <a:rPr lang="en-US" dirty="0" err="1"/>
              <a:t>shader</a:t>
            </a:r>
            <a:r>
              <a:rPr lang="en-US" dirty="0"/>
              <a:t>.)</a:t>
            </a:r>
          </a:p>
        </p:txBody>
      </p:sp>
    </p:spTree>
    <p:extLst>
      <p:ext uri="{BB962C8B-B14F-4D97-AF65-F5344CB8AC3E}">
        <p14:creationId xmlns:p14="http://schemas.microsoft.com/office/powerpoint/2010/main" val="1835250993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From </a:t>
            </a:r>
            <a:r>
              <a:rPr lang="en-US" dirty="0" err="1"/>
              <a:t>uniform_color</a:t>
            </a:r>
            <a:r>
              <a:rPr lang="en-US" dirty="0"/>
              <a:t> example</a:t>
            </a:r>
          </a:p>
          <a:p>
            <a:r>
              <a:rPr lang="en-US" dirty="0"/>
              <a:t>Add plain3d_vertex_shader.glsl as: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Add plain3d_fragment_shader.glsl as: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399" y="1978925"/>
            <a:ext cx="5205271" cy="24929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Lucida Console" panose="020B0609040504020204" pitchFamily="49" charset="0"/>
              </a:rPr>
              <a:t>attribute vec3 vertex;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attribute vec4 color;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uniform mat4 </a:t>
            </a:r>
            <a:r>
              <a:rPr lang="en-US" sz="1200" dirty="0" err="1">
                <a:latin typeface="Lucida Console" panose="020B0609040504020204" pitchFamily="49" charset="0"/>
              </a:rPr>
              <a:t>projection,modelView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varying vec4 </a:t>
            </a:r>
            <a:r>
              <a:rPr lang="en-US" sz="1200" dirty="0" err="1">
                <a:latin typeface="Lucida Console" panose="020B0609040504020204" pitchFamily="49" charset="0"/>
              </a:rPr>
              <a:t>colorOut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void main()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colorOut</a:t>
            </a:r>
            <a:r>
              <a:rPr lang="en-US" sz="1200" dirty="0">
                <a:latin typeface="Lucida Console" panose="020B0609040504020204" pitchFamily="49" charset="0"/>
              </a:rPr>
              <a:t>=color;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gl_Position</a:t>
            </a:r>
            <a:r>
              <a:rPr lang="en-US" sz="1200" dirty="0">
                <a:latin typeface="Lucida Console" panose="020B0609040504020204" pitchFamily="49" charset="0"/>
              </a:rPr>
              <a:t>=projection*</a:t>
            </a:r>
            <a:r>
              <a:rPr lang="en-US" sz="1200" dirty="0" err="1">
                <a:latin typeface="Lucida Console" panose="020B0609040504020204" pitchFamily="49" charset="0"/>
              </a:rPr>
              <a:t>modelView</a:t>
            </a:r>
            <a:r>
              <a:rPr lang="en-US" sz="1200" dirty="0">
                <a:latin typeface="Lucida Console" panose="020B0609040504020204" pitchFamily="49" charset="0"/>
              </a:rPr>
              <a:t>*vec4(vertex,1.0);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}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399" y="5138382"/>
            <a:ext cx="260199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Lucida Console" panose="020B0609040504020204" pitchFamily="49" charset="0"/>
              </a:rPr>
              <a:t>varying vec4 </a:t>
            </a:r>
            <a:r>
              <a:rPr lang="en-US" sz="1200" dirty="0" err="1">
                <a:latin typeface="Lucida Console" panose="020B0609040504020204" pitchFamily="49" charset="0"/>
              </a:rPr>
              <a:t>colorOut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void main()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gl_FragColor</a:t>
            </a:r>
            <a:r>
              <a:rPr lang="en-US" sz="1200" dirty="0">
                <a:latin typeface="Lucida Console" panose="020B0609040504020204" pitchFamily="49" charset="0"/>
              </a:rPr>
              <a:t>=</a:t>
            </a:r>
            <a:r>
              <a:rPr lang="en-US" sz="1200" dirty="0" err="1">
                <a:latin typeface="Lucida Console" panose="020B0609040504020204" pitchFamily="49" charset="0"/>
              </a:rPr>
              <a:t>colorOut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}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1497558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36728"/>
            <a:ext cx="8229600" cy="5689435"/>
          </a:xfrm>
        </p:spPr>
        <p:txBody>
          <a:bodyPr/>
          <a:lstStyle/>
          <a:p>
            <a:r>
              <a:rPr lang="en-US" dirty="0"/>
              <a:t>Add Plain3dRenderer class in </a:t>
            </a:r>
            <a:r>
              <a:rPr lang="en-US" dirty="0" err="1"/>
              <a:t>renderer.h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In renderer.cpp, implement </a:t>
            </a:r>
            <a:r>
              <a:rPr lang="en-US" dirty="0" err="1"/>
              <a:t>CacheAttributeAndUniformIdent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87104" y="880280"/>
            <a:ext cx="5112297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Lucida Console" panose="020B0609040504020204" pitchFamily="49" charset="0"/>
              </a:rPr>
              <a:t>class Plain3dRenderer : public </a:t>
            </a:r>
            <a:r>
              <a:rPr lang="en-US" sz="1200" dirty="0" err="1">
                <a:latin typeface="Lucida Console" panose="020B0609040504020204" pitchFamily="49" charset="0"/>
              </a:rPr>
              <a:t>RendererBase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public: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GLuint</a:t>
            </a:r>
            <a:r>
              <a:rPr lang="en-US" sz="1200" dirty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attribVertexPos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GLuint</a:t>
            </a:r>
            <a:r>
              <a:rPr lang="en-US" sz="1200" dirty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attribColorPos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GLuint</a:t>
            </a:r>
            <a:r>
              <a:rPr lang="en-US" sz="1200" dirty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uniformProjectionPos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GLuint</a:t>
            </a:r>
            <a:r>
              <a:rPr lang="en-US" sz="1200" dirty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uniformModelViewPos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virtual void </a:t>
            </a:r>
            <a:r>
              <a:rPr lang="en-US" sz="1200" dirty="0" err="1">
                <a:latin typeface="Lucida Console" panose="020B0609040504020204" pitchFamily="49" charset="0"/>
              </a:rPr>
              <a:t>CacheAttributeAndUniformIdent</a:t>
            </a:r>
            <a:r>
              <a:rPr lang="en-US" sz="1200" dirty="0">
                <a:latin typeface="Lucida Console" panose="020B0609040504020204" pitchFamily="49" charset="0"/>
              </a:rPr>
              <a:t>(void);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};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87104" y="3568889"/>
            <a:ext cx="6971780" cy="24929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Lucida Console" panose="020B0609040504020204" pitchFamily="49" charset="0"/>
              </a:rPr>
              <a:t>void Plain3dRenderer::</a:t>
            </a:r>
            <a:r>
              <a:rPr lang="en-US" sz="1200" dirty="0" err="1">
                <a:latin typeface="Lucida Console" panose="020B0609040504020204" pitchFamily="49" charset="0"/>
              </a:rPr>
              <a:t>CacheAttributeAndUniformIdent</a:t>
            </a:r>
            <a:r>
              <a:rPr lang="en-US" sz="1200" dirty="0">
                <a:latin typeface="Lucida Console" panose="020B0609040504020204" pitchFamily="49" charset="0"/>
              </a:rPr>
              <a:t>(void)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attribVertexPos</a:t>
            </a:r>
            <a:r>
              <a:rPr lang="en-US" sz="1200" dirty="0">
                <a:latin typeface="Lucida Console" panose="020B0609040504020204" pitchFamily="49" charset="0"/>
              </a:rPr>
              <a:t>=</a:t>
            </a:r>
            <a:r>
              <a:rPr lang="en-US" sz="1200" dirty="0" err="1">
                <a:latin typeface="Lucida Console" panose="020B0609040504020204" pitchFamily="49" charset="0"/>
              </a:rPr>
              <a:t>glGetAttribLocation</a:t>
            </a:r>
            <a:r>
              <a:rPr lang="en-US" sz="1200" dirty="0">
                <a:latin typeface="Lucida Console" panose="020B0609040504020204" pitchFamily="49" charset="0"/>
              </a:rPr>
              <a:t>(</a:t>
            </a:r>
            <a:r>
              <a:rPr lang="en-US" sz="1200" dirty="0" err="1">
                <a:latin typeface="Lucida Console" panose="020B0609040504020204" pitchFamily="49" charset="0"/>
              </a:rPr>
              <a:t>programIdent</a:t>
            </a:r>
            <a:r>
              <a:rPr lang="en-US" sz="1200" dirty="0">
                <a:latin typeface="Lucida Console" panose="020B0609040504020204" pitchFamily="49" charset="0"/>
              </a:rPr>
              <a:t>,"vertex");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printf</a:t>
            </a:r>
            <a:r>
              <a:rPr lang="en-US" sz="1200" dirty="0">
                <a:latin typeface="Lucida Console" panose="020B0609040504020204" pitchFamily="49" charset="0"/>
              </a:rPr>
              <a:t>("Attribute Vertex Position=%d\n",</a:t>
            </a:r>
            <a:r>
              <a:rPr lang="en-US" sz="1200" dirty="0" err="1">
                <a:latin typeface="Lucida Console" panose="020B0609040504020204" pitchFamily="49" charset="0"/>
              </a:rPr>
              <a:t>attribVertexPos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attribColorPos</a:t>
            </a:r>
            <a:r>
              <a:rPr lang="en-US" sz="1200" dirty="0">
                <a:latin typeface="Lucida Console" panose="020B0609040504020204" pitchFamily="49" charset="0"/>
              </a:rPr>
              <a:t>=</a:t>
            </a:r>
            <a:r>
              <a:rPr lang="en-US" sz="1200" dirty="0" err="1">
                <a:latin typeface="Lucida Console" panose="020B0609040504020204" pitchFamily="49" charset="0"/>
              </a:rPr>
              <a:t>glGetAttribLocation</a:t>
            </a:r>
            <a:r>
              <a:rPr lang="en-US" sz="1200" dirty="0">
                <a:latin typeface="Lucida Console" panose="020B0609040504020204" pitchFamily="49" charset="0"/>
              </a:rPr>
              <a:t>(</a:t>
            </a:r>
            <a:r>
              <a:rPr lang="en-US" sz="1200" dirty="0" err="1">
                <a:latin typeface="Lucida Console" panose="020B0609040504020204" pitchFamily="49" charset="0"/>
              </a:rPr>
              <a:t>programIdent</a:t>
            </a:r>
            <a:r>
              <a:rPr lang="en-US" sz="1200" dirty="0">
                <a:latin typeface="Lucida Console" panose="020B0609040504020204" pitchFamily="49" charset="0"/>
              </a:rPr>
              <a:t>,"color");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printf</a:t>
            </a:r>
            <a:r>
              <a:rPr lang="en-US" sz="1200" dirty="0">
                <a:latin typeface="Lucida Console" panose="020B0609040504020204" pitchFamily="49" charset="0"/>
              </a:rPr>
              <a:t>("Attribute Color Position=%d\n",</a:t>
            </a:r>
            <a:r>
              <a:rPr lang="en-US" sz="1200" dirty="0" err="1">
                <a:latin typeface="Lucida Console" panose="020B0609040504020204" pitchFamily="49" charset="0"/>
              </a:rPr>
              <a:t>attribColorPos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uniformProjectionPos</a:t>
            </a:r>
            <a:r>
              <a:rPr lang="en-US" sz="1200" dirty="0">
                <a:latin typeface="Lucida Console" panose="020B0609040504020204" pitchFamily="49" charset="0"/>
              </a:rPr>
              <a:t>=</a:t>
            </a:r>
            <a:r>
              <a:rPr lang="en-US" sz="1200" dirty="0" err="1">
                <a:latin typeface="Lucida Console" panose="020B0609040504020204" pitchFamily="49" charset="0"/>
              </a:rPr>
              <a:t>glGetUniformLocation</a:t>
            </a:r>
            <a:r>
              <a:rPr lang="en-US" sz="1200" dirty="0">
                <a:latin typeface="Lucida Console" panose="020B0609040504020204" pitchFamily="49" charset="0"/>
              </a:rPr>
              <a:t>(</a:t>
            </a:r>
            <a:r>
              <a:rPr lang="en-US" sz="1200" dirty="0" err="1">
                <a:latin typeface="Lucida Console" panose="020B0609040504020204" pitchFamily="49" charset="0"/>
              </a:rPr>
              <a:t>programIdent</a:t>
            </a:r>
            <a:r>
              <a:rPr lang="en-US" sz="1200" dirty="0">
                <a:latin typeface="Lucida Console" panose="020B0609040504020204" pitchFamily="49" charset="0"/>
              </a:rPr>
              <a:t>,"projection");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printf</a:t>
            </a:r>
            <a:r>
              <a:rPr lang="en-US" sz="1200" dirty="0">
                <a:latin typeface="Lucida Console" panose="020B0609040504020204" pitchFamily="49" charset="0"/>
              </a:rPr>
              <a:t>("Uniform Projection Position=%d\n",</a:t>
            </a:r>
            <a:r>
              <a:rPr lang="en-US" sz="1200" dirty="0" err="1">
                <a:latin typeface="Lucida Console" panose="020B0609040504020204" pitchFamily="49" charset="0"/>
              </a:rPr>
              <a:t>uniformProjectionPos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uniformModelViewPos</a:t>
            </a:r>
            <a:r>
              <a:rPr lang="en-US" sz="1200" dirty="0">
                <a:latin typeface="Lucida Console" panose="020B0609040504020204" pitchFamily="49" charset="0"/>
              </a:rPr>
              <a:t>=</a:t>
            </a:r>
            <a:r>
              <a:rPr lang="en-US" sz="1200" dirty="0" err="1">
                <a:latin typeface="Lucida Console" panose="020B0609040504020204" pitchFamily="49" charset="0"/>
              </a:rPr>
              <a:t>glGetUniformLocation</a:t>
            </a:r>
            <a:r>
              <a:rPr lang="en-US" sz="1200" dirty="0">
                <a:latin typeface="Lucida Console" panose="020B0609040504020204" pitchFamily="49" charset="0"/>
              </a:rPr>
              <a:t>(</a:t>
            </a:r>
            <a:r>
              <a:rPr lang="en-US" sz="1200" dirty="0" err="1">
                <a:latin typeface="Lucida Console" panose="020B0609040504020204" pitchFamily="49" charset="0"/>
              </a:rPr>
              <a:t>programIdent</a:t>
            </a:r>
            <a:r>
              <a:rPr lang="en-US" sz="1200" dirty="0">
                <a:latin typeface="Lucida Console" panose="020B0609040504020204" pitchFamily="49" charset="0"/>
              </a:rPr>
              <a:t>,"</a:t>
            </a:r>
            <a:r>
              <a:rPr lang="en-US" sz="1200" dirty="0" err="1">
                <a:latin typeface="Lucida Console" panose="020B0609040504020204" pitchFamily="49" charset="0"/>
              </a:rPr>
              <a:t>modelView</a:t>
            </a:r>
            <a:r>
              <a:rPr lang="en-US" sz="1200" dirty="0">
                <a:latin typeface="Lucida Console" panose="020B0609040504020204" pitchFamily="49" charset="0"/>
              </a:rPr>
              <a:t>");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printf</a:t>
            </a:r>
            <a:r>
              <a:rPr lang="en-US" sz="1200" dirty="0">
                <a:latin typeface="Lucida Console" panose="020B0609040504020204" pitchFamily="49" charset="0"/>
              </a:rPr>
              <a:t>("Uniform </a:t>
            </a:r>
            <a:r>
              <a:rPr lang="en-US" sz="1200" dirty="0" err="1">
                <a:latin typeface="Lucida Console" panose="020B0609040504020204" pitchFamily="49" charset="0"/>
              </a:rPr>
              <a:t>ModelView</a:t>
            </a:r>
            <a:r>
              <a:rPr lang="en-US" sz="1200" dirty="0">
                <a:latin typeface="Lucida Console" panose="020B0609040504020204" pitchFamily="49" charset="0"/>
              </a:rPr>
              <a:t> Position=%d\n",</a:t>
            </a:r>
            <a:r>
              <a:rPr lang="en-US" sz="1200" dirty="0" err="1">
                <a:latin typeface="Lucida Console" panose="020B0609040504020204" pitchFamily="49" charset="0"/>
              </a:rPr>
              <a:t>uniformModelViewPos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21411791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75314"/>
            <a:ext cx="8229600" cy="5750850"/>
          </a:xfrm>
        </p:spPr>
        <p:txBody>
          <a:bodyPr/>
          <a:lstStyle/>
          <a:p>
            <a:r>
              <a:rPr lang="en-US" dirty="0"/>
              <a:t>In Initialize function,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In CMakeLists.txt,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Add headers: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89212" y="859809"/>
            <a:ext cx="39036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Lucida Console" panose="020B0609040504020204" pitchFamily="49" charset="0"/>
              </a:rPr>
              <a:t>    plain3d.CompileFile(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    "plain3d_vertex_shader.glsl",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    "plain3d_fragment_shader.glsl");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89212" y="2702257"/>
            <a:ext cx="60420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Lucida Console" panose="020B0609040504020204" pitchFamily="49" charset="0"/>
              </a:rPr>
              <a:t>set(LIB_DEPENDENCY </a:t>
            </a:r>
            <a:r>
              <a:rPr lang="en-US" sz="1200" dirty="0" err="1">
                <a:latin typeface="Lucida Console" panose="020B0609040504020204" pitchFamily="49" charset="0"/>
              </a:rPr>
              <a:t>fslazywindow</a:t>
            </a:r>
            <a:r>
              <a:rPr lang="en-US" sz="1200" dirty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ysclass</a:t>
            </a:r>
            <a:r>
              <a:rPr lang="en-US" sz="1200" dirty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ysgl</a:t>
            </a:r>
            <a:r>
              <a:rPr lang="en-US" sz="1200" dirty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ysport</a:t>
            </a:r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geblkernel</a:t>
            </a:r>
            <a:r>
              <a:rPr lang="en-US" sz="1200" dirty="0">
                <a:latin typeface="Lucida Console" panose="020B0609040504020204" pitchFamily="49" charset="0"/>
              </a:rPr>
              <a:t>)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9212" y="4046561"/>
            <a:ext cx="250902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Lucida Console" panose="020B0609040504020204" pitchFamily="49" charset="0"/>
              </a:rPr>
              <a:t>#include &lt;</a:t>
            </a:r>
            <a:r>
              <a:rPr lang="en-US" sz="1200" dirty="0" err="1">
                <a:latin typeface="Lucida Console" panose="020B0609040504020204" pitchFamily="49" charset="0"/>
              </a:rPr>
              <a:t>ysshellext.h</a:t>
            </a:r>
            <a:r>
              <a:rPr lang="en-US" sz="12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#include &lt;</a:t>
            </a:r>
            <a:r>
              <a:rPr lang="en-US" sz="1200" dirty="0" err="1">
                <a:latin typeface="Lucida Console" panose="020B0609040504020204" pitchFamily="49" charset="0"/>
              </a:rPr>
              <a:t>ysport.h</a:t>
            </a:r>
            <a:r>
              <a:rPr lang="en-US" sz="12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#include &lt;</a:t>
            </a:r>
            <a:r>
              <a:rPr lang="en-US" sz="1200" dirty="0" err="1">
                <a:latin typeface="Lucida Console" panose="020B0609040504020204" pitchFamily="49" charset="0"/>
              </a:rPr>
              <a:t>ysshellextio.h</a:t>
            </a:r>
            <a:r>
              <a:rPr lang="en-US" sz="1200" dirty="0">
                <a:latin typeface="Lucida Console" panose="020B0609040504020204" pitchFamily="49" charset="0"/>
              </a:rPr>
              <a:t>&gt;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8725895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Replacing the rendering part of the STL viewer with the plain3Drenderer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4470" y="1526994"/>
            <a:ext cx="875034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glUseProgram</a:t>
            </a:r>
            <a:r>
              <a:rPr lang="en-US" sz="1200" dirty="0">
                <a:latin typeface="Lucida Console" panose="020B0609040504020204" pitchFamily="49" charset="0"/>
              </a:rPr>
              <a:t>(plain3d.programIdent);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glUniformMatrix4fv(plain3d.uniformProjectionPos,1,GL_FALSE,projMat);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glUniformMatrix4fv(plain3d.uniformModelViewPos,1,GL_FALSE,viewMat);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glEnableVertexAttribArray</a:t>
            </a:r>
            <a:r>
              <a:rPr lang="en-US" sz="1200" dirty="0">
                <a:latin typeface="Lucida Console" panose="020B0609040504020204" pitchFamily="49" charset="0"/>
              </a:rPr>
              <a:t>(plain3d.attribVertexPos);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glVertexAttribPointer</a:t>
            </a:r>
            <a:r>
              <a:rPr lang="en-US" sz="1200" dirty="0">
                <a:latin typeface="Lucida Console" panose="020B0609040504020204" pitchFamily="49" charset="0"/>
              </a:rPr>
              <a:t>(plain3d.attribVertexPos,3,GL_FLOAT,GL_FALSE,0,vtx.data());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glEnableVertexAttribArray</a:t>
            </a:r>
            <a:r>
              <a:rPr lang="en-US" sz="1200" dirty="0">
                <a:latin typeface="Lucida Console" panose="020B0609040504020204" pitchFamily="49" charset="0"/>
              </a:rPr>
              <a:t>(plain3d.attribColorPos);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glVertexAttribPointer</a:t>
            </a:r>
            <a:r>
              <a:rPr lang="en-US" sz="1200" dirty="0">
                <a:latin typeface="Lucida Console" panose="020B0609040504020204" pitchFamily="49" charset="0"/>
              </a:rPr>
              <a:t>(plain3d.attribColorPos,4,GL_FLOAT,GL_FALSE,0,col.data());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glDrawArrays</a:t>
            </a:r>
            <a:r>
              <a:rPr lang="en-US" sz="1200" dirty="0">
                <a:latin typeface="Lucida Console" panose="020B0609040504020204" pitchFamily="49" charset="0"/>
              </a:rPr>
              <a:t>(GL_TRIANGLES,0,vtx.size()/3);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glDisableVertexAttribArray</a:t>
            </a:r>
            <a:r>
              <a:rPr lang="en-US" sz="1200" dirty="0">
                <a:latin typeface="Lucida Console" panose="020B0609040504020204" pitchFamily="49" charset="0"/>
              </a:rPr>
              <a:t>(plain3d.attribVertexPos);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glDisableVertexAttribArray</a:t>
            </a:r>
            <a:r>
              <a:rPr lang="en-US" sz="1200" dirty="0">
                <a:latin typeface="Lucida Console" panose="020B0609040504020204" pitchFamily="49" charset="0"/>
              </a:rPr>
              <a:t>(plain3d.attribColorPos);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2019249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Color based on the location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Fragment </a:t>
            </a:r>
            <a:r>
              <a:rPr lang="en-US" dirty="0" err="1"/>
              <a:t>shader</a:t>
            </a:r>
            <a:r>
              <a:rPr lang="en-US" dirty="0"/>
              <a:t> can make the color as a function of  raw-input xyz coordinate.</a:t>
            </a:r>
          </a:p>
        </p:txBody>
      </p:sp>
    </p:spTree>
    <p:extLst>
      <p:ext uri="{BB962C8B-B14F-4D97-AF65-F5344CB8AC3E}">
        <p14:creationId xmlns:p14="http://schemas.microsoft.com/office/powerpoint/2010/main" val="1628417528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Shader</a:t>
            </a:r>
            <a:r>
              <a:rPr lang="en-US" dirty="0"/>
              <a:t> programs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rainbow3d_vertex_shader.glsl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rainbow3d_fragment_shader.glsl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2263" y="4797189"/>
            <a:ext cx="836639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Lucida Console" panose="020B0609040504020204" pitchFamily="49" charset="0"/>
              </a:rPr>
              <a:t>varying vec3 </a:t>
            </a:r>
            <a:r>
              <a:rPr lang="en-US" sz="1200" dirty="0" err="1">
                <a:latin typeface="Lucida Console" panose="020B0609040504020204" pitchFamily="49" charset="0"/>
              </a:rPr>
              <a:t>vertexOut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void main()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float pi=3.1415927;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gl_FragColor</a:t>
            </a:r>
            <a:r>
              <a:rPr lang="en-US" sz="1200" dirty="0">
                <a:latin typeface="Lucida Console" panose="020B0609040504020204" pitchFamily="49" charset="0"/>
              </a:rPr>
              <a:t>=vec4(sin(</a:t>
            </a:r>
            <a:r>
              <a:rPr lang="en-US" sz="1200" dirty="0" err="1">
                <a:latin typeface="Lucida Console" panose="020B0609040504020204" pitchFamily="49" charset="0"/>
              </a:rPr>
              <a:t>vertexOut.x</a:t>
            </a:r>
            <a:r>
              <a:rPr lang="en-US" sz="1200" dirty="0">
                <a:latin typeface="Lucida Console" panose="020B0609040504020204" pitchFamily="49" charset="0"/>
              </a:rPr>
              <a:t>),sin(pi/2.0+vertexOut.y),sin(</a:t>
            </a:r>
            <a:r>
              <a:rPr lang="en-US" sz="1200" dirty="0" err="1">
                <a:latin typeface="Lucida Console" panose="020B0609040504020204" pitchFamily="49" charset="0"/>
              </a:rPr>
              <a:t>pi+vertexOut.z</a:t>
            </a:r>
            <a:r>
              <a:rPr lang="en-US" sz="1200" dirty="0">
                <a:latin typeface="Lucida Console" panose="020B0609040504020204" pitchFamily="49" charset="0"/>
              </a:rPr>
              <a:t>),1.0);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2263" y="1487606"/>
            <a:ext cx="5205271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Lucida Console" panose="020B0609040504020204" pitchFamily="49" charset="0"/>
              </a:rPr>
              <a:t>attribute vec3 vertex;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uniform mat4 </a:t>
            </a:r>
            <a:r>
              <a:rPr lang="en-US" sz="1200" dirty="0" err="1">
                <a:latin typeface="Lucida Console" panose="020B0609040504020204" pitchFamily="49" charset="0"/>
              </a:rPr>
              <a:t>projection,modelView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varying vec3 </a:t>
            </a:r>
            <a:r>
              <a:rPr lang="en-US" sz="1200" dirty="0" err="1">
                <a:latin typeface="Lucida Console" panose="020B0609040504020204" pitchFamily="49" charset="0"/>
              </a:rPr>
              <a:t>vertexOut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void main()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vertexOut</a:t>
            </a:r>
            <a:r>
              <a:rPr lang="en-US" sz="1200" dirty="0">
                <a:latin typeface="Lucida Console" panose="020B0609040504020204" pitchFamily="49" charset="0"/>
              </a:rPr>
              <a:t>=vertex;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gl_Position</a:t>
            </a:r>
            <a:r>
              <a:rPr lang="en-US" sz="1200" dirty="0">
                <a:latin typeface="Lucida Console" panose="020B0609040504020204" pitchFamily="49" charset="0"/>
              </a:rPr>
              <a:t>=projection*</a:t>
            </a:r>
            <a:r>
              <a:rPr lang="en-US" sz="1200" dirty="0" err="1">
                <a:latin typeface="Lucida Console" panose="020B0609040504020204" pitchFamily="49" charset="0"/>
              </a:rPr>
              <a:t>modelView</a:t>
            </a:r>
            <a:r>
              <a:rPr lang="en-US" sz="1200" dirty="0">
                <a:latin typeface="Lucida Console" panose="020B0609040504020204" pitchFamily="49" charset="0"/>
              </a:rPr>
              <a:t>*vec4(vertex,1.0);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}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158388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Rainbow3dRenderer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</a:t>
            </a:r>
            <a:r>
              <a:rPr lang="en-US" dirty="0" err="1"/>
              <a:t>renderer.h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In renderer.cpp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6036" y="4360460"/>
            <a:ext cx="6971780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Lucida Console" panose="020B0609040504020204" pitchFamily="49" charset="0"/>
              </a:rPr>
              <a:t>void Rainbow3dRenderer::</a:t>
            </a:r>
            <a:r>
              <a:rPr lang="en-US" sz="1200" dirty="0" err="1">
                <a:latin typeface="Lucida Console" panose="020B0609040504020204" pitchFamily="49" charset="0"/>
              </a:rPr>
              <a:t>CacheAttributeAndUniformIdent</a:t>
            </a:r>
            <a:r>
              <a:rPr lang="en-US" sz="1200" dirty="0">
                <a:latin typeface="Lucida Console" panose="020B0609040504020204" pitchFamily="49" charset="0"/>
              </a:rPr>
              <a:t>(void)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attribVertexPos</a:t>
            </a:r>
            <a:r>
              <a:rPr lang="en-US" sz="1200" dirty="0">
                <a:latin typeface="Lucida Console" panose="020B0609040504020204" pitchFamily="49" charset="0"/>
              </a:rPr>
              <a:t>=</a:t>
            </a:r>
            <a:r>
              <a:rPr lang="en-US" sz="1200" dirty="0" err="1">
                <a:latin typeface="Lucida Console" panose="020B0609040504020204" pitchFamily="49" charset="0"/>
              </a:rPr>
              <a:t>glGetAttribLocation</a:t>
            </a:r>
            <a:r>
              <a:rPr lang="en-US" sz="1200" dirty="0">
                <a:latin typeface="Lucida Console" panose="020B0609040504020204" pitchFamily="49" charset="0"/>
              </a:rPr>
              <a:t>(</a:t>
            </a:r>
            <a:r>
              <a:rPr lang="en-US" sz="1200" dirty="0" err="1">
                <a:latin typeface="Lucida Console" panose="020B0609040504020204" pitchFamily="49" charset="0"/>
              </a:rPr>
              <a:t>programIdent</a:t>
            </a:r>
            <a:r>
              <a:rPr lang="en-US" sz="1200" dirty="0">
                <a:latin typeface="Lucida Console" panose="020B0609040504020204" pitchFamily="49" charset="0"/>
              </a:rPr>
              <a:t>,"vertex");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printf</a:t>
            </a:r>
            <a:r>
              <a:rPr lang="en-US" sz="1200" dirty="0">
                <a:latin typeface="Lucida Console" panose="020B0609040504020204" pitchFamily="49" charset="0"/>
              </a:rPr>
              <a:t>("Attribute Vertex Position=%d\n",</a:t>
            </a:r>
            <a:r>
              <a:rPr lang="en-US" sz="1200" dirty="0" err="1">
                <a:latin typeface="Lucida Console" panose="020B0609040504020204" pitchFamily="49" charset="0"/>
              </a:rPr>
              <a:t>attribVertexPos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uniformProjectionPos</a:t>
            </a:r>
            <a:r>
              <a:rPr lang="en-US" sz="1200" dirty="0">
                <a:latin typeface="Lucida Console" panose="020B0609040504020204" pitchFamily="49" charset="0"/>
              </a:rPr>
              <a:t>=</a:t>
            </a:r>
            <a:r>
              <a:rPr lang="en-US" sz="1200" dirty="0" err="1">
                <a:latin typeface="Lucida Console" panose="020B0609040504020204" pitchFamily="49" charset="0"/>
              </a:rPr>
              <a:t>glGetUniformLocation</a:t>
            </a:r>
            <a:r>
              <a:rPr lang="en-US" sz="1200" dirty="0">
                <a:latin typeface="Lucida Console" panose="020B0609040504020204" pitchFamily="49" charset="0"/>
              </a:rPr>
              <a:t>(</a:t>
            </a:r>
            <a:r>
              <a:rPr lang="en-US" sz="1200" dirty="0" err="1">
                <a:latin typeface="Lucida Console" panose="020B0609040504020204" pitchFamily="49" charset="0"/>
              </a:rPr>
              <a:t>programIdent</a:t>
            </a:r>
            <a:r>
              <a:rPr lang="en-US" sz="1200" dirty="0">
                <a:latin typeface="Lucida Console" panose="020B0609040504020204" pitchFamily="49" charset="0"/>
              </a:rPr>
              <a:t>,"projection");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printf</a:t>
            </a:r>
            <a:r>
              <a:rPr lang="en-US" sz="1200" dirty="0">
                <a:latin typeface="Lucida Console" panose="020B0609040504020204" pitchFamily="49" charset="0"/>
              </a:rPr>
              <a:t>("Uniform Projection Position=%d\n",</a:t>
            </a:r>
            <a:r>
              <a:rPr lang="en-US" sz="1200" dirty="0" err="1">
                <a:latin typeface="Lucida Console" panose="020B0609040504020204" pitchFamily="49" charset="0"/>
              </a:rPr>
              <a:t>uniformProjectionPos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uniformModelViewPos</a:t>
            </a:r>
            <a:r>
              <a:rPr lang="en-US" sz="1200" dirty="0">
                <a:latin typeface="Lucida Console" panose="020B0609040504020204" pitchFamily="49" charset="0"/>
              </a:rPr>
              <a:t>=</a:t>
            </a:r>
            <a:r>
              <a:rPr lang="en-US" sz="1200" dirty="0" err="1">
                <a:latin typeface="Lucida Console" panose="020B0609040504020204" pitchFamily="49" charset="0"/>
              </a:rPr>
              <a:t>glGetUniformLocation</a:t>
            </a:r>
            <a:r>
              <a:rPr lang="en-US" sz="1200" dirty="0">
                <a:latin typeface="Lucida Console" panose="020B0609040504020204" pitchFamily="49" charset="0"/>
              </a:rPr>
              <a:t>(</a:t>
            </a:r>
            <a:r>
              <a:rPr lang="en-US" sz="1200" dirty="0" err="1">
                <a:latin typeface="Lucida Console" panose="020B0609040504020204" pitchFamily="49" charset="0"/>
              </a:rPr>
              <a:t>programIdent</a:t>
            </a:r>
            <a:r>
              <a:rPr lang="en-US" sz="1200" dirty="0">
                <a:latin typeface="Lucida Console" panose="020B0609040504020204" pitchFamily="49" charset="0"/>
              </a:rPr>
              <a:t>,"</a:t>
            </a:r>
            <a:r>
              <a:rPr lang="en-US" sz="1200" dirty="0" err="1">
                <a:latin typeface="Lucida Console" panose="020B0609040504020204" pitchFamily="49" charset="0"/>
              </a:rPr>
              <a:t>modelView</a:t>
            </a:r>
            <a:r>
              <a:rPr lang="en-US" sz="1200" dirty="0">
                <a:latin typeface="Lucida Console" panose="020B0609040504020204" pitchFamily="49" charset="0"/>
              </a:rPr>
              <a:t>");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printf</a:t>
            </a:r>
            <a:r>
              <a:rPr lang="en-US" sz="1200" dirty="0">
                <a:latin typeface="Lucida Console" panose="020B0609040504020204" pitchFamily="49" charset="0"/>
              </a:rPr>
              <a:t>("Uniform </a:t>
            </a:r>
            <a:r>
              <a:rPr lang="en-US" sz="1200" dirty="0" err="1">
                <a:latin typeface="Lucida Console" panose="020B0609040504020204" pitchFamily="49" charset="0"/>
              </a:rPr>
              <a:t>ModelView</a:t>
            </a:r>
            <a:r>
              <a:rPr lang="en-US" sz="1200" dirty="0">
                <a:latin typeface="Lucida Console" panose="020B0609040504020204" pitchFamily="49" charset="0"/>
              </a:rPr>
              <a:t> Position=%d\n",</a:t>
            </a:r>
            <a:r>
              <a:rPr lang="en-US" sz="1200" dirty="0" err="1">
                <a:latin typeface="Lucida Console" panose="020B0609040504020204" pitchFamily="49" charset="0"/>
              </a:rPr>
              <a:t>uniformModelViewPos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6036" y="1624083"/>
            <a:ext cx="5112297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Lucida Console" panose="020B0609040504020204" pitchFamily="49" charset="0"/>
              </a:rPr>
              <a:t>class Rainbow3dRenderer : public </a:t>
            </a:r>
            <a:r>
              <a:rPr lang="en-US" sz="1200" dirty="0" err="1">
                <a:latin typeface="Lucida Console" panose="020B0609040504020204" pitchFamily="49" charset="0"/>
              </a:rPr>
              <a:t>RendererBase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public: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GLuint</a:t>
            </a:r>
            <a:r>
              <a:rPr lang="en-US" sz="1200" dirty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attribVertexPos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GLuint</a:t>
            </a:r>
            <a:r>
              <a:rPr lang="en-US" sz="1200" dirty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uniformProjectionPos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GLuint</a:t>
            </a:r>
            <a:r>
              <a:rPr lang="en-US" sz="1200" dirty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uniformModelViewPos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virtual void </a:t>
            </a:r>
            <a:r>
              <a:rPr lang="en-US" sz="1200" dirty="0" err="1">
                <a:latin typeface="Lucida Console" panose="020B0609040504020204" pitchFamily="49" charset="0"/>
              </a:rPr>
              <a:t>CacheAttributeAndUniformIdent</a:t>
            </a:r>
            <a:r>
              <a:rPr lang="en-US" sz="1200" dirty="0">
                <a:latin typeface="Lucida Console" panose="020B0609040504020204" pitchFamily="49" charset="0"/>
              </a:rPr>
              <a:t>(void);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};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5045700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Initialize()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514" y="1603611"/>
            <a:ext cx="408958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Lucida Console" panose="020B0609040504020204" pitchFamily="49" charset="0"/>
              </a:rPr>
              <a:t>    rainbow3d.CompileFile(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    "rainbow3d_vertex_shader.glsl",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    "rainbow3d_fragment_shader.glsl");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627822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if I do: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in the fragment </a:t>
            </a:r>
            <a:r>
              <a:rPr lang="en-US" dirty="0" err="1"/>
              <a:t>shader</a:t>
            </a:r>
            <a:r>
              <a:rPr lang="en-US" dirty="0"/>
              <a:t>?</a:t>
            </a:r>
          </a:p>
          <a:p>
            <a:endParaRPr lang="en-US" dirty="0"/>
          </a:p>
          <a:p>
            <a:r>
              <a:rPr lang="en-US" dirty="0"/>
              <a:t>You can stop OpenGL from writing a color to the frame buffer by discarding a fragment.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287" y="1610436"/>
            <a:ext cx="288091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Lucida Console" panose="020B0609040504020204" pitchFamily="49" charset="0"/>
              </a:rPr>
              <a:t>    if(length(</a:t>
            </a:r>
            <a:r>
              <a:rPr lang="en-US" sz="1200" dirty="0" err="1">
                <a:latin typeface="Lucida Console" panose="020B0609040504020204" pitchFamily="49" charset="0"/>
              </a:rPr>
              <a:t>vertexOut</a:t>
            </a:r>
            <a:r>
              <a:rPr lang="en-US" sz="1200" dirty="0">
                <a:latin typeface="Lucida Console" panose="020B0609040504020204" pitchFamily="49" charset="0"/>
              </a:rPr>
              <a:t>)&lt;3.0)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{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    discard;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}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0253313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Gouraud</a:t>
            </a:r>
            <a:r>
              <a:rPr lang="en-US" dirty="0"/>
              <a:t> Shading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Light intensity is calculated per vertex and interpolated in the screen coordinate.</a:t>
            </a:r>
          </a:p>
          <a:p>
            <a:r>
              <a:rPr lang="en-US" dirty="0"/>
              <a:t>Three light components (reflections):</a:t>
            </a:r>
          </a:p>
          <a:p>
            <a:pPr lvl="1"/>
            <a:r>
              <a:rPr lang="en-US" dirty="0"/>
              <a:t>Ambient light</a:t>
            </a:r>
          </a:p>
          <a:p>
            <a:pPr lvl="1"/>
            <a:r>
              <a:rPr lang="en-US" dirty="0"/>
              <a:t>Diffuse reflection</a:t>
            </a:r>
          </a:p>
          <a:p>
            <a:pPr lvl="1"/>
            <a:r>
              <a:rPr lang="en-US" dirty="0"/>
              <a:t>Specular reflection</a:t>
            </a:r>
          </a:p>
        </p:txBody>
      </p:sp>
    </p:spTree>
    <p:extLst>
      <p:ext uri="{BB962C8B-B14F-4D97-AF65-F5344CB8AC3E}">
        <p14:creationId xmlns:p14="http://schemas.microsoft.com/office/powerpoint/2010/main" val="2321543713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Gouraud</a:t>
            </a:r>
            <a:r>
              <a:rPr lang="en-US" dirty="0"/>
              <a:t> Shading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Additional vertex attribute:</a:t>
            </a:r>
          </a:p>
          <a:p>
            <a:pPr lvl="1"/>
            <a:r>
              <a:rPr lang="en-US" dirty="0"/>
              <a:t>Normal vector</a:t>
            </a:r>
          </a:p>
          <a:p>
            <a:r>
              <a:rPr lang="en-US" dirty="0"/>
              <a:t>Additional uniform:</a:t>
            </a:r>
          </a:p>
          <a:p>
            <a:pPr lvl="1"/>
            <a:r>
              <a:rPr lang="en-US" dirty="0"/>
              <a:t>Direction to the light in the camera coordinate system.</a:t>
            </a:r>
          </a:p>
        </p:txBody>
      </p:sp>
    </p:spTree>
    <p:extLst>
      <p:ext uri="{BB962C8B-B14F-4D97-AF65-F5344CB8AC3E}">
        <p14:creationId xmlns:p14="http://schemas.microsoft.com/office/powerpoint/2010/main" val="1515228029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Gouraud</a:t>
            </a:r>
            <a:r>
              <a:rPr lang="en-US" dirty="0"/>
              <a:t> Shading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1"/>
            <a:ext cx="8229600" cy="780288"/>
          </a:xfrm>
        </p:spPr>
        <p:txBody>
          <a:bodyPr/>
          <a:lstStyle/>
          <a:p>
            <a:r>
              <a:rPr lang="en-US" dirty="0"/>
              <a:t>Vertex </a:t>
            </a:r>
            <a:r>
              <a:rPr lang="en-US" dirty="0" err="1"/>
              <a:t>Shader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94360" y="1530020"/>
            <a:ext cx="8485632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Lucida Console" panose="020B0609040504020204" pitchFamily="49" charset="0"/>
              </a:rPr>
              <a:t>attribute vec3 vertex;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attribute vec3 normal;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attribute vec4 color;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uniform mat4 </a:t>
            </a:r>
            <a:r>
              <a:rPr lang="en-US" sz="1200" dirty="0" err="1">
                <a:latin typeface="Lucida Console" panose="020B0609040504020204" pitchFamily="49" charset="0"/>
              </a:rPr>
              <a:t>projection,modelView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uniform vec3 </a:t>
            </a:r>
            <a:r>
              <a:rPr lang="en-US" sz="1200" dirty="0" err="1">
                <a:latin typeface="Lucida Console" panose="020B0609040504020204" pitchFamily="49" charset="0"/>
              </a:rPr>
              <a:t>lightDir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uniform float ambient;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uniform float </a:t>
            </a:r>
            <a:r>
              <a:rPr lang="en-US" sz="1200" dirty="0" err="1">
                <a:latin typeface="Lucida Console" panose="020B0609040504020204" pitchFamily="49" charset="0"/>
              </a:rPr>
              <a:t>specularIntensity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uniform float </a:t>
            </a:r>
            <a:r>
              <a:rPr lang="en-US" sz="1200" dirty="0" err="1">
                <a:latin typeface="Lucida Console" panose="020B0609040504020204" pitchFamily="49" charset="0"/>
              </a:rPr>
              <a:t>specularExponent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varying vec4 </a:t>
            </a:r>
            <a:r>
              <a:rPr lang="en-US" sz="1200" dirty="0" err="1">
                <a:latin typeface="Lucida Console" panose="020B0609040504020204" pitchFamily="49" charset="0"/>
              </a:rPr>
              <a:t>colorOut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void main()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vec3 nom=normalize((</a:t>
            </a:r>
            <a:r>
              <a:rPr lang="en-US" sz="1200" dirty="0" err="1">
                <a:latin typeface="Lucida Console" panose="020B0609040504020204" pitchFamily="49" charset="0"/>
              </a:rPr>
              <a:t>modelView</a:t>
            </a:r>
            <a:r>
              <a:rPr lang="en-US" sz="1200" dirty="0">
                <a:latin typeface="Lucida Console" panose="020B0609040504020204" pitchFamily="49" charset="0"/>
              </a:rPr>
              <a:t>*vec4(normal,0.0)).xyz);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vec3 lit=normalize(</a:t>
            </a:r>
            <a:r>
              <a:rPr lang="en-US" sz="1200" dirty="0" err="1">
                <a:latin typeface="Lucida Console" panose="020B0609040504020204" pitchFamily="49" charset="0"/>
              </a:rPr>
              <a:t>lightDir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    float diffuse=dot(</a:t>
            </a:r>
            <a:r>
              <a:rPr lang="en-US" sz="1200" dirty="0" err="1">
                <a:latin typeface="Lucida Console" panose="020B0609040504020204" pitchFamily="49" charset="0"/>
              </a:rPr>
              <a:t>nom,lit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    vec4 </a:t>
            </a:r>
            <a:r>
              <a:rPr lang="en-US" sz="1200" dirty="0" err="1">
                <a:latin typeface="Lucida Console" panose="020B0609040504020204" pitchFamily="49" charset="0"/>
              </a:rPr>
              <a:t>posInView</a:t>
            </a:r>
            <a:r>
              <a:rPr lang="en-US" sz="1200" dirty="0">
                <a:latin typeface="Lucida Console" panose="020B0609040504020204" pitchFamily="49" charset="0"/>
              </a:rPr>
              <a:t>=</a:t>
            </a:r>
            <a:r>
              <a:rPr lang="en-US" sz="1200" dirty="0" err="1">
                <a:latin typeface="Lucida Console" panose="020B0609040504020204" pitchFamily="49" charset="0"/>
              </a:rPr>
              <a:t>modelView</a:t>
            </a:r>
            <a:r>
              <a:rPr lang="en-US" sz="1200" dirty="0">
                <a:latin typeface="Lucida Console" panose="020B0609040504020204" pitchFamily="49" charset="0"/>
              </a:rPr>
              <a:t>*vec4(vertex,1.0);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vec3 </a:t>
            </a:r>
            <a:r>
              <a:rPr lang="en-US" sz="1200" dirty="0" err="1">
                <a:latin typeface="Lucida Console" panose="020B0609040504020204" pitchFamily="49" charset="0"/>
              </a:rPr>
              <a:t>viewDir</a:t>
            </a:r>
            <a:r>
              <a:rPr lang="en-US" sz="1200" dirty="0">
                <a:latin typeface="Lucida Console" panose="020B0609040504020204" pitchFamily="49" charset="0"/>
              </a:rPr>
              <a:t>=-normalize(</a:t>
            </a:r>
            <a:r>
              <a:rPr lang="en-US" sz="1200" dirty="0" err="1">
                <a:latin typeface="Lucida Console" panose="020B0609040504020204" pitchFamily="49" charset="0"/>
              </a:rPr>
              <a:t>posInView.xyz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vec3 </a:t>
            </a:r>
            <a:r>
              <a:rPr lang="en-US" sz="1200" dirty="0" err="1">
                <a:latin typeface="Lucida Console" panose="020B0609040504020204" pitchFamily="49" charset="0"/>
              </a:rPr>
              <a:t>midDir</a:t>
            </a:r>
            <a:r>
              <a:rPr lang="en-US" sz="1200" dirty="0">
                <a:latin typeface="Lucida Console" panose="020B0609040504020204" pitchFamily="49" charset="0"/>
              </a:rPr>
              <a:t>=normalize(</a:t>
            </a:r>
            <a:r>
              <a:rPr lang="en-US" sz="1200" dirty="0" err="1">
                <a:latin typeface="Lucida Console" panose="020B0609040504020204" pitchFamily="49" charset="0"/>
              </a:rPr>
              <a:t>viewDir+lightDir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float specular=</a:t>
            </a:r>
            <a:r>
              <a:rPr lang="en-US" sz="1200" dirty="0" err="1">
                <a:latin typeface="Lucida Console" panose="020B0609040504020204" pitchFamily="49" charset="0"/>
              </a:rPr>
              <a:t>specularIntensity</a:t>
            </a:r>
            <a:r>
              <a:rPr lang="en-US" sz="1200" dirty="0">
                <a:latin typeface="Lucida Console" panose="020B0609040504020204" pitchFamily="49" charset="0"/>
              </a:rPr>
              <a:t>*pow(dot(</a:t>
            </a:r>
            <a:r>
              <a:rPr lang="en-US" sz="1200" dirty="0" err="1">
                <a:latin typeface="Lucida Console" panose="020B0609040504020204" pitchFamily="49" charset="0"/>
              </a:rPr>
              <a:t>midDir,nom</a:t>
            </a:r>
            <a:r>
              <a:rPr lang="en-US" sz="1200" dirty="0">
                <a:latin typeface="Lucida Console" panose="020B0609040504020204" pitchFamily="49" charset="0"/>
              </a:rPr>
              <a:t>),</a:t>
            </a:r>
            <a:r>
              <a:rPr lang="en-US" sz="1200" dirty="0" err="1">
                <a:latin typeface="Lucida Console" panose="020B0609040504020204" pitchFamily="49" charset="0"/>
              </a:rPr>
              <a:t>specularExponent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colorOut</a:t>
            </a:r>
            <a:r>
              <a:rPr lang="en-US" sz="1200" dirty="0">
                <a:latin typeface="Lucida Console" panose="020B0609040504020204" pitchFamily="49" charset="0"/>
              </a:rPr>
              <a:t>=vec4(</a:t>
            </a:r>
            <a:r>
              <a:rPr lang="en-US" sz="1200" dirty="0" err="1">
                <a:latin typeface="Lucida Console" panose="020B0609040504020204" pitchFamily="49" charset="0"/>
              </a:rPr>
              <a:t>color.rgb</a:t>
            </a:r>
            <a:r>
              <a:rPr lang="en-US" sz="1200" dirty="0">
                <a:latin typeface="Lucida Console" panose="020B0609040504020204" pitchFamily="49" charset="0"/>
              </a:rPr>
              <a:t>*(</a:t>
            </a:r>
            <a:r>
              <a:rPr lang="en-US" sz="1200" dirty="0" err="1">
                <a:latin typeface="Lucida Console" panose="020B0609040504020204" pitchFamily="49" charset="0"/>
              </a:rPr>
              <a:t>ambient+diffuse</a:t>
            </a:r>
            <a:r>
              <a:rPr lang="en-US" sz="1200" dirty="0">
                <a:latin typeface="Lucida Console" panose="020B0609040504020204" pitchFamily="49" charset="0"/>
              </a:rPr>
              <a:t>),</a:t>
            </a:r>
            <a:r>
              <a:rPr lang="en-US" sz="1200" dirty="0" err="1">
                <a:latin typeface="Lucida Console" panose="020B0609040504020204" pitchFamily="49" charset="0"/>
              </a:rPr>
              <a:t>color.a</a:t>
            </a:r>
            <a:r>
              <a:rPr lang="en-US" sz="1200" dirty="0">
                <a:latin typeface="Lucida Console" panose="020B0609040504020204" pitchFamily="49" charset="0"/>
              </a:rPr>
              <a:t>)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        +vec4(specular,specular,specular,0.0);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gl_Position</a:t>
            </a:r>
            <a:r>
              <a:rPr lang="en-US" sz="1200" dirty="0">
                <a:latin typeface="Lucida Console" panose="020B0609040504020204" pitchFamily="49" charset="0"/>
              </a:rPr>
              <a:t>=projection*</a:t>
            </a:r>
            <a:r>
              <a:rPr lang="en-US" sz="1200" dirty="0" err="1">
                <a:latin typeface="Lucida Console" panose="020B0609040504020204" pitchFamily="49" charset="0"/>
              </a:rPr>
              <a:t>modelView</a:t>
            </a:r>
            <a:r>
              <a:rPr lang="en-US" sz="1200" dirty="0">
                <a:latin typeface="Lucida Console" panose="020B0609040504020204" pitchFamily="49" charset="0"/>
              </a:rPr>
              <a:t>*vec4(vertex,1.0);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31679771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Gouraud</a:t>
            </a:r>
            <a:r>
              <a:rPr lang="en-US" dirty="0"/>
              <a:t> Shading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1"/>
            <a:ext cx="8229600" cy="780288"/>
          </a:xfrm>
        </p:spPr>
        <p:txBody>
          <a:bodyPr/>
          <a:lstStyle/>
          <a:p>
            <a:r>
              <a:rPr lang="en-US" dirty="0"/>
              <a:t>Fragment </a:t>
            </a:r>
            <a:r>
              <a:rPr lang="en-US" dirty="0" err="1"/>
              <a:t>Shader</a:t>
            </a:r>
            <a:r>
              <a:rPr lang="en-US" dirty="0"/>
              <a:t>  -  Since all calculations are done in the vertex </a:t>
            </a:r>
            <a:r>
              <a:rPr lang="en-US" dirty="0" err="1"/>
              <a:t>shader</a:t>
            </a:r>
            <a:r>
              <a:rPr lang="en-US" dirty="0"/>
              <a:t>, the fragment </a:t>
            </a:r>
            <a:r>
              <a:rPr lang="en-US" dirty="0" err="1"/>
              <a:t>shader</a:t>
            </a:r>
            <a:r>
              <a:rPr lang="en-US" dirty="0"/>
              <a:t> just need to pass color value from left to right.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43252"/>
            <a:ext cx="84856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Lucida Console" panose="020B0609040504020204" pitchFamily="49" charset="0"/>
              </a:rPr>
              <a:t>varying vec4 </a:t>
            </a:r>
            <a:r>
              <a:rPr lang="en-US" sz="1200" dirty="0" err="1">
                <a:latin typeface="Lucida Console" panose="020B0609040504020204" pitchFamily="49" charset="0"/>
              </a:rPr>
              <a:t>colorOut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void main()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gl_FragColor</a:t>
            </a:r>
            <a:r>
              <a:rPr lang="en-US" sz="1200" dirty="0">
                <a:latin typeface="Lucida Console" panose="020B0609040504020204" pitchFamily="49" charset="0"/>
              </a:rPr>
              <a:t>=</a:t>
            </a:r>
            <a:r>
              <a:rPr lang="en-US" sz="1200" dirty="0" err="1">
                <a:latin typeface="Lucida Console" panose="020B0609040504020204" pitchFamily="49" charset="0"/>
              </a:rPr>
              <a:t>colorOut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}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5583216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Gouraud</a:t>
            </a:r>
            <a:r>
              <a:rPr lang="en-US" dirty="0"/>
              <a:t> Shading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</a:t>
            </a:r>
            <a:r>
              <a:rPr lang="en-US" dirty="0" err="1"/>
              <a:t>renderer.h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1539164"/>
            <a:ext cx="8485632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Lucida Console" panose="020B0609040504020204" pitchFamily="49" charset="0"/>
              </a:rPr>
              <a:t>class Gouraud3dRenderer : public </a:t>
            </a:r>
            <a:r>
              <a:rPr lang="en-US" sz="1200" dirty="0" err="1">
                <a:latin typeface="Lucida Console" panose="020B0609040504020204" pitchFamily="49" charset="0"/>
              </a:rPr>
              <a:t>RendererBase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public: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GLuint</a:t>
            </a:r>
            <a:r>
              <a:rPr lang="en-US" sz="1200" dirty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attribVertexPos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GLuint</a:t>
            </a:r>
            <a:r>
              <a:rPr lang="en-US" sz="1200" dirty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attribNormalPos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GLuint</a:t>
            </a:r>
            <a:r>
              <a:rPr lang="en-US" sz="1200" dirty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attribColorPos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GLuint</a:t>
            </a:r>
            <a:r>
              <a:rPr lang="en-US" sz="1200" dirty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uniformProjectionPos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GLuint</a:t>
            </a:r>
            <a:r>
              <a:rPr lang="en-US" sz="1200" dirty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uniformModelViewPos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GLuint</a:t>
            </a:r>
            <a:r>
              <a:rPr lang="en-US" sz="1200" dirty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uniformLightDirPos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GLuint</a:t>
            </a:r>
            <a:r>
              <a:rPr lang="en-US" sz="1200" dirty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uniformAmbientPos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GLuint</a:t>
            </a:r>
            <a:r>
              <a:rPr lang="en-US" sz="1200" dirty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uniformSpecularIntensityPos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GLuint</a:t>
            </a:r>
            <a:r>
              <a:rPr lang="en-US" sz="1200" dirty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uniformSpecularExponentPos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    virtual void </a:t>
            </a:r>
            <a:r>
              <a:rPr lang="en-US" sz="1200" dirty="0" err="1">
                <a:latin typeface="Lucida Console" panose="020B0609040504020204" pitchFamily="49" charset="0"/>
              </a:rPr>
              <a:t>CacheAttributeAndUniformIdent</a:t>
            </a:r>
            <a:r>
              <a:rPr lang="en-US" sz="1200" dirty="0">
                <a:latin typeface="Lucida Console" panose="020B0609040504020204" pitchFamily="49" charset="0"/>
              </a:rPr>
              <a:t>(void);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};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0419230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Gouraud</a:t>
            </a:r>
            <a:r>
              <a:rPr lang="en-US" dirty="0"/>
              <a:t> Shading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renderer.cpp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56638"/>
            <a:ext cx="8485632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Lucida Console" panose="020B0609040504020204" pitchFamily="49" charset="0"/>
              </a:rPr>
              <a:t>void Gouraud3dRenderer::</a:t>
            </a:r>
            <a:r>
              <a:rPr lang="en-US" sz="1200" dirty="0" err="1">
                <a:latin typeface="Lucida Console" panose="020B0609040504020204" pitchFamily="49" charset="0"/>
              </a:rPr>
              <a:t>CacheAttributeAndUniformIdent</a:t>
            </a:r>
            <a:r>
              <a:rPr lang="en-US" sz="1200" dirty="0">
                <a:latin typeface="Lucida Console" panose="020B0609040504020204" pitchFamily="49" charset="0"/>
              </a:rPr>
              <a:t>(void)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attribVertexPos</a:t>
            </a:r>
            <a:r>
              <a:rPr lang="en-US" sz="1200" dirty="0">
                <a:latin typeface="Lucida Console" panose="020B0609040504020204" pitchFamily="49" charset="0"/>
              </a:rPr>
              <a:t>=</a:t>
            </a:r>
            <a:r>
              <a:rPr lang="en-US" sz="1200" dirty="0" err="1">
                <a:latin typeface="Lucida Console" panose="020B0609040504020204" pitchFamily="49" charset="0"/>
              </a:rPr>
              <a:t>glGetAttribLocation</a:t>
            </a:r>
            <a:r>
              <a:rPr lang="en-US" sz="1200" dirty="0">
                <a:latin typeface="Lucida Console" panose="020B0609040504020204" pitchFamily="49" charset="0"/>
              </a:rPr>
              <a:t>(</a:t>
            </a:r>
            <a:r>
              <a:rPr lang="en-US" sz="1200" dirty="0" err="1">
                <a:latin typeface="Lucida Console" panose="020B0609040504020204" pitchFamily="49" charset="0"/>
              </a:rPr>
              <a:t>programIdent</a:t>
            </a:r>
            <a:r>
              <a:rPr lang="en-US" sz="1200" dirty="0">
                <a:latin typeface="Lucida Console" panose="020B0609040504020204" pitchFamily="49" charset="0"/>
              </a:rPr>
              <a:t>,"vertex");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attribNormalPos</a:t>
            </a:r>
            <a:r>
              <a:rPr lang="en-US" sz="1200" dirty="0">
                <a:latin typeface="Lucida Console" panose="020B0609040504020204" pitchFamily="49" charset="0"/>
              </a:rPr>
              <a:t>=</a:t>
            </a:r>
            <a:r>
              <a:rPr lang="en-US" sz="1200" dirty="0" err="1">
                <a:latin typeface="Lucida Console" panose="020B0609040504020204" pitchFamily="49" charset="0"/>
              </a:rPr>
              <a:t>glGetAttribLocation</a:t>
            </a:r>
            <a:r>
              <a:rPr lang="en-US" sz="1200" dirty="0">
                <a:latin typeface="Lucida Console" panose="020B0609040504020204" pitchFamily="49" charset="0"/>
              </a:rPr>
              <a:t>(</a:t>
            </a:r>
            <a:r>
              <a:rPr lang="en-US" sz="1200" dirty="0" err="1">
                <a:latin typeface="Lucida Console" panose="020B0609040504020204" pitchFamily="49" charset="0"/>
              </a:rPr>
              <a:t>programIdent</a:t>
            </a:r>
            <a:r>
              <a:rPr lang="en-US" sz="1200" dirty="0">
                <a:latin typeface="Lucida Console" panose="020B0609040504020204" pitchFamily="49" charset="0"/>
              </a:rPr>
              <a:t>,"normal");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attribColorPos</a:t>
            </a:r>
            <a:r>
              <a:rPr lang="en-US" sz="1200" dirty="0">
                <a:latin typeface="Lucida Console" panose="020B0609040504020204" pitchFamily="49" charset="0"/>
              </a:rPr>
              <a:t>=</a:t>
            </a:r>
            <a:r>
              <a:rPr lang="en-US" sz="1200" dirty="0" err="1">
                <a:latin typeface="Lucida Console" panose="020B0609040504020204" pitchFamily="49" charset="0"/>
              </a:rPr>
              <a:t>glGetAttribLocation</a:t>
            </a:r>
            <a:r>
              <a:rPr lang="en-US" sz="1200" dirty="0">
                <a:latin typeface="Lucida Console" panose="020B0609040504020204" pitchFamily="49" charset="0"/>
              </a:rPr>
              <a:t>(</a:t>
            </a:r>
            <a:r>
              <a:rPr lang="en-US" sz="1200" dirty="0" err="1">
                <a:latin typeface="Lucida Console" panose="020B0609040504020204" pitchFamily="49" charset="0"/>
              </a:rPr>
              <a:t>programIdent</a:t>
            </a:r>
            <a:r>
              <a:rPr lang="en-US" sz="1200" dirty="0">
                <a:latin typeface="Lucida Console" panose="020B0609040504020204" pitchFamily="49" charset="0"/>
              </a:rPr>
              <a:t>,"color");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uniformProjectionPos</a:t>
            </a:r>
            <a:r>
              <a:rPr lang="en-US" sz="1200" dirty="0">
                <a:latin typeface="Lucida Console" panose="020B0609040504020204" pitchFamily="49" charset="0"/>
              </a:rPr>
              <a:t>=</a:t>
            </a:r>
            <a:r>
              <a:rPr lang="en-US" sz="1200" dirty="0" err="1">
                <a:latin typeface="Lucida Console" panose="020B0609040504020204" pitchFamily="49" charset="0"/>
              </a:rPr>
              <a:t>glGetUniformLocation</a:t>
            </a:r>
            <a:r>
              <a:rPr lang="en-US" sz="1200" dirty="0">
                <a:latin typeface="Lucida Console" panose="020B0609040504020204" pitchFamily="49" charset="0"/>
              </a:rPr>
              <a:t>(</a:t>
            </a:r>
            <a:r>
              <a:rPr lang="en-US" sz="1200" dirty="0" err="1">
                <a:latin typeface="Lucida Console" panose="020B0609040504020204" pitchFamily="49" charset="0"/>
              </a:rPr>
              <a:t>programIdent</a:t>
            </a:r>
            <a:r>
              <a:rPr lang="en-US" sz="1200" dirty="0">
                <a:latin typeface="Lucida Console" panose="020B0609040504020204" pitchFamily="49" charset="0"/>
              </a:rPr>
              <a:t>,"projection");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uniformModelViewPos</a:t>
            </a:r>
            <a:r>
              <a:rPr lang="en-US" sz="1200" dirty="0">
                <a:latin typeface="Lucida Console" panose="020B0609040504020204" pitchFamily="49" charset="0"/>
              </a:rPr>
              <a:t>=</a:t>
            </a:r>
            <a:r>
              <a:rPr lang="en-US" sz="1200" dirty="0" err="1">
                <a:latin typeface="Lucida Console" panose="020B0609040504020204" pitchFamily="49" charset="0"/>
              </a:rPr>
              <a:t>glGetUniformLocation</a:t>
            </a:r>
            <a:r>
              <a:rPr lang="en-US" sz="1200" dirty="0">
                <a:latin typeface="Lucida Console" panose="020B0609040504020204" pitchFamily="49" charset="0"/>
              </a:rPr>
              <a:t>(</a:t>
            </a:r>
            <a:r>
              <a:rPr lang="en-US" sz="1200" dirty="0" err="1">
                <a:latin typeface="Lucida Console" panose="020B0609040504020204" pitchFamily="49" charset="0"/>
              </a:rPr>
              <a:t>programIdent</a:t>
            </a:r>
            <a:r>
              <a:rPr lang="en-US" sz="1200" dirty="0">
                <a:latin typeface="Lucida Console" panose="020B0609040504020204" pitchFamily="49" charset="0"/>
              </a:rPr>
              <a:t>,"</a:t>
            </a:r>
            <a:r>
              <a:rPr lang="en-US" sz="1200" dirty="0" err="1">
                <a:latin typeface="Lucida Console" panose="020B0609040504020204" pitchFamily="49" charset="0"/>
              </a:rPr>
              <a:t>modelView</a:t>
            </a:r>
            <a:r>
              <a:rPr lang="en-US" sz="1200" dirty="0">
                <a:latin typeface="Lucida Console" panose="020B0609040504020204" pitchFamily="49" charset="0"/>
              </a:rPr>
              <a:t>");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uniformLightDirPos</a:t>
            </a:r>
            <a:r>
              <a:rPr lang="en-US" sz="1200" dirty="0">
                <a:latin typeface="Lucida Console" panose="020B0609040504020204" pitchFamily="49" charset="0"/>
              </a:rPr>
              <a:t>=</a:t>
            </a:r>
            <a:r>
              <a:rPr lang="en-US" sz="1200" dirty="0" err="1">
                <a:latin typeface="Lucida Console" panose="020B0609040504020204" pitchFamily="49" charset="0"/>
              </a:rPr>
              <a:t>glGetUniformLocation</a:t>
            </a:r>
            <a:r>
              <a:rPr lang="en-US" sz="1200" dirty="0">
                <a:latin typeface="Lucida Console" panose="020B0609040504020204" pitchFamily="49" charset="0"/>
              </a:rPr>
              <a:t>(</a:t>
            </a:r>
            <a:r>
              <a:rPr lang="en-US" sz="1200" dirty="0" err="1">
                <a:latin typeface="Lucida Console" panose="020B0609040504020204" pitchFamily="49" charset="0"/>
              </a:rPr>
              <a:t>programIdent</a:t>
            </a:r>
            <a:r>
              <a:rPr lang="en-US" sz="1200" dirty="0">
                <a:latin typeface="Lucida Console" panose="020B0609040504020204" pitchFamily="49" charset="0"/>
              </a:rPr>
              <a:t>,"</a:t>
            </a:r>
            <a:r>
              <a:rPr lang="en-US" sz="1200" dirty="0" err="1">
                <a:latin typeface="Lucida Console" panose="020B0609040504020204" pitchFamily="49" charset="0"/>
              </a:rPr>
              <a:t>lightDir</a:t>
            </a:r>
            <a:r>
              <a:rPr lang="en-US" sz="1200" dirty="0">
                <a:latin typeface="Lucida Console" panose="020B0609040504020204" pitchFamily="49" charset="0"/>
              </a:rPr>
              <a:t>");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uniformAmbientPos</a:t>
            </a:r>
            <a:r>
              <a:rPr lang="en-US" sz="1200" dirty="0">
                <a:latin typeface="Lucida Console" panose="020B0609040504020204" pitchFamily="49" charset="0"/>
              </a:rPr>
              <a:t>=</a:t>
            </a:r>
            <a:r>
              <a:rPr lang="en-US" sz="1200" dirty="0" err="1">
                <a:latin typeface="Lucida Console" panose="020B0609040504020204" pitchFamily="49" charset="0"/>
              </a:rPr>
              <a:t>glGetUniformLocation</a:t>
            </a:r>
            <a:r>
              <a:rPr lang="en-US" sz="1200" dirty="0">
                <a:latin typeface="Lucida Console" panose="020B0609040504020204" pitchFamily="49" charset="0"/>
              </a:rPr>
              <a:t>(</a:t>
            </a:r>
            <a:r>
              <a:rPr lang="en-US" sz="1200" dirty="0" err="1">
                <a:latin typeface="Lucida Console" panose="020B0609040504020204" pitchFamily="49" charset="0"/>
              </a:rPr>
              <a:t>programIdent</a:t>
            </a:r>
            <a:r>
              <a:rPr lang="en-US" sz="1200" dirty="0">
                <a:latin typeface="Lucida Console" panose="020B0609040504020204" pitchFamily="49" charset="0"/>
              </a:rPr>
              <a:t>,"ambient");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uniformSpecularIntensityPos</a:t>
            </a:r>
            <a:r>
              <a:rPr lang="en-US" sz="1200" dirty="0">
                <a:latin typeface="Lucida Console" panose="020B0609040504020204" pitchFamily="49" charset="0"/>
              </a:rPr>
              <a:t>=</a:t>
            </a:r>
            <a:r>
              <a:rPr lang="en-US" sz="1200" dirty="0" err="1">
                <a:latin typeface="Lucida Console" panose="020B0609040504020204" pitchFamily="49" charset="0"/>
              </a:rPr>
              <a:t>glGetUniformLocation</a:t>
            </a:r>
            <a:r>
              <a:rPr lang="en-US" sz="1200" dirty="0">
                <a:latin typeface="Lucida Console" panose="020B0609040504020204" pitchFamily="49" charset="0"/>
              </a:rPr>
              <a:t>(</a:t>
            </a:r>
            <a:r>
              <a:rPr lang="en-US" sz="1200" dirty="0" err="1">
                <a:latin typeface="Lucida Console" panose="020B0609040504020204" pitchFamily="49" charset="0"/>
              </a:rPr>
              <a:t>programIdent</a:t>
            </a:r>
            <a:r>
              <a:rPr lang="en-US" sz="1200" dirty="0">
                <a:latin typeface="Lucida Console" panose="020B0609040504020204" pitchFamily="49" charset="0"/>
              </a:rPr>
              <a:t>,"</a:t>
            </a:r>
            <a:r>
              <a:rPr lang="en-US" sz="1200" dirty="0" err="1">
                <a:latin typeface="Lucida Console" panose="020B0609040504020204" pitchFamily="49" charset="0"/>
              </a:rPr>
              <a:t>specularIntensity</a:t>
            </a:r>
            <a:r>
              <a:rPr lang="en-US" sz="1200" dirty="0">
                <a:latin typeface="Lucida Console" panose="020B0609040504020204" pitchFamily="49" charset="0"/>
              </a:rPr>
              <a:t>");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uniformSpecularExponentPos</a:t>
            </a:r>
            <a:r>
              <a:rPr lang="en-US" sz="1200" dirty="0">
                <a:latin typeface="Lucida Console" panose="020B0609040504020204" pitchFamily="49" charset="0"/>
              </a:rPr>
              <a:t>=</a:t>
            </a:r>
            <a:r>
              <a:rPr lang="en-US" sz="1200" dirty="0" err="1">
                <a:latin typeface="Lucida Console" panose="020B0609040504020204" pitchFamily="49" charset="0"/>
              </a:rPr>
              <a:t>glGetUniformLocation</a:t>
            </a:r>
            <a:r>
              <a:rPr lang="en-US" sz="1200" dirty="0">
                <a:latin typeface="Lucida Console" panose="020B0609040504020204" pitchFamily="49" charset="0"/>
              </a:rPr>
              <a:t>(</a:t>
            </a:r>
            <a:r>
              <a:rPr lang="en-US" sz="1200" dirty="0" err="1">
                <a:latin typeface="Lucida Console" panose="020B0609040504020204" pitchFamily="49" charset="0"/>
              </a:rPr>
              <a:t>programIdent</a:t>
            </a:r>
            <a:r>
              <a:rPr lang="en-US" sz="1200" dirty="0">
                <a:latin typeface="Lucida Console" panose="020B0609040504020204" pitchFamily="49" charset="0"/>
              </a:rPr>
              <a:t>,"</a:t>
            </a:r>
            <a:r>
              <a:rPr lang="en-US" sz="1200" dirty="0" err="1">
                <a:latin typeface="Lucida Console" panose="020B0609040504020204" pitchFamily="49" charset="0"/>
              </a:rPr>
              <a:t>specularExponent</a:t>
            </a:r>
            <a:r>
              <a:rPr lang="en-US" sz="1200" dirty="0">
                <a:latin typeface="Lucida Console" panose="020B0609040504020204" pitchFamily="49" charset="0"/>
              </a:rPr>
              <a:t>");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88729719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Gouraud</a:t>
            </a:r>
            <a:r>
              <a:rPr lang="en-US" dirty="0"/>
              <a:t> Shading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Initialize() in main.cpp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1539164"/>
            <a:ext cx="84856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Lucida Console" panose="020B0609040504020204" pitchFamily="49" charset="0"/>
              </a:rPr>
              <a:t>    gouraud3d.CompileFile(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    "</a:t>
            </a:r>
            <a:r>
              <a:rPr lang="en-US" sz="1200" dirty="0" err="1">
                <a:latin typeface="Lucida Console" panose="020B0609040504020204" pitchFamily="49" charset="0"/>
              </a:rPr>
              <a:t>gouraud_vertex_shader.glsl</a:t>
            </a:r>
            <a:r>
              <a:rPr lang="en-US" sz="1200" dirty="0">
                <a:latin typeface="Lucida Console" panose="020B0609040504020204" pitchFamily="49" charset="0"/>
              </a:rPr>
              <a:t>",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    "</a:t>
            </a:r>
            <a:r>
              <a:rPr lang="en-US" sz="1200" dirty="0" err="1">
                <a:latin typeface="Lucida Console" panose="020B0609040504020204" pitchFamily="49" charset="0"/>
              </a:rPr>
              <a:t>gouraud_fragment_shader.glsl</a:t>
            </a:r>
            <a:r>
              <a:rPr lang="en-US" sz="1200" dirty="0">
                <a:latin typeface="Lucida Console" panose="020B0609040504020204" pitchFamily="49" charset="0"/>
              </a:rPr>
              <a:t>");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5084851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Gouraud</a:t>
            </a:r>
            <a:r>
              <a:rPr lang="en-US" dirty="0"/>
              <a:t> Shading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1"/>
            <a:ext cx="8229600" cy="926592"/>
          </a:xfrm>
        </p:spPr>
        <p:txBody>
          <a:bodyPr/>
          <a:lstStyle/>
          <a:p>
            <a:r>
              <a:rPr lang="en-US" dirty="0"/>
              <a:t>In Draw function: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" y="1993392"/>
            <a:ext cx="8180445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glUseProgram</a:t>
            </a:r>
            <a:r>
              <a:rPr lang="en-US" sz="1200" dirty="0">
                <a:latin typeface="Lucida Console" panose="020B0609040504020204" pitchFamily="49" charset="0"/>
              </a:rPr>
              <a:t>(gouraud3d.programIdent);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glUniformMatrix4fv(gouraud3d.uniformProjectionPos,1,GL_FALSE,projMat);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glUniformMatrix4fv(gouraud3d.uniformModelViewPos,1,GL_FALSE,viewMat);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glUniform3f(gouraud3d.uniformLightDirPos,0,0,1);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glUniform1f(gouraud3d.uniformAmbientPos,0.3f);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glUniform1f(gouraud3d.uniformSpecularIntensityPos,1);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glUniform1f(gouraud3d.uniformSpecularExponentPos,100.0f);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glEnableVertexAttribArray</a:t>
            </a:r>
            <a:r>
              <a:rPr lang="en-US" sz="1200" dirty="0">
                <a:latin typeface="Lucida Console" panose="020B0609040504020204" pitchFamily="49" charset="0"/>
              </a:rPr>
              <a:t>(gouraud3d.attribVertexPos);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glEnableVertexAttribArray</a:t>
            </a:r>
            <a:r>
              <a:rPr lang="en-US" sz="1200" dirty="0">
                <a:latin typeface="Lucida Console" panose="020B0609040504020204" pitchFamily="49" charset="0"/>
              </a:rPr>
              <a:t>(gouraud3d.attribNormalPos);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glEnableVertexAttribArray</a:t>
            </a:r>
            <a:r>
              <a:rPr lang="en-US" sz="1200" dirty="0">
                <a:latin typeface="Lucida Console" panose="020B0609040504020204" pitchFamily="49" charset="0"/>
              </a:rPr>
              <a:t>(gouraud3d.attribColorPos);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glVertexAttribPointer</a:t>
            </a:r>
            <a:r>
              <a:rPr lang="en-US" sz="1200" dirty="0">
                <a:latin typeface="Lucida Console" panose="020B0609040504020204" pitchFamily="49" charset="0"/>
              </a:rPr>
              <a:t>(gouraud3d.attribVertexPos,3,GL_FLOAT,GL_FALSE,0,vtx.data());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glVertexAttribPointer</a:t>
            </a:r>
            <a:r>
              <a:rPr lang="en-US" sz="1200" dirty="0">
                <a:latin typeface="Lucida Console" panose="020B0609040504020204" pitchFamily="49" charset="0"/>
              </a:rPr>
              <a:t>(gouraud3d.attribNormalPos,3,GL_FLOAT,GL_FALSE,0,nom.data());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glVertexAttribPointer</a:t>
            </a:r>
            <a:r>
              <a:rPr lang="en-US" sz="1200" dirty="0">
                <a:latin typeface="Lucida Console" panose="020B0609040504020204" pitchFamily="49" charset="0"/>
              </a:rPr>
              <a:t>(gouraud3d.attribColorPos,4,GL_FLOAT,GL_FALSE,0,col.data());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glDrawArrays</a:t>
            </a:r>
            <a:r>
              <a:rPr lang="en-US" sz="1200" dirty="0">
                <a:latin typeface="Lucida Console" panose="020B0609040504020204" pitchFamily="49" charset="0"/>
              </a:rPr>
              <a:t>(GL_TRIANGLES,0,vtx.size()/3);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glDisableVertexAttribArray</a:t>
            </a:r>
            <a:r>
              <a:rPr lang="en-US" sz="1200" dirty="0">
                <a:latin typeface="Lucida Console" panose="020B0609040504020204" pitchFamily="49" charset="0"/>
              </a:rPr>
              <a:t>(gouraud3d.attribVertexPos);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glDisableVertexAttribArray</a:t>
            </a:r>
            <a:r>
              <a:rPr lang="en-US" sz="1200" dirty="0">
                <a:latin typeface="Lucida Console" panose="020B0609040504020204" pitchFamily="49" charset="0"/>
              </a:rPr>
              <a:t>(gouraud3d.attribNormalPos);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glDisableVertexAttribArray</a:t>
            </a:r>
            <a:r>
              <a:rPr lang="en-US" sz="1200" dirty="0">
                <a:latin typeface="Lucida Console" panose="020B0609040504020204" pitchFamily="49" charset="0"/>
              </a:rPr>
              <a:t>(gouraud3d.attribColorPos);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1290865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Phong</a:t>
            </a:r>
            <a:r>
              <a:rPr lang="en-US" dirty="0"/>
              <a:t> shading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Same lighting model, but the light intensity is calculated per pixel, not per vertex.</a:t>
            </a:r>
          </a:p>
          <a:p>
            <a:r>
              <a:rPr lang="en-US" dirty="0"/>
              <a:t>This really has been one thing that the OpenGL’s fixed-function pipeline could not (did not) do.</a:t>
            </a:r>
          </a:p>
          <a:p>
            <a:endParaRPr lang="en-US" dirty="0"/>
          </a:p>
          <a:p>
            <a:r>
              <a:rPr lang="en-US" dirty="0"/>
              <a:t>Additional varying:</a:t>
            </a:r>
          </a:p>
          <a:p>
            <a:pPr lvl="1"/>
            <a:r>
              <a:rPr lang="en-US"/>
              <a:t>Normal vector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6263583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Phong</a:t>
            </a:r>
            <a:r>
              <a:rPr lang="en-US" dirty="0"/>
              <a:t> Shading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1"/>
            <a:ext cx="8229600" cy="880872"/>
          </a:xfrm>
        </p:spPr>
        <p:txBody>
          <a:bodyPr/>
          <a:lstStyle/>
          <a:p>
            <a:r>
              <a:rPr lang="en-US" dirty="0"/>
              <a:t>Vertex </a:t>
            </a:r>
            <a:r>
              <a:rPr lang="en-US" dirty="0" err="1"/>
              <a:t>Shader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1719072"/>
            <a:ext cx="5577168" cy="43396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Lucida Console" panose="020B0609040504020204" pitchFamily="49" charset="0"/>
              </a:rPr>
              <a:t>attribute vec3 vertex;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attribute vec3 normal;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attribute vec4 color;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uniform mat4 </a:t>
            </a:r>
            <a:r>
              <a:rPr lang="en-US" sz="1200" dirty="0" err="1">
                <a:latin typeface="Lucida Console" panose="020B0609040504020204" pitchFamily="49" charset="0"/>
              </a:rPr>
              <a:t>projection,modelView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uniform vec3 </a:t>
            </a:r>
            <a:r>
              <a:rPr lang="en-US" sz="1200" dirty="0" err="1">
                <a:latin typeface="Lucida Console" panose="020B0609040504020204" pitchFamily="49" charset="0"/>
              </a:rPr>
              <a:t>lightDir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uniform float ambient;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uniform float </a:t>
            </a:r>
            <a:r>
              <a:rPr lang="en-US" sz="1200" dirty="0" err="1">
                <a:latin typeface="Lucida Console" panose="020B0609040504020204" pitchFamily="49" charset="0"/>
              </a:rPr>
              <a:t>specularIntensity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uniform float </a:t>
            </a:r>
            <a:r>
              <a:rPr lang="en-US" sz="1200" dirty="0" err="1">
                <a:latin typeface="Lucida Console" panose="020B0609040504020204" pitchFamily="49" charset="0"/>
              </a:rPr>
              <a:t>specularExponent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varying vec4 </a:t>
            </a:r>
            <a:r>
              <a:rPr lang="en-US" sz="1200" dirty="0" err="1">
                <a:latin typeface="Lucida Console" panose="020B0609040504020204" pitchFamily="49" charset="0"/>
              </a:rPr>
              <a:t>colorOut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varying vec3 </a:t>
            </a:r>
            <a:r>
              <a:rPr lang="en-US" sz="1200" dirty="0" err="1">
                <a:latin typeface="Lucida Console" panose="020B0609040504020204" pitchFamily="49" charset="0"/>
              </a:rPr>
              <a:t>normalOut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varying vec3 </a:t>
            </a:r>
            <a:r>
              <a:rPr lang="en-US" sz="1200" dirty="0" err="1">
                <a:latin typeface="Lucida Console" panose="020B0609040504020204" pitchFamily="49" charset="0"/>
              </a:rPr>
              <a:t>viewDirOut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void main()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vec4 </a:t>
            </a:r>
            <a:r>
              <a:rPr lang="en-US" sz="1200" dirty="0" err="1">
                <a:latin typeface="Lucida Console" panose="020B0609040504020204" pitchFamily="49" charset="0"/>
              </a:rPr>
              <a:t>posInView</a:t>
            </a:r>
            <a:r>
              <a:rPr lang="en-US" sz="1200" dirty="0">
                <a:latin typeface="Lucida Console" panose="020B0609040504020204" pitchFamily="49" charset="0"/>
              </a:rPr>
              <a:t>=</a:t>
            </a:r>
            <a:r>
              <a:rPr lang="en-US" sz="1200" dirty="0" err="1">
                <a:latin typeface="Lucida Console" panose="020B0609040504020204" pitchFamily="49" charset="0"/>
              </a:rPr>
              <a:t>modelView</a:t>
            </a:r>
            <a:r>
              <a:rPr lang="en-US" sz="1200" dirty="0">
                <a:latin typeface="Lucida Console" panose="020B0609040504020204" pitchFamily="49" charset="0"/>
              </a:rPr>
              <a:t>*vec4(vertex,1.0);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viewDirOut</a:t>
            </a:r>
            <a:r>
              <a:rPr lang="en-US" sz="1200" dirty="0">
                <a:latin typeface="Lucida Console" panose="020B0609040504020204" pitchFamily="49" charset="0"/>
              </a:rPr>
              <a:t>=-normalize(</a:t>
            </a:r>
            <a:r>
              <a:rPr lang="en-US" sz="1200" dirty="0" err="1">
                <a:latin typeface="Lucida Console" panose="020B0609040504020204" pitchFamily="49" charset="0"/>
              </a:rPr>
              <a:t>posInView.xyz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normalOut</a:t>
            </a:r>
            <a:r>
              <a:rPr lang="en-US" sz="1200" dirty="0">
                <a:latin typeface="Lucida Console" panose="020B0609040504020204" pitchFamily="49" charset="0"/>
              </a:rPr>
              <a:t>=normalize((</a:t>
            </a:r>
            <a:r>
              <a:rPr lang="en-US" sz="1200" dirty="0" err="1">
                <a:latin typeface="Lucida Console" panose="020B0609040504020204" pitchFamily="49" charset="0"/>
              </a:rPr>
              <a:t>modelView</a:t>
            </a:r>
            <a:r>
              <a:rPr lang="en-US" sz="1200" dirty="0">
                <a:latin typeface="Lucida Console" panose="020B0609040504020204" pitchFamily="49" charset="0"/>
              </a:rPr>
              <a:t>*vec4(normal,0.0)).xyz);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colorOut</a:t>
            </a:r>
            <a:r>
              <a:rPr lang="en-US" sz="1200" dirty="0">
                <a:latin typeface="Lucida Console" panose="020B0609040504020204" pitchFamily="49" charset="0"/>
              </a:rPr>
              <a:t>=color;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gl_Position</a:t>
            </a:r>
            <a:r>
              <a:rPr lang="en-US" sz="1200" dirty="0">
                <a:latin typeface="Lucida Console" panose="020B0609040504020204" pitchFamily="49" charset="0"/>
              </a:rPr>
              <a:t>=projection*</a:t>
            </a:r>
            <a:r>
              <a:rPr lang="en-US" sz="1200" dirty="0" err="1">
                <a:latin typeface="Lucida Console" panose="020B0609040504020204" pitchFamily="49" charset="0"/>
              </a:rPr>
              <a:t>modelView</a:t>
            </a:r>
            <a:r>
              <a:rPr lang="en-US" sz="1200" dirty="0">
                <a:latin typeface="Lucida Console" panose="020B0609040504020204" pitchFamily="49" charset="0"/>
              </a:rPr>
              <a:t>*vec4(vertex,1.0);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}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1275949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Phong</a:t>
            </a:r>
            <a:r>
              <a:rPr lang="en-US" dirty="0"/>
              <a:t> Shading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1"/>
            <a:ext cx="8229600" cy="880872"/>
          </a:xfrm>
        </p:spPr>
        <p:txBody>
          <a:bodyPr/>
          <a:lstStyle/>
          <a:p>
            <a:r>
              <a:rPr lang="en-US" dirty="0"/>
              <a:t>Fragment </a:t>
            </a:r>
            <a:r>
              <a:rPr lang="en-US" dirty="0" err="1"/>
              <a:t>Shader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1719072"/>
            <a:ext cx="7715574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Lucida Console" panose="020B0609040504020204" pitchFamily="49" charset="0"/>
              </a:rPr>
              <a:t>varying vec4 </a:t>
            </a:r>
            <a:r>
              <a:rPr lang="en-US" sz="1200" dirty="0" err="1">
                <a:latin typeface="Lucida Console" panose="020B0609040504020204" pitchFamily="49" charset="0"/>
              </a:rPr>
              <a:t>colorOut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varying vec3 </a:t>
            </a:r>
            <a:r>
              <a:rPr lang="en-US" sz="1200" dirty="0" err="1">
                <a:latin typeface="Lucida Console" panose="020B0609040504020204" pitchFamily="49" charset="0"/>
              </a:rPr>
              <a:t>normalOut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varying vec3 </a:t>
            </a:r>
            <a:r>
              <a:rPr lang="en-US" sz="1200" dirty="0" err="1">
                <a:latin typeface="Lucida Console" panose="020B0609040504020204" pitchFamily="49" charset="0"/>
              </a:rPr>
              <a:t>viewDirOut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uniform vec3 </a:t>
            </a:r>
            <a:r>
              <a:rPr lang="en-US" sz="1200" dirty="0" err="1">
                <a:latin typeface="Lucida Console" panose="020B0609040504020204" pitchFamily="49" charset="0"/>
              </a:rPr>
              <a:t>lightDir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uniform float ambient;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uniform float </a:t>
            </a:r>
            <a:r>
              <a:rPr lang="en-US" sz="1200" dirty="0" err="1">
                <a:latin typeface="Lucida Console" panose="020B0609040504020204" pitchFamily="49" charset="0"/>
              </a:rPr>
              <a:t>specularIntensity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uniform float </a:t>
            </a:r>
            <a:r>
              <a:rPr lang="en-US" sz="1200" dirty="0" err="1">
                <a:latin typeface="Lucida Console" panose="020B0609040504020204" pitchFamily="49" charset="0"/>
              </a:rPr>
              <a:t>specularExponent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void main()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vec3 lit=normalize(</a:t>
            </a:r>
            <a:r>
              <a:rPr lang="en-US" sz="1200" dirty="0" err="1">
                <a:latin typeface="Lucida Console" panose="020B0609040504020204" pitchFamily="49" charset="0"/>
              </a:rPr>
              <a:t>lightDir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    float diffuse=dot(</a:t>
            </a:r>
            <a:r>
              <a:rPr lang="en-US" sz="1200" dirty="0" err="1">
                <a:latin typeface="Lucida Console" panose="020B0609040504020204" pitchFamily="49" charset="0"/>
              </a:rPr>
              <a:t>normalOut,lit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    vec3 </a:t>
            </a:r>
            <a:r>
              <a:rPr lang="en-US" sz="1200" dirty="0" err="1">
                <a:latin typeface="Lucida Console" panose="020B0609040504020204" pitchFamily="49" charset="0"/>
              </a:rPr>
              <a:t>midDir</a:t>
            </a:r>
            <a:r>
              <a:rPr lang="en-US" sz="1200" dirty="0">
                <a:latin typeface="Lucida Console" panose="020B0609040504020204" pitchFamily="49" charset="0"/>
              </a:rPr>
              <a:t>=normalize(</a:t>
            </a:r>
            <a:r>
              <a:rPr lang="en-US" sz="1200" dirty="0" err="1">
                <a:latin typeface="Lucida Console" panose="020B0609040504020204" pitchFamily="49" charset="0"/>
              </a:rPr>
              <a:t>viewDirOut+lightDir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float specular=</a:t>
            </a:r>
            <a:r>
              <a:rPr lang="en-US" sz="1200" dirty="0" err="1">
                <a:latin typeface="Lucida Console" panose="020B0609040504020204" pitchFamily="49" charset="0"/>
              </a:rPr>
              <a:t>specularIntensity</a:t>
            </a:r>
            <a:r>
              <a:rPr lang="en-US" sz="1200" dirty="0">
                <a:latin typeface="Lucida Console" panose="020B0609040504020204" pitchFamily="49" charset="0"/>
              </a:rPr>
              <a:t>*pow(dot(</a:t>
            </a:r>
            <a:r>
              <a:rPr lang="en-US" sz="1200" dirty="0" err="1">
                <a:latin typeface="Lucida Console" panose="020B0609040504020204" pitchFamily="49" charset="0"/>
              </a:rPr>
              <a:t>midDir,normalOut</a:t>
            </a:r>
            <a:r>
              <a:rPr lang="en-US" sz="1200" dirty="0">
                <a:latin typeface="Lucida Console" panose="020B0609040504020204" pitchFamily="49" charset="0"/>
              </a:rPr>
              <a:t>),</a:t>
            </a:r>
            <a:r>
              <a:rPr lang="en-US" sz="1200" dirty="0" err="1">
                <a:latin typeface="Lucida Console" panose="020B0609040504020204" pitchFamily="49" charset="0"/>
              </a:rPr>
              <a:t>specularExponent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gl_FragColor</a:t>
            </a:r>
            <a:r>
              <a:rPr lang="en-US" sz="1200" dirty="0">
                <a:latin typeface="Lucida Console" panose="020B0609040504020204" pitchFamily="49" charset="0"/>
              </a:rPr>
              <a:t>=vec4(</a:t>
            </a:r>
            <a:r>
              <a:rPr lang="en-US" sz="1200" dirty="0" err="1">
                <a:latin typeface="Lucida Console" panose="020B0609040504020204" pitchFamily="49" charset="0"/>
              </a:rPr>
              <a:t>colorOut.rgb</a:t>
            </a:r>
            <a:r>
              <a:rPr lang="en-US" sz="1200" dirty="0">
                <a:latin typeface="Lucida Console" panose="020B0609040504020204" pitchFamily="49" charset="0"/>
              </a:rPr>
              <a:t>*(</a:t>
            </a:r>
            <a:r>
              <a:rPr lang="en-US" sz="1200" dirty="0" err="1">
                <a:latin typeface="Lucida Console" panose="020B0609040504020204" pitchFamily="49" charset="0"/>
              </a:rPr>
              <a:t>ambient+diffuse</a:t>
            </a:r>
            <a:r>
              <a:rPr lang="en-US" sz="1200" dirty="0">
                <a:latin typeface="Lucida Console" panose="020B0609040504020204" pitchFamily="49" charset="0"/>
              </a:rPr>
              <a:t>),</a:t>
            </a:r>
            <a:r>
              <a:rPr lang="en-US" sz="1200" dirty="0" err="1">
                <a:latin typeface="Lucida Console" panose="020B0609040504020204" pitchFamily="49" charset="0"/>
              </a:rPr>
              <a:t>colorOut.a</a:t>
            </a:r>
            <a:r>
              <a:rPr lang="en-US" sz="1200" dirty="0">
                <a:latin typeface="Lucida Console" panose="020B0609040504020204" pitchFamily="49" charset="0"/>
              </a:rPr>
              <a:t>)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        +vec4(specular,specular,specular,0.0);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}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3276034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Phong</a:t>
            </a:r>
            <a:r>
              <a:rPr lang="en-US" dirty="0"/>
              <a:t> Shading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1"/>
            <a:ext cx="8229600" cy="880872"/>
          </a:xfrm>
        </p:spPr>
        <p:txBody>
          <a:bodyPr/>
          <a:lstStyle/>
          <a:p>
            <a:r>
              <a:rPr lang="en-US" dirty="0"/>
              <a:t>In </a:t>
            </a:r>
            <a:r>
              <a:rPr lang="en-US" dirty="0" err="1"/>
              <a:t>renderer.h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In fact, there is no change from the Gouraud3dRenderer.</a:t>
            </a:r>
          </a:p>
          <a:p>
            <a:r>
              <a:rPr lang="en-US" dirty="0"/>
              <a:t>This program has exactly the same interface from the C++ program point of view.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19072"/>
            <a:ext cx="46474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Lucida Console" panose="020B0609040504020204" pitchFamily="49" charset="0"/>
              </a:rPr>
              <a:t>class Phong3dRenderer : public Gouraud3dRenderer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847401919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Phong</a:t>
            </a:r>
            <a:r>
              <a:rPr lang="en-US" dirty="0"/>
              <a:t> Shading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 a member variable:</a:t>
            </a:r>
          </a:p>
          <a:p>
            <a:endParaRPr lang="en-US" dirty="0"/>
          </a:p>
          <a:p>
            <a:r>
              <a:rPr lang="en-US" dirty="0"/>
              <a:t>In Initialize function in main.cpp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In Draw function in main.cpp</a:t>
            </a:r>
          </a:p>
          <a:p>
            <a:pPr marL="457200" lvl="1" indent="0">
              <a:buNone/>
            </a:pPr>
            <a:r>
              <a:rPr lang="en-US" dirty="0"/>
              <a:t>Just replace gouraud3d with phong3d.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63624"/>
            <a:ext cx="27879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Lucida Console" panose="020B0609040504020204" pitchFamily="49" charset="0"/>
              </a:rPr>
              <a:t>    Phong3dRenderer phong3d;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2549338"/>
            <a:ext cx="371768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Lucida Console" panose="020B0609040504020204" pitchFamily="49" charset="0"/>
              </a:rPr>
              <a:t>    phong3d.CompileFile(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    "</a:t>
            </a:r>
            <a:r>
              <a:rPr lang="en-US" sz="1200" dirty="0" err="1">
                <a:latin typeface="Lucida Console" panose="020B0609040504020204" pitchFamily="49" charset="0"/>
              </a:rPr>
              <a:t>phong_vertex_shader.glsl</a:t>
            </a:r>
            <a:r>
              <a:rPr lang="en-US" sz="1200" dirty="0">
                <a:latin typeface="Lucida Console" panose="020B0609040504020204" pitchFamily="49" charset="0"/>
              </a:rPr>
              <a:t>",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    "</a:t>
            </a:r>
            <a:r>
              <a:rPr lang="en-US" sz="1200" dirty="0" err="1">
                <a:latin typeface="Lucida Console" panose="020B0609040504020204" pitchFamily="49" charset="0"/>
              </a:rPr>
              <a:t>phong_fragment_shader.glsl</a:t>
            </a:r>
            <a:r>
              <a:rPr lang="en-US" sz="1200" dirty="0">
                <a:latin typeface="Lucida Console" panose="020B0609040504020204" pitchFamily="49" charset="0"/>
              </a:rPr>
              <a:t>");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0307048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Phong</a:t>
            </a:r>
            <a:r>
              <a:rPr lang="en-US" dirty="0"/>
              <a:t> vs </a:t>
            </a:r>
            <a:r>
              <a:rPr lang="en-US" dirty="0" err="1"/>
              <a:t>Gouraud</a:t>
            </a:r>
            <a:r>
              <a:rPr lang="en-US" dirty="0"/>
              <a:t> shading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Difference is most visible if the object has a large or long polygon.  (Like the bottom face of a </a:t>
            </a:r>
            <a:r>
              <a:rPr lang="en-US" dirty="0" err="1"/>
              <a:t>cone.stl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09767848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4547</TotalTime>
  <Words>10445</Words>
  <Application>Microsoft Office PowerPoint</Application>
  <PresentationFormat>On-screen Show (4:3)</PresentationFormat>
  <Paragraphs>1491</Paragraphs>
  <Slides>113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113</vt:i4>
      </vt:variant>
    </vt:vector>
  </HeadingPairs>
  <TitlesOfParts>
    <vt:vector size="118" baseType="lpstr">
      <vt:lpstr>Arial</vt:lpstr>
      <vt:lpstr>Calibri</vt:lpstr>
      <vt:lpstr>Consolas</vt:lpstr>
      <vt:lpstr>Lucida Console</vt:lpstr>
      <vt:lpstr>Default Design</vt:lpstr>
      <vt:lpstr>24-783 Lecture 22</vt:lpstr>
      <vt:lpstr>Announcement</vt:lpstr>
      <vt:lpstr>Announcement</vt:lpstr>
      <vt:lpstr>PowerPoint Presentation</vt:lpstr>
      <vt:lpstr>Installing Data Files (Resources) to where the Application Can See</vt:lpstr>
      <vt:lpstr>Data File Location</vt:lpstr>
      <vt:lpstr>Change Current Working Directory to the Resources Directory in your Program</vt:lpstr>
      <vt:lpstr>Change Current Working Directory to the Resources Directory in your Program</vt:lpstr>
      <vt:lpstr>In FsSimpleWindow / FsLazyWindow frameworks</vt:lpstr>
      <vt:lpstr>Next question: How to deliver files to that directory?</vt:lpstr>
      <vt:lpstr>CMakeLists.txt example</vt:lpstr>
      <vt:lpstr>First Part</vt:lpstr>
      <vt:lpstr>Second Part</vt:lpstr>
      <vt:lpstr>Last Part</vt:lpstr>
      <vt:lpstr>If you want to support Universal Windows</vt:lpstr>
      <vt:lpstr>Last Part (UWP support)</vt:lpstr>
      <vt:lpstr>Programmable Shader</vt:lpstr>
      <vt:lpstr>What’s Programmable Shader?</vt:lpstr>
      <vt:lpstr>What’s Programmable Shader?</vt:lpstr>
      <vt:lpstr>What's Programmable Shader?</vt:lpstr>
      <vt:lpstr>Why Programmable Shader?</vt:lpstr>
      <vt:lpstr>GLSL – GL Shader Language </vt:lpstr>
      <vt:lpstr>Vertex Shader and Fragment Shader</vt:lpstr>
      <vt:lpstr>Vertex Shader and Fragment Shader</vt:lpstr>
      <vt:lpstr>Vertex Shader</vt:lpstr>
      <vt:lpstr>Fragment Shader</vt:lpstr>
      <vt:lpstr>Fragment Shader</vt:lpstr>
      <vt:lpstr>Essentially, shaders are call-back functions.</vt:lpstr>
      <vt:lpstr>What you need to prepare for GLSL program</vt:lpstr>
      <vt:lpstr>To use a GLSL program,</vt:lpstr>
      <vt:lpstr>Pass-Through GLSL Program</vt:lpstr>
      <vt:lpstr>Vertex Shader</vt:lpstr>
      <vt:lpstr>Vector calculation in GLSL</vt:lpstr>
      <vt:lpstr>PowerPoint Presentation</vt:lpstr>
      <vt:lpstr>Fragment Shader</vt:lpstr>
      <vt:lpstr>One thing to remember when writing a shader program</vt:lpstr>
      <vt:lpstr>How can the C++ program access these two files?</vt:lpstr>
      <vt:lpstr>Going step by step</vt:lpstr>
      <vt:lpstr>Reading in the renderer to std::vector &lt;char&gt;</vt:lpstr>
      <vt:lpstr>PowerPoint Presentation</vt:lpstr>
      <vt:lpstr>Problem in OpenGL header locations</vt:lpstr>
      <vt:lpstr>PowerPoint Presentation</vt:lpstr>
      <vt:lpstr>PowerPoint Presentation</vt:lpstr>
      <vt:lpstr>Compiling the shaders.</vt:lpstr>
      <vt:lpstr>Pass-Through GLSL Program</vt:lpstr>
      <vt:lpstr>Vertex Shader</vt:lpstr>
      <vt:lpstr>Vector calculation in GLSL</vt:lpstr>
      <vt:lpstr>PowerPoint Presentation</vt:lpstr>
      <vt:lpstr>Fragment Shader</vt:lpstr>
      <vt:lpstr>One thing to remember when writing a shader program</vt:lpstr>
      <vt:lpstr>How can the C++ program access these two files?</vt:lpstr>
      <vt:lpstr>Going step by step</vt:lpstr>
      <vt:lpstr>Reading in the renderer to std::vector &lt;char&gt;</vt:lpstr>
      <vt:lpstr>PowerPoint Presentation</vt:lpstr>
      <vt:lpstr>Problem in OpenGL header locations</vt:lpstr>
      <vt:lpstr>PowerPoint Presentation</vt:lpstr>
      <vt:lpstr>PowerPoint Presentation</vt:lpstr>
      <vt:lpstr>Compiling the shaders.</vt:lpstr>
      <vt:lpstr>PassThroughRenderer class.</vt:lpstr>
      <vt:lpstr>Compiling and linking the shaders.</vt:lpstr>
      <vt:lpstr>PowerPoint Presentation</vt:lpstr>
      <vt:lpstr>PowerPoint Presentation</vt:lpstr>
      <vt:lpstr>PowerPoint Presentation</vt:lpstr>
      <vt:lpstr>Using the shader program.</vt:lpstr>
      <vt:lpstr>PowerPoint Presentation</vt:lpstr>
      <vt:lpstr>Varying the color based on the screen coordinate</vt:lpstr>
      <vt:lpstr>PowerPoint Presentation</vt:lpstr>
      <vt:lpstr>PowerPoint Presentation</vt:lpstr>
      <vt:lpstr>Color as Vertex Attribute</vt:lpstr>
      <vt:lpstr>Color as Vertex Attribute</vt:lpstr>
      <vt:lpstr>PowerPoint Presentation</vt:lpstr>
      <vt:lpstr>PowerPoint Presentation</vt:lpstr>
      <vt:lpstr>PowerPoint Presentation</vt:lpstr>
      <vt:lpstr>Uniform color</vt:lpstr>
      <vt:lpstr>PowerPoint Presentation</vt:lpstr>
      <vt:lpstr>PowerPoint Presentation</vt:lpstr>
      <vt:lpstr>PowerPoint Presentation</vt:lpstr>
      <vt:lpstr>Wait, do we need to create separate shader programs for uniform color and variable color?</vt:lpstr>
      <vt:lpstr>Generic Attribute</vt:lpstr>
      <vt:lpstr>Where is this zero identifier bug coming from?</vt:lpstr>
      <vt:lpstr>Using texture.</vt:lpstr>
      <vt:lpstr>Add checker.cpp and checker.h</vt:lpstr>
      <vt:lpstr>PowerPoint Presentation</vt:lpstr>
      <vt:lpstr>PowerPoint Presentation</vt:lpstr>
      <vt:lpstr>Note about texture2D function</vt:lpstr>
      <vt:lpstr>Note about texture2D function</vt:lpstr>
      <vt:lpstr>PowerPoint Presentation</vt:lpstr>
      <vt:lpstr>PowerPoint Presentation</vt:lpstr>
      <vt:lpstr>PowerPoint Presentation</vt:lpstr>
      <vt:lpstr>Plain 3D renderer</vt:lpstr>
      <vt:lpstr>PowerPoint Presentation</vt:lpstr>
      <vt:lpstr>PowerPoint Presentation</vt:lpstr>
      <vt:lpstr>PowerPoint Presentation</vt:lpstr>
      <vt:lpstr>Replacing the rendering part of the STL viewer with the plain3Drenderer</vt:lpstr>
      <vt:lpstr>Color based on the location</vt:lpstr>
      <vt:lpstr>Shader programs</vt:lpstr>
      <vt:lpstr>Rainbow3dRenderer class</vt:lpstr>
      <vt:lpstr>PowerPoint Presentation</vt:lpstr>
      <vt:lpstr>Experiment</vt:lpstr>
      <vt:lpstr>Gouraud Shading</vt:lpstr>
      <vt:lpstr>Gouraud Shading</vt:lpstr>
      <vt:lpstr>Gouraud Shading</vt:lpstr>
      <vt:lpstr>Gouraud Shading</vt:lpstr>
      <vt:lpstr>Gouraud Shading</vt:lpstr>
      <vt:lpstr>Gouraud Shading</vt:lpstr>
      <vt:lpstr>Gouraud Shading</vt:lpstr>
      <vt:lpstr>Gouraud Shading</vt:lpstr>
      <vt:lpstr>Phong shading</vt:lpstr>
      <vt:lpstr>Phong Shading</vt:lpstr>
      <vt:lpstr>Phong Shading</vt:lpstr>
      <vt:lpstr>Phong Shading</vt:lpstr>
      <vt:lpstr>Phong Shading</vt:lpstr>
      <vt:lpstr>Phong vs Gouraud shading</vt:lpstr>
    </vt:vector>
  </TitlesOfParts>
  <Company>CMU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soji</dc:creator>
  <cp:lastModifiedBy>Soji Yamakawa</cp:lastModifiedBy>
  <cp:revision>702</cp:revision>
  <dcterms:created xsi:type="dcterms:W3CDTF">2009-08-19T14:18:47Z</dcterms:created>
  <dcterms:modified xsi:type="dcterms:W3CDTF">2019-04-10T14:38:13Z</dcterms:modified>
</cp:coreProperties>
</file>